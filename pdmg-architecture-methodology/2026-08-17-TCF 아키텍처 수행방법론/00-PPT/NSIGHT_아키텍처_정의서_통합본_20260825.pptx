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9" r:id="rId164"/>
  </p:sldIdLst>
  <p:sldSz cx="12192000" cy="7908925"/>
  <p:notesSz cx="790892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9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59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95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11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98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5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3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5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5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56893"/>
            <a:ext cx="7772400" cy="16952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81724"/>
            <a:ext cx="6400800" cy="20211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1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28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F3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078992"/>
            <a:ext cx="4892040" cy="402336"/>
          </a:xfrm>
          <a:prstGeom prst="rect">
            <a:avLst/>
          </a:prstGeom>
          <a:solidFill>
            <a:srgbClr val="CFE3DB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아키텍처 정의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16276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개요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61872" y="20116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어플리케이션 분류 체계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61872" y="23957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데이터 주제영역 정의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27797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 시스템 아키텍처 구성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논리 기술 아키텍처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261872" y="37307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전사 IT Zone 기반 구성 기준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41148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시스템 노드 정의 및 식별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61872" y="4498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기술 컴포넌트 정의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61872" y="48828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논리 기술 아키텍처 정의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물리 인프라 아키텍처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61872" y="58704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하드웨어 구성도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61872" y="61996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소프트웨어 구성도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6510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하드웨어 목록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6839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소프트웨어 목록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11430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데이터베이스 아키텍처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702552" y="164592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DB 아키텍처 구성도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02552" y="202996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 DB 이중화 구성도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02552" y="241401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 OGG 구성도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02552" y="279806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4.4 OLTP 및 대용량 배치 수행 방안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55080" y="331927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시스템 표준 정의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702552" y="380390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 서버 호스트 명명규칙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02552" y="41879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 파일 시스템 구성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02552" y="45720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 사용자 계정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02552" y="49560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5.4 서비스 포트 현황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55080" y="55046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인터페이스 아키텍처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6702552" y="599846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 인터페이스 표준 정의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02552" y="638251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 인터페이스 구성도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28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F3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115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런타임 아키텍처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16152" y="16276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7.1 업무 처리 유형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16152" y="20116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 단말 거래 처리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16152" y="23957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 미니 싱글뷰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16152" y="27797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7.4 UMS 고객 통지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735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아키텍처 표준화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216152" y="378561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 어플리케이션 계층 구조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16152" y="4169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 전문 표준화 정의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6152" y="455371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8.3 GUID 관리 체계 정의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16152" y="49377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8.4 캐릭터 셋 정의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16152" y="53218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8.5 XX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6152" y="57058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8.6 XX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16152" y="60899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8.7 XX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16152" y="64465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8.8 XX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16152" y="67848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8.9 XX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11155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아키텍처 구성 요소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885432" y="16276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 단말 프레임워크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85432" y="201168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 온라인 프레임워크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85432" y="239572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 배치 프레임워크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290779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업무 솔루션 아키텍처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885432" y="341985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 SELF-BI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85432" y="380390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 OLAP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85432" y="418795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10.3 EBM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85432" y="45720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10.4 데이터 흐름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510235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기타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6885432" y="560527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11.1 시스템 모니터링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85432" y="598932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11.2 시스템 가용성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85432" y="63733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11.3 시스템 확장성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885432" y="6748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11.4 DR 구성 (센터 간 가용성)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85432" y="70866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A2C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 백업 구성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731520"/>
            <a:ext cx="182880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323734"/>
                </a:solidFill>
                <a:latin typeface="Malgun Gothic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82296"/>
            <a:ext cx="1234440" cy="4572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100" b="1">
                <a:solidFill>
                  <a:srgbClr val="282828"/>
                </a:solidFill>
                <a:latin typeface="Malgun Gothic"/>
              </a:rPr>
              <a:t>1. 아키텍처 정의</a:t>
            </a:r>
            <a:r>
              <a:t/>
            </a:r>
            <a:br/>
            <a:r>
              <a:rPr sz="1100" b="1">
                <a:solidFill>
                  <a:srgbClr val="282828"/>
                </a:solidFill>
                <a:latin typeface="Malgun Gothic"/>
              </a:rPr>
              <a:t>1.1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99032"/>
            <a:ext cx="960120" cy="45720"/>
          </a:xfrm>
          <a:prstGeom prst="rect">
            <a:avLst/>
          </a:prstGeom>
          <a:solidFill>
            <a:srgbClr val="41567F"/>
          </a:solidFill>
          <a:ln>
            <a:solidFill>
              <a:srgbClr val="415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1399032"/>
            <a:ext cx="594360" cy="45720"/>
          </a:xfrm>
          <a:prstGeom prst="rect">
            <a:avLst/>
          </a:prstGeom>
          <a:solidFill>
            <a:srgbClr val="91B955"/>
          </a:solidFill>
          <a:ln>
            <a:solidFill>
              <a:srgbClr val="91B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54480" y="1399032"/>
            <a:ext cx="10652760" cy="45720"/>
          </a:xfrm>
          <a:prstGeom prst="rect">
            <a:avLst/>
          </a:prstGeom>
          <a:solidFill>
            <a:srgbClr val="32823C"/>
          </a:solidFill>
          <a:ln>
            <a:solidFill>
              <a:srgbClr val="32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11201400" cy="5486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000" b="0">
                <a:solidFill>
                  <a:srgbClr val="2D3030"/>
                </a:solidFill>
                <a:latin typeface="Malgun Gothic"/>
              </a:rPr>
              <a:t>차세대 정보계 시스템의 어플리케이션 정의, 기술 아키텍처 설계, 데이터 주제 영역의 정의를 기술하고 인</a:t>
            </a:r>
            <a:r>
              <a:t/>
            </a:r>
            <a:br/>
            <a:r>
              <a:rPr sz="2000" b="0">
                <a:solidFill>
                  <a:srgbClr val="2D3030"/>
                </a:solidFill>
                <a:latin typeface="Malgun Gothic"/>
              </a:rPr>
              <a:t>프라 담당자, 개발자 및 유관 담당자가 아키텍처를 빠르게 파악하고 업무에 적용함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2487168"/>
            <a:ext cx="1243584" cy="1051560"/>
          </a:xfrm>
          <a:prstGeom prst="rect">
            <a:avLst/>
          </a:prstGeom>
          <a:solidFill>
            <a:srgbClr val="00563D"/>
          </a:solidFill>
          <a:ln w="6350">
            <a:solidFill>
              <a:srgbClr val="005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목적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8216" y="2487168"/>
            <a:ext cx="10058400" cy="1051560"/>
          </a:xfrm>
          <a:prstGeom prst="rect">
            <a:avLst/>
          </a:prstGeom>
          <a:solidFill>
            <a:srgbClr val="F8F8F6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65376" y="2715768"/>
            <a:ext cx="9738360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0">
                <a:solidFill>
                  <a:srgbClr val="232323"/>
                </a:solidFill>
                <a:latin typeface="Malgun Gothic"/>
              </a:rPr>
              <a:t>▪   본 문서는 차세대 정보계 시스템의 아키텍처를 정의함으로써, 인프라 및 업무 프로그램 개발 담당자 또는 아키텍처의 이해를 필요로</a:t>
            </a:r>
            <a:r>
              <a:t/>
            </a:r>
            <a:br/>
            <a:r>
              <a:rPr sz="1400" b="0">
                <a:solidFill>
                  <a:srgbClr val="232323"/>
                </a:solidFill>
                <a:latin typeface="Malgun Gothic"/>
              </a:rPr>
              <a:t>    하는 유관 담당자가 시스템의 아키텍처를 이해하고 업무에 활용할 수 있도록 정보를 제공하는 것을 목적으로 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675887"/>
            <a:ext cx="1243584" cy="1298448"/>
          </a:xfrm>
          <a:prstGeom prst="rect">
            <a:avLst/>
          </a:prstGeom>
          <a:solidFill>
            <a:srgbClr val="00563D"/>
          </a:solidFill>
          <a:ln w="6350">
            <a:solidFill>
              <a:srgbClr val="005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3675887"/>
            <a:ext cx="10058400" cy="1298448"/>
          </a:xfrm>
          <a:prstGeom prst="rect">
            <a:avLst/>
          </a:prstGeom>
          <a:solidFill>
            <a:srgbClr val="F8F8F6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65376" y="3785615"/>
            <a:ext cx="9784080" cy="10789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60" b="0">
                <a:solidFill>
                  <a:srgbClr val="232323"/>
                </a:solidFill>
                <a:latin typeface="Malgun Gothic"/>
              </a:rPr>
              <a:t>▪   어플리케이션의 구성과 분류 체계를 식별하고 어플리케이션이 동작하는 시스템의 구성을 확인할 수 있도록 정의한다.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60" b="0">
                <a:solidFill>
                  <a:srgbClr val="232323"/>
                </a:solidFill>
                <a:latin typeface="Malgun Gothic"/>
              </a:rPr>
              <a:t>▪   운용 환경 별 논리적 시스템 구성 단위와 시스템을 구성하는 기술요소 및 소프트웨어의 구성을 확인할 수 있도록 정의한다.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60" b="0">
                <a:solidFill>
                  <a:srgbClr val="232323"/>
                </a:solidFill>
                <a:latin typeface="Malgun Gothic"/>
              </a:rPr>
              <a:t>▪   운용 환경 별 물리적 시스템 구성 단위와 구성 Inventory를 확인할 수 있도록 정의한다.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60" b="0">
                <a:solidFill>
                  <a:srgbClr val="232323"/>
                </a:solidFill>
                <a:latin typeface="Malgun Gothic"/>
              </a:rPr>
              <a:t>▪   아키텍처 표준 및 아키텍처 구성 요소의 동작 원리를 확인할 수 있도록 정의한다.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60" b="0">
                <a:solidFill>
                  <a:srgbClr val="232323"/>
                </a:solidFill>
                <a:latin typeface="Malgun Gothic"/>
              </a:rPr>
              <a:t>▪   업무 영역별 어플리케이션 동작 원리를 확인 할 수 있도록 정의한다.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5111496"/>
            <a:ext cx="1243584" cy="2194560"/>
          </a:xfrm>
          <a:prstGeom prst="rect">
            <a:avLst/>
          </a:prstGeom>
          <a:solidFill>
            <a:srgbClr val="00563D"/>
          </a:solidFill>
          <a:ln w="6350">
            <a:solidFill>
              <a:srgbClr val="005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적용 범위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28216" y="5111496"/>
            <a:ext cx="10058400" cy="2194560"/>
          </a:xfrm>
          <a:prstGeom prst="rect">
            <a:avLst/>
          </a:prstGeom>
          <a:solidFill>
            <a:srgbClr val="F8F8F6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37944" y="5239512"/>
            <a:ext cx="9829800" cy="19385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>
                <a:solidFill>
                  <a:srgbClr val="232323"/>
                </a:solidFill>
                <a:latin typeface="Malgun Gothic"/>
              </a:rPr>
              <a:t>차세대 정보계 구축 대상 업무 영역의 Technical, Application, Data 아키텍처 정의는 본 문서의 정의 내용을 적용한다.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Malgun Gothic"/>
              </a:rPr>
              <a:t>▪   Technical Architecture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30" b="0">
                <a:solidFill>
                  <a:srgbClr val="232323"/>
                </a:solidFill>
                <a:latin typeface="Malgun Gothic"/>
              </a:rPr>
              <a:t>    - 운용 환경 별 논리, 물리 아키텍처의 구성과 시스템, 소프트웨어의 적용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30" b="0">
                <a:solidFill>
                  <a:srgbClr val="232323"/>
                </a:solidFill>
                <a:latin typeface="Malgun Gothic"/>
              </a:rPr>
              <a:t>    - 센터 별 시스템 구성 구분과 백업 및 시스템 가용성 처리 방식 적용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Malgun Gothic"/>
              </a:rPr>
              <a:t>▪   Application Architecture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30" b="0">
                <a:solidFill>
                  <a:srgbClr val="232323"/>
                </a:solidFill>
                <a:latin typeface="Malgun Gothic"/>
              </a:rPr>
              <a:t>    - 어플리케이션의 구성과 분류 및 동작 원리 확인 및 적용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30" b="0">
                <a:solidFill>
                  <a:srgbClr val="232323"/>
                </a:solidFill>
                <a:latin typeface="Malgun Gothic"/>
              </a:rPr>
              <a:t>    - 아키텍처 표준화 정의 확인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Malgun Gothic"/>
              </a:rPr>
              <a:t>▪   Data Architecture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30" b="0">
                <a:solidFill>
                  <a:srgbClr val="232323"/>
                </a:solidFill>
                <a:latin typeface="Malgun Gothic"/>
              </a:rPr>
              <a:t>    - 데이터 주제 영역 확인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30" b="0">
                <a:solidFill>
                  <a:srgbClr val="232323"/>
                </a:solidFill>
                <a:latin typeface="Malgun Gothic"/>
              </a:rPr>
              <a:t>※ 상기 영역 외 상세 구성 방안 및 가이드는 각 영역별 가이드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1455" y="91440"/>
            <a:ext cx="1645920" cy="5029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r"/>
            <a:r>
              <a:rPr sz="1150" b="1">
                <a:solidFill>
                  <a:srgbClr val="1F1F1F"/>
                </a:solidFill>
                <a:latin typeface="Noto Sans CJK KR"/>
              </a:rPr>
              <a:t>1. 아키텍처 정의</a:t>
            </a:r>
          </a:p>
          <a:p>
            <a:pPr algn="r"/>
            <a:r>
              <a:rPr sz="1150" b="1">
                <a:solidFill>
                  <a:srgbClr val="1F1F1F"/>
                </a:solidFill>
                <a:latin typeface="Noto Sans CJK KR"/>
              </a:rPr>
              <a:t>1.1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77240"/>
            <a:ext cx="7589520" cy="59436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2500" b="1">
                <a:solidFill>
                  <a:srgbClr val="1F1F1F"/>
                </a:solidFill>
                <a:latin typeface="Noto Sans CJK KR"/>
              </a:rPr>
              <a:t>차세대 정보계 개편 기본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932688" cy="50292"/>
          </a:xfrm>
          <a:prstGeom prst="rect">
            <a:avLst/>
          </a:prstGeom>
          <a:solidFill>
            <a:srgbClr val="00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1572768"/>
            <a:ext cx="640080" cy="50292"/>
          </a:xfrm>
          <a:prstGeom prst="rect">
            <a:avLst/>
          </a:prstGeom>
          <a:solidFill>
            <a:srgbClr val="75B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72768" y="1572768"/>
            <a:ext cx="438912" cy="50292"/>
          </a:xfrm>
          <a:prstGeom prst="rect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0" y="1572768"/>
            <a:ext cx="10180015" cy="50292"/>
          </a:xfrm>
          <a:prstGeom prst="rect">
            <a:avLst/>
          </a:prstGeom>
          <a:solidFill>
            <a:srgbClr val="008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201400" cy="749808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1850" b="0">
                <a:solidFill>
                  <a:srgbClr val="1F1F1F"/>
                </a:solidFill>
                <a:latin typeface="Noto Sans CJK KR"/>
              </a:rPr>
              <a:t>데이터 기반의 실시간 의사결정을 지원하는 유연하고 확장 가능한 지능형 플랫폼을 구축하고, 고객 중심</a:t>
            </a:r>
          </a:p>
          <a:p>
            <a:pPr algn="l"/>
            <a:r>
              <a:rPr sz="1850" b="0">
                <a:solidFill>
                  <a:srgbClr val="1F1F1F"/>
                </a:solidFill>
                <a:latin typeface="Noto Sans CJK KR"/>
              </a:rPr>
              <a:t>채널 경험 강화 및 비즈니스 민첩성 확보를 위한 차세대 아키텍처를 구현함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07792"/>
            <a:ext cx="5440680" cy="438912"/>
          </a:xfrm>
          <a:prstGeom prst="rect">
            <a:avLst/>
          </a:prstGeom>
          <a:solidFill>
            <a:srgbClr val="004932"/>
          </a:solidFill>
          <a:ln w="11430">
            <a:solidFill>
              <a:srgbClr val="004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570" b="1">
                <a:solidFill>
                  <a:srgbClr val="FFFFFF"/>
                </a:solidFill>
                <a:latin typeface="Noto Sans CJK KR"/>
              </a:rPr>
              <a:t>1. 고객 중심 서비스 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46704"/>
            <a:ext cx="5440680" cy="1609344"/>
          </a:xfrm>
          <a:prstGeom prst="rect">
            <a:avLst/>
          </a:prstGeom>
          <a:solidFill>
            <a:srgbClr val="FFFFFF"/>
          </a:solidFill>
          <a:ln w="1143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tlCol="0" anchor="t"/>
          <a:lstStyle/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채널 간 정보 연계 강화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고객경험 개선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사용자 중심 UI/UX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907792"/>
            <a:ext cx="5440680" cy="438912"/>
          </a:xfrm>
          <a:prstGeom prst="rect">
            <a:avLst/>
          </a:prstGeom>
          <a:solidFill>
            <a:srgbClr val="004932"/>
          </a:solidFill>
          <a:ln w="11430">
            <a:solidFill>
              <a:srgbClr val="004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570" b="1">
                <a:solidFill>
                  <a:srgbClr val="FFFFFF"/>
                </a:solidFill>
                <a:latin typeface="Noto Sans CJK KR"/>
              </a:rPr>
              <a:t>2. 데이터 기반 의사결정 강화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346704"/>
            <a:ext cx="5440680" cy="1609344"/>
          </a:xfrm>
          <a:prstGeom prst="rect">
            <a:avLst/>
          </a:prstGeom>
          <a:solidFill>
            <a:srgbClr val="FFFFFF"/>
          </a:solidFill>
          <a:ln w="1143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tlCol="0" anchor="t"/>
          <a:lstStyle/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실시간 데이터 수집·활용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분석 정보의 즉시 제공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현업 중심 정보 활용 확대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5440680" cy="438912"/>
          </a:xfrm>
          <a:prstGeom prst="rect">
            <a:avLst/>
          </a:prstGeom>
          <a:solidFill>
            <a:srgbClr val="004932"/>
          </a:solidFill>
          <a:ln w="11430">
            <a:solidFill>
              <a:srgbClr val="004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570" b="1">
                <a:solidFill>
                  <a:srgbClr val="FFFFFF"/>
                </a:solidFill>
                <a:latin typeface="Noto Sans CJK KR"/>
              </a:rPr>
              <a:t>3. 통합 정보 활용 기반 마련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971031"/>
            <a:ext cx="5440680" cy="1609344"/>
          </a:xfrm>
          <a:prstGeom prst="rect">
            <a:avLst/>
          </a:prstGeom>
          <a:solidFill>
            <a:srgbClr val="FFFFFF"/>
          </a:solidFill>
          <a:ln w="1143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tlCol="0" anchor="t"/>
          <a:lstStyle/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고객 · 상품 · 채널 정보 통합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통합 조회 기반 마련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연계 정보 활용 강화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5532120"/>
            <a:ext cx="5440680" cy="438912"/>
          </a:xfrm>
          <a:prstGeom prst="rect">
            <a:avLst/>
          </a:prstGeom>
          <a:solidFill>
            <a:srgbClr val="004932"/>
          </a:solidFill>
          <a:ln w="11430">
            <a:solidFill>
              <a:srgbClr val="004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570" b="1">
                <a:solidFill>
                  <a:srgbClr val="FFFFFF"/>
                </a:solidFill>
                <a:latin typeface="Noto Sans CJK KR"/>
              </a:rPr>
              <a:t>4. 유연하고 안정적인 운영체계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971031"/>
            <a:ext cx="5440680" cy="1609344"/>
          </a:xfrm>
          <a:prstGeom prst="rect">
            <a:avLst/>
          </a:prstGeom>
          <a:solidFill>
            <a:srgbClr val="FFFFFF"/>
          </a:solidFill>
          <a:ln w="1143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tlCol="0" anchor="t"/>
          <a:lstStyle/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표준화된 구조 마련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확장 가능한 플랫폼 기반 확보</a:t>
            </a:r>
          </a:p>
          <a:p>
            <a:pPr algn="l">
              <a:spcAft>
                <a:spcPts val="1400"/>
              </a:spcAft>
            </a:pPr>
            <a:r>
              <a:rPr sz="1430" b="0">
                <a:solidFill>
                  <a:srgbClr val="1F1F1F"/>
                </a:solidFill>
                <a:latin typeface="Noto Sans CJK KR"/>
              </a:rPr>
              <a:t>•  안정적 운영체계 마련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97135" y="54864"/>
            <a:ext cx="2011680" cy="237744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r"/>
            <a:r>
              <a:rPr sz="1300" b="0">
                <a:solidFill>
                  <a:srgbClr val="000000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37744"/>
            <a:ext cx="2194560" cy="420624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r"/>
            <a:r>
              <a:rPr sz="1300" b="0">
                <a:solidFill>
                  <a:srgbClr val="000000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669280" cy="548640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l"/>
            <a:r>
              <a:rPr sz="2800" b="1">
                <a:solidFill>
                  <a:srgbClr val="373737"/>
                </a:solidFill>
                <a:latin typeface="Malgun Gothic"/>
              </a:rPr>
              <a:t>차세대 정보계 개념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74980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280160"/>
            <a:ext cx="347472" cy="3657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1280160"/>
            <a:ext cx="8046720" cy="36576"/>
          </a:xfrm>
          <a:prstGeom prst="rect">
            <a:avLst/>
          </a:prstGeom>
          <a:solidFill>
            <a:srgbClr val="299A57"/>
          </a:solidFill>
          <a:ln>
            <a:solidFill>
              <a:srgbClr val="299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755648"/>
            <a:ext cx="1389888" cy="3886200"/>
          </a:xfrm>
          <a:prstGeom prst="rect">
            <a:avLst/>
          </a:prstGeom>
          <a:solidFill>
            <a:srgbClr val="E6E6E6"/>
          </a:solidFill>
          <a:ln w="1397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1453896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01368"/>
            <a:ext cx="1389888" cy="256032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1800" b="1">
                <a:solidFill>
                  <a:srgbClr val="464646"/>
                </a:solidFill>
                <a:latin typeface="Malgun Gothic"/>
              </a:rPr>
              <a:t>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2185416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정보계 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578608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2578608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콜 뱅킹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971800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2971800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통합업무 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364992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364992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SMS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3758184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3758184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DM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4151376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4151376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E-mail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4544568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6" y="4544568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ATM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4937760"/>
            <a:ext cx="1097280" cy="292608"/>
          </a:xfrm>
          <a:prstGeom prst="rect">
            <a:avLst/>
          </a:prstGeom>
          <a:solidFill>
            <a:srgbClr val="F2F2F2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16" y="4937760"/>
            <a:ext cx="1097280" cy="29260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1737360"/>
            <a:ext cx="2697480" cy="1554480"/>
          </a:xfrm>
          <a:prstGeom prst="rect">
            <a:avLst/>
          </a:prstGeom>
          <a:solidFill>
            <a:srgbClr val="ECF8F0"/>
          </a:solidFill>
          <a:ln w="25400">
            <a:solidFill>
              <a:srgbClr val="38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31720" y="1764792"/>
            <a:ext cx="2697480" cy="320040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2000" b="1">
                <a:solidFill>
                  <a:srgbClr val="373737"/>
                </a:solidFill>
                <a:latin typeface="Malgun Gothic"/>
              </a:rPr>
              <a:t>마케팅플랫폼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194560"/>
            <a:ext cx="242316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t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상담 / 판매 프로세스</a:t>
            </a:r>
          </a:p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캠페인 관리        맞춤상품 관리</a:t>
            </a:r>
          </a:p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통합고객</a:t>
            </a:r>
          </a:p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통합상품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1435608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24328" y="1435608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9504" y="1435608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79" y="1435608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9856" y="1435608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1737360"/>
            <a:ext cx="1417320" cy="1554480"/>
          </a:xfrm>
          <a:prstGeom prst="rect">
            <a:avLst/>
          </a:prstGeom>
          <a:solidFill>
            <a:srgbClr val="ECF8F0"/>
          </a:solidFill>
          <a:ln w="25400">
            <a:solidFill>
              <a:srgbClr val="38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3560" y="1764792"/>
            <a:ext cx="1417320" cy="320040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1900" b="1">
                <a:solidFill>
                  <a:srgbClr val="373737"/>
                </a:solidFill>
                <a:latin typeface="Malgun Gothic"/>
              </a:rPr>
              <a:t>BI 포탈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2194560"/>
            <a:ext cx="114300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t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BI 포탈</a:t>
            </a:r>
          </a:p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신용실적</a:t>
            </a:r>
          </a:p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OLAP</a:t>
            </a:r>
          </a:p>
          <a:p>
            <a:pPr algn="ctr">
              <a:spcAft>
                <a:spcPts val="0"/>
              </a:spcAft>
            </a:pPr>
            <a:r>
              <a:rPr sz="1500">
                <a:solidFill>
                  <a:srgbClr val="464646"/>
                </a:solidFill>
                <a:latin typeface="Malgun Gothic"/>
              </a:rPr>
              <a:t>Self 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1435608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685032"/>
            <a:ext cx="2670048" cy="749808"/>
          </a:xfrm>
          <a:prstGeom prst="rect">
            <a:avLst/>
          </a:prstGeom>
          <a:solidFill>
            <a:srgbClr val="E4E4E4"/>
          </a:solidFill>
          <a:ln w="1270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60320" y="3703320"/>
            <a:ext cx="2670048" cy="219456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1800" b="1">
                <a:solidFill>
                  <a:srgbClr val="4B4B4B"/>
                </a:solidFill>
                <a:latin typeface="Malgun Gothic"/>
              </a:rPr>
              <a:t>계정계 및 단위업무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023360"/>
            <a:ext cx="2304288" cy="210312"/>
          </a:xfrm>
          <a:prstGeom prst="rect">
            <a:avLst/>
          </a:prstGeom>
          <a:solidFill>
            <a:srgbClr val="F2F2F2"/>
          </a:solidFill>
          <a:ln w="508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70048" y="4023360"/>
            <a:ext cx="320040" cy="201168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400" b="0">
                <a:solidFill>
                  <a:srgbClr val="5F5F5F"/>
                </a:solidFill>
                <a:latin typeface="Malgun Gothic"/>
              </a:rPr>
              <a:t>고객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7248" y="4023360"/>
            <a:ext cx="320040" cy="201168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400" b="0">
                <a:solidFill>
                  <a:srgbClr val="5F5F5F"/>
                </a:solidFill>
                <a:latin typeface="Malgun Gothic"/>
              </a:rPr>
              <a:t>수신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4023360"/>
            <a:ext cx="182880" cy="201168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400" b="0">
                <a:solidFill>
                  <a:srgbClr val="5F5F5F"/>
                </a:solidFill>
                <a:latin typeface="Malgun Gothic"/>
              </a:rPr>
              <a:t>...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3632" y="4023360"/>
            <a:ext cx="640080" cy="201168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400" b="0">
                <a:solidFill>
                  <a:srgbClr val="5F5F5F"/>
                </a:solidFill>
                <a:latin typeface="Malgun Gothic"/>
              </a:rPr>
              <a:t>경영관리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4828032"/>
            <a:ext cx="2697480" cy="1024128"/>
          </a:xfrm>
          <a:prstGeom prst="rect">
            <a:avLst/>
          </a:prstGeom>
          <a:solidFill>
            <a:srgbClr val="ECF8F0"/>
          </a:solidFill>
          <a:ln w="25400">
            <a:solidFill>
              <a:srgbClr val="38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31720" y="4855464"/>
            <a:ext cx="2697480" cy="320040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2000" b="1">
                <a:solidFill>
                  <a:srgbClr val="373737"/>
                </a:solidFill>
                <a:latin typeface="Malgun Gothic"/>
              </a:rPr>
              <a:t>데이터플랫폼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5285232"/>
            <a:ext cx="2423160" cy="429768"/>
          </a:xfrm>
          <a:prstGeom prst="rect">
            <a:avLst/>
          </a:prstGeom>
          <a:solidFill>
            <a:srgbClr val="F5F5F5"/>
          </a:solidFill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t"/>
          <a:lstStyle/>
          <a:p>
            <a:pPr algn="ctr">
              <a:spcAft>
                <a:spcPts val="0"/>
              </a:spcAft>
            </a:pPr>
            <a:r>
              <a:rPr sz="1250">
                <a:solidFill>
                  <a:srgbClr val="464646"/>
                </a:solidFill>
                <a:latin typeface="Malgun Gothic"/>
              </a:rPr>
              <a:t>RDW(Real-Time DW)       데이터</a:t>
            </a:r>
          </a:p>
          <a:p>
            <a:pPr algn="ctr">
              <a:spcAft>
                <a:spcPts val="0"/>
              </a:spcAft>
            </a:pPr>
            <a:r>
              <a:rPr sz="1250">
                <a:solidFill>
                  <a:srgbClr val="464646"/>
                </a:solidFill>
                <a:latin typeface="Malgun Gothic"/>
              </a:rPr>
              <a:t>ADW(Analytical DW)      마트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526280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096512"/>
            <a:ext cx="1389888" cy="1783080"/>
          </a:xfrm>
          <a:prstGeom prst="rect">
            <a:avLst/>
          </a:prstGeom>
          <a:solidFill>
            <a:srgbClr val="ECF8F0"/>
          </a:solidFill>
          <a:ln w="25400">
            <a:solidFill>
              <a:srgbClr val="38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77840" y="4123944"/>
            <a:ext cx="1389888" cy="320040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373737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0" y="4553712"/>
            <a:ext cx="1115568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464646"/>
                </a:solidFill>
                <a:latin typeface="Malgun Gothic"/>
              </a:rPr>
              <a:t>비즈메타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464646"/>
                </a:solidFill>
                <a:latin typeface="Malgun Gothic"/>
              </a:rPr>
              <a:t>데이터 품질</a:t>
            </a:r>
          </a:p>
          <a:p>
            <a:pPr algn="ctr">
              <a:spcAft>
                <a:spcPts val="0"/>
              </a:spcAft>
            </a:pPr>
            <a:r>
              <a:rPr sz="1400">
                <a:solidFill>
                  <a:srgbClr val="464646"/>
                </a:solidFill>
                <a:latin typeface="Malgun Gothic"/>
              </a:rPr>
              <a:t>데이터 흐름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96128" y="3794760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61304" y="3794760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3794760"/>
            <a:ext cx="228600" cy="256032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" y="5989320"/>
            <a:ext cx="6492240" cy="841248"/>
          </a:xfrm>
          <a:prstGeom prst="rect">
            <a:avLst/>
          </a:prstGeom>
          <a:solidFill>
            <a:srgbClr val="ECF8F0"/>
          </a:solidFill>
          <a:ln w="25400">
            <a:solidFill>
              <a:srgbClr val="38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5488" y="5989320"/>
            <a:ext cx="6492240" cy="219456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1700" b="1">
                <a:solidFill>
                  <a:srgbClr val="3C3C3C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" y="6272784"/>
            <a:ext cx="1944624" cy="164592"/>
          </a:xfrm>
          <a:prstGeom prst="rect">
            <a:avLst/>
          </a:prstGeom>
          <a:solidFill>
            <a:srgbClr val="F3F3F3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85216" y="6272784"/>
            <a:ext cx="1944624" cy="164592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Malgun Gothic"/>
              </a:rPr>
              <a:t>개발환경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2992" y="6272784"/>
            <a:ext cx="1944624" cy="164592"/>
          </a:xfrm>
          <a:prstGeom prst="rect">
            <a:avLst/>
          </a:prstGeom>
          <a:solidFill>
            <a:srgbClr val="F3F3F3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02992" y="6272784"/>
            <a:ext cx="1944624" cy="164592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Malgun Gothic"/>
              </a:rPr>
              <a:t>어플리케이션 서비스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20768" y="6272784"/>
            <a:ext cx="1944624" cy="164592"/>
          </a:xfrm>
          <a:prstGeom prst="rect">
            <a:avLst/>
          </a:prstGeom>
          <a:solidFill>
            <a:srgbClr val="F3F3F3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20768" y="6272784"/>
            <a:ext cx="1944624" cy="164592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Malgun Gothic"/>
              </a:rPr>
              <a:t>데이터 서비스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" y="6473952"/>
            <a:ext cx="1944624" cy="164592"/>
          </a:xfrm>
          <a:prstGeom prst="rect">
            <a:avLst/>
          </a:prstGeom>
          <a:solidFill>
            <a:srgbClr val="F3F3F3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5216" y="6473952"/>
            <a:ext cx="1944624" cy="164592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Malgun Gothic"/>
              </a:rPr>
              <a:t>인프라 서비스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02992" y="6473952"/>
            <a:ext cx="1944624" cy="164592"/>
          </a:xfrm>
          <a:prstGeom prst="rect">
            <a:avLst/>
          </a:prstGeom>
          <a:solidFill>
            <a:srgbClr val="F3F3F3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602992" y="6473952"/>
            <a:ext cx="1944624" cy="164592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Malgun Gothic"/>
              </a:rPr>
              <a:t>인프라 자원관리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20768" y="6473952"/>
            <a:ext cx="1944624" cy="164592"/>
          </a:xfrm>
          <a:prstGeom prst="rect">
            <a:avLst/>
          </a:prstGeom>
          <a:solidFill>
            <a:srgbClr val="F3F3F3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620768" y="6473952"/>
            <a:ext cx="1944624" cy="164592"/>
          </a:xfrm>
          <a:prstGeom prst="rect">
            <a:avLst/>
          </a:prstGeom>
          <a:noFill/>
        </p:spPr>
        <p:txBody>
          <a:bodyPr wrap="square" lIns="9144" tIns="4572" rIns="9144" bIns="1828" anchor="ctr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Malgun Gothic"/>
              </a:rPr>
              <a:t>관리 환경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" y="5705856"/>
            <a:ext cx="228600" cy="237744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8" y="5705856"/>
            <a:ext cx="228600" cy="237744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5705856"/>
            <a:ext cx="228600" cy="237744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33488" y="1536192"/>
            <a:ext cx="3090672" cy="292608"/>
          </a:xfrm>
          <a:prstGeom prst="rect">
            <a:avLst/>
          </a:prstGeom>
          <a:noFill/>
        </p:spPr>
        <p:txBody>
          <a:bodyPr wrap="square" lIns="45720" tIns="22860" rIns="45720" bIns="9144" anchor="ctr">
            <a:spAutoFit/>
          </a:bodyPr>
          <a:lstStyle/>
          <a:p>
            <a:pPr algn="ctr"/>
            <a:r>
              <a:rPr sz="2000" b="1">
                <a:solidFill>
                  <a:srgbClr val="3C3C3C"/>
                </a:solidFill>
                <a:latin typeface="Malgun Gothic"/>
              </a:rPr>
              <a:t>차세대 구축 방향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70648" y="1847088"/>
            <a:ext cx="2816352" cy="18288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333488" y="1956816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0376" y="1956816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635240" y="1956816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데이터플랫폼 구축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33488" y="2249424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80376" y="2249424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635240" y="2249424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마케팅플랫폼 구축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33488" y="2542032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0376" y="2542032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35240" y="2542032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BI포탈 사용자 중심 통합 분석 환경 구축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33488" y="2834640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0376" y="2834640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635240" y="2834640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마케팅 중심의 표준 상담 프로세스 수립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33488" y="3127248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80376" y="3127248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635240" y="3127248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개인화 마케팅 콘텐츠 고도화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33488" y="3419856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80376" y="3419856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35240" y="3419856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통합 고객 / 상품 정보 관리 체계 수립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33488" y="3712464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80376" y="3712464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635240" y="3712464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채널 연계 체계 구축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33488" y="4005072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80376" y="4005072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35240" y="4005072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데이터 표준정비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33488" y="4297680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80376" y="4297680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35240" y="4297680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데이터 품질 관리 체계 수립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33488" y="4590288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0376" y="4590288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635240" y="4590288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데이터 흐름 관리 체계 수립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3488" y="4882896"/>
            <a:ext cx="219456" cy="384048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80376" y="4882896"/>
            <a:ext cx="2843784" cy="384048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35240" y="4882896"/>
            <a:ext cx="2770632" cy="384048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940" b="0">
                <a:solidFill>
                  <a:srgbClr val="373737"/>
                </a:solidFill>
                <a:latin typeface="Malgun Gothic"/>
              </a:rPr>
              <a:t>표준 프레임워크 정의 및 통합 개발 환경 구축</a:t>
            </a:r>
            <a:r>
              <a:t/>
            </a:r>
            <a:br/>
            <a:r>
              <a:t>(※ UI 단말 프레임워크, NH Cloud Framework)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333488" y="5294376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80376" y="5294376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635240" y="5294376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고가용성 아키텍처 구축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333488" y="5586984"/>
            <a:ext cx="219456" cy="265176"/>
          </a:xfrm>
          <a:prstGeom prst="rect">
            <a:avLst/>
          </a:prstGeom>
          <a:solidFill>
            <a:srgbClr val="535C5C"/>
          </a:solidFill>
          <a:ln w="10160">
            <a:solidFill>
              <a:srgbClr val="53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80376" y="5586984"/>
            <a:ext cx="2843784" cy="265176"/>
          </a:xfrm>
          <a:prstGeom prst="rect">
            <a:avLst/>
          </a:prstGeom>
          <a:solidFill>
            <a:srgbClr val="F8F8F8"/>
          </a:solidFill>
          <a:ln w="762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635240" y="5586984"/>
            <a:ext cx="2770632" cy="265176"/>
          </a:xfrm>
          <a:prstGeom prst="rect">
            <a:avLst/>
          </a:prstGeom>
          <a:noFill/>
        </p:spPr>
        <p:txBody>
          <a:bodyPr wrap="square" lIns="18288" tIns="9144" rIns="18288" bIns="3657" anchor="ctr">
            <a:spAutoFit/>
          </a:bodyPr>
          <a:lstStyle/>
          <a:p>
            <a:pPr algn="l"/>
            <a:r>
              <a:rPr sz="1050" b="0">
                <a:solidFill>
                  <a:srgbClr val="373737"/>
                </a:solidFill>
                <a:latin typeface="Malgun Gothic"/>
              </a:rPr>
              <a:t>Biz Meta 중심 데이터 탐색 활용 체계 수립</a:t>
            </a:r>
          </a:p>
        </p:txBody>
      </p:sp>
      <p:sp>
        <p:nvSpPr>
          <p:cNvPr id="114" name="Left-Right Arrow 113"/>
          <p:cNvSpPr/>
          <p:nvPr/>
        </p:nvSpPr>
        <p:spPr>
          <a:xfrm>
            <a:off x="1874519" y="2359152"/>
            <a:ext cx="365760" cy="146304"/>
          </a:xfrm>
          <a:prstGeom prst="leftRight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Left-Right Arrow 114"/>
          <p:cNvSpPr/>
          <p:nvPr/>
        </p:nvSpPr>
        <p:spPr>
          <a:xfrm>
            <a:off x="1874519" y="3977639"/>
            <a:ext cx="530352" cy="146304"/>
          </a:xfrm>
          <a:prstGeom prst="leftRight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Left-Right Arrow 115"/>
          <p:cNvSpPr/>
          <p:nvPr/>
        </p:nvSpPr>
        <p:spPr>
          <a:xfrm>
            <a:off x="1874519" y="5349240"/>
            <a:ext cx="365760" cy="146304"/>
          </a:xfrm>
          <a:prstGeom prst="leftRight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Left-Right Arrow 116"/>
          <p:cNvSpPr/>
          <p:nvPr/>
        </p:nvSpPr>
        <p:spPr>
          <a:xfrm>
            <a:off x="5102352" y="2359152"/>
            <a:ext cx="384048" cy="146304"/>
          </a:xfrm>
          <a:prstGeom prst="leftRight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Left-Right Arrow 117"/>
          <p:cNvSpPr/>
          <p:nvPr/>
        </p:nvSpPr>
        <p:spPr>
          <a:xfrm>
            <a:off x="5102352" y="3977639"/>
            <a:ext cx="384048" cy="146304"/>
          </a:xfrm>
          <a:prstGeom prst="leftRight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Left-Right Arrow 118"/>
          <p:cNvSpPr/>
          <p:nvPr/>
        </p:nvSpPr>
        <p:spPr>
          <a:xfrm>
            <a:off x="5102352" y="5349240"/>
            <a:ext cx="384048" cy="146304"/>
          </a:xfrm>
          <a:prstGeom prst="leftRight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Up-Down Arrow 119"/>
          <p:cNvSpPr/>
          <p:nvPr/>
        </p:nvSpPr>
        <p:spPr>
          <a:xfrm>
            <a:off x="3611880" y="3319272"/>
            <a:ext cx="146304" cy="256032"/>
          </a:xfrm>
          <a:prstGeom prst="upDown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Up-Down Arrow 120"/>
          <p:cNvSpPr/>
          <p:nvPr/>
        </p:nvSpPr>
        <p:spPr>
          <a:xfrm>
            <a:off x="3611880" y="4453128"/>
            <a:ext cx="146304" cy="256032"/>
          </a:xfrm>
          <a:prstGeom prst="upDown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Up-Down Arrow 121"/>
          <p:cNvSpPr/>
          <p:nvPr/>
        </p:nvSpPr>
        <p:spPr>
          <a:xfrm>
            <a:off x="1170432" y="5614416"/>
            <a:ext cx="146304" cy="164592"/>
          </a:xfrm>
          <a:prstGeom prst="upDown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Up-Down Arrow 122"/>
          <p:cNvSpPr/>
          <p:nvPr/>
        </p:nvSpPr>
        <p:spPr>
          <a:xfrm>
            <a:off x="4462272" y="5614416"/>
            <a:ext cx="146304" cy="164592"/>
          </a:xfrm>
          <a:prstGeom prst="upDown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Up-Down Arrow 123"/>
          <p:cNvSpPr/>
          <p:nvPr/>
        </p:nvSpPr>
        <p:spPr>
          <a:xfrm>
            <a:off x="6291072" y="5614416"/>
            <a:ext cx="146304" cy="164592"/>
          </a:xfrm>
          <a:prstGeom prst="upDownArrow">
            <a:avLst/>
          </a:prstGeom>
          <a:solidFill>
            <a:srgbClr val="AAAAAA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61264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73737"/>
                </a:solidFill>
                <a:latin typeface="Malgun Gothic"/>
              </a:rPr>
              <a:t>어플리케이션 도메인 구성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4008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1E1E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38328"/>
            <a:ext cx="23774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1E1E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822960" cy="36576"/>
          </a:xfrm>
          <a:prstGeom prst="rect">
            <a:avLst/>
          </a:prstGeom>
          <a:solidFill>
            <a:srgbClr val="40629D"/>
          </a:solidFill>
          <a:ln>
            <a:solidFill>
              <a:srgbClr val="406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457200" cy="36576"/>
          </a:xfrm>
          <a:prstGeom prst="rect">
            <a:avLst/>
          </a:prstGeom>
          <a:solidFill>
            <a:srgbClr val="96C846"/>
          </a:solidFill>
          <a:ln>
            <a:solidFill>
              <a:srgbClr val="96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0" y="1280160"/>
            <a:ext cx="10744200" cy="36576"/>
          </a:xfrm>
          <a:prstGeom prst="rect">
            <a:avLst/>
          </a:prstGeom>
          <a:solidFill>
            <a:srgbClr val="2C9152"/>
          </a:solidFill>
          <a:ln>
            <a:solidFill>
              <a:srgbClr val="2C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201400" cy="6144768"/>
          </a:xfrm>
          <a:prstGeom prst="rect">
            <a:avLst/>
          </a:prstGeom>
          <a:solidFill>
            <a:srgbClr val="EBEFEE"/>
          </a:solidFill>
          <a:ln w="12700">
            <a:solidFill>
              <a:srgbClr val="A0A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201400" cy="393192"/>
          </a:xfrm>
          <a:prstGeom prst="rect">
            <a:avLst/>
          </a:prstGeom>
          <a:solidFill>
            <a:srgbClr val="2B5048"/>
          </a:solidFill>
          <a:ln w="7620">
            <a:solidFill>
              <a:srgbClr val="2B5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20140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1947672" cy="379476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911095"/>
            <a:ext cx="19476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32323"/>
                </a:solidFill>
                <a:latin typeface="Malgun Gothic"/>
              </a:rPr>
              <a:t>데이터플랫폼 RDW</a:t>
            </a:r>
          </a:p>
        </p:txBody>
      </p:sp>
      <p:sp>
        <p:nvSpPr>
          <p:cNvPr id="13" name="Rounded Rectangle 12"/>
          <p:cNvSpPr/>
          <p:nvPr/>
        </p:nvSpPr>
        <p:spPr>
          <a:xfrm rot="20100000">
            <a:off x="2167128" y="1892807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2377439"/>
            <a:ext cx="1746504" cy="182880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377439"/>
            <a:ext cx="1746504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259689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59689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고객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1120" y="259689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41120" y="259689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상품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3287" y="259689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23287" y="259689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수신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289407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89407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외환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41120" y="289407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41120" y="289407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여신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3287" y="289407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3287" y="289407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....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3310128"/>
            <a:ext cx="1746504" cy="182880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3310128"/>
            <a:ext cx="1746504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3602736"/>
            <a:ext cx="1746504" cy="182880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3602736"/>
            <a:ext cx="1746504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보고서 마트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3895344"/>
            <a:ext cx="1746504" cy="182880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895344"/>
            <a:ext cx="1746504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Feed 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88335" y="1874519"/>
            <a:ext cx="1947672" cy="379476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88335" y="1911095"/>
            <a:ext cx="19476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32323"/>
                </a:solidFill>
                <a:latin typeface="Malgun Gothic"/>
              </a:rPr>
              <a:t>데이터플랫폼 ADW</a:t>
            </a:r>
          </a:p>
        </p:txBody>
      </p:sp>
      <p:sp>
        <p:nvSpPr>
          <p:cNvPr id="36" name="Rounded Rectangle 35"/>
          <p:cNvSpPr/>
          <p:nvPr/>
        </p:nvSpPr>
        <p:spPr>
          <a:xfrm rot="20100000">
            <a:off x="4178807" y="1892807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19" y="2377439"/>
            <a:ext cx="1746504" cy="182880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88919" y="2377439"/>
            <a:ext cx="1746504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19" y="259689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88919" y="259689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고객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71087" y="259689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71087" y="259689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상품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3255" y="259689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3255" y="259689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수신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19" y="289407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88919" y="289407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외환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1087" y="289407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71087" y="289407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여신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53255" y="2894076"/>
            <a:ext cx="582168" cy="29718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53255" y="2894076"/>
            <a:ext cx="582168" cy="2971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323232"/>
                </a:solidFill>
                <a:latin typeface="Malgun Gothic"/>
              </a:rPr>
              <a:t>....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19" y="3291839"/>
            <a:ext cx="1746504" cy="164592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88919" y="3291839"/>
            <a:ext cx="174650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19" y="3474720"/>
            <a:ext cx="873252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88919" y="3474720"/>
            <a:ext cx="87325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고객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62171" y="3474720"/>
            <a:ext cx="873252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62171" y="3474720"/>
            <a:ext cx="87325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업무별 통합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19" y="3694176"/>
            <a:ext cx="873252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8919" y="3694176"/>
            <a:ext cx="87325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계수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62171" y="3694176"/>
            <a:ext cx="873252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62171" y="3694176"/>
            <a:ext cx="87325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....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19" y="3986783"/>
            <a:ext cx="1746504" cy="164592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88919" y="3986783"/>
            <a:ext cx="174650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보고서 마트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19" y="4169663"/>
            <a:ext cx="873252" cy="27432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88919" y="4169663"/>
            <a:ext cx="873252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실적 보고서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62171" y="4169663"/>
            <a:ext cx="873252" cy="274320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62171" y="4169663"/>
            <a:ext cx="873252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OLAP 마트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19" y="4535424"/>
            <a:ext cx="1746504" cy="164592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19" y="4535424"/>
            <a:ext cx="174650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단위업무 마트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88919" y="4773168"/>
            <a:ext cx="1746504" cy="164592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88919" y="4773168"/>
            <a:ext cx="174650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Feed Back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88919" y="5010912"/>
            <a:ext cx="1746504" cy="164592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88919" y="5010912"/>
            <a:ext cx="174650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분석 지원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5760720"/>
            <a:ext cx="3977639" cy="150876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8368" y="5779007"/>
            <a:ext cx="3977639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2828"/>
                </a:solidFill>
                <a:latin typeface="Malgun Gothic"/>
              </a:rPr>
              <a:t>빅데이터플랫폼</a:t>
            </a:r>
          </a:p>
        </p:txBody>
      </p:sp>
      <p:sp>
        <p:nvSpPr>
          <p:cNvPr id="75" name="Rounded Rectangle 74"/>
          <p:cNvSpPr/>
          <p:nvPr/>
        </p:nvSpPr>
        <p:spPr>
          <a:xfrm rot="20280000">
            <a:off x="4133087" y="5788152"/>
            <a:ext cx="603504" cy="182880"/>
          </a:xfrm>
          <a:prstGeom prst="roundRect">
            <a:avLst/>
          </a:prstGeom>
          <a:solidFill>
            <a:srgbClr val="C6B65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대응개발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19" y="6172200"/>
            <a:ext cx="1203959" cy="201168"/>
          </a:xfrm>
          <a:prstGeom prst="rect">
            <a:avLst/>
          </a:prstGeom>
          <a:solidFill>
            <a:srgbClr val="374141"/>
          </a:solidFill>
          <a:ln w="7620">
            <a:solidFill>
              <a:srgbClr val="37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19" y="6172200"/>
            <a:ext cx="120395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FFFFFF"/>
                </a:solidFill>
                <a:latin typeface="Malgun Gothic"/>
              </a:rPr>
              <a:t>데이터 처리/저장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19" y="6400800"/>
            <a:ext cx="1203959" cy="7863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31519" y="6400800"/>
            <a:ext cx="1203959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분석 데이터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원천·마트·결과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실시간 데이터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HDFS/NoSQL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81199" y="6172200"/>
            <a:ext cx="1203959" cy="201168"/>
          </a:xfrm>
          <a:prstGeom prst="rect">
            <a:avLst/>
          </a:prstGeom>
          <a:solidFill>
            <a:srgbClr val="374141"/>
          </a:solidFill>
          <a:ln w="7620">
            <a:solidFill>
              <a:srgbClr val="37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81199" y="6172200"/>
            <a:ext cx="120395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FFFFFF"/>
                </a:solidFill>
                <a:latin typeface="Malgun Gothic"/>
              </a:rPr>
              <a:t>데이터 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81199" y="6400800"/>
            <a:ext cx="1203959" cy="7863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981199" y="6400800"/>
            <a:ext cx="1203959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배치/사용자분석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마케팅·리스크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텍스트·오픈소스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SAS분석 플랫폼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30879" y="6172200"/>
            <a:ext cx="1203959" cy="201168"/>
          </a:xfrm>
          <a:prstGeom prst="rect">
            <a:avLst/>
          </a:prstGeom>
          <a:solidFill>
            <a:srgbClr val="374141"/>
          </a:solidFill>
          <a:ln w="7620">
            <a:solidFill>
              <a:srgbClr val="37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230879" y="6172200"/>
            <a:ext cx="120395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FFFFFF"/>
                </a:solidFill>
                <a:latin typeface="Malgun Gothic"/>
              </a:rPr>
              <a:t>데이터 관리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30879" y="6400800"/>
            <a:ext cx="1203959" cy="7863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30879" y="6400800"/>
            <a:ext cx="1203959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데이터 카탈로그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메타 관리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분석 모델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18303" y="1874519"/>
            <a:ext cx="1965960" cy="539496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18303" y="1911095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2323"/>
                </a:solidFill>
                <a:latin typeface="Malgun Gothic"/>
              </a:rPr>
              <a:t>BI 포탈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09743" y="2350008"/>
            <a:ext cx="1783080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809743" y="2350008"/>
            <a:ext cx="1783080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09743" y="2523744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809743" y="2523744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계정/권한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01283" y="2523744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701283" y="2523744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결재관리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09743" y="2747772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809743" y="2747772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통합검색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01283" y="2747772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01283" y="2747772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활용지원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09743" y="2971800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09743" y="2971800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커뮤니케이션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01283" y="2971800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701283" y="2971800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보고서관리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09743" y="3195827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9743" y="3195827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시스템연계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01283" y="3195827"/>
            <a:ext cx="891540" cy="224028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701283" y="3195827"/>
            <a:ext cx="891540" cy="2240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관리자기능</a:t>
            </a:r>
          </a:p>
        </p:txBody>
      </p:sp>
      <p:sp>
        <p:nvSpPr>
          <p:cNvPr id="108" name="Rounded Rectangle 107"/>
          <p:cNvSpPr/>
          <p:nvPr/>
        </p:nvSpPr>
        <p:spPr>
          <a:xfrm rot="20100000">
            <a:off x="6272783" y="2496312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09743" y="3456432"/>
            <a:ext cx="1783080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809743" y="3456432"/>
            <a:ext cx="1783080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신용 실적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09743" y="3630168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809743" y="3630168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수신실적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01283" y="3630168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701283" y="3630168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여신실적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09743" y="3851909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809743" y="3851909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계좌실적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01283" y="3851909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701283" y="3851909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사무량관리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09743" y="4073652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809743" y="4073652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종합메리트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701283" y="4073652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701283" y="4073652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기타실적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809743" y="4295394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809743" y="4295394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BIMS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01283" y="4295394"/>
            <a:ext cx="891540" cy="22174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701283" y="4295394"/>
            <a:ext cx="891540" cy="22174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실적공통</a:t>
            </a:r>
          </a:p>
        </p:txBody>
      </p:sp>
      <p:sp>
        <p:nvSpPr>
          <p:cNvPr id="127" name="Rounded Rectangle 126"/>
          <p:cNvSpPr/>
          <p:nvPr/>
        </p:nvSpPr>
        <p:spPr>
          <a:xfrm rot="20100000">
            <a:off x="6272783" y="3438144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809743" y="4553712"/>
            <a:ext cx="1783080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809743" y="4553712"/>
            <a:ext cx="1783080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OLAP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809743" y="4727448"/>
            <a:ext cx="891540" cy="3291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809743" y="4727448"/>
            <a:ext cx="89154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정형 보고서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701283" y="4727448"/>
            <a:ext cx="891540" cy="3291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701283" y="4727448"/>
            <a:ext cx="89154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비정형 보고서</a:t>
            </a:r>
          </a:p>
        </p:txBody>
      </p:sp>
      <p:sp>
        <p:nvSpPr>
          <p:cNvPr id="134" name="Rounded Rectangle 133"/>
          <p:cNvSpPr/>
          <p:nvPr/>
        </p:nvSpPr>
        <p:spPr>
          <a:xfrm rot="20100000">
            <a:off x="6272783" y="4544568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9743" y="5093207"/>
            <a:ext cx="1783080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809743" y="5093207"/>
            <a:ext cx="1783080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Self-BI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809743" y="5266944"/>
            <a:ext cx="891540" cy="3291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809743" y="5266944"/>
            <a:ext cx="89154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자연어 질의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01283" y="5266944"/>
            <a:ext cx="891540" cy="32918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701283" y="5266944"/>
            <a:ext cx="89154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비정형 보고서</a:t>
            </a:r>
          </a:p>
        </p:txBody>
      </p:sp>
      <p:sp>
        <p:nvSpPr>
          <p:cNvPr id="141" name="Rounded Rectangle 140"/>
          <p:cNvSpPr/>
          <p:nvPr/>
        </p:nvSpPr>
        <p:spPr>
          <a:xfrm rot="20100000">
            <a:off x="6272783" y="5084064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09743" y="5632703"/>
            <a:ext cx="1783080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809743" y="5632703"/>
            <a:ext cx="1783080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대시보드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809743" y="5806440"/>
            <a:ext cx="891540" cy="30175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809743" y="5806440"/>
            <a:ext cx="89154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경영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01283" y="5806440"/>
            <a:ext cx="891540" cy="30175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701283" y="5806440"/>
            <a:ext cx="89154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23232"/>
                </a:solidFill>
                <a:latin typeface="Malgun Gothic"/>
              </a:rPr>
              <a:t>거버넌스</a:t>
            </a:r>
          </a:p>
        </p:txBody>
      </p:sp>
      <p:sp>
        <p:nvSpPr>
          <p:cNvPr id="148" name="Rounded Rectangle 147"/>
          <p:cNvSpPr/>
          <p:nvPr/>
        </p:nvSpPr>
        <p:spPr>
          <a:xfrm rot="20100000">
            <a:off x="6272783" y="5623559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766559" y="1874519"/>
            <a:ext cx="2057400" cy="539496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766559" y="1911095"/>
            <a:ext cx="2057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2323"/>
                </a:solidFill>
                <a:latin typeface="Malgun Gothic"/>
              </a:rPr>
              <a:t>마케팅플랫폼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57999" y="2350008"/>
            <a:ext cx="1874519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857999" y="2350008"/>
            <a:ext cx="1874519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마케팅 공통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857999" y="2523744"/>
            <a:ext cx="624839" cy="31089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857999" y="2523744"/>
            <a:ext cx="624839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권한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482839" y="2523744"/>
            <a:ext cx="624839" cy="31089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482839" y="2523744"/>
            <a:ext cx="624839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메뉴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107679" y="2523744"/>
            <a:ext cx="624839" cy="31089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107679" y="2523744"/>
            <a:ext cx="624839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화면</a:t>
            </a:r>
          </a:p>
        </p:txBody>
      </p:sp>
      <p:sp>
        <p:nvSpPr>
          <p:cNvPr id="159" name="Rounded Rectangle 158"/>
          <p:cNvSpPr/>
          <p:nvPr/>
        </p:nvSpPr>
        <p:spPr>
          <a:xfrm rot="20100000">
            <a:off x="8421624" y="2340863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857999" y="2871215"/>
            <a:ext cx="1874519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857999" y="2871215"/>
            <a:ext cx="1874519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고객 정보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857999" y="3044951"/>
            <a:ext cx="624839" cy="37490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857999" y="3044951"/>
            <a:ext cx="624839" cy="3749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323232"/>
                </a:solidFill>
                <a:latin typeface="Malgun Gothic"/>
              </a:rPr>
              <a:t>통합고객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482839" y="3044951"/>
            <a:ext cx="624839" cy="37490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482839" y="3044951"/>
            <a:ext cx="624839" cy="3749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323232"/>
                </a:solidFill>
                <a:latin typeface="Malgun Gothic"/>
              </a:rPr>
              <a:t>개인/기업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107679" y="3044951"/>
            <a:ext cx="624839" cy="37490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8107679" y="3044951"/>
            <a:ext cx="624839" cy="3749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323232"/>
                </a:solidFill>
                <a:latin typeface="Malgun Gothic"/>
              </a:rPr>
              <a:t>미니SV</a:t>
            </a:r>
          </a:p>
        </p:txBody>
      </p:sp>
      <p:sp>
        <p:nvSpPr>
          <p:cNvPr id="168" name="Rounded Rectangle 167"/>
          <p:cNvSpPr/>
          <p:nvPr/>
        </p:nvSpPr>
        <p:spPr>
          <a:xfrm rot="20100000">
            <a:off x="8421624" y="2852927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857999" y="3456432"/>
            <a:ext cx="1874519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857999" y="3456432"/>
            <a:ext cx="1874519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고객 상담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857999" y="3630168"/>
            <a:ext cx="937259" cy="31089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6857999" y="3630168"/>
            <a:ext cx="937259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상담 판매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795259" y="3630168"/>
            <a:ext cx="937259" cy="31089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7795259" y="3630168"/>
            <a:ext cx="937259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통합 상품</a:t>
            </a:r>
          </a:p>
        </p:txBody>
      </p:sp>
      <p:sp>
        <p:nvSpPr>
          <p:cNvPr id="175" name="Rounded Rectangle 174"/>
          <p:cNvSpPr/>
          <p:nvPr/>
        </p:nvSpPr>
        <p:spPr>
          <a:xfrm rot="20100000">
            <a:off x="8421624" y="3447287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857999" y="3977639"/>
            <a:ext cx="1874519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857999" y="3977639"/>
            <a:ext cx="1874519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이벤트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857999" y="4151376"/>
            <a:ext cx="624839" cy="32461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857999" y="4151376"/>
            <a:ext cx="624839" cy="3246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23232"/>
                </a:solidFill>
                <a:latin typeface="Malgun Gothic"/>
              </a:rPr>
              <a:t>캠페인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482839" y="4151376"/>
            <a:ext cx="624839" cy="32461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7482839" y="4151376"/>
            <a:ext cx="624839" cy="3246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23232"/>
                </a:solidFill>
                <a:latin typeface="Malgun Gothic"/>
              </a:rPr>
              <a:t>EBM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107679" y="4151376"/>
            <a:ext cx="624839" cy="32461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107679" y="4151376"/>
            <a:ext cx="624839" cy="3246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23232"/>
                </a:solidFill>
                <a:latin typeface="Malgun Gothic"/>
              </a:rPr>
              <a:t>실시간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857999" y="4475988"/>
            <a:ext cx="624839" cy="32461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6857999" y="4475988"/>
            <a:ext cx="624839" cy="3246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23232"/>
                </a:solidFill>
                <a:latin typeface="Malgun Gothic"/>
              </a:rPr>
              <a:t>행동정보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482839" y="4475988"/>
            <a:ext cx="624839" cy="32461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7482839" y="4475988"/>
            <a:ext cx="624839" cy="3246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23232"/>
                </a:solidFill>
                <a:latin typeface="Malgun Gothic"/>
              </a:rPr>
              <a:t>고객행동</a:t>
            </a:r>
          </a:p>
        </p:txBody>
      </p:sp>
      <p:sp>
        <p:nvSpPr>
          <p:cNvPr id="188" name="Rounded Rectangle 187"/>
          <p:cNvSpPr/>
          <p:nvPr/>
        </p:nvSpPr>
        <p:spPr>
          <a:xfrm rot="20100000">
            <a:off x="8074151" y="3968496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89" name="Rounded Rectangle 188"/>
          <p:cNvSpPr/>
          <p:nvPr/>
        </p:nvSpPr>
        <p:spPr>
          <a:xfrm rot="20100000">
            <a:off x="8421624" y="3968496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857999" y="4837176"/>
            <a:ext cx="1874519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857999" y="4837176"/>
            <a:ext cx="1874519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마케팅 지원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857999" y="5010912"/>
            <a:ext cx="937259" cy="30175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857999" y="5010912"/>
            <a:ext cx="937259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영업 지원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795259" y="5010912"/>
            <a:ext cx="937259" cy="30175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795259" y="5010912"/>
            <a:ext cx="937259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마케팅 CS</a:t>
            </a:r>
          </a:p>
        </p:txBody>
      </p:sp>
      <p:sp>
        <p:nvSpPr>
          <p:cNvPr id="196" name="Rounded Rectangle 195"/>
          <p:cNvSpPr/>
          <p:nvPr/>
        </p:nvSpPr>
        <p:spPr>
          <a:xfrm rot="20100000">
            <a:off x="8421624" y="4828032"/>
            <a:ext cx="603504" cy="182880"/>
          </a:xfrm>
          <a:prstGeom prst="roundRect">
            <a:avLst/>
          </a:prstGeom>
          <a:solidFill>
            <a:srgbClr val="3173A6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857999" y="5349240"/>
            <a:ext cx="1874519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6857999" y="5349240"/>
            <a:ext cx="1874519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고객 접촉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857999" y="5522976"/>
            <a:ext cx="937259" cy="30175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857999" y="5522976"/>
            <a:ext cx="937259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콘텐츠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795259" y="5522976"/>
            <a:ext cx="937259" cy="30175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7795259" y="5522976"/>
            <a:ext cx="937259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23232"/>
                </a:solidFill>
                <a:latin typeface="Malgun Gothic"/>
              </a:rPr>
              <a:t>메시지</a:t>
            </a:r>
          </a:p>
        </p:txBody>
      </p:sp>
      <p:sp>
        <p:nvSpPr>
          <p:cNvPr id="203" name="Rounded Rectangle 202"/>
          <p:cNvSpPr/>
          <p:nvPr/>
        </p:nvSpPr>
        <p:spPr>
          <a:xfrm rot="20100000">
            <a:off x="8421624" y="5340096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906255" y="1874519"/>
            <a:ext cx="2029968" cy="233172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8906255" y="1911095"/>
            <a:ext cx="20299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206" name="Rounded Rectangle 205"/>
          <p:cNvSpPr/>
          <p:nvPr/>
        </p:nvSpPr>
        <p:spPr>
          <a:xfrm rot="20100000">
            <a:off x="10552176" y="1892807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997695" y="2350008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8997695" y="2350008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비즈 메타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997695" y="2523744"/>
            <a:ext cx="923544" cy="23774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8997695" y="2523744"/>
            <a:ext cx="92354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업무용어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921239" y="2523744"/>
            <a:ext cx="923544" cy="23774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9921239" y="2523744"/>
            <a:ext cx="92354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표준계수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97695" y="2798064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97695" y="2798064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데이터 흐름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997695" y="2971800"/>
            <a:ext cx="923544" cy="23774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8997695" y="2971800"/>
            <a:ext cx="92354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수집/파싱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921239" y="2971800"/>
            <a:ext cx="923544" cy="237744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9921239" y="2971800"/>
            <a:ext cx="923544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분석/검색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997695" y="3246120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8997695" y="3246120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데이터 품질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997695" y="3419856"/>
            <a:ext cx="923544" cy="16459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8997695" y="3419856"/>
            <a:ext cx="92354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CTQ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921239" y="3419856"/>
            <a:ext cx="923544" cy="16459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9921239" y="3419856"/>
            <a:ext cx="92354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DQI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997695" y="3584448"/>
            <a:ext cx="923544" cy="16459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8997695" y="3584448"/>
            <a:ext cx="92354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프로파일링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921239" y="3584448"/>
            <a:ext cx="923544" cy="164592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9921239" y="3584448"/>
            <a:ext cx="923544" cy="1645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323232"/>
                </a:solidFill>
                <a:latin typeface="Malgun Gothic"/>
              </a:rPr>
              <a:t>업무규칙(BR)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906255" y="4407408"/>
            <a:ext cx="2029968" cy="2926080"/>
          </a:xfrm>
          <a:prstGeom prst="rect">
            <a:avLst/>
          </a:prstGeom>
          <a:solidFill>
            <a:srgbClr val="ECF6F4"/>
          </a:solidFill>
          <a:ln w="15240">
            <a:solidFill>
              <a:srgbClr val="46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8906255" y="4443984"/>
            <a:ext cx="202996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2323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231" name="Rounded Rectangle 230"/>
          <p:cNvSpPr/>
          <p:nvPr/>
        </p:nvSpPr>
        <p:spPr>
          <a:xfrm rot="20100000">
            <a:off x="10552176" y="4425696"/>
            <a:ext cx="384048" cy="182880"/>
          </a:xfrm>
          <a:prstGeom prst="roundRect">
            <a:avLst/>
          </a:prstGeom>
          <a:solidFill>
            <a:srgbClr val="BB5337"/>
          </a:solidFill>
          <a:ln w="508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97695" y="4846320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997695" y="4846320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형상관리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997695" y="5020056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8997695" y="5020056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버전관리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921239" y="5020056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9921239" y="5020056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배포관리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997695" y="5276088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8997695" y="5276088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데이터 처리 / 보고서 디자이너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997695" y="5449824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8997695" y="5449824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ETL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921239" y="5449824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9921239" y="5449824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RD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997695" y="5705856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8997695" y="5705856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프레임워크 관리 / 라이브러리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997695" y="5879592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8997695" y="5879592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프레임워크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921239" y="5879592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921239" y="5879592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NEXUS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97695" y="6135624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97695" y="6135624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정보단말관리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997695" y="6309360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8997695" y="6309360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단말관리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21239" y="6309360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921239" y="6309360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단말배포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97695" y="6565392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997695" y="6565392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배치관리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997695" y="6739128"/>
            <a:ext cx="1847088" cy="17373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8997695" y="6739128"/>
            <a:ext cx="1847088" cy="1737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배치작업처리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997695" y="6949440"/>
            <a:ext cx="1847088" cy="155448"/>
          </a:xfrm>
          <a:prstGeom prst="rect">
            <a:avLst/>
          </a:prstGeom>
          <a:solidFill>
            <a:srgbClr val="1F7E7E"/>
          </a:solidFill>
          <a:ln w="7620">
            <a:solidFill>
              <a:srgbClr val="1F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8997695" y="6949440"/>
            <a:ext cx="1847088" cy="1554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Malgun Gothic"/>
              </a:rPr>
              <a:t>실시간 중계 / 시스템 공통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997695" y="7123176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8997695" y="7123176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CDC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9921239" y="7123176"/>
            <a:ext cx="923544" cy="219456"/>
          </a:xfrm>
          <a:prstGeom prst="rect">
            <a:avLst/>
          </a:prstGeom>
          <a:solidFill>
            <a:srgbClr val="FAFAFA"/>
          </a:solidFill>
          <a:ln w="6985">
            <a:solidFill>
              <a:srgbClr val="C6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9921239" y="7123176"/>
            <a:ext cx="923544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323232"/>
                </a:solidFill>
                <a:latin typeface="Malgun Gothic"/>
              </a:rPr>
              <a:t>시스템 기능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989320" y="7443216"/>
            <a:ext cx="2743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05050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r"/>
            <a:r>
              <a:rPr sz="1400" b="0">
                <a:solidFill>
                  <a:srgbClr val="000000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45775" y="301752"/>
            <a:ext cx="1463040" cy="22860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r"/>
            <a:r>
              <a:rPr sz="1400" b="0">
                <a:solidFill>
                  <a:srgbClr val="000000"/>
                </a:solidFill>
                <a:latin typeface="Malgun Gothic"/>
              </a:rPr>
              <a:t>1.1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5486400" cy="585216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l"/>
            <a:r>
              <a:rPr sz="2900" b="1">
                <a:solidFill>
                  <a:srgbClr val="414141"/>
                </a:solidFill>
                <a:latin typeface="Malgun Gothic"/>
              </a:rPr>
              <a:t>차세대 정보계 구축 방향 및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61872"/>
            <a:ext cx="822960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6187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07008" y="1261872"/>
            <a:ext cx="918972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9601200" cy="603504"/>
          </a:xfrm>
          <a:prstGeom prst="rect">
            <a:avLst/>
          </a:prstGeom>
          <a:noFill/>
        </p:spPr>
        <p:txBody>
          <a:bodyPr wrap="square" lIns="36576" tIns="14630" rIns="36576" bIns="5486" anchor="t">
            <a:spAutoFit/>
          </a:bodyPr>
          <a:lstStyle/>
          <a:p>
            <a:pPr algn="l"/>
            <a:r>
              <a:rPr sz="1650" b="0">
                <a:solidFill>
                  <a:srgbClr val="373737"/>
                </a:solidFill>
                <a:latin typeface="Malgun Gothic"/>
              </a:rPr>
              <a:t>고객 중심의 채널 연계와 데이터 기반 분석체계를 통해, 실시간 정보 활용과 운영 효율성을 높이는 차세대</a:t>
            </a:r>
            <a:r>
              <a:t/>
            </a:r>
            <a:br/>
            <a:r>
              <a:t>정보계를 구축</a:t>
            </a:r>
          </a:p>
        </p:txBody>
      </p:sp>
      <p:sp>
        <p:nvSpPr>
          <p:cNvPr id="9" name="Chevron 8"/>
          <p:cNvSpPr/>
          <p:nvPr/>
        </p:nvSpPr>
        <p:spPr>
          <a:xfrm>
            <a:off x="411480" y="2212848"/>
            <a:ext cx="3063240" cy="1325880"/>
          </a:xfrm>
          <a:prstGeom prst="chevron">
            <a:avLst/>
          </a:prstGeom>
          <a:solidFill>
            <a:srgbClr val="EEEEEE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359152"/>
            <a:ext cx="1600200" cy="365760"/>
          </a:xfrm>
          <a:prstGeom prst="roundRect">
            <a:avLst/>
          </a:prstGeom>
          <a:solidFill>
            <a:srgbClr val="FCFCFC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1600200" cy="36576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800" b="1">
                <a:solidFill>
                  <a:srgbClr val="3C3C3C"/>
                </a:solidFill>
                <a:latin typeface="Malgun Gothic"/>
              </a:rPr>
              <a:t>구축 배경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871216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저성장 탈피 위한 수익모델 다변화</a:t>
            </a:r>
          </a:p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디지털 고객 서비스 기대 상승</a:t>
            </a:r>
          </a:p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금융 환경 변화에 따른 경쟁 심화</a:t>
            </a:r>
          </a:p>
        </p:txBody>
      </p:sp>
      <p:sp>
        <p:nvSpPr>
          <p:cNvPr id="13" name="Chevron 12"/>
          <p:cNvSpPr/>
          <p:nvPr/>
        </p:nvSpPr>
        <p:spPr>
          <a:xfrm>
            <a:off x="3639312" y="2212848"/>
            <a:ext cx="3063240" cy="1325880"/>
          </a:xfrm>
          <a:prstGeom prst="chevron">
            <a:avLst/>
          </a:prstGeom>
          <a:solidFill>
            <a:srgbClr val="EEEEEE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13632" y="2359152"/>
            <a:ext cx="1600200" cy="365760"/>
          </a:xfrm>
          <a:prstGeom prst="roundRect">
            <a:avLst/>
          </a:prstGeom>
          <a:solidFill>
            <a:srgbClr val="FCFCFC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13632" y="2359152"/>
            <a:ext cx="1600200" cy="36576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800" b="1">
                <a:solidFill>
                  <a:srgbClr val="3C3C3C"/>
                </a:solidFill>
                <a:latin typeface="Malgun Gothic"/>
              </a:rPr>
              <a:t>전략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871216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채널 연계 중심 서비스 강화</a:t>
            </a:r>
          </a:p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데이터 기반 업무 수행 체계 확립</a:t>
            </a:r>
          </a:p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실시간 정보 활용 역량 강화</a:t>
            </a:r>
          </a:p>
        </p:txBody>
      </p:sp>
      <p:sp>
        <p:nvSpPr>
          <p:cNvPr id="17" name="Chevron 16"/>
          <p:cNvSpPr/>
          <p:nvPr/>
        </p:nvSpPr>
        <p:spPr>
          <a:xfrm>
            <a:off x="6867144" y="2212848"/>
            <a:ext cx="3063240" cy="1325880"/>
          </a:xfrm>
          <a:prstGeom prst="chevron">
            <a:avLst/>
          </a:prstGeom>
          <a:solidFill>
            <a:srgbClr val="EEEEEE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41464" y="2359152"/>
            <a:ext cx="1600200" cy="365760"/>
          </a:xfrm>
          <a:prstGeom prst="roundRect">
            <a:avLst/>
          </a:prstGeom>
          <a:solidFill>
            <a:srgbClr val="FCFCFC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41464" y="2359152"/>
            <a:ext cx="1600200" cy="36576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800" b="1">
                <a:solidFill>
                  <a:srgbClr val="3C3C3C"/>
                </a:solidFill>
                <a:latin typeface="Malgun Gothic"/>
              </a:rPr>
              <a:t>구축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2871216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채널 간 연계 서비스 체계 구축</a:t>
            </a:r>
          </a:p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고객 맞춤형 정보 활용 기반 구축</a:t>
            </a:r>
          </a:p>
          <a:p>
            <a:pPr algn="l">
              <a:spcAft>
                <a:spcPts val="100"/>
              </a:spcAft>
            </a:pPr>
            <a:r>
              <a:rPr sz="1200">
                <a:solidFill>
                  <a:srgbClr val="414141"/>
                </a:solidFill>
                <a:latin typeface="Malgun Gothic"/>
              </a:rPr>
              <a:t>▪ 실시간 분석 및 활용 기반 구축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434840" y="3529584"/>
            <a:ext cx="777240" cy="310896"/>
          </a:xfrm>
          <a:prstGeom prst="downArrow">
            <a:avLst/>
          </a:prstGeom>
          <a:solidFill>
            <a:srgbClr val="757F8E"/>
          </a:solidFill>
          <a:ln>
            <a:solidFill>
              <a:srgbClr val="757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8912" y="3822191"/>
            <a:ext cx="9509760" cy="2761488"/>
          </a:xfrm>
          <a:prstGeom prst="roundRect">
            <a:avLst/>
          </a:prstGeom>
          <a:solidFill>
            <a:srgbClr val="FCFCFC"/>
          </a:solidFill>
          <a:ln w="25400">
            <a:solidFill>
              <a:srgbClr val="469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950207"/>
            <a:ext cx="2852928" cy="1005840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950207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950207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상담 / 판매 프로세스 표준화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88535"/>
            <a:ext cx="268833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414141"/>
                </a:solidFill>
                <a:latin typeface="Malgun Gothic"/>
              </a:rPr>
              <a:t>• 효율적인 고객상담 체계 구현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414141"/>
                </a:solidFill>
                <a:latin typeface="Malgun Gothic"/>
              </a:rPr>
              <a:t>• 프로세스 표준화로 일관된 서비스 제공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19"/>
            <a:ext cx="2852928" cy="914400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303519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303519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460" b="1">
                <a:solidFill>
                  <a:srgbClr val="FFFFFF"/>
                </a:solidFill>
                <a:latin typeface="Malgun Gothic"/>
              </a:rPr>
              <a:t>실시간 이벤트 마케팅 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41847"/>
            <a:ext cx="268833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20">
                <a:solidFill>
                  <a:srgbClr val="414141"/>
                </a:solidFill>
                <a:latin typeface="Malgun Gothic"/>
              </a:rPr>
              <a:t>• 실시간 고객행동 감지</a:t>
            </a:r>
          </a:p>
          <a:p>
            <a:pPr algn="l">
              <a:spcAft>
                <a:spcPts val="100"/>
              </a:spcAft>
            </a:pPr>
            <a:r>
              <a:rPr sz="1120">
                <a:solidFill>
                  <a:srgbClr val="414141"/>
                </a:solidFill>
                <a:latin typeface="Malgun Gothic"/>
              </a:rPr>
              <a:t>• 마케팅플랫폼 기반 실시간 이벤트 제공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47872" y="3950207"/>
            <a:ext cx="2852928" cy="768096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47872" y="3950207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950207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algun Gothic"/>
              </a:rPr>
              <a:t>고객 정보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2" y="4288535"/>
            <a:ext cx="26883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30">
                <a:solidFill>
                  <a:srgbClr val="414141"/>
                </a:solidFill>
                <a:latin typeface="Malgun Gothic"/>
              </a:rPr>
              <a:t>• 정교한 고객 분석 및 이해</a:t>
            </a:r>
          </a:p>
          <a:p>
            <a:pPr algn="l">
              <a:spcAft>
                <a:spcPts val="100"/>
              </a:spcAft>
            </a:pPr>
            <a:r>
              <a:rPr sz="1130">
                <a:solidFill>
                  <a:srgbClr val="414141"/>
                </a:solidFill>
                <a:latin typeface="Malgun Gothic"/>
              </a:rPr>
              <a:t>• 개인화 마케팅 기반 강화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47872" y="4791455"/>
            <a:ext cx="2852928" cy="566928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47872" y="4791455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4791455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통합상품 체계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2" y="5129783"/>
            <a:ext cx="2688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414141"/>
                </a:solidFill>
                <a:latin typeface="Malgun Gothic"/>
              </a:rPr>
              <a:t>• 전행 차원의 일관된 상품추천 구축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7872" y="5522975"/>
            <a:ext cx="2852928" cy="749808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47872" y="5522975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66160" y="5522975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Single View 제공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9312" y="5861303"/>
            <a:ext cx="2688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414141"/>
                </a:solidFill>
                <a:latin typeface="Malgun Gothic"/>
              </a:rPr>
              <a:t>• 고객 이해도 향상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414141"/>
                </a:solidFill>
                <a:latin typeface="Malgun Gothic"/>
              </a:rPr>
              <a:t>• 마케팅 활용으로 Sales 완결성 향상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47104" y="3950207"/>
            <a:ext cx="2852928" cy="1005840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47104" y="3950207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5392" y="3950207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Malgun Gothic"/>
              </a:rPr>
              <a:t>실시간 데이터 수집/활용 기반 고도화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8544" y="4288535"/>
            <a:ext cx="268833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80">
                <a:solidFill>
                  <a:srgbClr val="414141"/>
                </a:solidFill>
                <a:latin typeface="Malgun Gothic"/>
              </a:rPr>
              <a:t>• 실시간 DW 아키텍처 설계 및 구현</a:t>
            </a:r>
          </a:p>
          <a:p>
            <a:pPr algn="l">
              <a:spcAft>
                <a:spcPts val="100"/>
              </a:spcAft>
            </a:pPr>
            <a:r>
              <a:rPr sz="1080">
                <a:solidFill>
                  <a:srgbClr val="414141"/>
                </a:solidFill>
                <a:latin typeface="Malgun Gothic"/>
              </a:rPr>
              <a:t>• 실시간 데이터 수집 / 분석 활용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5303519"/>
            <a:ext cx="2852928" cy="914400"/>
          </a:xfrm>
          <a:prstGeom prst="rect">
            <a:avLst/>
          </a:prstGeom>
          <a:solidFill>
            <a:srgbClr val="F9F9F9"/>
          </a:solidFill>
          <a:ln w="762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47104" y="5303519"/>
            <a:ext cx="2852928" cy="274320"/>
          </a:xfrm>
          <a:prstGeom prst="rect">
            <a:avLst/>
          </a:prstGeom>
          <a:solidFill>
            <a:srgbClr val="2EAD8A"/>
          </a:solidFill>
          <a:ln>
            <a:solidFill>
              <a:srgbClr val="2EA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5303519"/>
            <a:ext cx="2816352" cy="274320"/>
          </a:xfrm>
          <a:prstGeom prst="rect">
            <a:avLst/>
          </a:prstGeom>
          <a:noFill/>
        </p:spPr>
        <p:txBody>
          <a:bodyPr wrap="square" lIns="36576" tIns="14630" rIns="36576" bIns="5486" anchor="ctr">
            <a:spAutoFit/>
          </a:bodyPr>
          <a:lstStyle/>
          <a:p>
            <a:pPr algn="ctr"/>
            <a:r>
              <a:rPr sz="1280" b="1">
                <a:solidFill>
                  <a:srgbClr val="FFFFFF"/>
                </a:solidFill>
                <a:latin typeface="Malgun Gothic"/>
              </a:rPr>
              <a:t>분석 데이터 계층별 / 목적별 구조 정립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5641847"/>
            <a:ext cx="268833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80">
                <a:solidFill>
                  <a:srgbClr val="414141"/>
                </a:solidFill>
                <a:latin typeface="Malgun Gothic"/>
              </a:rPr>
              <a:t>• 분석 DW 아키텍처 설계 및 구현</a:t>
            </a:r>
          </a:p>
          <a:p>
            <a:pPr algn="l">
              <a:spcAft>
                <a:spcPts val="100"/>
              </a:spcAft>
            </a:pPr>
            <a:r>
              <a:rPr sz="1080">
                <a:solidFill>
                  <a:srgbClr val="414141"/>
                </a:solidFill>
                <a:latin typeface="Malgun Gothic"/>
              </a:rPr>
              <a:t>• 분석용 데이터 계층 / 목적별 체계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429768"/>
            <a:ext cx="420624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00" b="1">
                <a:solidFill>
                  <a:srgbClr val="383838"/>
                </a:solidFill>
                <a:latin typeface="Malgun Gothic"/>
              </a:rPr>
              <a:t>어플리케이션 분류 체계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9975" y="91440"/>
            <a:ext cx="219456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000" b="0">
                <a:solidFill>
                  <a:srgbClr val="38383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41103" y="182880"/>
            <a:ext cx="2331720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1.2 어플리케이션 분류</a:t>
            </a:r>
          </a:p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795528" cy="27432"/>
          </a:xfrm>
          <a:prstGeom prst="rect">
            <a:avLst/>
          </a:prstGeom>
          <a:solidFill>
            <a:srgbClr val="3C60BE"/>
          </a:solidFill>
          <a:ln>
            <a:solidFill>
              <a:srgbClr val="3C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8" y="877824"/>
            <a:ext cx="320040" cy="27432"/>
          </a:xfrm>
          <a:prstGeom prst="rect">
            <a:avLst/>
          </a:prstGeom>
          <a:solidFill>
            <a:srgbClr val="9DC650"/>
          </a:solidFill>
          <a:ln>
            <a:solidFill>
              <a:srgbClr val="9DC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5568" y="877824"/>
            <a:ext cx="11073384" cy="27432"/>
          </a:xfrm>
          <a:prstGeom prst="rect">
            <a:avLst/>
          </a:prstGeom>
          <a:solidFill>
            <a:srgbClr val="239149"/>
          </a:solidFill>
          <a:ln>
            <a:solidFill>
              <a:srgbClr val="23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solidFill>
            <a:srgbClr val="16464B"/>
          </a:solidFill>
          <a:ln w="10160">
            <a:solidFill>
              <a:srgbClr val="1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27048"/>
          <a:ext cx="9902952" cy="6377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52">
                <a:tc rowSpan="16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54ACA"/>
                          </a:solidFill>
                          <a:latin typeface="Malgun Gothic"/>
                        </a:rPr>
                        <a:t>MP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Marketing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Platform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통합고객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IC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Integration Customer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개인고객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PC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Private Customer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기업고객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BC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Business Customer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미니 싱글뷰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Mini SingleView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상담판매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Sale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통합상품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PD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캠페인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Campaign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EBM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EB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EBM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실시간 처리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EP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Event Processing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행동정보 처리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BP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Behavior Information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Processing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고객 행동 데이터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BD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Customer Behavior Data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영업지원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Sales Support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Customer Service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컨텐츠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Contents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메시지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Message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 rot="21120000">
            <a:off x="7296912" y="3289279"/>
            <a:ext cx="2880360" cy="5943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업무개발팀</a:t>
            </a:r>
          </a:p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분석, 설계단계 시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27048"/>
            <a:ext cx="9902952" cy="5120640"/>
          </a:xfrm>
          <a:prstGeom prst="rect">
            <a:avLst/>
          </a:prstGeom>
          <a:noFill/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429768"/>
            <a:ext cx="420624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00" b="1">
                <a:solidFill>
                  <a:srgbClr val="383838"/>
                </a:solidFill>
                <a:latin typeface="Malgun Gothic"/>
              </a:rPr>
              <a:t>어플리케이션 분류 체계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9975" y="91440"/>
            <a:ext cx="219456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000" b="0">
                <a:solidFill>
                  <a:srgbClr val="38383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41103" y="182880"/>
            <a:ext cx="2331720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1.2 어플리케이션 분류</a:t>
            </a:r>
          </a:p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795528" cy="27432"/>
          </a:xfrm>
          <a:prstGeom prst="rect">
            <a:avLst/>
          </a:prstGeom>
          <a:solidFill>
            <a:srgbClr val="3C60BE"/>
          </a:solidFill>
          <a:ln>
            <a:solidFill>
              <a:srgbClr val="3C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8" y="877824"/>
            <a:ext cx="320040" cy="27432"/>
          </a:xfrm>
          <a:prstGeom prst="rect">
            <a:avLst/>
          </a:prstGeom>
          <a:solidFill>
            <a:srgbClr val="9DC650"/>
          </a:solidFill>
          <a:ln>
            <a:solidFill>
              <a:srgbClr val="9DC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5568" y="877824"/>
            <a:ext cx="11073384" cy="27432"/>
          </a:xfrm>
          <a:prstGeom prst="rect">
            <a:avLst/>
          </a:prstGeom>
          <a:solidFill>
            <a:srgbClr val="239149"/>
          </a:solidFill>
          <a:ln>
            <a:solidFill>
              <a:srgbClr val="23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solidFill>
            <a:srgbClr val="16464B"/>
          </a:solidFill>
          <a:ln w="10160">
            <a:solidFill>
              <a:srgbClr val="1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27048"/>
          <a:ext cx="9902952" cy="49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 rowSpan="5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상호금융_데이터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플랫폼_RDW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54ACA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Real-time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Data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Warehouse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실시간SoR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Source of record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준실시간요약집계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ZD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Zipped Data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준실시간보고서마트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RM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Report Data Mart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피드백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FA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Feedback area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 rowSpan="7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상호금융 데이터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플랫폼_ADW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54ACA"/>
                          </a:solidFill>
                          <a:latin typeface="Malgun Gothic"/>
                        </a:rPr>
                        <a:t>AD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Analytical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Data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Warehouse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분석SoR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Source of record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분석통합요약집계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ZD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Zipped data area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분석단위업무마트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UM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Unit-business mart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분석보고서마트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RM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Report data mart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피드백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FA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Feedback area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분석지원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DA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DW Analysis Assistance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 rot="21120000">
            <a:off x="7296912" y="3183026"/>
            <a:ext cx="2880360" cy="5943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업무개발팀</a:t>
            </a:r>
          </a:p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분석, 설계단계 시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27048"/>
            <a:ext cx="9902952" cy="5120640"/>
          </a:xfrm>
          <a:prstGeom prst="rect">
            <a:avLst/>
          </a:prstGeom>
          <a:noFill/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429768"/>
            <a:ext cx="420624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00" b="1">
                <a:solidFill>
                  <a:srgbClr val="383838"/>
                </a:solidFill>
                <a:latin typeface="Malgun Gothic"/>
              </a:rPr>
              <a:t>어플리케이션 분류 체계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9975" y="91440"/>
            <a:ext cx="219456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000" b="0">
                <a:solidFill>
                  <a:srgbClr val="38383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41103" y="182880"/>
            <a:ext cx="2331720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1.2 어플리케이션 분류</a:t>
            </a:r>
          </a:p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795528" cy="27432"/>
          </a:xfrm>
          <a:prstGeom prst="rect">
            <a:avLst/>
          </a:prstGeom>
          <a:solidFill>
            <a:srgbClr val="3C60BE"/>
          </a:solidFill>
          <a:ln>
            <a:solidFill>
              <a:srgbClr val="3C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8" y="877824"/>
            <a:ext cx="320040" cy="27432"/>
          </a:xfrm>
          <a:prstGeom prst="rect">
            <a:avLst/>
          </a:prstGeom>
          <a:solidFill>
            <a:srgbClr val="9DC650"/>
          </a:solidFill>
          <a:ln>
            <a:solidFill>
              <a:srgbClr val="9DC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5568" y="877824"/>
            <a:ext cx="11073384" cy="27432"/>
          </a:xfrm>
          <a:prstGeom prst="rect">
            <a:avLst/>
          </a:prstGeom>
          <a:solidFill>
            <a:srgbClr val="239149"/>
          </a:solidFill>
          <a:ln>
            <a:solidFill>
              <a:srgbClr val="23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solidFill>
            <a:srgbClr val="16464B"/>
          </a:solidFill>
          <a:ln w="10160">
            <a:solidFill>
              <a:srgbClr val="1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27048"/>
          <a:ext cx="9902952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rowSpan="5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상호금융_BI포탈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(사용자분석)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54ACA"/>
                          </a:solidFill>
                          <a:latin typeface="Malgun Gothic"/>
                        </a:rPr>
                        <a:t>BI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Business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Intelligence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BI포탈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PT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Portal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신용실적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Credit result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OLAP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Online analysis process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Self BI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Self business Intelligence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신BI포털UIUX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UI/UX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 rot="21120000">
            <a:off x="7296912" y="2935224"/>
            <a:ext cx="2880360" cy="5943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업무개발팀</a:t>
            </a:r>
          </a:p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분석, 설계단계 시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27048"/>
            <a:ext cx="9902952" cy="5120640"/>
          </a:xfrm>
          <a:prstGeom prst="rect">
            <a:avLst/>
          </a:prstGeom>
          <a:noFill/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429768"/>
            <a:ext cx="420624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00" b="1">
                <a:solidFill>
                  <a:srgbClr val="383838"/>
                </a:solidFill>
                <a:latin typeface="Malgun Gothic"/>
              </a:rPr>
              <a:t>어플리케이션 분류 체계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9975" y="91440"/>
            <a:ext cx="219456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000" b="0">
                <a:solidFill>
                  <a:srgbClr val="38383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41103" y="182880"/>
            <a:ext cx="2331720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1.2 어플리케이션 분류</a:t>
            </a:r>
          </a:p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795528" cy="27432"/>
          </a:xfrm>
          <a:prstGeom prst="rect">
            <a:avLst/>
          </a:prstGeom>
          <a:solidFill>
            <a:srgbClr val="3C60BE"/>
          </a:solidFill>
          <a:ln>
            <a:solidFill>
              <a:srgbClr val="3C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8" y="877824"/>
            <a:ext cx="320040" cy="27432"/>
          </a:xfrm>
          <a:prstGeom prst="rect">
            <a:avLst/>
          </a:prstGeom>
          <a:solidFill>
            <a:srgbClr val="9DC650"/>
          </a:solidFill>
          <a:ln>
            <a:solidFill>
              <a:srgbClr val="9DC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5568" y="877824"/>
            <a:ext cx="11073384" cy="27432"/>
          </a:xfrm>
          <a:prstGeom prst="rect">
            <a:avLst/>
          </a:prstGeom>
          <a:solidFill>
            <a:srgbClr val="239149"/>
          </a:solidFill>
          <a:ln>
            <a:solidFill>
              <a:srgbClr val="23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solidFill>
            <a:srgbClr val="16464B"/>
          </a:solidFill>
          <a:ln w="10160">
            <a:solidFill>
              <a:srgbClr val="1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27048"/>
          <a:ext cx="9902952" cy="1988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데이터거버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넌스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54ACA"/>
                          </a:solidFill>
                          <a:latin typeface="Malgun Gothic"/>
                        </a:rPr>
                        <a:t>DG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Data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Governance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비즈메타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BM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Biz-Meta system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데이터품질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DQ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Data Quality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303030"/>
                          </a:solidFill>
                          <a:latin typeface="Malgun Gothic"/>
                        </a:rPr>
                        <a:t>데이터흐름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DL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03030"/>
                          </a:solidFill>
                          <a:latin typeface="Malgun Gothic"/>
                        </a:rPr>
                        <a:t>Data Lineage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 rot="21120000">
            <a:off x="7296912" y="2935224"/>
            <a:ext cx="2880360" cy="5943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업무개발팀</a:t>
            </a:r>
          </a:p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분석, 설계단계 시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27048"/>
            <a:ext cx="9902952" cy="5120640"/>
          </a:xfrm>
          <a:prstGeom prst="rect">
            <a:avLst/>
          </a:prstGeom>
          <a:noFill/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429768"/>
            <a:ext cx="420624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00" b="1">
                <a:solidFill>
                  <a:srgbClr val="383838"/>
                </a:solidFill>
                <a:latin typeface="Malgun Gothic"/>
              </a:rPr>
              <a:t>어플리케이션 분류 체계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9975" y="91440"/>
            <a:ext cx="2194560" cy="16459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000" b="0">
                <a:solidFill>
                  <a:srgbClr val="38383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41103" y="182880"/>
            <a:ext cx="2331720" cy="31089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1.2 어플리케이션 분류</a:t>
            </a:r>
          </a:p>
          <a:p>
            <a:pPr algn="r"/>
            <a:r>
              <a:rPr sz="900" b="0">
                <a:solidFill>
                  <a:srgbClr val="383838"/>
                </a:solidFill>
                <a:latin typeface="Malgun Gothic"/>
              </a:rPr>
              <a:t>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77824"/>
            <a:ext cx="795528" cy="27432"/>
          </a:xfrm>
          <a:prstGeom prst="rect">
            <a:avLst/>
          </a:prstGeom>
          <a:solidFill>
            <a:srgbClr val="3C60BE"/>
          </a:solidFill>
          <a:ln>
            <a:solidFill>
              <a:srgbClr val="3C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8" y="877824"/>
            <a:ext cx="320040" cy="27432"/>
          </a:xfrm>
          <a:prstGeom prst="rect">
            <a:avLst/>
          </a:prstGeom>
          <a:solidFill>
            <a:srgbClr val="9DC650"/>
          </a:solidFill>
          <a:ln>
            <a:solidFill>
              <a:srgbClr val="9DC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15568" y="877824"/>
            <a:ext cx="11073384" cy="27432"/>
          </a:xfrm>
          <a:prstGeom prst="rect">
            <a:avLst/>
          </a:prstGeom>
          <a:solidFill>
            <a:srgbClr val="239149"/>
          </a:solidFill>
          <a:ln>
            <a:solidFill>
              <a:srgbClr val="23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solidFill>
            <a:srgbClr val="16464B"/>
          </a:solidFill>
          <a:ln w="10160">
            <a:solidFill>
              <a:srgbClr val="1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1054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IT서비스 및 인프라 지원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27048"/>
          <a:ext cx="9902952" cy="528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>
                    <a:solidFill>
                      <a:srgbClr val="226C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52">
                <a:tc rowSpan="13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IT서비스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54ACA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Information</a:t>
                      </a:r>
                    </a:p>
                    <a:p>
                      <a:pPr algn="ctr"/>
                      <a:r>
                        <a:rPr sz="960" b="0">
                          <a:solidFill>
                            <a:srgbClr val="30303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아키텍처 관리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AM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Architecture Management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시스템 공통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SC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System Common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배포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DP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Deployment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FW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Framework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라이브러리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Library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소스 코드 버전 관리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SM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Source Code Version Mana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gement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정보단말 관리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XM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UI/UX Management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정보단말 배포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XD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UI/UX Deployment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배치작업 처리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BJ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Batch Job Processing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실시간 중계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CD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CDC Gateway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데이터 치환 적재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DT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Data Transform Load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보고서 디자이너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Report Designer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85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03030"/>
                          </a:solidFill>
                          <a:latin typeface="Malgun Gothic"/>
                        </a:rPr>
                        <a:t>거래 공통 메모리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354ACA"/>
                          </a:solidFill>
                          <a:latin typeface="Malgun Gothic"/>
                        </a:rPr>
                        <a:t>IG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303030"/>
                          </a:solidFill>
                          <a:latin typeface="Malgun Gothic"/>
                        </a:rPr>
                        <a:t>In Memory Data Grid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D29252"/>
                          </a:solidFill>
                          <a:latin typeface="Malgun Gothic"/>
                        </a:rPr>
                        <a:t>1 byte</a:t>
                      </a:r>
                    </a:p>
                  </a:txBody>
                  <a:tcPr>
                    <a:solidFill>
                      <a:srgbClr val="F3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3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 rot="21120000">
            <a:off x="7296912" y="3085734"/>
            <a:ext cx="2880360" cy="5943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업무개발팀</a:t>
            </a:r>
          </a:p>
          <a:p>
            <a:pPr algn="ctr"/>
            <a:r>
              <a:rPr sz="1200" b="0">
                <a:solidFill>
                  <a:srgbClr val="854E3C"/>
                </a:solidFill>
                <a:latin typeface="Malgun Gothic"/>
              </a:rPr>
              <a:t>분석, 설계단계 시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27048"/>
            <a:ext cx="9902952" cy="5120640"/>
          </a:xfrm>
          <a:prstGeom prst="rect">
            <a:avLst/>
          </a:prstGeom>
          <a:noFill/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10896"/>
            <a:ext cx="219456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5486400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E3E3E"/>
                </a:solidFill>
                <a:latin typeface="Malgun Gothic"/>
              </a:rPr>
              <a:t>시스템 그룹 업무 구분 (1/6)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7592"/>
            <a:ext cx="84124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30759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25296" y="1307592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solidFill>
            <a:srgbClr val="1E4446"/>
          </a:solidFill>
          <a:ln w="10160"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마케팅플랫폼 시스템 그룹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082528" cy="554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 rowSpan="7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Marketing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마케팅플랫폼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마케팅플랫폼 WEB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CO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IC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PC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BC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SA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PD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CM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EB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SS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CS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CT</a:t>
                      </a:r>
                    </a:p>
                    <a:p>
                      <a:pPr algn="ctr"/>
                      <a:r>
                        <a:rPr sz="1230" b="1">
                          <a:solidFill>
                            <a:srgbClr val="3947C1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sbmpco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마케팅플랫폼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Tomcat,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미니싱글뷰 WEB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sbmpms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ms = 미니 싱글뷰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미니싱글뷰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Tomcat,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실시간 처리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sbmpep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ep = 실시간 처리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(고객행동)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행동정보 처리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sbmpbp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bp = 행동정보 처리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(고객행동)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고객 행동 데이터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sbmpbd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bd = 고객 행동 데이터 어플리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케이션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(Kafka 기반 솔루션)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10896"/>
            <a:ext cx="219456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5486400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E3E3E"/>
                </a:solidFill>
                <a:latin typeface="Malgun Gothic"/>
              </a:rPr>
              <a:t>시스템 그룹 업무 구분 (2/6)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7592"/>
            <a:ext cx="84124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30759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25296" y="1307592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solidFill>
            <a:srgbClr val="1E4446"/>
          </a:solidFill>
          <a:ln w="10160"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데이터플랫폼 시스템 그룹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082528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데이터플랫폼_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RDW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Real-time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Data Ware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데이터플랫폼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RDW 서버 (어플라이언스)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SR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ZD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RM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FA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sbrdco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Real-time Data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데이터플랫폼_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ADW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Analytical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Data Ware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ADW 서버 (어플라이언스)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SR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ZD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UM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FA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CO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RM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sbadco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Analytical Data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10896"/>
            <a:ext cx="219456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5486400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E3E3E"/>
                </a:solidFill>
                <a:latin typeface="Malgun Gothic"/>
              </a:rPr>
              <a:t>시스템 그룹 업무 구분 (3/6)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7592"/>
            <a:ext cx="84124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30759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25296" y="1307592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solidFill>
            <a:srgbClr val="1E4446"/>
          </a:solidFill>
          <a:ln w="10160"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BI 포탈 시스템 그룹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082528" cy="365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 rowSpan="9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BI포탈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(사용자분석)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Business I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BI포탈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OLAP AP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sbbioa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oa = OLAP 어플리케이션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MSTR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OLAP WEB/WAS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제공 (담당자 투입시 확인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BI 포탈 WEB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sbbipt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pt = BI Portal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(Data Eye)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BI 포탈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(Data Eye)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Self BI AP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sb = Self-BI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Self BI WEB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Self BI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신용 실적 WEB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CR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sbbicr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cr = 신용실적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신용 실적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10896"/>
            <a:ext cx="219456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5486400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E3E3E"/>
                </a:solidFill>
                <a:latin typeface="Malgun Gothic"/>
              </a:rPr>
              <a:t>시스템 그룹 업무 구분 (4/6)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7592"/>
            <a:ext cx="84124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30759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25296" y="1307592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solidFill>
            <a:srgbClr val="1E4446"/>
          </a:solidFill>
          <a:ln w="10160"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데이터거버넌스 시스템 그룹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082528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 rowSpan="2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DG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Data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Governanc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데이터거버넌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스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비즈메타/데이터품질관리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947C1"/>
                          </a:solidFill>
                          <a:latin typeface="Malgun Gothic"/>
                        </a:rPr>
                        <a:t>CO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3947C1"/>
                          </a:solidFill>
                          <a:latin typeface="Malgun Gothic"/>
                        </a:rPr>
                        <a:t>DQ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3947C1"/>
                          </a:solidFill>
                          <a:latin typeface="Malgun Gothic"/>
                        </a:rPr>
                        <a:t>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sbdgdq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dq = 데이터 품질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GT-One 비즈메타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GT-One DQ Miner (데이터품질)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데이터흐름관리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sbdfdl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df = 데이터 흐름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GT-One 데이터 HAWK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10896"/>
            <a:ext cx="219456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5486400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E3E3E"/>
                </a:solidFill>
                <a:latin typeface="Malgun Gothic"/>
              </a:rPr>
              <a:t>시스템 그룹 업무 구분 (5/6)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7592"/>
            <a:ext cx="84124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30759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25296" y="1307592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solidFill>
            <a:srgbClr val="1E4446"/>
          </a:solidFill>
          <a:ln w="10160"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IT서비스 및 인프라 지원 시스템 그룹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082528" cy="5141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10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IT서비스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Information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Manageme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IT서비스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및 업무지원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NH Cloud Framework 마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스터 관리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테크시스템부 미들웨어팀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라이브러리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AS-IS Nexus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소스 코드 버전 관리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sm = 소스관리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GitLab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배포 AP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dp = 배포 어플리케이션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GitLab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단말관리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XM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um = 단말관리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(WebTopSuite 5.0)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단말배포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XD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ud = 단말배포 어플리케이션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솔루션 (WebTopSuite 5.0)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배치 AP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BJ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sbimbj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bj = 배치작업 처리 어플리케이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NH Cloud Framework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CDC 중계 AP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cd = CDC 어플리케이션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OGG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ETL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dt = ETL 어플리케이션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DataStage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출력물(RD) WAS 서버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947C1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rd = 출력물 보고서 어플리케이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션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Report Designer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2895" y="73152"/>
            <a:ext cx="164592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10896"/>
            <a:ext cx="219456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400" b="0">
                <a:solidFill>
                  <a:srgbClr val="373737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5486400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E3E3E"/>
                </a:solidFill>
                <a:latin typeface="Malgun Gothic"/>
              </a:rPr>
              <a:t>시스템 그룹 업무 구분 (6/6)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7592"/>
            <a:ext cx="841248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1307592"/>
            <a:ext cx="384048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25296" y="1307592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solidFill>
            <a:srgbClr val="1E4446"/>
          </a:solidFill>
          <a:ln w="10160"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11082528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인프라 임시 시스템 그룹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082528" cy="6373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9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상호금융_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IT서비스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947C1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Information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Manageme</a:t>
                      </a:r>
                    </a:p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이행용</a:t>
                      </a:r>
                    </a:p>
                    <a:p>
                      <a:pPr algn="ctr"/>
                      <a:r>
                        <a:rPr sz="1220" b="1">
                          <a:solidFill>
                            <a:srgbClr val="373737"/>
                          </a:solidFill>
                          <a:latin typeface="Malgun Gothic"/>
                        </a:rPr>
                        <a:t>임시장비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(변환)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#01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(변환)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#02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(변환)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#03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(변환)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#04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(변환)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#05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(변환)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#06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(추출)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#07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데이터 추출용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(이행)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AP #08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데이터 이행용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[임시] 데이터 이행용 (SQL</a:t>
                      </a:r>
                    </a:p>
                    <a:p>
                      <a:pPr algn="l"/>
                      <a:r>
                        <a:rPr sz="1180" b="0">
                          <a:solidFill>
                            <a:srgbClr val="373737"/>
                          </a:solidFill>
                          <a:latin typeface="Malgun Gothic"/>
                        </a:rPr>
                        <a:t>품질) AP #09</a:t>
                      </a:r>
                    </a:p>
                  </a:txBody>
                  <a:tcPr>
                    <a:solidFill>
                      <a:srgbClr val="EC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73737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60" b="0">
                          <a:solidFill>
                            <a:srgbClr val="373737"/>
                          </a:solidFill>
                          <a:latin typeface="Malgun Gothic"/>
                        </a:rPr>
                        <a:t>SQL 품질 점검용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64008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E3E3E"/>
                </a:solidFill>
                <a:latin typeface="Malgun Gothic"/>
              </a:rPr>
              <a:t>데이터 주제영역 구성 정의(1/2)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73152"/>
            <a:ext cx="169164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3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310896"/>
            <a:ext cx="210312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300" b="0">
                <a:solidFill>
                  <a:srgbClr val="373737"/>
                </a:solidFill>
                <a:latin typeface="Malgun Gothic"/>
              </a:rPr>
              <a:t>1.3 데이터 주제영역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8448"/>
            <a:ext cx="868680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298448"/>
            <a:ext cx="411480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0" y="1298448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508760"/>
            <a:ext cx="11155680" cy="384048"/>
          </a:xfrm>
          <a:prstGeom prst="rect">
            <a:avLst/>
          </a:prstGeom>
          <a:solidFill>
            <a:srgbClr val="1E4446"/>
          </a:solidFill>
          <a:ln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508760"/>
            <a:ext cx="1115568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93392"/>
            <a:ext cx="2084831" cy="3520440"/>
          </a:xfrm>
          <a:prstGeom prst="rect">
            <a:avLst/>
          </a:prstGeom>
          <a:solidFill>
            <a:srgbClr val="DDE5E2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" y="1993392"/>
            <a:ext cx="2084831" cy="274320"/>
          </a:xfrm>
          <a:prstGeom prst="rect">
            <a:avLst/>
          </a:prstGeom>
          <a:solidFill>
            <a:srgbClr val="CDDCD9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993392"/>
            <a:ext cx="2084831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373737"/>
                </a:solidFill>
                <a:latin typeface="Malgun Gothic"/>
              </a:rPr>
              <a:t>데이터플랫폼 RDW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95728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395728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공통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980944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80944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실시간SoR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566160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566160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준실시간요약집계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151376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151376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준실시간보고서마트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736592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736592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피드백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61487" y="1993392"/>
            <a:ext cx="2176272" cy="3520440"/>
          </a:xfrm>
          <a:prstGeom prst="rect">
            <a:avLst/>
          </a:prstGeom>
          <a:solidFill>
            <a:srgbClr val="DDE5E2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61487" y="1993392"/>
            <a:ext cx="2176272" cy="274320"/>
          </a:xfrm>
          <a:prstGeom prst="rect">
            <a:avLst/>
          </a:prstGeom>
          <a:solidFill>
            <a:srgbClr val="CDDCD9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61487" y="1993392"/>
            <a:ext cx="217627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373737"/>
                </a:solidFill>
                <a:latin typeface="Malgun Gothic"/>
              </a:rPr>
              <a:t>데이터플랫폼 ADW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7" y="2395728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44367" y="2395728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공통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44367" y="2843784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44367" y="2843784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분석SoR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4367" y="3291840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44367" y="3291840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분석통합요약집계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7" y="3739896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44367" y="3739896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분석단위업무마트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44367" y="4187952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44367" y="4187952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분석보고서마트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44367" y="4636008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44367" y="4636008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피드백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7" y="5084064"/>
            <a:ext cx="1810512" cy="30175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44367" y="5084064"/>
            <a:ext cx="1810512" cy="3017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10" b="0">
                <a:solidFill>
                  <a:srgbClr val="373737"/>
                </a:solidFill>
                <a:latin typeface="Malgun Gothic"/>
              </a:rPr>
              <a:t>분석지원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4063" y="1993392"/>
            <a:ext cx="2176272" cy="3520440"/>
          </a:xfrm>
          <a:prstGeom prst="rect">
            <a:avLst/>
          </a:prstGeom>
          <a:solidFill>
            <a:srgbClr val="DDE5E2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84063" y="1993392"/>
            <a:ext cx="2176272" cy="274320"/>
          </a:xfrm>
          <a:prstGeom prst="rect">
            <a:avLst/>
          </a:prstGeom>
          <a:solidFill>
            <a:srgbClr val="CDDCD9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84063" y="1993392"/>
            <a:ext cx="217627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373737"/>
                </a:solidFill>
                <a:latin typeface="Malgun Gothic"/>
              </a:rPr>
              <a:t>BI 포탈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66943" y="2395728"/>
            <a:ext cx="1810512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66943" y="2395728"/>
            <a:ext cx="1810512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BI포탈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66943" y="2980944"/>
            <a:ext cx="1810512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66943" y="2980944"/>
            <a:ext cx="1810512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신용실적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66943" y="3566160"/>
            <a:ext cx="1810512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66943" y="3566160"/>
            <a:ext cx="1810512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OLAP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66943" y="4151376"/>
            <a:ext cx="1810512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66943" y="4151376"/>
            <a:ext cx="1810512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66943" y="4736592"/>
            <a:ext cx="1810512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66943" y="4736592"/>
            <a:ext cx="1810512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신포털UIUX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39" y="1993392"/>
            <a:ext cx="3749039" cy="5394960"/>
          </a:xfrm>
          <a:prstGeom prst="rect">
            <a:avLst/>
          </a:prstGeom>
          <a:solidFill>
            <a:srgbClr val="DDE5E2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06639" y="1993392"/>
            <a:ext cx="3749039" cy="274320"/>
          </a:xfrm>
          <a:prstGeom prst="rect">
            <a:avLst/>
          </a:prstGeom>
          <a:solidFill>
            <a:srgbClr val="CDDCD9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06639" y="1993392"/>
            <a:ext cx="3749039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373737"/>
                </a:solidFill>
                <a:latin typeface="Malgun Gothic"/>
              </a:rPr>
              <a:t>마케팅플랫폼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19" y="2395728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89519" y="2395728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공통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90886" y="2395728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90886" y="2395728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통합고객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19" y="2980944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89519" y="2980944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개인고객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6" y="2980944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90886" y="2980944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기업고객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19" y="3566160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89519" y="3566160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미니싱글뷰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90886" y="3566160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90886" y="3566160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상담판매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19" y="4151376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89519" y="4151376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통합상품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90886" y="4151376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390886" y="4151376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캠페인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19" y="4736592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89519" y="4736592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EBM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90886" y="4736592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90886" y="4736592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실시간처리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9519" y="5321808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589519" y="5321808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행동정보처리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90886" y="5321808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90886" y="5321808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고객행동데이터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89519" y="5907024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89519" y="5907024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영업지원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90886" y="5907024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390886" y="5907024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CS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89519" y="6492240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589519" y="6492240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컨텐츠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90886" y="6492240"/>
            <a:ext cx="158191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90886" y="6492240"/>
            <a:ext cx="158191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0">
                <a:solidFill>
                  <a:srgbClr val="373737"/>
                </a:solidFill>
                <a:latin typeface="Malgun Gothic"/>
              </a:rPr>
              <a:t>메시지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0352" y="5586984"/>
            <a:ext cx="2084831" cy="2194560"/>
          </a:xfrm>
          <a:prstGeom prst="rect">
            <a:avLst/>
          </a:prstGeom>
          <a:solidFill>
            <a:srgbClr val="DDE5E2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30352" y="5586984"/>
            <a:ext cx="2084831" cy="274320"/>
          </a:xfrm>
          <a:prstGeom prst="rect">
            <a:avLst/>
          </a:prstGeom>
          <a:solidFill>
            <a:srgbClr val="CDDCD9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0352" y="5586984"/>
            <a:ext cx="2084831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373737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3232" y="5989320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13232" y="5989320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비즈메타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3232" y="6574536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13232" y="6574536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데이터품질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3232" y="7159752"/>
            <a:ext cx="1719071" cy="438912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3232" y="7159752"/>
            <a:ext cx="1719071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0">
                <a:solidFill>
                  <a:srgbClr val="373737"/>
                </a:solidFill>
                <a:latin typeface="Malgun Gothic"/>
              </a:rPr>
              <a:t>데이터흐름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61487" y="5586984"/>
            <a:ext cx="4498848" cy="2194560"/>
          </a:xfrm>
          <a:prstGeom prst="rect">
            <a:avLst/>
          </a:prstGeom>
          <a:solidFill>
            <a:srgbClr val="DDE5E2"/>
          </a:solidFill>
          <a:ln w="1270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761487" y="5586984"/>
            <a:ext cx="4498848" cy="274320"/>
          </a:xfrm>
          <a:prstGeom prst="rect">
            <a:avLst/>
          </a:prstGeom>
          <a:solidFill>
            <a:srgbClr val="CDDCD9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761487" y="5586984"/>
            <a:ext cx="4498848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373737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44367" y="5989320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944367" y="5989320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아키텍처 관리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395215" y="5989320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395215" y="5989320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시스템 공통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46063" y="5989320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846063" y="5989320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배포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44367" y="6441948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944367" y="6441948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프레임워크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95215" y="6441948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395215" y="6441948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라이브러리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46063" y="6441948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846063" y="6441948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소스코드 버전관리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44367" y="6894576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944367" y="6894576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정보단말 관리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95215" y="6894576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95215" y="6894576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정보단말 배포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46063" y="6894576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846063" y="6894576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배치작업 처리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44367" y="7347204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944367" y="7347204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실시간 중계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395215" y="7347204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395215" y="7347204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데이터 치환 적재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46063" y="7347204"/>
            <a:ext cx="1231392" cy="306324"/>
          </a:xfrm>
          <a:prstGeom prst="rect">
            <a:avLst/>
          </a:prstGeom>
          <a:solidFill>
            <a:srgbClr val="ECECEC"/>
          </a:solidFill>
          <a:ln w="889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5846063" y="7347204"/>
            <a:ext cx="1231392" cy="3063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9" b="0">
                <a:solidFill>
                  <a:srgbClr val="373737"/>
                </a:solidFill>
                <a:latin typeface="Malgun Gothic"/>
              </a:rPr>
              <a:t>보고서 디자이너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12064" y="1975104"/>
            <a:ext cx="6766559" cy="5824728"/>
          </a:xfrm>
          <a:prstGeom prst="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388351" y="1975104"/>
            <a:ext cx="3785615" cy="5431536"/>
          </a:xfrm>
          <a:prstGeom prst="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02920"/>
            <a:ext cx="64008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E3E3E"/>
                </a:solidFill>
                <a:latin typeface="Malgun Gothic"/>
              </a:rPr>
              <a:t>데이터 주제영역 구성 정의(2/2)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73152"/>
            <a:ext cx="169164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300" b="0">
                <a:solidFill>
                  <a:srgbClr val="373737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310896"/>
            <a:ext cx="210312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r"/>
            <a:r>
              <a:rPr sz="1300" b="0">
                <a:solidFill>
                  <a:srgbClr val="373737"/>
                </a:solidFill>
                <a:latin typeface="Malgun Gothic"/>
              </a:rPr>
              <a:t>1.3 데이터 주제영역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8448"/>
            <a:ext cx="868680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298448"/>
            <a:ext cx="411480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0" y="1298448"/>
            <a:ext cx="10835640" cy="36576"/>
          </a:xfrm>
          <a:prstGeom prst="rect">
            <a:avLst/>
          </a:prstGeom>
          <a:solidFill>
            <a:srgbClr val="279952"/>
          </a:solidFill>
          <a:ln>
            <a:solidFill>
              <a:srgbClr val="279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508760"/>
            <a:ext cx="11155680" cy="384048"/>
          </a:xfrm>
          <a:prstGeom prst="rect">
            <a:avLst/>
          </a:prstGeom>
          <a:solidFill>
            <a:srgbClr val="1E4446"/>
          </a:solidFill>
          <a:ln>
            <a:solidFill>
              <a:srgbClr val="1E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508760"/>
            <a:ext cx="1115568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" y="2011680"/>
          <a:ext cx="11109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 gridSpan="2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주제영역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주제영역 정의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>
                    <a:solidFill>
                      <a:srgbClr val="26697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669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데이터플랫폼 RDW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Real-time Data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공통, 실시간SoR, 준실시간요약집계, 준실시간보고서마트, 피드백을 관리하는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데이터플랫폼 ADW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Analytical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Data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공통, 분석SoR, 분석통합요약집계, 분석단위업무마트, 분석보고서마트, 피드백, 분석지원을 관리하는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BI포탈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Business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BI포탈, 신용실적, OLAP, Self BI, 신포털UIUX를 관리하는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Marketing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공통, 통합고객, 개인고객, 기업고객, 미니싱글뷰, 상담판매, 통합상품, 캠페인, EBM, 실시간처리,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행동정보처리, 고객행동데이터, 영업지원, CS, 컨텐츠, 메시지를 관리하는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데이터 거버넌스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Data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비즈메타, 데이터품질, 데이터흐름을 관리하는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373737"/>
                          </a:solidFill>
                          <a:latin typeface="Malgun Gothic"/>
                        </a:rPr>
                        <a:t>IT서비스 및 업무지원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Information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아키텍처 관리, 시스템 공통, 배포, 프레임워크, 라이브러리, 소스코드 버전관리, 정보단말 관리, 정보단말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373737"/>
                          </a:solidFill>
                          <a:latin typeface="Malgun Gothic"/>
                        </a:rPr>
                        <a:t>배포, 배치작업 처리, 실시간 중계, 데이터 치환 적재, 보고서 디자이너를 관리하는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75488" y="2011680"/>
            <a:ext cx="11109960" cy="4919472"/>
          </a:xfrm>
          <a:prstGeom prst="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438912"/>
            <a:ext cx="4389120" cy="50292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2400" b="1">
                <a:solidFill>
                  <a:srgbClr val="3C3C3C"/>
                </a:solidFill>
                <a:latin typeface="Malgun Gothic"/>
              </a:rPr>
              <a:t>전체 시스템 아키텍처 구조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9880" y="164592"/>
            <a:ext cx="146304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r"/>
            <a:r>
              <a:rPr sz="1100" b="0">
                <a:solidFill>
                  <a:srgbClr val="28282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11480"/>
            <a:ext cx="192024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r"/>
            <a:r>
              <a:rPr sz="1100" b="0">
                <a:solidFill>
                  <a:srgbClr val="282828"/>
                </a:solidFill>
                <a:latin typeface="Malgun Gothic"/>
              </a:rPr>
              <a:t>1.4 시스템 아키텍처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61288"/>
            <a:ext cx="960120" cy="32004"/>
          </a:xfrm>
          <a:prstGeom prst="rect">
            <a:avLst/>
          </a:prstGeom>
          <a:solidFill>
            <a:srgbClr val="3D5DA5"/>
          </a:solidFill>
          <a:ln>
            <a:solidFill>
              <a:srgbClr val="3D5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1161288"/>
            <a:ext cx="502920" cy="32004"/>
          </a:xfrm>
          <a:prstGeom prst="rect">
            <a:avLst/>
          </a:prstGeom>
          <a:solidFill>
            <a:srgbClr val="94BE50"/>
          </a:solidFill>
          <a:ln>
            <a:solidFill>
              <a:srgbClr val="94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63040" y="1161288"/>
            <a:ext cx="10744200" cy="32004"/>
          </a:xfrm>
          <a:prstGeom prst="rect">
            <a:avLst/>
          </a:prstGeom>
          <a:solidFill>
            <a:srgbClr val="269652"/>
          </a:solidFill>
          <a:ln>
            <a:solidFill>
              <a:srgbClr val="26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371600"/>
            <a:ext cx="1024128" cy="6291072"/>
          </a:xfrm>
          <a:prstGeom prst="rect">
            <a:avLst/>
          </a:prstGeom>
          <a:solidFill>
            <a:srgbClr val="EEEEEE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371600"/>
            <a:ext cx="1024128" cy="256032"/>
          </a:xfrm>
          <a:prstGeom prst="rect">
            <a:avLst/>
          </a:prstGeom>
          <a:solidFill>
            <a:srgbClr val="C8D2CD"/>
          </a:solidFill>
          <a:ln w="6350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645920"/>
            <a:ext cx="777240" cy="502920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계정 단말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 rot="21000000">
            <a:off x="502920" y="2176272"/>
            <a:ext cx="685800" cy="12801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0">
                <a:solidFill>
                  <a:srgbClr val="323232"/>
                </a:solidFill>
                <a:latin typeface="Malgun Gothic"/>
              </a:rPr>
              <a:t>Single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441448"/>
            <a:ext cx="777240" cy="777240"/>
          </a:xfrm>
          <a:prstGeom prst="rect">
            <a:avLst/>
          </a:prstGeom>
          <a:solidFill>
            <a:srgbClr val="CEE5D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정보계 단말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UI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Package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19472"/>
            <a:ext cx="658368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고객행태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248656"/>
            <a:ext cx="685800" cy="420624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Web 채널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6199632"/>
            <a:ext cx="685800" cy="420624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Mobile 채널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6656832"/>
            <a:ext cx="685800" cy="48463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SMS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PUSH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MAL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97880"/>
            <a:ext cx="658368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고객행태</a:t>
            </a:r>
          </a:p>
        </p:txBody>
      </p:sp>
      <p:sp>
        <p:nvSpPr>
          <p:cNvPr id="18" name="Hexagon 17"/>
          <p:cNvSpPr/>
          <p:nvPr/>
        </p:nvSpPr>
        <p:spPr>
          <a:xfrm>
            <a:off x="1078992" y="3044952"/>
            <a:ext cx="457200" cy="402336"/>
          </a:xfrm>
          <a:prstGeom prst="hexagon">
            <a:avLst/>
          </a:prstGeom>
          <a:solidFill>
            <a:srgbClr val="E8E59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3044952"/>
            <a:ext cx="457200" cy="40233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50"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50" b="1">
                <a:solidFill>
                  <a:srgbClr val="282828"/>
                </a:solidFill>
                <a:latin typeface="Malgun Gothic"/>
              </a:rPr>
              <a:t>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1417320"/>
            <a:ext cx="804672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282828"/>
                </a:solidFill>
                <a:latin typeface="Malgun Gothic"/>
              </a:rPr>
              <a:t>채널통합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1328" y="1600200"/>
            <a:ext cx="347472" cy="237744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계정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거래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1952" y="1673352"/>
            <a:ext cx="329184" cy="164592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MCA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12848" y="1874519"/>
            <a:ext cx="530352" cy="164592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단위거래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2176272"/>
            <a:ext cx="411480" cy="18288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1328" y="2615184"/>
            <a:ext cx="411480" cy="18288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2834640"/>
            <a:ext cx="411480" cy="18288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2743200"/>
            <a:ext cx="457200" cy="1828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서비스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770632"/>
            <a:ext cx="219456" cy="59436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대면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로그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5303520"/>
            <a:ext cx="329184" cy="384048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비대면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27632" y="5303520"/>
            <a:ext cx="685800" cy="475488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Collector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Proxy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6126480"/>
            <a:ext cx="548640" cy="475488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마케팅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정보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인터넷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5989320"/>
            <a:ext cx="301752" cy="146304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Noti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12264" y="6437376"/>
            <a:ext cx="301752" cy="146304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Noti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36192" y="6949440"/>
            <a:ext cx="804672" cy="201168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이벤트 정보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6967728"/>
            <a:ext cx="310896" cy="146304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PUSH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074920"/>
            <a:ext cx="228600" cy="64008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FFFFFF"/>
                </a:solidFill>
                <a:latin typeface="Malgun Gothic"/>
              </a:rPr>
              <a:t>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81328" y="5870448"/>
            <a:ext cx="228600" cy="64008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FFFFFF"/>
                </a:solidFill>
                <a:latin typeface="Malgun Gothic"/>
              </a:rPr>
              <a:t>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1371600"/>
            <a:ext cx="3154680" cy="6263640"/>
          </a:xfrm>
          <a:prstGeom prst="rect">
            <a:avLst/>
          </a:prstGeom>
          <a:solidFill>
            <a:srgbClr val="C5E4CD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63240" y="1371600"/>
            <a:ext cx="3154680" cy="256032"/>
          </a:xfrm>
          <a:prstGeom prst="rect">
            <a:avLst/>
          </a:prstGeom>
          <a:solidFill>
            <a:srgbClr val="8CAC9B"/>
          </a:solidFill>
          <a:ln w="6350">
            <a:solidFill>
              <a:srgbClr val="8CA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정보계 어플리케이션 서비스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3824" y="2331720"/>
            <a:ext cx="502920" cy="621792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마케팅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플랫폼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Web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3824" y="3337560"/>
            <a:ext cx="502920" cy="47548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BI포탈</a:t>
            </a:r>
          </a:p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3824" y="3986784"/>
            <a:ext cx="502920" cy="228600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단말관리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3824" y="4315968"/>
            <a:ext cx="502920" cy="228600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단말배포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67328" y="1810512"/>
            <a:ext cx="2267712" cy="1417320"/>
          </a:xfrm>
          <a:prstGeom prst="rect">
            <a:avLst/>
          </a:prstGeom>
          <a:solidFill>
            <a:srgbClr val="ECF4EF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24528" y="1874519"/>
            <a:ext cx="1115568" cy="1828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마케팅플랫폼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1700784"/>
            <a:ext cx="246888" cy="246888"/>
          </a:xfrm>
          <a:prstGeom prst="roundRect">
            <a:avLst/>
          </a:prstGeom>
          <a:solidFill>
            <a:srgbClr val="D85A28"/>
          </a:solidFill>
          <a:ln w="10160">
            <a:solidFill>
              <a:srgbClr val="A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2084831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공통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2084831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상담판매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92624" y="2084831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통합상품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13632" y="2308860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통합고객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53128" y="2308860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개인고객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92624" y="2308860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기업고객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2532887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캠페인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53128" y="2532887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컨텐츠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92624" y="2532887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메시지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13632" y="2756915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영업지원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53128" y="2756915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92624" y="2756915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미니싱글뷰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3632" y="2980944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실시간</a:t>
            </a:r>
          </a:p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처리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53128" y="2980944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행동정보</a:t>
            </a:r>
          </a:p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처리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92624" y="2980944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고객행동</a:t>
            </a:r>
          </a:p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데이터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13632" y="3204972"/>
            <a:ext cx="502920" cy="201168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90" b="0">
                <a:solidFill>
                  <a:srgbClr val="282828"/>
                </a:solidFill>
                <a:latin typeface="Malgun Gothic"/>
              </a:rPr>
              <a:t>EBM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67328" y="3364992"/>
            <a:ext cx="2267712" cy="1261872"/>
          </a:xfrm>
          <a:prstGeom prst="rect">
            <a:avLst/>
          </a:prstGeom>
          <a:solidFill>
            <a:srgbClr val="ECF4EF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26280" y="3419856"/>
            <a:ext cx="777240" cy="1645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800" b="1">
                <a:solidFill>
                  <a:srgbClr val="282828"/>
                </a:solidFill>
                <a:latin typeface="Malgun Gothic"/>
              </a:rPr>
              <a:t>BI포탈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40480" y="3291840"/>
            <a:ext cx="246888" cy="246888"/>
          </a:xfrm>
          <a:prstGeom prst="roundRect">
            <a:avLst/>
          </a:prstGeom>
          <a:solidFill>
            <a:srgbClr val="D85A28"/>
          </a:solidFill>
          <a:ln w="10160">
            <a:solidFill>
              <a:srgbClr val="A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50208" y="3639312"/>
            <a:ext cx="1828800" cy="16459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BI포탈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50208" y="3840480"/>
            <a:ext cx="1828800" cy="16459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신용실적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50208" y="4041648"/>
            <a:ext cx="1828800" cy="16459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OLAP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0208" y="4242816"/>
            <a:ext cx="1828800" cy="16459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Self BI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50208" y="4443984"/>
            <a:ext cx="1828800" cy="16459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신BI포털UIUX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27248" y="4800600"/>
            <a:ext cx="3017520" cy="2743200"/>
          </a:xfrm>
          <a:prstGeom prst="rect">
            <a:avLst/>
          </a:prstGeom>
          <a:solidFill>
            <a:srgbClr val="C1E2C8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60520" y="4864608"/>
            <a:ext cx="1463040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282828"/>
                </a:solidFill>
                <a:latin typeface="Malgun Gothic"/>
              </a:rPr>
              <a:t>마케팅 이벤트 처리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27248" y="4773168"/>
            <a:ext cx="246888" cy="246888"/>
          </a:xfrm>
          <a:prstGeom prst="roundRect">
            <a:avLst/>
          </a:prstGeom>
          <a:solidFill>
            <a:srgbClr val="D85A28"/>
          </a:solidFill>
          <a:ln w="10160">
            <a:solidFill>
              <a:srgbClr val="A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4" name="Hexagon 73"/>
          <p:cNvSpPr/>
          <p:nvPr/>
        </p:nvSpPr>
        <p:spPr>
          <a:xfrm>
            <a:off x="3456432" y="5029200"/>
            <a:ext cx="502920" cy="475488"/>
          </a:xfrm>
          <a:prstGeom prst="hexagon">
            <a:avLst/>
          </a:prstGeom>
          <a:solidFill>
            <a:srgbClr val="E8E59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56432" y="5029200"/>
            <a:ext cx="502920" cy="4754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80"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80" b="1">
                <a:solidFill>
                  <a:srgbClr val="282828"/>
                </a:solidFill>
                <a:latin typeface="Malgun Gothic"/>
              </a:rPr>
              <a:t>수집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33087" y="5303520"/>
            <a:ext cx="1097280" cy="1645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행동정보처리서버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48072" y="5276088"/>
            <a:ext cx="475488" cy="164592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고객행태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77639" y="5760720"/>
            <a:ext cx="777240" cy="329184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Collector 수집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60520" y="6327648"/>
            <a:ext cx="731520" cy="365760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고객행동데이터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Kafka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01184" y="6144768"/>
            <a:ext cx="347472" cy="155448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KAFKA</a:t>
            </a:r>
          </a:p>
        </p:txBody>
      </p:sp>
      <p:sp>
        <p:nvSpPr>
          <p:cNvPr id="81" name="Hexagon 80"/>
          <p:cNvSpPr/>
          <p:nvPr/>
        </p:nvSpPr>
        <p:spPr>
          <a:xfrm>
            <a:off x="3538728" y="6629400"/>
            <a:ext cx="502920" cy="475488"/>
          </a:xfrm>
          <a:prstGeom prst="hexagon">
            <a:avLst/>
          </a:prstGeom>
          <a:solidFill>
            <a:srgbClr val="E8E59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538728" y="6629400"/>
            <a:ext cx="502920" cy="4754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80"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80" b="1">
                <a:solidFill>
                  <a:srgbClr val="282828"/>
                </a:solidFill>
                <a:latin typeface="Malgun Gothic"/>
              </a:rPr>
              <a:t>분석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50208" y="7059168"/>
            <a:ext cx="365760" cy="155448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UMS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6217920"/>
            <a:ext cx="493776" cy="713232"/>
          </a:xfrm>
          <a:prstGeom prst="rect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실시간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처리서버</a:t>
            </a:r>
          </a:p>
          <a:p>
            <a:pPr algn="ctr"/>
            <a:endParaRPr sz="600" b="0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EBM</a:t>
            </a:r>
          </a:p>
        </p:txBody>
      </p:sp>
      <p:sp>
        <p:nvSpPr>
          <p:cNvPr id="85" name="Can 84"/>
          <p:cNvSpPr/>
          <p:nvPr/>
        </p:nvSpPr>
        <p:spPr>
          <a:xfrm>
            <a:off x="5120640" y="6812280"/>
            <a:ext cx="493776" cy="402336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120640" y="6812280"/>
            <a:ext cx="493776" cy="40233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이벤트</a:t>
            </a:r>
          </a:p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정보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81728" y="7095744"/>
            <a:ext cx="228600" cy="146304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FFFFFF"/>
                </a:solidFill>
                <a:latin typeface="Malgun Gothic"/>
              </a:rPr>
              <a:t>API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03720" y="1371600"/>
            <a:ext cx="4526280" cy="1234440"/>
          </a:xfrm>
          <a:prstGeom prst="rect">
            <a:avLst/>
          </a:prstGeom>
          <a:solidFill>
            <a:srgbClr val="E8E8E8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903720" y="1371600"/>
            <a:ext cx="4526280" cy="256032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유관 시스템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03720" y="1371600"/>
            <a:ext cx="4526280" cy="256032"/>
          </a:xfrm>
          <a:prstGeom prst="rect">
            <a:avLst/>
          </a:prstGeom>
          <a:solidFill>
            <a:srgbClr val="E8E8E8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유관 시스템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75320" y="1664208"/>
            <a:ext cx="384048" cy="34747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계정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코어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32520" y="1664208"/>
            <a:ext cx="384048" cy="34747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계정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연계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89720" y="1664208"/>
            <a:ext cx="384048" cy="34747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경영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관리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46920" y="1664208"/>
            <a:ext cx="384048" cy="34747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리스크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관리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23760" y="1783080"/>
            <a:ext cx="365760" cy="155448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MCA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79792" y="1947672"/>
            <a:ext cx="320040" cy="182880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CDC</a:t>
            </a:r>
          </a:p>
        </p:txBody>
      </p:sp>
      <p:sp>
        <p:nvSpPr>
          <p:cNvPr id="97" name="Can 96"/>
          <p:cNvSpPr/>
          <p:nvPr/>
        </p:nvSpPr>
        <p:spPr>
          <a:xfrm>
            <a:off x="7726679" y="1874519"/>
            <a:ext cx="594360" cy="219456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726679" y="1874519"/>
            <a:ext cx="594360" cy="2194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계정 정보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71231" y="2212848"/>
            <a:ext cx="502920" cy="2560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CDC</a:t>
            </a:r>
          </a:p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중계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98480" y="1828800"/>
            <a:ext cx="457200" cy="21031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배치정보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98480" y="2075688"/>
            <a:ext cx="347472" cy="34747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MFT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03720" y="2514600"/>
            <a:ext cx="4663440" cy="164592"/>
          </a:xfrm>
          <a:prstGeom prst="rect">
            <a:avLst/>
          </a:prstGeom>
          <a:solidFill>
            <a:srgbClr val="D2D2D2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700" b="0">
                <a:solidFill>
                  <a:srgbClr val="282828"/>
                </a:solidFill>
                <a:latin typeface="Malgun Gothic"/>
              </a:rPr>
              <a:t>API Gateway (CruzAPIM)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29400" y="2788920"/>
            <a:ext cx="3611880" cy="3154680"/>
          </a:xfrm>
          <a:prstGeom prst="rect">
            <a:avLst/>
          </a:prstGeom>
          <a:solidFill>
            <a:srgbClr val="B5DDC9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629400" y="2788920"/>
            <a:ext cx="3611880" cy="256032"/>
          </a:xfrm>
          <a:prstGeom prst="rect">
            <a:avLst/>
          </a:prstGeom>
          <a:solidFill>
            <a:srgbClr val="B5DDC9"/>
          </a:solidFill>
          <a:ln w="6350">
            <a:solidFill>
              <a:srgbClr val="B5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0" y="2898648"/>
            <a:ext cx="1097280" cy="1645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데이터플랫폼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19088" y="2679192"/>
            <a:ext cx="246888" cy="246888"/>
          </a:xfrm>
          <a:prstGeom prst="roundRect">
            <a:avLst/>
          </a:prstGeom>
          <a:solidFill>
            <a:srgbClr val="D85A28"/>
          </a:solidFill>
          <a:ln w="10160">
            <a:solidFill>
              <a:srgbClr val="A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7" name="Hexagon 106"/>
          <p:cNvSpPr/>
          <p:nvPr/>
        </p:nvSpPr>
        <p:spPr>
          <a:xfrm>
            <a:off x="6931152" y="2889504"/>
            <a:ext cx="594360" cy="411480"/>
          </a:xfrm>
          <a:prstGeom prst="hexagon">
            <a:avLst/>
          </a:prstGeom>
          <a:solidFill>
            <a:srgbClr val="E8E59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31152" y="2889504"/>
            <a:ext cx="594360" cy="4114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70"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70" b="1">
                <a:solidFill>
                  <a:srgbClr val="282828"/>
                </a:solidFill>
                <a:latin typeface="Malgun Gothic"/>
              </a:rPr>
              <a:t>분석/처리</a:t>
            </a:r>
          </a:p>
        </p:txBody>
      </p:sp>
      <p:sp>
        <p:nvSpPr>
          <p:cNvPr id="109" name="Hexagon 108"/>
          <p:cNvSpPr/>
          <p:nvPr/>
        </p:nvSpPr>
        <p:spPr>
          <a:xfrm>
            <a:off x="9418320" y="2889504"/>
            <a:ext cx="594360" cy="411480"/>
          </a:xfrm>
          <a:prstGeom prst="hexagon">
            <a:avLst/>
          </a:prstGeom>
          <a:solidFill>
            <a:srgbClr val="E8E596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418320" y="2889504"/>
            <a:ext cx="594360" cy="4114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70"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70" b="1">
                <a:solidFill>
                  <a:srgbClr val="282828"/>
                </a:solidFill>
                <a:latin typeface="Malgun Gothic"/>
              </a:rPr>
              <a:t>수집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31152" y="3456432"/>
            <a:ext cx="1417320" cy="2331720"/>
          </a:xfrm>
          <a:prstGeom prst="rect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406640" y="3520440"/>
            <a:ext cx="457200" cy="1645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282828"/>
                </a:solidFill>
                <a:latin typeface="Malgun Gothic"/>
              </a:rPr>
              <a:t>RDW</a:t>
            </a:r>
          </a:p>
        </p:txBody>
      </p:sp>
      <p:sp>
        <p:nvSpPr>
          <p:cNvPr id="113" name="Can 112"/>
          <p:cNvSpPr/>
          <p:nvPr/>
        </p:nvSpPr>
        <p:spPr>
          <a:xfrm>
            <a:off x="7086600" y="3749039"/>
            <a:ext cx="1115568" cy="228600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086600" y="3749039"/>
            <a:ext cx="1115568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공통</a:t>
            </a:r>
          </a:p>
        </p:txBody>
      </p:sp>
      <p:sp>
        <p:nvSpPr>
          <p:cNvPr id="115" name="Can 114"/>
          <p:cNvSpPr/>
          <p:nvPr/>
        </p:nvSpPr>
        <p:spPr>
          <a:xfrm>
            <a:off x="7086600" y="4059935"/>
            <a:ext cx="1115568" cy="228600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086600" y="4059935"/>
            <a:ext cx="1115568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실시간SoR</a:t>
            </a:r>
          </a:p>
        </p:txBody>
      </p:sp>
      <p:sp>
        <p:nvSpPr>
          <p:cNvPr id="117" name="Can 116"/>
          <p:cNvSpPr/>
          <p:nvPr/>
        </p:nvSpPr>
        <p:spPr>
          <a:xfrm>
            <a:off x="7086600" y="4370831"/>
            <a:ext cx="1115568" cy="228600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086600" y="4370831"/>
            <a:ext cx="1115568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준실시간</a:t>
            </a:r>
          </a:p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요약집계</a:t>
            </a:r>
          </a:p>
        </p:txBody>
      </p:sp>
      <p:sp>
        <p:nvSpPr>
          <p:cNvPr id="119" name="Can 118"/>
          <p:cNvSpPr/>
          <p:nvPr/>
        </p:nvSpPr>
        <p:spPr>
          <a:xfrm>
            <a:off x="7086600" y="4681727"/>
            <a:ext cx="1115568" cy="228600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086600" y="4681727"/>
            <a:ext cx="1115568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준실시간</a:t>
            </a:r>
          </a:p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보고서마트</a:t>
            </a:r>
          </a:p>
        </p:txBody>
      </p:sp>
      <p:sp>
        <p:nvSpPr>
          <p:cNvPr id="121" name="Can 120"/>
          <p:cNvSpPr/>
          <p:nvPr/>
        </p:nvSpPr>
        <p:spPr>
          <a:xfrm>
            <a:off x="7086600" y="4992624"/>
            <a:ext cx="1115568" cy="228600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086600" y="4992624"/>
            <a:ext cx="1115568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Feedback</a:t>
            </a:r>
          </a:p>
        </p:txBody>
      </p:sp>
      <p:sp>
        <p:nvSpPr>
          <p:cNvPr id="123" name="Can 122"/>
          <p:cNvSpPr/>
          <p:nvPr/>
        </p:nvSpPr>
        <p:spPr>
          <a:xfrm>
            <a:off x="7086600" y="5303520"/>
            <a:ext cx="1115568" cy="228600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086600" y="5303520"/>
            <a:ext cx="1115568" cy="2286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30" b="1">
                <a:solidFill>
                  <a:srgbClr val="282828"/>
                </a:solidFill>
                <a:latin typeface="Malgun Gothic"/>
              </a:rPr>
              <a:t>마케팅 정보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732520" y="3456432"/>
            <a:ext cx="1325880" cy="2331720"/>
          </a:xfrm>
          <a:prstGeom prst="rect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189720" y="3520440"/>
            <a:ext cx="457200" cy="1645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282828"/>
                </a:solidFill>
                <a:latin typeface="Malgun Gothic"/>
              </a:rPr>
              <a:t>ADW</a:t>
            </a:r>
          </a:p>
        </p:txBody>
      </p:sp>
      <p:sp>
        <p:nvSpPr>
          <p:cNvPr id="127" name="Can 126"/>
          <p:cNvSpPr/>
          <p:nvPr/>
        </p:nvSpPr>
        <p:spPr>
          <a:xfrm>
            <a:off x="8869680" y="3703320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869680" y="3703320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공통</a:t>
            </a:r>
          </a:p>
        </p:txBody>
      </p:sp>
      <p:sp>
        <p:nvSpPr>
          <p:cNvPr id="129" name="Can 128"/>
          <p:cNvSpPr/>
          <p:nvPr/>
        </p:nvSpPr>
        <p:spPr>
          <a:xfrm>
            <a:off x="8869680" y="3977639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869680" y="3977639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분석SoR</a:t>
            </a:r>
          </a:p>
        </p:txBody>
      </p:sp>
      <p:sp>
        <p:nvSpPr>
          <p:cNvPr id="131" name="Can 130"/>
          <p:cNvSpPr/>
          <p:nvPr/>
        </p:nvSpPr>
        <p:spPr>
          <a:xfrm>
            <a:off x="8869680" y="4251959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869680" y="4251959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분석 통합</a:t>
            </a:r>
          </a:p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/요약/집계</a:t>
            </a:r>
          </a:p>
        </p:txBody>
      </p:sp>
      <p:sp>
        <p:nvSpPr>
          <p:cNvPr id="133" name="Can 132"/>
          <p:cNvSpPr/>
          <p:nvPr/>
        </p:nvSpPr>
        <p:spPr>
          <a:xfrm>
            <a:off x="8869680" y="4526279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869680" y="4526279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분석 단위 업무 마트</a:t>
            </a:r>
          </a:p>
        </p:txBody>
      </p:sp>
      <p:sp>
        <p:nvSpPr>
          <p:cNvPr id="135" name="Can 134"/>
          <p:cNvSpPr/>
          <p:nvPr/>
        </p:nvSpPr>
        <p:spPr>
          <a:xfrm>
            <a:off x="8869680" y="4800600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869680" y="4800600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분석</a:t>
            </a:r>
          </a:p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보고서 마트</a:t>
            </a:r>
          </a:p>
        </p:txBody>
      </p:sp>
      <p:sp>
        <p:nvSpPr>
          <p:cNvPr id="137" name="Can 136"/>
          <p:cNvSpPr/>
          <p:nvPr/>
        </p:nvSpPr>
        <p:spPr>
          <a:xfrm>
            <a:off x="8869680" y="5074920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869680" y="5074920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Feedback</a:t>
            </a:r>
          </a:p>
        </p:txBody>
      </p:sp>
      <p:sp>
        <p:nvSpPr>
          <p:cNvPr id="139" name="Can 138"/>
          <p:cNvSpPr/>
          <p:nvPr/>
        </p:nvSpPr>
        <p:spPr>
          <a:xfrm>
            <a:off x="8869680" y="5349240"/>
            <a:ext cx="1024128" cy="210312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869680" y="5349240"/>
            <a:ext cx="1024128" cy="21031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1">
                <a:solidFill>
                  <a:srgbClr val="282828"/>
                </a:solidFill>
                <a:latin typeface="Malgun Gothic"/>
              </a:rPr>
              <a:t>분석지원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17920" y="6309360"/>
            <a:ext cx="2514600" cy="1097280"/>
          </a:xfrm>
          <a:prstGeom prst="rect">
            <a:avLst/>
          </a:prstGeom>
          <a:solidFill>
            <a:srgbClr val="B5DDC9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217920" y="6309360"/>
            <a:ext cx="2514600" cy="256032"/>
          </a:xfrm>
          <a:prstGeom prst="rect">
            <a:avLst/>
          </a:prstGeom>
          <a:solidFill>
            <a:srgbClr val="B5DDC9"/>
          </a:solidFill>
          <a:ln w="6350">
            <a:solidFill>
              <a:srgbClr val="B5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12280" y="6419088"/>
            <a:ext cx="1097280" cy="1828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282828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0" y="6272784"/>
            <a:ext cx="246888" cy="246888"/>
          </a:xfrm>
          <a:prstGeom prst="roundRect">
            <a:avLst/>
          </a:prstGeom>
          <a:solidFill>
            <a:srgbClr val="D85A28"/>
          </a:solidFill>
          <a:ln w="10160">
            <a:solidFill>
              <a:srgbClr val="A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400800" y="6784848"/>
            <a:ext cx="548640" cy="47548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0">
                <a:solidFill>
                  <a:srgbClr val="282828"/>
                </a:solidFill>
                <a:latin typeface="Malgun Gothic"/>
              </a:rPr>
              <a:t>비즈</a:t>
            </a:r>
          </a:p>
          <a:p>
            <a:pPr algn="ctr"/>
            <a:r>
              <a:rPr sz="650" b="0">
                <a:solidFill>
                  <a:srgbClr val="282828"/>
                </a:solidFill>
                <a:latin typeface="Malgun Gothic"/>
              </a:rPr>
              <a:t>메타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059168" y="6784848"/>
            <a:ext cx="548640" cy="47548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0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50" b="0">
                <a:solidFill>
                  <a:srgbClr val="282828"/>
                </a:solidFill>
                <a:latin typeface="Malgun Gothic"/>
              </a:rPr>
              <a:t>품질관리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717536" y="6784848"/>
            <a:ext cx="548640" cy="47548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50" b="0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650" b="0">
                <a:solidFill>
                  <a:srgbClr val="282828"/>
                </a:solidFill>
                <a:latin typeface="Malgun Gothic"/>
              </a:rPr>
              <a:t>흐름관리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469880" y="2971800"/>
            <a:ext cx="868680" cy="2743200"/>
          </a:xfrm>
          <a:prstGeom prst="rect">
            <a:avLst/>
          </a:prstGeom>
          <a:solidFill>
            <a:srgbClr val="E6E6E6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570464" y="3044952"/>
            <a:ext cx="685800" cy="18288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282828"/>
                </a:solidFill>
                <a:latin typeface="Malgun Gothic"/>
              </a:rPr>
              <a:t>정보계 유관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607040" y="3291840"/>
            <a:ext cx="566928" cy="1234440"/>
          </a:xfrm>
          <a:prstGeom prst="rect">
            <a:avLst/>
          </a:prstGeom>
          <a:solidFill>
            <a:srgbClr val="E8E8E8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정보</a:t>
            </a: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단위업무</a:t>
            </a:r>
          </a:p>
          <a:p>
            <a:pPr algn="ctr"/>
            <a:endParaRPr sz="580" b="0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종합</a:t>
            </a: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수익</a:t>
            </a: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관리</a:t>
            </a:r>
          </a:p>
          <a:p>
            <a:pPr algn="ctr"/>
            <a:endParaRPr sz="580" b="0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자금</a:t>
            </a: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세탁</a:t>
            </a:r>
          </a:p>
          <a:p>
            <a:pPr algn="ctr"/>
            <a:r>
              <a:rPr sz="580" b="0">
                <a:solidFill>
                  <a:srgbClr val="282828"/>
                </a:solidFill>
                <a:latin typeface="Malgun Gothic"/>
              </a:rPr>
              <a:t>방지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991088" y="3456432"/>
            <a:ext cx="274320" cy="1069848"/>
          </a:xfrm>
          <a:prstGeom prst="rect">
            <a:avLst/>
          </a:prstGeom>
          <a:solidFill>
            <a:srgbClr val="E8E8E8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업적</a:t>
            </a: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평가</a:t>
            </a:r>
          </a:p>
          <a:p>
            <a:pPr algn="ctr"/>
            <a:endParaRPr sz="550" b="0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... 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607040" y="4663440"/>
            <a:ext cx="566928" cy="822960"/>
          </a:xfrm>
          <a:prstGeom prst="rect">
            <a:avLst/>
          </a:prstGeom>
          <a:solidFill>
            <a:srgbClr val="E8E8E8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Big Data</a:t>
            </a:r>
          </a:p>
          <a:p>
            <a:pPr algn="ctr"/>
            <a:endParaRPr sz="550" b="0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수집/적재</a:t>
            </a: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실시간</a:t>
            </a: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수집/적재</a:t>
            </a: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데이터 분석</a:t>
            </a:r>
          </a:p>
        </p:txBody>
      </p:sp>
      <p:sp>
        <p:nvSpPr>
          <p:cNvPr id="153" name="Can 152"/>
          <p:cNvSpPr/>
          <p:nvPr/>
        </p:nvSpPr>
        <p:spPr>
          <a:xfrm>
            <a:off x="10643616" y="5504688"/>
            <a:ext cx="493776" cy="201168"/>
          </a:xfrm>
          <a:prstGeom prst="can">
            <a:avLst/>
          </a:prstGeom>
          <a:solidFill>
            <a:srgbClr val="EBEBEB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643616" y="5504688"/>
            <a:ext cx="493776" cy="20116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550" b="1">
                <a:solidFill>
                  <a:srgbClr val="282828"/>
                </a:solidFill>
                <a:latin typeface="Malgun Gothic"/>
              </a:rPr>
              <a:t>Big Data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732520" y="6144768"/>
            <a:ext cx="2651760" cy="16459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ETL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732520" y="6364224"/>
            <a:ext cx="2651760" cy="16459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FOS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732520" y="6583680"/>
            <a:ext cx="2651760" cy="16459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MFT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732520" y="6812280"/>
            <a:ext cx="2651760" cy="164592"/>
          </a:xfrm>
          <a:prstGeom prst="rect">
            <a:avLst/>
          </a:prstGeom>
          <a:solidFill>
            <a:srgbClr val="DCDCDC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대외 MCA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012680" y="6455664"/>
            <a:ext cx="292608" cy="310896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계정계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561320" y="6455664"/>
            <a:ext cx="292608" cy="310896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단위</a:t>
            </a:r>
          </a:p>
          <a:p>
            <a:pPr algn="ctr"/>
            <a:r>
              <a:rPr sz="550" b="0">
                <a:solidFill>
                  <a:srgbClr val="282828"/>
                </a:solidFill>
                <a:latin typeface="Malgun Gothic"/>
              </a:rPr>
              <a:t>업무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869680" y="7059168"/>
            <a:ext cx="731520" cy="1554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계열사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692640" y="7059168"/>
            <a:ext cx="731520" cy="15544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/>
            <a:r>
              <a:rPr sz="600" b="0">
                <a:solidFill>
                  <a:srgbClr val="282828"/>
                </a:solidFill>
                <a:latin typeface="Malgun Gothic"/>
              </a:rPr>
              <a:t>외부기관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092440" y="7242048"/>
            <a:ext cx="457200" cy="20116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20" b="0">
                <a:solidFill>
                  <a:srgbClr val="282828"/>
                </a:solidFill>
                <a:latin typeface="Malgun Gothic"/>
              </a:rPr>
              <a:t>NH생명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604504" y="7242048"/>
            <a:ext cx="457200" cy="20116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20" b="0">
                <a:solidFill>
                  <a:srgbClr val="282828"/>
                </a:solidFill>
                <a:latin typeface="Malgun Gothic"/>
              </a:rPr>
              <a:t>NH손해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116567" y="7242048"/>
            <a:ext cx="457200" cy="20116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20" b="0">
                <a:solidFill>
                  <a:srgbClr val="282828"/>
                </a:solidFill>
                <a:latin typeface="Malgun Gothic"/>
              </a:rPr>
              <a:t>NH멤버스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628632" y="7242048"/>
            <a:ext cx="457200" cy="20116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20" b="0">
                <a:solidFill>
                  <a:srgbClr val="282828"/>
                </a:solidFill>
                <a:latin typeface="Malgun Gothic"/>
              </a:rPr>
              <a:t>KT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140696" y="7242048"/>
            <a:ext cx="457200" cy="20116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20" b="0">
                <a:solidFill>
                  <a:srgbClr val="282828"/>
                </a:solidFill>
                <a:latin typeface="Malgun Gothic"/>
              </a:rPr>
              <a:t>Nice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652760" y="7242048"/>
            <a:ext cx="457200" cy="201168"/>
          </a:xfrm>
          <a:prstGeom prst="rect">
            <a:avLst/>
          </a:prstGeom>
          <a:solidFill>
            <a:srgbClr val="E1E1E1"/>
          </a:solidFill>
          <a:ln w="889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520" b="0">
                <a:solidFill>
                  <a:srgbClr val="282828"/>
                </a:solidFill>
                <a:latin typeface="Malgun Gothic"/>
              </a:rPr>
              <a:t>KoData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217920" y="1783080"/>
            <a:ext cx="347472" cy="292608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계정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거래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09360" y="2980944"/>
            <a:ext cx="365760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336792" y="5230368"/>
            <a:ext cx="365760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336792" y="5577840"/>
            <a:ext cx="384048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Agent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995160" y="5989320"/>
            <a:ext cx="347472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479792" y="5989320"/>
            <a:ext cx="347472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717536" y="6199632"/>
            <a:ext cx="411480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Polling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955279" y="6382512"/>
            <a:ext cx="310896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File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985248" y="4206240"/>
            <a:ext cx="320040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985248" y="4480560"/>
            <a:ext cx="320040" cy="164592"/>
          </a:xfrm>
          <a:prstGeom prst="rect">
            <a:avLst/>
          </a:prstGeom>
          <a:solidFill>
            <a:srgbClr val="2D373C"/>
          </a:solidFill>
          <a:ln w="8890"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600" b="0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1874519" y="2267712"/>
            <a:ext cx="1280161" cy="338328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874519" y="2724912"/>
            <a:ext cx="1280161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874519" y="2944368"/>
            <a:ext cx="1280161" cy="621792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2240280" y="1764792"/>
            <a:ext cx="1527048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225296" y="5458968"/>
            <a:ext cx="402336" cy="64008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225296" y="6382512"/>
            <a:ext cx="329184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313432" y="5532120"/>
            <a:ext cx="813816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724912" y="7040880"/>
            <a:ext cx="1225296" cy="73152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035040" y="2523744"/>
            <a:ext cx="868680" cy="73152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035040" y="3017520"/>
            <a:ext cx="347472" cy="36576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5623560" y="5285232"/>
            <a:ext cx="731520" cy="109728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5623560" y="5669280"/>
            <a:ext cx="1005840" cy="4572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572000" y="5440680"/>
            <a:ext cx="822960" cy="73152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5248656" y="6172200"/>
            <a:ext cx="0" cy="13716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635240" y="2286000"/>
            <a:ext cx="0" cy="50292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601200" y="2514600"/>
            <a:ext cx="0" cy="27432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452360" y="5760720"/>
            <a:ext cx="0" cy="54864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326880" y="5760720"/>
            <a:ext cx="0" cy="384048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326880" y="6217920"/>
            <a:ext cx="1143000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326880" y="6446520"/>
            <a:ext cx="1143000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326880" y="6656832"/>
            <a:ext cx="1143000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9326880" y="6894576"/>
            <a:ext cx="1143000" cy="0"/>
          </a:xfrm>
          <a:prstGeom prst="line">
            <a:avLst/>
          </a:prstGeom>
          <a:ln w="889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57200"/>
            <a:ext cx="5669280" cy="5303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900" b="1">
                <a:solidFill>
                  <a:srgbClr val="3C3C3C"/>
                </a:solidFill>
                <a:latin typeface="Malgun Gothic"/>
              </a:rPr>
              <a:t>주요 시스템 대상 서버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73152"/>
            <a:ext cx="164592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300" b="0">
                <a:solidFill>
                  <a:srgbClr val="2D2D2D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310896"/>
            <a:ext cx="182880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300" b="0">
                <a:solidFill>
                  <a:srgbClr val="2D2D2D"/>
                </a:solidFill>
                <a:latin typeface="Malgun Gothic"/>
              </a:rPr>
              <a:t>1.4 시스템 아키텍처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16152"/>
            <a:ext cx="822960" cy="36576"/>
          </a:xfrm>
          <a:prstGeom prst="rect">
            <a:avLst/>
          </a:prstGeom>
          <a:solidFill>
            <a:srgbClr val="4372C4"/>
          </a:solidFill>
          <a:ln>
            <a:solidFill>
              <a:srgbClr val="43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16152"/>
            <a:ext cx="365760" cy="36576"/>
          </a:xfrm>
          <a:prstGeom prst="rect">
            <a:avLst/>
          </a:prstGeom>
          <a:solidFill>
            <a:srgbClr val="99C748"/>
          </a:solidFill>
          <a:ln>
            <a:solidFill>
              <a:srgbClr val="99C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88720" y="1216152"/>
            <a:ext cx="10881360" cy="36576"/>
          </a:xfrm>
          <a:prstGeom prst="rect">
            <a:avLst/>
          </a:prstGeom>
          <a:solidFill>
            <a:srgbClr val="299652"/>
          </a:solidFill>
          <a:ln>
            <a:solidFill>
              <a:srgbClr val="29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1005840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900" b="0">
                <a:solidFill>
                  <a:srgbClr val="3C3C3C"/>
                </a:solidFill>
                <a:latin typeface="Malgun Gothic"/>
              </a:rPr>
              <a:t>정보계 차세대 시스템은 주요 시스템 영역에 대해 논리적 대상 서버군을 각각 식별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Malgun Gothic"/>
              </a:rPr>
              <a:t>차세대 정보계 시스템 아키텍처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57984"/>
            <a:ext cx="6583680" cy="18288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96312"/>
            <a:ext cx="1143000" cy="4160520"/>
          </a:xfrm>
          <a:prstGeom prst="rect">
            <a:avLst/>
          </a:prstGeom>
          <a:solidFill>
            <a:srgbClr val="EBEEEB"/>
          </a:solidFill>
          <a:ln w="762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114300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770632"/>
            <a:ext cx="457200" cy="23774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770632"/>
            <a:ext cx="457200" cy="23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계정 단말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364992"/>
            <a:ext cx="566928" cy="329184"/>
          </a:xfrm>
          <a:prstGeom prst="rect">
            <a:avLst/>
          </a:prstGeom>
          <a:solidFill>
            <a:srgbClr val="D7ECDC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364992"/>
            <a:ext cx="56692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정보계 단말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UI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Package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965192"/>
            <a:ext cx="512064" cy="274320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4965192"/>
            <a:ext cx="51206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Web 채널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971032"/>
            <a:ext cx="548640" cy="502920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5971032"/>
            <a:ext cx="548640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Mobile 채널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UI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SMS PUSH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MAL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2743200"/>
            <a:ext cx="320040" cy="210312"/>
          </a:xfrm>
          <a:prstGeom prst="rect">
            <a:avLst/>
          </a:prstGeom>
          <a:solidFill>
            <a:srgbClr val="41484B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2743200"/>
            <a:ext cx="32004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계정</a:t>
            </a:r>
          </a:p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거래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291840"/>
            <a:ext cx="292608" cy="182880"/>
          </a:xfrm>
          <a:prstGeom prst="rect">
            <a:avLst/>
          </a:prstGeom>
          <a:solidFill>
            <a:srgbClr val="41484B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3291840"/>
            <a:ext cx="29260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3547872"/>
            <a:ext cx="292608" cy="182880"/>
          </a:xfrm>
          <a:prstGeom prst="rect">
            <a:avLst/>
          </a:prstGeom>
          <a:solidFill>
            <a:srgbClr val="41484B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3547872"/>
            <a:ext cx="292608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5102352"/>
            <a:ext cx="292608" cy="475488"/>
          </a:xfrm>
          <a:prstGeom prst="rect">
            <a:avLst/>
          </a:prstGeom>
          <a:solidFill>
            <a:srgbClr val="41484B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5102352"/>
            <a:ext cx="292608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Event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2496312"/>
            <a:ext cx="822960" cy="4160520"/>
          </a:xfrm>
          <a:prstGeom prst="rect">
            <a:avLst/>
          </a:prstGeom>
          <a:solidFill>
            <a:srgbClr val="EFF1EE"/>
          </a:solidFill>
          <a:ln w="762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37360" y="2496312"/>
            <a:ext cx="8229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채널통합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47088" y="2743200"/>
            <a:ext cx="502920" cy="20116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47088" y="274320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MCA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56232" y="5120640"/>
            <a:ext cx="502920" cy="411480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56232" y="5120640"/>
            <a:ext cx="50292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Wise</a:t>
            </a:r>
          </a:p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Collector</a:t>
            </a:r>
          </a:p>
          <a:p>
            <a:pPr algn="ctr"/>
            <a:r>
              <a:rPr sz="630" b="0">
                <a:solidFill>
                  <a:srgbClr val="2D2D2D"/>
                </a:solidFill>
                <a:latin typeface="Malgun Gothic"/>
              </a:rPr>
              <a:t>Proxy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56232" y="5971032"/>
            <a:ext cx="457200" cy="38404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56232" y="5971032"/>
            <a:ext cx="45720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마케팅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정보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인터넷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2359152"/>
            <a:ext cx="1874519" cy="1828800"/>
          </a:xfrm>
          <a:prstGeom prst="rect">
            <a:avLst/>
          </a:prstGeom>
          <a:solidFill>
            <a:srgbClr val="DBEFE2"/>
          </a:solidFill>
          <a:ln w="10160">
            <a:solidFill>
              <a:srgbClr val="55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51760" y="2359152"/>
            <a:ext cx="1874519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19" b="1">
                <a:solidFill>
                  <a:srgbClr val="2D2D2D"/>
                </a:solidFill>
                <a:latin typeface="Malgun Gothic"/>
              </a:rPr>
              <a:t>정보계 어플리케이션 서비스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2496312"/>
            <a:ext cx="228600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9B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2496312"/>
            <a:ext cx="22860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61488" y="2889504"/>
            <a:ext cx="411480" cy="603504"/>
          </a:xfrm>
          <a:prstGeom prst="rect">
            <a:avLst/>
          </a:prstGeom>
          <a:solidFill>
            <a:srgbClr val="E1EBE6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61488" y="2889504"/>
            <a:ext cx="411480" cy="6035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마케팅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플랫폼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2834640"/>
            <a:ext cx="1078992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91840" y="2834640"/>
            <a:ext cx="1078992" cy="14630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2D2D2D"/>
                </a:solidFill>
                <a:latin typeface="Malgun Gothic"/>
              </a:rPr>
              <a:t>마케팅플랫폼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2999232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2999232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공통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66744" y="2999232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66744" y="2999232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상담판매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2999232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95928" y="2999232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통합상품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3118104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37560" y="3118104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통합고객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66744" y="3118104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66744" y="3118104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개인고객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95928" y="3118104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95928" y="3118104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기업고객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7560" y="3236976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37560" y="3236976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캠페인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66744" y="3236976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66744" y="3236976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컨텐츠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95928" y="3236976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95928" y="3236976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메시지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7560" y="3355848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37560" y="3355848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실시간</a:t>
            </a:r>
          </a:p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처리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66744" y="3355848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66744" y="3355848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행동정보</a:t>
            </a:r>
          </a:p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처리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95928" y="3355848"/>
            <a:ext cx="301752" cy="100584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95928" y="3355848"/>
            <a:ext cx="301752" cy="1005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고객행동</a:t>
            </a:r>
          </a:p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데이터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61488" y="3593592"/>
            <a:ext cx="411480" cy="365760"/>
          </a:xfrm>
          <a:prstGeom prst="rect">
            <a:avLst/>
          </a:prstGeom>
          <a:solidFill>
            <a:srgbClr val="E1EBE6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61488" y="3593592"/>
            <a:ext cx="4114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BI포탈</a:t>
            </a:r>
          </a:p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840" y="3584448"/>
            <a:ext cx="1078992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337560" y="3639312"/>
            <a:ext cx="987552" cy="6400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337560" y="3639312"/>
            <a:ext cx="987552" cy="640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BI포탈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3721608"/>
            <a:ext cx="987552" cy="6400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337560" y="3721608"/>
            <a:ext cx="987552" cy="640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신용실적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37560" y="3803904"/>
            <a:ext cx="987552" cy="6400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337560" y="3803904"/>
            <a:ext cx="987552" cy="640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OLAP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37560" y="3886200"/>
            <a:ext cx="987552" cy="6400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337560" y="3886200"/>
            <a:ext cx="987552" cy="640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Self BI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37560" y="3968496"/>
            <a:ext cx="987552" cy="6400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337560" y="3968496"/>
            <a:ext cx="987552" cy="640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59" b="0">
                <a:solidFill>
                  <a:srgbClr val="2D2D2D"/>
                </a:solidFill>
                <a:latin typeface="Malgun Gothic"/>
              </a:rPr>
              <a:t>신BI포털UIUX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51760" y="4279392"/>
            <a:ext cx="1874519" cy="2377440"/>
          </a:xfrm>
          <a:prstGeom prst="rect">
            <a:avLst/>
          </a:prstGeom>
          <a:solidFill>
            <a:srgbClr val="B8DFC3"/>
          </a:solidFill>
          <a:ln w="10160">
            <a:solidFill>
              <a:srgbClr val="55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752344" y="4690872"/>
            <a:ext cx="228600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9B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52344" y="4690872"/>
            <a:ext cx="22860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71800" y="4352544"/>
            <a:ext cx="1417319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마케팅 이벤트 처리</a:t>
            </a:r>
          </a:p>
        </p:txBody>
      </p:sp>
      <p:sp>
        <p:nvSpPr>
          <p:cNvPr id="86" name="Hexagon 85"/>
          <p:cNvSpPr/>
          <p:nvPr/>
        </p:nvSpPr>
        <p:spPr>
          <a:xfrm>
            <a:off x="2679192" y="4965192"/>
            <a:ext cx="411480" cy="329184"/>
          </a:xfrm>
          <a:prstGeom prst="hexagon">
            <a:avLst/>
          </a:prstGeom>
          <a:solidFill>
            <a:srgbClr val="EEE8A0"/>
          </a:solidFill>
          <a:ln w="10160">
            <a:solidFill>
              <a:srgbClr val="5A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679192" y="4965192"/>
            <a:ext cx="41148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30" b="1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630" b="1">
                <a:solidFill>
                  <a:srgbClr val="2D2D2D"/>
                </a:solidFill>
                <a:latin typeface="Malgun Gothic"/>
              </a:rPr>
              <a:t>수집</a:t>
            </a:r>
          </a:p>
        </p:txBody>
      </p:sp>
      <p:sp>
        <p:nvSpPr>
          <p:cNvPr id="88" name="Hexagon 87"/>
          <p:cNvSpPr/>
          <p:nvPr/>
        </p:nvSpPr>
        <p:spPr>
          <a:xfrm>
            <a:off x="2834640" y="6199632"/>
            <a:ext cx="411480" cy="329184"/>
          </a:xfrm>
          <a:prstGeom prst="hexagon">
            <a:avLst/>
          </a:prstGeom>
          <a:solidFill>
            <a:srgbClr val="EEE8A0"/>
          </a:solidFill>
          <a:ln w="10160">
            <a:solidFill>
              <a:srgbClr val="5A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834640" y="6199632"/>
            <a:ext cx="41148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30" b="1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630" b="1">
                <a:solidFill>
                  <a:srgbClr val="2D2D2D"/>
                </a:solidFill>
                <a:latin typeface="Malgun Gothic"/>
              </a:rPr>
              <a:t>분석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0" y="4782312"/>
            <a:ext cx="822960" cy="256032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474720" y="4782312"/>
            <a:ext cx="8229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50" b="0">
                <a:solidFill>
                  <a:srgbClr val="2D2D2D"/>
                </a:solidFill>
                <a:latin typeface="Malgun Gothic"/>
              </a:rPr>
              <a:t>행동정보처리서버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83280" y="5212080"/>
            <a:ext cx="731520" cy="29260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383280" y="5212080"/>
            <a:ext cx="73152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Wise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Collector 수집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83280" y="5788152"/>
            <a:ext cx="640080" cy="384048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383280" y="5788152"/>
            <a:ext cx="64008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고객행동데이터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Kafka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069080" y="5696712"/>
            <a:ext cx="393192" cy="640080"/>
          </a:xfrm>
          <a:prstGeom prst="rect">
            <a:avLst/>
          </a:prstGeom>
          <a:solidFill>
            <a:srgbClr val="E6EBE9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069080" y="5696712"/>
            <a:ext cx="393192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실시간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처리서버</a:t>
            </a:r>
          </a:p>
          <a:p>
            <a:pPr algn="ctr"/>
            <a:r>
              <a:rPr sz="620" b="0">
                <a:solidFill>
                  <a:srgbClr val="2D2D2D"/>
                </a:solidFill>
                <a:latin typeface="Malgun Gothic"/>
              </a:rPr>
              <a:t>EBM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60720" y="3703320"/>
            <a:ext cx="228600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9B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60720" y="3703320"/>
            <a:ext cx="22860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63440" y="3136392"/>
            <a:ext cx="2286000" cy="2331720"/>
          </a:xfrm>
          <a:prstGeom prst="rect">
            <a:avLst/>
          </a:prstGeom>
          <a:solidFill>
            <a:srgbClr val="DBEFE2"/>
          </a:solidFill>
          <a:ln w="10160">
            <a:solidFill>
              <a:srgbClr val="55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663440" y="3136392"/>
            <a:ext cx="22860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데이터플랫폼</a:t>
            </a:r>
          </a:p>
        </p:txBody>
      </p:sp>
      <p:sp>
        <p:nvSpPr>
          <p:cNvPr id="102" name="Hexagon 101"/>
          <p:cNvSpPr/>
          <p:nvPr/>
        </p:nvSpPr>
        <p:spPr>
          <a:xfrm>
            <a:off x="6053328" y="3867912"/>
            <a:ext cx="438912" cy="320040"/>
          </a:xfrm>
          <a:prstGeom prst="hexagon">
            <a:avLst/>
          </a:prstGeom>
          <a:solidFill>
            <a:srgbClr val="EEE8A0"/>
          </a:solidFill>
          <a:ln w="10160">
            <a:solidFill>
              <a:srgbClr val="5A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53328" y="3867912"/>
            <a:ext cx="438912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600" b="1">
                <a:solidFill>
                  <a:srgbClr val="2D2D2D"/>
                </a:solidFill>
                <a:latin typeface="Malgun Gothic"/>
              </a:rPr>
              <a:t>분석/처리</a:t>
            </a:r>
          </a:p>
        </p:txBody>
      </p:sp>
      <p:sp>
        <p:nvSpPr>
          <p:cNvPr id="104" name="Hexagon 103"/>
          <p:cNvSpPr/>
          <p:nvPr/>
        </p:nvSpPr>
        <p:spPr>
          <a:xfrm>
            <a:off x="7626096" y="3867912"/>
            <a:ext cx="438912" cy="320040"/>
          </a:xfrm>
          <a:prstGeom prst="hexagon">
            <a:avLst/>
          </a:prstGeom>
          <a:solidFill>
            <a:srgbClr val="EEE8A0"/>
          </a:solidFill>
          <a:ln w="10160">
            <a:solidFill>
              <a:srgbClr val="5A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626096" y="3867912"/>
            <a:ext cx="438912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600" b="1">
                <a:solidFill>
                  <a:srgbClr val="2D2D2D"/>
                </a:solidFill>
                <a:latin typeface="Malgun Gothic"/>
              </a:rPr>
              <a:t>수집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956048" y="3758184"/>
            <a:ext cx="777240" cy="1508760"/>
          </a:xfrm>
          <a:prstGeom prst="rect">
            <a:avLst/>
          </a:prstGeom>
          <a:solidFill>
            <a:srgbClr val="F0F0F0"/>
          </a:solidFill>
          <a:ln w="762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956048" y="3758184"/>
            <a:ext cx="77724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Malgun Gothic"/>
              </a:rPr>
              <a:t>RDW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029200" y="3995928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029200" y="3995928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공통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29200" y="4169664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029200" y="4169664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실시간SoR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29200" y="4343400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29200" y="4343400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준실시간</a:t>
            </a:r>
          </a:p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요약집계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029200" y="4517136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029200" y="4517136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준실시간</a:t>
            </a:r>
          </a:p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보고서마트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9200" y="4690872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029200" y="4690872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Feedback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029200" y="4864608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029200" y="4864608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마케팅 정보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16752" y="3758184"/>
            <a:ext cx="777240" cy="1508760"/>
          </a:xfrm>
          <a:prstGeom prst="rect">
            <a:avLst/>
          </a:prstGeom>
          <a:solidFill>
            <a:srgbClr val="F0F0F0"/>
          </a:solidFill>
          <a:ln w="762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016752" y="3758184"/>
            <a:ext cx="77724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50" b="1">
                <a:solidFill>
                  <a:srgbClr val="2D2D2D"/>
                </a:solidFill>
                <a:latin typeface="Malgun Gothic"/>
              </a:rPr>
              <a:t>ADW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89904" y="3995928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089904" y="3995928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공통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089904" y="4169664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089904" y="4169664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분석SoR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089904" y="4343400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089904" y="4343400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분석통합</a:t>
            </a:r>
          </a:p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/요약/집계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089904" y="4517136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089904" y="4517136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분석 단위업무 마트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089904" y="4690872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089904" y="4690872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분석</a:t>
            </a:r>
          </a:p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보고서마트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089904" y="4864608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089904" y="4864608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Feedback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89904" y="5038344"/>
            <a:ext cx="640080" cy="1371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089904" y="5038344"/>
            <a:ext cx="640080" cy="13716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분석지원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358384" y="6428232"/>
            <a:ext cx="228600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9B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358384" y="6428232"/>
            <a:ext cx="228600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498848" y="6217920"/>
            <a:ext cx="1810512" cy="704088"/>
          </a:xfrm>
          <a:prstGeom prst="rect">
            <a:avLst/>
          </a:prstGeom>
          <a:solidFill>
            <a:srgbClr val="DBEFE2"/>
          </a:solidFill>
          <a:ln w="10160">
            <a:solidFill>
              <a:srgbClr val="55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727448" y="6263640"/>
            <a:ext cx="1371600" cy="1645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636008" y="6510528"/>
            <a:ext cx="438912" cy="320040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636008" y="6510528"/>
            <a:ext cx="43891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비즈</a:t>
            </a:r>
          </a:p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메타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166360" y="6510528"/>
            <a:ext cx="438912" cy="320040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166360" y="6510528"/>
            <a:ext cx="43891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품질관리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96711" y="6510528"/>
            <a:ext cx="438912" cy="320040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696711" y="6510528"/>
            <a:ext cx="43891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550" b="0">
                <a:solidFill>
                  <a:srgbClr val="2D2D2D"/>
                </a:solidFill>
                <a:latin typeface="Malgun Gothic"/>
              </a:rPr>
              <a:t>흐름관리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903720" y="3090672"/>
            <a:ext cx="566928" cy="1463040"/>
          </a:xfrm>
          <a:prstGeom prst="rect">
            <a:avLst/>
          </a:prstGeom>
          <a:solidFill>
            <a:srgbClr val="EDEDED"/>
          </a:solidFill>
          <a:ln w="762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903720" y="3090672"/>
            <a:ext cx="566928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D2D2D"/>
                </a:solidFill>
                <a:latin typeface="Malgun Gothic"/>
              </a:rPr>
              <a:t>정보계 유관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76872" y="3346704"/>
            <a:ext cx="420624" cy="256032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976872" y="3346704"/>
            <a:ext cx="42062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정보</a:t>
            </a:r>
          </a:p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단위업무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976872" y="3730752"/>
            <a:ext cx="420624" cy="256032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976872" y="3730752"/>
            <a:ext cx="42062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Big Data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976872" y="4114800"/>
            <a:ext cx="420624" cy="256032"/>
          </a:xfrm>
          <a:prstGeom prst="rect">
            <a:avLst/>
          </a:prstGeom>
          <a:solidFill>
            <a:srgbClr val="F0F0F0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976872" y="4114800"/>
            <a:ext cx="42062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데이터</a:t>
            </a:r>
          </a:p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분석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806440" y="6519672"/>
            <a:ext cx="1280160" cy="109728"/>
          </a:xfrm>
          <a:prstGeom prst="rect">
            <a:avLst/>
          </a:prstGeom>
          <a:solidFill>
            <a:srgbClr val="DCDCDC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806440" y="6519672"/>
            <a:ext cx="1280160" cy="1097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806440" y="6665976"/>
            <a:ext cx="1280160" cy="109728"/>
          </a:xfrm>
          <a:prstGeom prst="rect">
            <a:avLst/>
          </a:prstGeom>
          <a:solidFill>
            <a:srgbClr val="DCDCDC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806440" y="6665976"/>
            <a:ext cx="1280160" cy="1097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806440" y="6812280"/>
            <a:ext cx="1280160" cy="109728"/>
          </a:xfrm>
          <a:prstGeom prst="rect">
            <a:avLst/>
          </a:prstGeom>
          <a:solidFill>
            <a:srgbClr val="DCDCDC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806440" y="6812280"/>
            <a:ext cx="1280160" cy="1097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806440" y="6958584"/>
            <a:ext cx="1280160" cy="109728"/>
          </a:xfrm>
          <a:prstGeom prst="rect">
            <a:avLst/>
          </a:prstGeom>
          <a:solidFill>
            <a:srgbClr val="DCDCDC"/>
          </a:solidFill>
          <a:ln w="6985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806440" y="6958584"/>
            <a:ext cx="1280160" cy="1097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480" b="0">
                <a:solidFill>
                  <a:srgbClr val="2D2D2D"/>
                </a:solidFill>
                <a:latin typeface="Malgun Gothic"/>
              </a:rPr>
              <a:t>대외MCA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1600200" y="3182112"/>
            <a:ext cx="114300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600200" y="4965192"/>
            <a:ext cx="1143000" cy="32004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526279" y="3364992"/>
            <a:ext cx="137161" cy="4572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526279" y="4782312"/>
            <a:ext cx="137161" cy="50292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5413248" y="5468112"/>
            <a:ext cx="164592" cy="74980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7790688" y="2130552"/>
            <a:ext cx="3840480" cy="320040"/>
          </a:xfrm>
          <a:prstGeom prst="rect">
            <a:avLst/>
          </a:prstGeom>
          <a:solidFill>
            <a:srgbClr val="1C4648"/>
          </a:solidFill>
          <a:ln>
            <a:solidFill>
              <a:srgbClr val="1C4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790688" y="2130552"/>
            <a:ext cx="384048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주요 시스템 별 대상서버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790688" y="2569464"/>
            <a:ext cx="237744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A0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790688" y="2569464"/>
            <a:ext cx="237744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83296" y="2569464"/>
            <a:ext cx="960120" cy="868680"/>
          </a:xfrm>
          <a:prstGeom prst="rect">
            <a:avLst/>
          </a:prstGeom>
          <a:solidFill>
            <a:srgbClr val="DEECF1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083296" y="2569464"/>
            <a:ext cx="960120" cy="8686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마케팅플랫폼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162288" y="2569464"/>
            <a:ext cx="2414016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1)   마케팅플랫폼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2)   미니 싱글뷰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3)   실시간처리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4)   행동처리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5)   고객행동데이터 서버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790688" y="3602736"/>
            <a:ext cx="237744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A0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7790688" y="3602736"/>
            <a:ext cx="237744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083296" y="3602736"/>
            <a:ext cx="960120" cy="502920"/>
          </a:xfrm>
          <a:prstGeom prst="rect">
            <a:avLst/>
          </a:prstGeom>
          <a:solidFill>
            <a:srgbClr val="DEECF1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8083296" y="3602736"/>
            <a:ext cx="9601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데이터플랫폼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162288" y="3602736"/>
            <a:ext cx="2414016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1)   ADW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2)   RDW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790688" y="4270248"/>
            <a:ext cx="237744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A0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7790688" y="4270248"/>
            <a:ext cx="237744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083296" y="4270248"/>
            <a:ext cx="960120" cy="749808"/>
          </a:xfrm>
          <a:prstGeom prst="rect">
            <a:avLst/>
          </a:prstGeom>
          <a:solidFill>
            <a:srgbClr val="DEECF1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8083296" y="4270248"/>
            <a:ext cx="960120" cy="7498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BI 포탈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162288" y="4270248"/>
            <a:ext cx="2414016" cy="7498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1)   BI포탈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2)   신용실적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3)   OLAP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4)   Self BI 서버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790688" y="5184648"/>
            <a:ext cx="237744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A0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7790688" y="5184648"/>
            <a:ext cx="237744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083296" y="5184648"/>
            <a:ext cx="960120" cy="566928"/>
          </a:xfrm>
          <a:prstGeom prst="rect">
            <a:avLst/>
          </a:prstGeom>
          <a:solidFill>
            <a:srgbClr val="DEECF1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8083296" y="5184648"/>
            <a:ext cx="960120" cy="56692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162288" y="5184648"/>
            <a:ext cx="2414016" cy="5669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1)   비즈메타/데이터품질관리 서버</a:t>
            </a:r>
          </a:p>
          <a:p>
            <a:pPr algn="l"/>
            <a:r>
              <a:rPr sz="930" b="0">
                <a:solidFill>
                  <a:srgbClr val="2D2D2D"/>
                </a:solidFill>
                <a:latin typeface="Malgun Gothic"/>
              </a:rPr>
              <a:t>2)   데이터흐름관리 서버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790688" y="5916168"/>
            <a:ext cx="237744" cy="228600"/>
          </a:xfrm>
          <a:prstGeom prst="rect">
            <a:avLst/>
          </a:prstGeom>
          <a:solidFill>
            <a:srgbClr val="CA542D"/>
          </a:solidFill>
          <a:ln w="5080">
            <a:solidFill>
              <a:srgbClr val="A0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7790688" y="5916168"/>
            <a:ext cx="237744" cy="22860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083296" y="5916168"/>
            <a:ext cx="960120" cy="1115568"/>
          </a:xfrm>
          <a:prstGeom prst="rect">
            <a:avLst/>
          </a:prstGeom>
          <a:solidFill>
            <a:srgbClr val="DEECF1"/>
          </a:solidFill>
          <a:ln w="10160"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8083296" y="5916168"/>
            <a:ext cx="960120" cy="11155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80" b="1">
                <a:solidFill>
                  <a:srgbClr val="2D2D2D"/>
                </a:solidFill>
                <a:latin typeface="Malgun Gothic"/>
              </a:rPr>
              <a:t>IT서비스 및</a:t>
            </a:r>
          </a:p>
          <a:p>
            <a:pPr algn="ctr"/>
            <a:r>
              <a:rPr sz="980" b="1">
                <a:solidFill>
                  <a:srgbClr val="2D2D2D"/>
                </a:solidFill>
                <a:latin typeface="Malgun Gothic"/>
              </a:rPr>
              <a:t>인프라 지원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62288" y="5916168"/>
            <a:ext cx="2359152" cy="11155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1)   단말관리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2)   단말배포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3)   배치 AP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4)   CDC 중계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5)   ETL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6)   출력물(RD)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7)   소스관리(Git Lab)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8)   소스 배포(Gitlab Runner) 서버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083296" y="7242048"/>
            <a:ext cx="96012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083296" y="7242048"/>
            <a:ext cx="96012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기타 (임시)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62288" y="7242048"/>
            <a:ext cx="237744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1)   데이터 이행/추출/변환 서버</a:t>
            </a:r>
          </a:p>
          <a:p>
            <a:pPr algn="l"/>
            <a:r>
              <a:rPr sz="880" b="0">
                <a:solidFill>
                  <a:srgbClr val="2D2D2D"/>
                </a:solidFill>
                <a:latin typeface="Malgun Gothic"/>
              </a:rPr>
              <a:t>2)   SQL 품질관리 서버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828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Malgun Gothic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173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아키텍처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938528"/>
            <a:ext cx="484632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1.1 개요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1.2 어플리케이션 분류 체계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1.3 데이터 주제영역 정의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1.4 시스템 아키텍처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3712464"/>
            <a:ext cx="5349240" cy="393192"/>
          </a:xfrm>
          <a:prstGeom prst="rect">
            <a:avLst/>
          </a:prstGeom>
          <a:solidFill>
            <a:srgbClr val="D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398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739896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논리 기술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4261104"/>
            <a:ext cx="484632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2.1 전사 IT Zone 기반 구성 기준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2.2 시스템 노드 정의 및 식별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2.3 기술 컴포넌트 정의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62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06247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물리 인프라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6583680"/>
            <a:ext cx="484632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3.1 하드웨어 구성도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3.2 소프트웨어 구성도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3.3 하드웨어 목록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3.4 소프트웨어 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173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데이터베이스 아키텍처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938528"/>
            <a:ext cx="457200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4.1 DB 아키텍처 구성도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4.2 DB 이중화 구성도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4.3 OGG 구성도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4.4 OLTP 및 대용량 배치 수행 방안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398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39896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시스템 표준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4261104"/>
            <a:ext cx="457200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5.1 서버 호스트 명명규칙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5.2 파일 시스템 구성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5.3 사용자 계정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5.4 서비스 포트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6062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06247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인터페이스 아키텍처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6583680"/>
            <a:ext cx="4572000" cy="7315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6.1 인터페이스 표준 정의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6.2 인터페이스 구성도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828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Malgun Gothic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173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런타임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938528"/>
            <a:ext cx="484632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7.1 업무 처리 유형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7.2 단말 거래 처리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7.3 미니 싱글뷰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7.4 UMS 고객 통지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398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739896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아키텍처 표준화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4261104"/>
            <a:ext cx="4846320" cy="2971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8.1 어플리케이션 계층 구조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8.2 전문 표준화 정의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8.3 GUID 관리 체계 정의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8.4 캐릭터 셋 정의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8.5 XX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8.6 XX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8.7 XX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8.8 XX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8.9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4173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아키텍처 구성 요소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938528"/>
            <a:ext cx="457200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9.1 단말 프레임워크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9.2 온라인 프레임워크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9.3 배치 프레임워크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3375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업무 솔루션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3858768"/>
            <a:ext cx="4572000" cy="137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10.1 SELF-BI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10.2 OLAP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10.3 EBM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10.4 데이터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66013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82828"/>
                </a:solidFill>
                <a:latin typeface="Malgun Gothic"/>
              </a:rPr>
              <a:t>11.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660136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Malgun Gothic"/>
              </a:rPr>
              <a:t>기타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6181344"/>
            <a:ext cx="4572000" cy="1691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11.1 시스템 모니터링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11.2 시스템 가용성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11.3 시스템 확장성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11.4 DR 구성 (센터 간 가용성)</a:t>
            </a:r>
          </a:p>
          <a:p>
            <a:pPr algn="l"/>
            <a:r>
              <a:rPr sz="1600" b="0">
                <a:solidFill>
                  <a:srgbClr val="323232"/>
                </a:solidFill>
                <a:latin typeface="Malgun Gothic"/>
              </a:rPr>
              <a:t>11.5 백업 구성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3152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구축 대상 시스템 및 주요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운영환경은 「마케팅플랫폼 시스템」, 「데이터플랫폼 시스템」, 「BI포탈 시스템」, 「데이터거버넌스 시스템」,</a:t>
            </a:r>
          </a:p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「IT서비스 및 업무지원 시스템」의 5개 시스템으로 구성함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3291840" cy="205740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0936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560320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2560320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944368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미니 싱글뷰 WEB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8" y="2944368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미니 싱글뷰 WAS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328415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실시간 처리 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3328415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행동정보 처리 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3712463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고객 행동 데이터 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1448" y="3611880"/>
            <a:ext cx="123444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마케팅플랫폼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057400"/>
            <a:ext cx="3291840" cy="205740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151376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51376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2560320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79008" y="2560320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ADW 어플라이언스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057400"/>
            <a:ext cx="3291840" cy="205740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71815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71815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BI 포탈 시스템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2560320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BI포탈 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99576" y="2560320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BI포탈 WAS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99319" y="2560320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신용실적 WEB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99831" y="2944368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신용실적 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9576" y="2944368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OLAP 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99319" y="2944368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OLAP WEB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9831" y="3328415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OLAP WAS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9576" y="3328415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9319" y="3328415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Self-BI WEB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9831" y="3712463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Self-BI WAS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703320"/>
            <a:ext cx="123444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BI포탈 경영실적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90888" y="3703320"/>
            <a:ext cx="109728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BI포탈 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480560"/>
            <a:ext cx="3291840" cy="196596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0936" y="45537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" y="45582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455371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데이터거버넌스 시스템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4983480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비즈메타 / 데이터 품질 WAS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8568" y="4983480"/>
            <a:ext cx="1408176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데이터 흐름 WAS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5623560"/>
            <a:ext cx="123444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데이터거버넌스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480560"/>
            <a:ext cx="3291840" cy="196596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151376" y="45537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51376" y="45582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8" y="455371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9392" y="4983480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79136" y="4983480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78880" y="4983480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9392" y="5367528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79136" y="5367528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8880" y="5367528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CDC 중계 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79392" y="5751576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79136" y="5751576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78880" y="5751576"/>
            <a:ext cx="908304" cy="27432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35240" y="4480560"/>
            <a:ext cx="3291840" cy="196596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671815" y="45537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71815" y="45582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19288" y="455371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이행용 임시 구성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※ 운영환경 내 임시 자원 할당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5257800"/>
            <a:ext cx="1143000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[임시] 데이터 이행용</a:t>
            </a:r>
          </a:p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(변환) AP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26880" y="5257800"/>
            <a:ext cx="1143000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[임시] 데이터 이행용</a:t>
            </a:r>
          </a:p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(추출) DB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55279" y="5806440"/>
            <a:ext cx="1143000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[임시] 데이터 이행용</a:t>
            </a:r>
          </a:p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(이행) 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26880" y="5806440"/>
            <a:ext cx="1143000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[임시] 데이터 이행용</a:t>
            </a:r>
          </a:p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(SQL 품질) AP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3474720" y="2926080"/>
            <a:ext cx="1691640" cy="269748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40680" y="2926080"/>
            <a:ext cx="2880360" cy="237744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마케팅플랫폼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마케팅플랫폼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통합업무시스템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5643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정보계 단말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영업점 MCA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345643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384962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GSE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598932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38" name="Oval 37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166360" y="33375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33375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39319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미니 싱글뷰 WEB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39319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미니 싱글뷰 WAS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452628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실시간 처리 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452628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행동정보 처리 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452628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고객 행동 데이터 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074920"/>
            <a:ext cx="13258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DB(RDW)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17720" y="5696712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25312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2864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데이터플랫폼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데이터플랫폼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98932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중앙회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경제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유통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농협자산관리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농정원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농경원(Agrix)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45643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대외 MCA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84962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91947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531266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531266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598932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CDC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638251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40" name="Oval 39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ADW 어플라이언스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17720" y="5696712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5312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BI포탈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BI포탈 시스템은 서비스 제공 Zone에 배치되며, 채널, 채널통합, 대내통합 Zone은 업무 연계를 위한 대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정보계 단말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5643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패키지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531266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598932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BI포탈 시스템</a:t>
            </a:r>
          </a:p>
        </p:txBody>
      </p:sp>
      <p:sp>
        <p:nvSpPr>
          <p:cNvPr id="34" name="Oval 33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83480" y="3291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BI포탈 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3291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BI포탈 WAS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388620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신용실적 WEB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388620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신용실적 WAS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434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434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Self-BI WEB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434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Self-BI WAS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84632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OLAP 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84632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OLAP WEB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484632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OLAP WAS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6360" y="4937760"/>
            <a:ext cx="1554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BI포탈 (대시보드-경영)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DB(RDW)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4937760"/>
            <a:ext cx="13258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DB(ADW)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17720" y="5696712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25312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2864" y="6894576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데이터거버넌스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데이터거버넌스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패키지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데이터거버넌스 시스템</a:t>
            </a:r>
          </a:p>
        </p:txBody>
      </p:sp>
      <p:sp>
        <p:nvSpPr>
          <p:cNvPr id="30" name="Oval 29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비즈메타/데이터 품질</a:t>
            </a:r>
          </a:p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데이터 흐름 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5696712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3152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IT서비스 및 업무지원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IT서비스 및 업무지원 시스템은 서비스 제공 Zone에 배치됨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4617720" cy="411480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6324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7760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4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9592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4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4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4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63256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4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79476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379476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379476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379476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434340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434340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34340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CDC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434340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489204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운영환경 이행용 임시 구성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이행용 임시 구성 시스템은 서비스 제공 Zone에 배치되며, 채널, 채널통합, 대내통합 Zone은 업무 연계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를 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이행용 임시 구성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57800" y="34747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[임시] 데이터 이행용 (변환) 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34747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[임시] 데이터 이행용 (추출) 서버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11480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[임시] 데이터 이행용 (이행) 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411480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[임시] 데이터 이행용 (SQL 품질) AP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DR환경 구축 대상 시스템 및 주요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0972800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DR환경은 「마케팅플랫폼 시스템」, 「데이터플랫폼 시스템」, 「IT서비스 및 업무지원」의 3개 시스템으로</a:t>
            </a:r>
          </a:p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구분됨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383280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07692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21408"/>
            <a:ext cx="2880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7860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2868" y="257860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2724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미니 싱글뷰 WEB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2868" y="312724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미니 싱글뷰 WAS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3611880"/>
            <a:ext cx="132588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마케팅플랫폼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011680"/>
            <a:ext cx="3383280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60520" y="21031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2107692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21408"/>
            <a:ext cx="2880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578608"/>
            <a:ext cx="29718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011680"/>
            <a:ext cx="3383280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121408"/>
            <a:ext cx="2880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Malgun Gothic"/>
              </a:rPr>
              <a:t>BI포탈 시스템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3383280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453128"/>
            <a:ext cx="2880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Malgun Gothic"/>
              </a:rPr>
              <a:t>데이터거버넌스 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4343400"/>
            <a:ext cx="3383280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60520" y="443484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60520" y="4439412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453128"/>
            <a:ext cx="2880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491032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7588" y="491032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545896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7588" y="5458968"/>
            <a:ext cx="1485900" cy="36576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343400"/>
            <a:ext cx="3383280" cy="2148840"/>
          </a:xfrm>
          <a:prstGeom prst="rect">
            <a:avLst/>
          </a:prstGeom>
          <a:solidFill>
            <a:srgbClr val="FFFFFF"/>
          </a:solidFill>
          <a:ln w="1397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1000" y="4453128"/>
            <a:ext cx="288036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Malgun Gothic"/>
              </a:rPr>
              <a:t>이행용 임시 구성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703320" y="2788920"/>
            <a:ext cx="1188720" cy="886967"/>
          </a:xfrm>
          <a:prstGeom prst="line">
            <a:avLst/>
          </a:prstGeom>
          <a:ln w="12700">
            <a:solidFill>
              <a:srgbClr val="5A5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DR환경 마케팅플랫폼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마케팅플랫폼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통합업무시스템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5643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정보계 단말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영업점 MCA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306324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345643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384962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4242816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GSE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5312664"/>
            <a:ext cx="1005840" cy="301752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38" name="Oval 37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57800" y="34747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34747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411480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미니 싱글뷰 WAS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411480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미니 싱글뷰 WEB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526280"/>
            <a:ext cx="13716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DB(RDW)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17720" y="5696712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8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DR환경 데이터플랫폼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데이터플랫폼 시스템은 서비스 제공 Zone에 배치됨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2608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654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87000" y="2221992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2697479"/>
            <a:ext cx="45262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256032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564891"/>
            <a:ext cx="3200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개발환경 구축 대상 시스템 및 주요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개발환경은 「마케팅플랫폼 시스템」, 「데이터플랫폼 시스템」, 「BI포탈 시스템」, 「데이터거버넌스 시스템」,</a:t>
            </a:r>
          </a:p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「IT서비스 및 업무지원 시스템」의 5개 시스템으로 구성함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3291840" cy="224028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0936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56032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256032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990087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실시간 처리 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8" y="2990087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행동정보 처리 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419856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고객 행동 데이터 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79" y="3666744"/>
            <a:ext cx="1143000" cy="29260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마케팅플랫폼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057400"/>
            <a:ext cx="3291840" cy="224028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51376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51376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256032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79008" y="256032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ADW 어플라이언스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057400"/>
            <a:ext cx="3291840" cy="224028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71815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71815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BI포탈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99831" y="2560320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BI포탈 WEB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99576" y="2560320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BI포탈 WAS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99319" y="2560320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신용실적 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9831" y="2990087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신용실적 WAS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9576" y="2990087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OLAP 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99319" y="2990087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OLAP WEB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99831" y="3419856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OLAP WAS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9576" y="3419856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99319" y="3419856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Self-BI 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99831" y="3849624"/>
            <a:ext cx="908304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Self-BI WAS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19" y="3840480"/>
            <a:ext cx="1417320" cy="29260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BI포탈 경영실적 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19" y="3840480"/>
            <a:ext cx="1143000" cy="29260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BI포탈 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526280"/>
            <a:ext cx="3291840" cy="196596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30936" y="4599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" y="460400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459943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데이터거버넌스 시스템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02920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비즈메타 / 데이터 품질</a:t>
            </a:r>
          </a:p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58568" y="502920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데이터 흐름</a:t>
            </a:r>
          </a:p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79" y="5715000"/>
            <a:ext cx="1143000" cy="29260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데이터거버넌스 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526280"/>
            <a:ext cx="3291840" cy="196596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151376" y="4599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51376" y="460400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8848" y="459943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79392" y="502920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9008" y="502920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9392" y="5458968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79008" y="5458968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79392" y="5888736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79008" y="5888736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9392" y="6318504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79008" y="6318504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79392" y="6748272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79008" y="6748272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5943600"/>
            <a:ext cx="1143000" cy="29260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단말관리 DB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35240" y="4526280"/>
            <a:ext cx="3291840" cy="196596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671815" y="4599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71815" y="460400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19288" y="459943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이행용 임시 구성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※ 운영환경 내 임시 자원 할당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99831" y="5029200"/>
            <a:ext cx="2907792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[임시] 데이터 이행용</a:t>
            </a:r>
          </a:p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(변환) AP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3611880" y="3246120"/>
            <a:ext cx="1463040" cy="224028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212080" y="3246120"/>
            <a:ext cx="3108960" cy="201168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349240" y="3246120"/>
            <a:ext cx="91440" cy="233172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개발환경 마케팅플랫폼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마케팅플랫폼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통합업무시스템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5643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정보계 단말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인터넷뱅킹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(콕뱅킹)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91947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모바일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(콕뱅킹)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영업점 MCA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345643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384962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GSE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598932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166360" y="33375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33375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66360" y="39319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실시간 처리 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393192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행동정보 처리 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452628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고객 행동 데이터 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526280"/>
            <a:ext cx="1234440" cy="36576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DB(RDW)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17720" y="5724144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25312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2864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00416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개발환경 데이터플랫폼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데이터플랫폼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98932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중앙회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경제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유통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농협자산관리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농협손보보증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농정원(AgriX)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45643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대외 MCA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84962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91947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531266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531266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598932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CDC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638251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ADW 어플라이언스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17720" y="5724144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5312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0416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개발환경 BI포탈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BI포탈 시스템은 서비스 제공 Zone에 배치되며, 채널, 대내통합 Zone은 업무 연계를 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정보계 단말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5643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패키지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531266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598932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BI포탈 시스템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83480" y="3291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BI포탈 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3291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BI포탈 WAS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388620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신용실적 WEB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388620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신용실적 WAS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434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434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Self-BI WEB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43484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Self-BI WAS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84632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OLAP 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84632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OLAP WEB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4846320"/>
            <a:ext cx="1298448" cy="320040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OLAP WAS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4937760"/>
            <a:ext cx="1417320" cy="36576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DB(RDW)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4937760"/>
            <a:ext cx="1371600" cy="36576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BI포탈(대시보드-경영)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DB(RDW)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17720" y="5724144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25312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2864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00416" y="6894576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개발환경 데이터거버넌스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데이터거버넌스 시스템은 서비스 제공 Zone에 배치되며, 채널, 대내통합 Zone은 업무 연계를 위한 대상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패키지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데이터거버넌스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비즈메타/데이터 품질</a:t>
            </a:r>
          </a:p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데이터 흐름 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5724144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개발환경 IT서비스 및 업무지원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IT서비스 및 업무지원 시스템은 서비스 제공 Zone에 배치됨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4617720" cy="411480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6324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7760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9592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63256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630168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NEXUS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52628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452628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452628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452628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ETL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507492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507492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선도환경 구축 대상 시스템 및 주요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Malgun Gothic"/>
              </a:rPr>
              <a:t>선도환경은 「마케팅플랫폼 시스템」, 「데이터플랫폼 시스템」, 「IT서비스 및 업무지원 시스템」의 3개 시스템으로 구성함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3291840" cy="214884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0936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56032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2560320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410712"/>
            <a:ext cx="1325880" cy="310896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마케팅플랫폼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057400"/>
            <a:ext cx="3291840" cy="214884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51376" y="213055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51376" y="213512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2560320"/>
            <a:ext cx="2907792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410712"/>
            <a:ext cx="1600200" cy="310896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CRM DB</a:t>
            </a:r>
          </a:p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(AS-IS 개발 DB)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057400"/>
            <a:ext cx="3291840" cy="214884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213055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BI포탈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434840"/>
            <a:ext cx="3291840" cy="214884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50799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데이터거버넌스 시스템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434840"/>
            <a:ext cx="3291840" cy="214884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151376" y="450799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51376" y="451256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50799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4937759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9008" y="4937759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5367527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79008" y="5367527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5797296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9008" y="5797296"/>
            <a:ext cx="1408176" cy="310896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60" b="1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6126479"/>
            <a:ext cx="1143000" cy="29260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 b="0">
                <a:solidFill>
                  <a:srgbClr val="2D2D2D"/>
                </a:solidFill>
                <a:latin typeface="Malgun Gothic"/>
              </a:rPr>
              <a:t>단말관리 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4434840"/>
            <a:ext cx="3291840" cy="2148840"/>
          </a:xfrm>
          <a:prstGeom prst="rect">
            <a:avLst/>
          </a:prstGeom>
          <a:solidFill>
            <a:srgbClr val="F8F8F8"/>
          </a:solidFill>
          <a:ln w="13970">
            <a:solidFill>
              <a:srgbClr val="5F5F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71815" y="450799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71815" y="451256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4507992"/>
            <a:ext cx="2834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이행용 임시 구성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Malgun Gothic"/>
              </a:rPr>
              <a:t>※ 운영환경 내 임시 자원 할당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3703320" y="2971800"/>
            <a:ext cx="1005840" cy="68580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77840" y="3703320"/>
            <a:ext cx="502920" cy="1371600"/>
          </a:xfrm>
          <a:prstGeom prst="line">
            <a:avLst/>
          </a:prstGeom>
          <a:ln w="12700">
            <a:solidFill>
              <a:srgbClr val="5F5F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선도환경 마케팅플랫폼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마케팅플랫폼 시스템은 서비스 제공 Zone에 배치되며, 채널, 채널통합, 대내통합 Zone은 업무 연계를</a:t>
            </a:r>
          </a:p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위한 대상 시스템을 표시함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통합업무시스템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5643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정보계 단말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영업점 MCA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306324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API G/W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345643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EAI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384962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GSE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4526280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4919472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5312664"/>
            <a:ext cx="1005840" cy="301752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MFT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마케팅플랫폼 시스템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206240"/>
            <a:ext cx="1234440" cy="47548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CRM DB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(AS-IS 개발 DB)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17720" y="5724144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937760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25312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12864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0416" y="6126480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25312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12864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00416" y="6510528"/>
            <a:ext cx="914400" cy="274320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60" b="0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선도환경 데이터플랫폼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데이터플랫폼 시스템은 서비스 제공 Zone에 배치됨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4617720" cy="28803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데이터플랫폼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6324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23560" y="3794760"/>
            <a:ext cx="1325880" cy="384048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2D2D2D"/>
                </a:solidFill>
                <a:latin typeface="Malgun Gothic"/>
              </a:rPr>
              <a:t>RDW 어플라이언스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206240"/>
            <a:ext cx="1234440" cy="475488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CRM DB</a:t>
            </a:r>
          </a:p>
          <a:p>
            <a:pPr algn="ctr"/>
            <a:r>
              <a:rPr sz="900" b="0">
                <a:solidFill>
                  <a:srgbClr val="2D2D2D"/>
                </a:solidFill>
                <a:latin typeface="Malgun Gothic"/>
              </a:rPr>
              <a:t>(AS-IS 개발 DB)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5650992"/>
            <a:ext cx="4617720" cy="105156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5724144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인프라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598932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700" b="1">
                <a:solidFill>
                  <a:srgbClr val="3C3C3C"/>
                </a:solidFill>
                <a:latin typeface="Malgun Gothic"/>
              </a:rPr>
              <a:t>선도환경 IT서비스 및 업무지원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73152"/>
            <a:ext cx="1691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10896"/>
            <a:ext cx="20574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0">
                <a:solidFill>
                  <a:srgbClr val="2D2D2D"/>
                </a:solidFill>
                <a:latin typeface="Malgun Gothic"/>
              </a:rPr>
              <a:t>2.2 시스템 영역 및 구성요소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" cy="32004"/>
          </a:xfrm>
          <a:prstGeom prst="rect">
            <a:avLst/>
          </a:prstGeom>
          <a:solidFill>
            <a:srgbClr val="3E60AA"/>
          </a:solidFill>
          <a:ln>
            <a:solidFill>
              <a:srgbClr val="3E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411480" cy="32004"/>
          </a:xfrm>
          <a:prstGeom prst="rect">
            <a:avLst/>
          </a:prstGeom>
          <a:solidFill>
            <a:srgbClr val="9CC548"/>
          </a:solidFill>
          <a:ln>
            <a:solidFill>
              <a:srgbClr val="9CC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25880" y="1143000"/>
            <a:ext cx="10863072" cy="32004"/>
          </a:xfrm>
          <a:prstGeom prst="rect">
            <a:avLst/>
          </a:prstGeom>
          <a:solidFill>
            <a:srgbClr val="288E4B"/>
          </a:solidFill>
          <a:ln>
            <a:solidFill>
              <a:srgbClr val="288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0642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Malgun Gothic"/>
              </a:rPr>
              <a:t>IT서비스 및 업무지원 시스템은 서비스 제공 Zone에 배치됨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359152"/>
            <a:ext cx="141732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154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359152"/>
            <a:ext cx="192024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36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채널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359152"/>
            <a:ext cx="470916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082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서비스 제공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359152"/>
            <a:ext cx="2011680" cy="0"/>
          </a:xfrm>
          <a:prstGeom prst="line">
            <a:avLst/>
          </a:prstGeom>
          <a:ln w="127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2212848"/>
            <a:ext cx="6400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대내</a:t>
            </a:r>
          </a:p>
          <a:p>
            <a:pPr algn="ctr"/>
            <a:r>
              <a:rPr sz="1100" b="1">
                <a:solidFill>
                  <a:srgbClr val="2D2D2D"/>
                </a:solidFill>
                <a:latin typeface="Malgun Gothic"/>
              </a:rPr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대내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50791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 고객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95544"/>
            <a:ext cx="141732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대외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606040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온라인 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050791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파일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5495544"/>
            <a:ext cx="1920240" cy="1325880"/>
          </a:xfrm>
          <a:prstGeom prst="rect">
            <a:avLst/>
          </a:prstGeom>
          <a:solidFill>
            <a:srgbClr val="ECECEC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737373"/>
                </a:solidFill>
                <a:latin typeface="Malgun Gothic"/>
              </a:rPr>
              <a:t>데이터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4617720" cy="4114800"/>
          </a:xfrm>
          <a:prstGeom prst="rect">
            <a:avLst/>
          </a:prstGeom>
          <a:solidFill>
            <a:srgbClr val="D9D9D9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0857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5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08576" y="2729484"/>
            <a:ext cx="310896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Malgun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2724912"/>
            <a:ext cx="41605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Malgun Gothic"/>
              </a:rPr>
              <a:t>IT서비스 및 업무지원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6324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7760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SSO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9592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NH Cloud FWK</a:t>
            </a:r>
          </a:p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Master Solution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63256" y="3246120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eCAMS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630168"/>
            <a:ext cx="868680" cy="329184"/>
          </a:xfrm>
          <a:prstGeom prst="rect">
            <a:avLst/>
          </a:prstGeom>
          <a:solidFill>
            <a:srgbClr val="F5F5F5"/>
          </a:solidFill>
          <a:ln w="11430">
            <a:solidFill>
              <a:srgbClr val="8787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2D2D2D"/>
                </a:solidFill>
                <a:latin typeface="Malgun Gothic"/>
              </a:rPr>
              <a:t>NEXUS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3977639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52628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4526280"/>
            <a:ext cx="868680" cy="329184"/>
          </a:xfrm>
          <a:prstGeom prst="rect">
            <a:avLst/>
          </a:prstGeom>
          <a:solidFill>
            <a:srgbClr val="E0A019"/>
          </a:solidFill>
          <a:ln w="12700">
            <a:solidFill>
              <a:srgbClr val="9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공통 기술 컴포넌트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서비스 및 업무지원 시스템은 서비스 제공 노드별 기술 컴포넌트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62822"/>
            <a:ext cx="11247120" cy="256032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인프라 솔루션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765742"/>
            <a:ext cx="3383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2819625"/>
            <a:ext cx="137160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>
                <a:solidFill>
                  <a:srgbClr val="2D2D2D"/>
                </a:solidFill>
                <a:latin typeface="Malgun Gothic"/>
              </a:rPr>
              <a:t>VM 기반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405822"/>
            <a:ext cx="2834640" cy="1005840"/>
          </a:xfrm>
          <a:prstGeom prst="rect">
            <a:avLst/>
          </a:prstGeom>
          <a:solidFill>
            <a:srgbClr val="E3F3EB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>
                <a:solidFill>
                  <a:srgbClr val="2D2D2D"/>
                </a:solidFill>
                <a:latin typeface="Malgun Gothic"/>
              </a:rPr>
              <a:t>솔루션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518958"/>
            <a:ext cx="91440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>
                <a:solidFill>
                  <a:srgbClr val="2D2D2D"/>
                </a:solidFill>
                <a:latin typeface="Malgun Gothic"/>
              </a:rPr>
              <a:t>기술 스택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4841430"/>
            <a:ext cx="2560320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5262054"/>
            <a:ext cx="2834640" cy="1920240"/>
          </a:xfrm>
          <a:prstGeom prst="rect">
            <a:avLst/>
          </a:prstGeom>
          <a:solidFill>
            <a:srgbClr val="FFFFFF"/>
          </a:solidFill>
          <a:ln w="20320">
            <a:solidFill>
              <a:srgbClr val="DEB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27632" y="5417502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4" y="5417502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5655245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9504" y="5655245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5892989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9504" y="5892989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7632" y="6130734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9504" y="6130734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263483"/>
            <a:ext cx="64008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>
                <a:solidFill>
                  <a:srgbClr val="5F5F5F"/>
                </a:solidFill>
                <a:latin typeface="Malgun Gothic"/>
              </a:rPr>
              <a:t>솔루션 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6640923"/>
            <a:ext cx="64008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>
                <a:solidFill>
                  <a:srgbClr val="5F5F5F"/>
                </a:solidFill>
                <a:latin typeface="Malgun Gothic"/>
              </a:rPr>
              <a:t>시스템 영역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27632" y="6606222"/>
            <a:ext cx="2414016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7632" y="6862254"/>
            <a:ext cx="2414016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7632" y="7118286"/>
            <a:ext cx="2414016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765742"/>
            <a:ext cx="3383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35240" y="2819623"/>
            <a:ext cx="21945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dirty="0">
                <a:solidFill>
                  <a:srgbClr val="2D2D2D"/>
                </a:solidFill>
                <a:latin typeface="Malgun Gothic"/>
              </a:rPr>
              <a:t>Appliance </a:t>
            </a:r>
            <a:r>
              <a:rPr sz="1200" dirty="0" err="1">
                <a:solidFill>
                  <a:srgbClr val="2D2D2D"/>
                </a:solidFill>
                <a:latin typeface="Malgun Gothic"/>
              </a:rPr>
              <a:t>기반</a:t>
            </a:r>
            <a:r>
              <a:rPr sz="1200" dirty="0">
                <a:solidFill>
                  <a:srgbClr val="2D2D2D"/>
                </a:solidFill>
                <a:latin typeface="Malgun Gothic"/>
              </a:rPr>
              <a:t> DB </a:t>
            </a:r>
            <a:r>
              <a:rPr sz="1200" dirty="0" err="1">
                <a:solidFill>
                  <a:srgbClr val="2D2D2D"/>
                </a:solidFill>
                <a:latin typeface="Malgun Gothic"/>
              </a:rPr>
              <a:t>구성</a:t>
            </a:r>
            <a:endParaRPr sz="1200" dirty="0">
              <a:solidFill>
                <a:srgbClr val="2D2D2D"/>
              </a:solidFill>
              <a:latin typeface="Malgun Gothic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95160" y="3405822"/>
            <a:ext cx="2834640" cy="1005840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4518958"/>
            <a:ext cx="91440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>
                <a:solidFill>
                  <a:srgbClr val="2D2D2D"/>
                </a:solidFill>
                <a:latin typeface="Malgun Gothic"/>
              </a:rPr>
              <a:t>기술 스택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841430"/>
            <a:ext cx="2560320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5262054"/>
            <a:ext cx="2834640" cy="1920240"/>
          </a:xfrm>
          <a:prstGeom prst="rect">
            <a:avLst/>
          </a:prstGeom>
          <a:solidFill>
            <a:srgbClr val="FFFFFF"/>
          </a:solidFill>
          <a:ln w="20320">
            <a:solidFill>
              <a:srgbClr val="DEB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05472" y="5417502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5417502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2" y="5655245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67344" y="5655245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5472" y="5892989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67344" y="5892989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5472" y="6130734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67344" y="6130734"/>
            <a:ext cx="11521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4354923"/>
            <a:ext cx="86868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>
                <a:solidFill>
                  <a:srgbClr val="5F5F5F"/>
                </a:solidFill>
                <a:latin typeface="Malgun Gothic"/>
              </a:rPr>
              <a:t>DB 서비스</a:t>
            </a:r>
          </a:p>
          <a:p>
            <a:pPr algn="ctr"/>
            <a:r>
              <a:rPr sz="1200">
                <a:solidFill>
                  <a:srgbClr val="5F5F5F"/>
                </a:solidFill>
                <a:latin typeface="Malgun Gothic"/>
              </a:rPr>
              <a:t>영역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6640923"/>
            <a:ext cx="73152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>
                <a:solidFill>
                  <a:srgbClr val="5F5F5F"/>
                </a:solidFill>
                <a:latin typeface="Malgun Gothic"/>
              </a:rPr>
              <a:t>시스템 영역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5472" y="6606222"/>
            <a:ext cx="2414016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6862254"/>
            <a:ext cx="2414016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</p:spTree>
    <p:extLst>
      <p:ext uri="{BB962C8B-B14F-4D97-AF65-F5344CB8AC3E}">
        <p14:creationId xmlns:p14="http://schemas.microsoft.com/office/powerpoint/2010/main" val="8022370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마케팅플랫폼 기술 컴포넌트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마케팅플랫폼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마케팅플랫폼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마케팅플랫폼 DB (RDW)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</p:spTree>
    <p:extLst>
      <p:ext uri="{BB962C8B-B14F-4D97-AF65-F5344CB8AC3E}">
        <p14:creationId xmlns:p14="http://schemas.microsoft.com/office/powerpoint/2010/main" val="2609461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마케팅플랫폼 기술 컴포넌트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미니 싱글뷰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미니 싱글뷰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미니 싱글뷰 DB (RDW)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</p:spTree>
    <p:extLst>
      <p:ext uri="{BB962C8B-B14F-4D97-AF65-F5344CB8AC3E}">
        <p14:creationId xmlns:p14="http://schemas.microsoft.com/office/powerpoint/2010/main" val="39633686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마케팅플랫폼 기술 컴포넌트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행동정보 처리 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실시간 Stream Subscribe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9796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9796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7965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7965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실시간 처리 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EBM 엔진 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고객 행동 데이터 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실시간 Stream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Kafka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16231178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데이터플랫폼 기술 컴포넌트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08542"/>
            <a:ext cx="370332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37142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9" y="2646870"/>
            <a:ext cx="3483863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9" y="3799014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OGG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9" y="4036758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9" y="4274501"/>
            <a:ext cx="3483863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9" y="454882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9445" y="454882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9" y="4786565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09445" y="4786565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9" y="5024310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9445" y="5024310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9" y="5262054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9445" y="5262054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9" y="5536374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9" y="5774117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2308542"/>
            <a:ext cx="370332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2537142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24729" y="2646870"/>
            <a:ext cx="3483863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24729" y="3799014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24729" y="4036758"/>
            <a:ext cx="3483863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0449" y="4311077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1524" y="4311077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0449" y="454882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1524" y="454882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9" y="4786566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1524" y="4786566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70449" y="5024310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1524" y="5024310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24729" y="5298630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24729" y="5536374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</p:spTree>
    <p:extLst>
      <p:ext uri="{BB962C8B-B14F-4D97-AF65-F5344CB8AC3E}">
        <p14:creationId xmlns:p14="http://schemas.microsoft.com/office/powerpoint/2010/main" val="40992558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BI 포탈 기술 컴포넌트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BI포탈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BI 포탈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BI포탈 DB (RDW, ADW)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</p:spTree>
    <p:extLst>
      <p:ext uri="{BB962C8B-B14F-4D97-AF65-F5344CB8AC3E}">
        <p14:creationId xmlns:p14="http://schemas.microsoft.com/office/powerpoint/2010/main" val="30544509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BI 포탈 기술 컴포넌트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신용실적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신용실적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신용실적 DB (ADW)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업무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 전용 Appliance</a:t>
            </a:r>
          </a:p>
        </p:txBody>
      </p:sp>
    </p:spTree>
    <p:extLst>
      <p:ext uri="{BB962C8B-B14F-4D97-AF65-F5344CB8AC3E}">
        <p14:creationId xmlns:p14="http://schemas.microsoft.com/office/powerpoint/2010/main" val="21286160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BI 포탈 기술 컴포넌트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OLAP 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OLAP Application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ODBC Driver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12245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97965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7965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OLAP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1304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304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304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408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876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44084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876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4408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5876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4084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304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304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OLAP WAS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916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90204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90204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488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9020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0488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9020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916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916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10484122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BI 포탈 기술 컴포넌트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Self-BI 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Self-BI Application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9796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12245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7965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Self-BI WEB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304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304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5876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4408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304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304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Self-BI WAS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916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90204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05916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90204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0488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9020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0488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9020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0488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9020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0488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9020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916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35656894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데이터거버넌스 기술 컴포넌트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08542"/>
            <a:ext cx="370332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비즈메타/데이터품질 WAS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37142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9" y="2646870"/>
            <a:ext cx="3483863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9" y="3799014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9445" y="3799014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9" y="4036758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9445" y="4036758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9" y="4274501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512245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9" y="4749989"/>
            <a:ext cx="3483863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9" y="5024309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9445" y="5024309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9" y="5262053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9445" y="5262053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9" y="5499798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9445" y="5499798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9" y="573754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09445" y="573754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9" y="6011861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9" y="6249605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9" y="6487349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2308542"/>
            <a:ext cx="370332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데이터 흐름 WAS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2537142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4729" y="2646870"/>
            <a:ext cx="3483863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Business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24729" y="3799014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1524" y="3799014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24729" y="4036758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1524" y="4036758"/>
            <a:ext cx="168706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24729" y="4274501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24729" y="4512245"/>
            <a:ext cx="3483863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24729" y="4749989"/>
            <a:ext cx="3483863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0449" y="5024309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1524" y="5024309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9" y="5262053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21524" y="5262053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70449" y="5499798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21524" y="5499798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0449" y="573754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1524" y="5737541"/>
            <a:ext cx="164134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24729" y="6011861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24729" y="6249605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24729" y="6487349"/>
            <a:ext cx="3483863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34766918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IT서비스 및 업무지원 기술 컴포넌트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단말관리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단말관리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단말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단말개발도구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WebSquareStudio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916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22749040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IT서비스 및 업무지원 기술 컴포넌트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단말배포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Web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7965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단말배포 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단말 배포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5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3049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5" y="4036758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3048" y="4512245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3048" y="4749989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8769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44084" y="5262053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9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44084" y="573754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304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3048" y="6487349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배치 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916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4274501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0488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90204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0488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90204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916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30610143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IT서비스 및 업무지원 기술 컴포넌트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CDC 중계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Oracle Golden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97965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7965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97965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7965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UNIX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Bare Metal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데이터변환 적재 ETL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Data 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304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eCAMS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304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배치자동화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13048" y="4512245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4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408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876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44084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876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4408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304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Linux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304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Bare Metal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출력물 WAS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9169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JDBC Driver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90204" y="3799014"/>
            <a:ext cx="132130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APM 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036758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Java Framework 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9168" y="4274501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9168" y="4512245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04889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90204" y="478656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4889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90204" y="5024309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04889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90204" y="5262054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04889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90204" y="549979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9168" y="6011861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59168" y="6249605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23605175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62557"/>
            <a:ext cx="7772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800" b="1">
                <a:solidFill>
                  <a:srgbClr val="383838"/>
                </a:solidFill>
                <a:latin typeface="Malgun Gothic"/>
              </a:rPr>
              <a:t>기타 기술 컴포넌트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1" y="641902"/>
            <a:ext cx="1874519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861358"/>
            <a:ext cx="210312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>
                <a:solidFill>
                  <a:srgbClr val="2D2D2D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27432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27432"/>
          </a:xfrm>
          <a:prstGeom prst="rect">
            <a:avLst/>
          </a:prstGeom>
          <a:solidFill>
            <a:srgbClr val="A2C846"/>
          </a:solidFill>
          <a:ln>
            <a:solidFill>
              <a:srgbClr val="A2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27432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51342"/>
            <a:ext cx="11247120" cy="384048"/>
          </a:xfrm>
          <a:prstGeom prst="rect">
            <a:avLst/>
          </a:prstGeom>
          <a:solidFill>
            <a:srgbClr val="1C4446"/>
          </a:solidFill>
          <a:ln>
            <a:solidFill>
              <a:srgbClr val="1C4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기타 기술 컴포넌트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데이터 이행 서버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SQL Canvas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 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9" y="403675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7965" y="4036758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9" y="427450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7965" y="427450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9" y="451224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965" y="4512245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9" y="474999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7965" y="474999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02431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26205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499798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데이터 변환 서버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1304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데이터 변환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304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Web Application 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304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JVM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5876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408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4408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408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876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4408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304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304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304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2308542"/>
            <a:ext cx="2971800" cy="292608"/>
          </a:xfrm>
          <a:prstGeom prst="rect">
            <a:avLst/>
          </a:prstGeom>
          <a:solidFill>
            <a:srgbClr val="24767B"/>
          </a:solidFill>
          <a:ln>
            <a:solidFill>
              <a:srgbClr val="247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데이터 추출 서버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537142"/>
            <a:ext cx="29718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59168" y="2646870"/>
            <a:ext cx="2752344" cy="1078992"/>
          </a:xfrm>
          <a:prstGeom prst="rect">
            <a:avLst/>
          </a:prstGeom>
          <a:solidFill>
            <a:srgbClr val="E1F3F4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2D2D2D"/>
                </a:solidFill>
                <a:latin typeface="Malgun Gothic"/>
              </a:rPr>
              <a:t>SQL Canvas Adaptor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3799014"/>
            <a:ext cx="2752344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19">
                <a:solidFill>
                  <a:srgbClr val="2D2D2D"/>
                </a:solidFill>
                <a:latin typeface="Malgun Gothic"/>
              </a:rPr>
              <a:t>DBSafer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9168" y="4036758"/>
            <a:ext cx="2752344" cy="219456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DBMS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04889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백신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90204" y="4311077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계정 관리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04889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보안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90204" y="4548821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개인정보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04889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백업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90204" y="4786566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인프라 통합관제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4889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 모니터링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90204" y="5024310"/>
            <a:ext cx="1275587" cy="201168"/>
          </a:xfrm>
          <a:prstGeom prst="rect">
            <a:avLst/>
          </a:prstGeom>
          <a:solidFill>
            <a:srgbClr val="F7F7F7"/>
          </a:solidFill>
          <a:ln w="1016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40">
                <a:solidFill>
                  <a:srgbClr val="2D2D2D"/>
                </a:solidFill>
                <a:latin typeface="Malgun Gothic"/>
              </a:rPr>
              <a:t>서버운영관리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5298630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5536374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9168" y="5774117"/>
            <a:ext cx="2752344" cy="201168"/>
          </a:xfrm>
          <a:prstGeom prst="rect">
            <a:avLst/>
          </a:prstGeom>
          <a:solidFill>
            <a:srgbClr val="707070"/>
          </a:solidFill>
          <a:ln w="1016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23833383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851144"/>
            <a:ext cx="3657600" cy="409343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l"/>
            <a:r>
              <a:rPr sz="2600" b="1">
                <a:solidFill>
                  <a:srgbClr val="373737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35190"/>
            <a:ext cx="2011680" cy="182880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r"/>
            <a:r>
              <a:rPr sz="1100">
                <a:solidFill>
                  <a:srgbClr val="232323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854646"/>
            <a:ext cx="2286000" cy="182880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r"/>
            <a:r>
              <a:rPr sz="1100">
                <a:solidFill>
                  <a:srgbClr val="232323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77022"/>
            <a:ext cx="868680" cy="32004"/>
          </a:xfrm>
          <a:prstGeom prst="rect">
            <a:avLst/>
          </a:prstGeom>
          <a:solidFill>
            <a:srgbClr val="3A579C"/>
          </a:solidFill>
          <a:ln>
            <a:solidFill>
              <a:srgbClr val="3A5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577022"/>
            <a:ext cx="384048" cy="32004"/>
          </a:xfrm>
          <a:prstGeom prst="rect">
            <a:avLst/>
          </a:prstGeom>
          <a:solidFill>
            <a:srgbClr val="A1C64A"/>
          </a:solidFill>
          <a:ln>
            <a:solidFill>
              <a:srgbClr val="A1C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577022"/>
            <a:ext cx="10936224" cy="32004"/>
          </a:xfrm>
          <a:prstGeom prst="rect">
            <a:avLst/>
          </a:prstGeom>
          <a:solidFill>
            <a:srgbClr val="2D8F4F"/>
          </a:solidFill>
          <a:ln>
            <a:solidFill>
              <a:srgbClr val="2D8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759902"/>
            <a:ext cx="11338560" cy="393192"/>
          </a:xfrm>
          <a:prstGeom prst="rect">
            <a:avLst/>
          </a:prstGeom>
          <a:solidFill>
            <a:srgbClr val="1C4345"/>
          </a:solidFill>
          <a:ln>
            <a:solidFill>
              <a:srgbClr val="1C4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마케팅플랫폼 논리 기술 아키텍처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2399981"/>
            <a:ext cx="758952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2784030"/>
            <a:ext cx="205740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20240" y="2784030"/>
            <a:ext cx="0" cy="557784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27248" y="2784030"/>
            <a:ext cx="0" cy="621792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27248" y="3405822"/>
            <a:ext cx="118872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3040" y="3360102"/>
            <a:ext cx="178308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97480" y="3360102"/>
            <a:ext cx="0" cy="146304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97480" y="4823142"/>
            <a:ext cx="54864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71600" y="4823142"/>
            <a:ext cx="132588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4411662"/>
            <a:ext cx="77724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91640" y="4411662"/>
            <a:ext cx="155448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77440" y="4073334"/>
            <a:ext cx="86868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77440" y="4685982"/>
            <a:ext cx="86868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" y="5646102"/>
            <a:ext cx="77724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91640" y="5646102"/>
            <a:ext cx="0" cy="123444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91640" y="6880542"/>
            <a:ext cx="1554480" cy="0"/>
          </a:xfrm>
          <a:prstGeom prst="line">
            <a:avLst/>
          </a:prstGeom>
          <a:ln w="1016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56832" y="3634422"/>
            <a:ext cx="93268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56832" y="4073334"/>
            <a:ext cx="97840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56832" y="4503101"/>
            <a:ext cx="859536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56832" y="4503102"/>
            <a:ext cx="0" cy="1051561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56832" y="5554662"/>
            <a:ext cx="2048256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90688" y="3067494"/>
            <a:ext cx="0" cy="2532888"/>
          </a:xfrm>
          <a:prstGeom prst="line">
            <a:avLst/>
          </a:prstGeom>
          <a:ln w="15240">
            <a:solidFill>
              <a:srgbClr val="4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90688" y="3588702"/>
            <a:ext cx="877824" cy="0"/>
          </a:xfrm>
          <a:prstGeom prst="line">
            <a:avLst/>
          </a:prstGeom>
          <a:ln w="15240">
            <a:solidFill>
              <a:srgbClr val="4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90688" y="3067494"/>
            <a:ext cx="850392" cy="0"/>
          </a:xfrm>
          <a:prstGeom prst="line">
            <a:avLst/>
          </a:prstGeom>
          <a:ln w="15240">
            <a:solidFill>
              <a:srgbClr val="4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90688" y="3067494"/>
            <a:ext cx="374904" cy="0"/>
          </a:xfrm>
          <a:prstGeom prst="line">
            <a:avLst/>
          </a:prstGeom>
          <a:ln w="15240">
            <a:solidFill>
              <a:srgbClr val="4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067494"/>
            <a:ext cx="0" cy="1865376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165592" y="4932870"/>
            <a:ext cx="36576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165592" y="4932870"/>
            <a:ext cx="0" cy="667512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001000" y="5600382"/>
            <a:ext cx="164592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60920" y="2994342"/>
            <a:ext cx="612648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60920" y="3771582"/>
            <a:ext cx="612648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60336" y="3588702"/>
            <a:ext cx="73152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73568" y="3771582"/>
            <a:ext cx="301752" cy="758952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58200" y="5006022"/>
            <a:ext cx="118872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5966142"/>
            <a:ext cx="118872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869680" y="3405822"/>
            <a:ext cx="74980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869680" y="2948622"/>
            <a:ext cx="73152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86600" y="6085014"/>
            <a:ext cx="1307592" cy="0"/>
          </a:xfrm>
          <a:prstGeom prst="line">
            <a:avLst/>
          </a:prstGeom>
          <a:ln w="17780">
            <a:solidFill>
              <a:srgbClr val="BE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394192" y="5051742"/>
            <a:ext cx="0" cy="1033272"/>
          </a:xfrm>
          <a:prstGeom prst="line">
            <a:avLst/>
          </a:prstGeom>
          <a:ln w="17780">
            <a:solidFill>
              <a:srgbClr val="BE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94192" y="6085014"/>
            <a:ext cx="0" cy="768096"/>
          </a:xfrm>
          <a:prstGeom prst="line">
            <a:avLst/>
          </a:prstGeom>
          <a:ln w="17780">
            <a:solidFill>
              <a:srgbClr val="BE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794760" y="6853110"/>
            <a:ext cx="4599432" cy="0"/>
          </a:xfrm>
          <a:prstGeom prst="line">
            <a:avLst/>
          </a:prstGeom>
          <a:ln w="17780">
            <a:solidFill>
              <a:srgbClr val="BE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68881" y="6194742"/>
            <a:ext cx="1508759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297680" y="6194742"/>
            <a:ext cx="411480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919472" y="6194742"/>
            <a:ext cx="548640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760720" y="6194742"/>
            <a:ext cx="438912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99632" y="6194742"/>
            <a:ext cx="1207008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06640" y="6194742"/>
            <a:ext cx="822960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229600" y="4987734"/>
            <a:ext cx="0" cy="1207008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75488" y="6953694"/>
            <a:ext cx="3319272" cy="0"/>
          </a:xfrm>
          <a:prstGeom prst="line">
            <a:avLst/>
          </a:prstGeom>
          <a:ln w="15240">
            <a:solidFill>
              <a:srgbClr val="BE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794760" y="6953694"/>
            <a:ext cx="731520" cy="0"/>
          </a:xfrm>
          <a:prstGeom prst="line">
            <a:avLst/>
          </a:prstGeom>
          <a:ln w="15240">
            <a:solidFill>
              <a:srgbClr val="BE9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784848" y="6267894"/>
            <a:ext cx="0" cy="429768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784848" y="6697662"/>
            <a:ext cx="457200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97112" y="2399981"/>
            <a:ext cx="1344168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189720" y="2674302"/>
            <a:ext cx="1051560" cy="0"/>
          </a:xfrm>
          <a:prstGeom prst="line">
            <a:avLst/>
          </a:prstGeom>
          <a:ln w="1143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84080" y="3542982"/>
            <a:ext cx="0" cy="137160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784080" y="4914582"/>
            <a:ext cx="365760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21240" y="4201349"/>
            <a:ext cx="1005840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21240" y="4503101"/>
            <a:ext cx="1005840" cy="0"/>
          </a:xfrm>
          <a:prstGeom prst="line">
            <a:avLst/>
          </a:prstGeom>
          <a:ln w="1270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012680" y="5600382"/>
            <a:ext cx="42976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012680" y="5847270"/>
            <a:ext cx="42976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012680" y="6167310"/>
            <a:ext cx="42976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012680" y="6441630"/>
            <a:ext cx="42976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02752" y="5024310"/>
            <a:ext cx="0" cy="1828800"/>
          </a:xfrm>
          <a:prstGeom prst="line">
            <a:avLst/>
          </a:prstGeom>
          <a:ln w="11430">
            <a:solidFill>
              <a:srgbClr val="66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02752" y="6853110"/>
            <a:ext cx="2670048" cy="0"/>
          </a:xfrm>
          <a:prstGeom prst="line">
            <a:avLst/>
          </a:prstGeom>
          <a:ln w="11430">
            <a:solidFill>
              <a:srgbClr val="66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641080" y="5042598"/>
            <a:ext cx="0" cy="804672"/>
          </a:xfrm>
          <a:prstGeom prst="line">
            <a:avLst/>
          </a:prstGeom>
          <a:ln w="11430">
            <a:solidFill>
              <a:srgbClr val="66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641080" y="5847270"/>
            <a:ext cx="2331720" cy="0"/>
          </a:xfrm>
          <a:prstGeom prst="line">
            <a:avLst/>
          </a:prstGeom>
          <a:ln w="11430">
            <a:solidFill>
              <a:srgbClr val="665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347472" y="2308542"/>
            <a:ext cx="868680" cy="640080"/>
          </a:xfrm>
          <a:prstGeom prst="rect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통합업무</a:t>
            </a:r>
          </a:p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시스템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17320" y="2244534"/>
            <a:ext cx="640080" cy="1828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계정거래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84831" y="2244534"/>
            <a:ext cx="640080" cy="1828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전문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17320" y="2555430"/>
            <a:ext cx="640080" cy="1828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싱글뷰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84831" y="2555430"/>
            <a:ext cx="640080" cy="1828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전문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36976" y="2509710"/>
            <a:ext cx="685800" cy="2103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영업점 MCA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29584" y="2793174"/>
            <a:ext cx="493776" cy="1828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JSON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4872" y="2935865"/>
            <a:ext cx="594360" cy="116955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ctr"/>
            <a:r>
              <a:rPr sz="700">
                <a:solidFill>
                  <a:srgbClr val="6E6E6E"/>
                </a:solidFill>
                <a:latin typeface="Malgun Gothic"/>
              </a:rPr>
              <a:t>미니 싱글뷰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80160" y="3158934"/>
            <a:ext cx="749808" cy="228600"/>
          </a:xfrm>
          <a:prstGeom prst="rect">
            <a:avLst/>
          </a:prstGeom>
          <a:solidFill>
            <a:srgbClr val="B3D2D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인증 관리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3542982"/>
            <a:ext cx="914400" cy="713232"/>
          </a:xfrm>
          <a:prstGeom prst="rect">
            <a:avLst/>
          </a:prstGeom>
          <a:solidFill>
            <a:srgbClr val="C4DCD6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900" b="1">
                <a:solidFill>
                  <a:srgbClr val="232323"/>
                </a:solidFill>
                <a:latin typeface="Malgun Gothic"/>
              </a:rPr>
              <a:t>정보계</a:t>
            </a:r>
          </a:p>
          <a:p>
            <a:pPr algn="ctr"/>
            <a:r>
              <a:rPr sz="900" b="1">
                <a:solidFill>
                  <a:srgbClr val="232323"/>
                </a:solidFill>
                <a:latin typeface="Malgun Gothic"/>
              </a:rPr>
              <a:t>단말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36192" y="3469830"/>
            <a:ext cx="694944" cy="210312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싱글뷰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36192" y="3744150"/>
            <a:ext cx="694944" cy="210312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정보거래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36192" y="4018470"/>
            <a:ext cx="694944" cy="210312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JSON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0" y="3652710"/>
            <a:ext cx="320040" cy="4114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L4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71800" y="3652710"/>
            <a:ext cx="365760" cy="41148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WEB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3776" y="4280033"/>
            <a:ext cx="457200" cy="116955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개발자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4672" y="4201349"/>
            <a:ext cx="320040" cy="27432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463040" y="4201349"/>
            <a:ext cx="685800" cy="2103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Git Lab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63040" y="4457382"/>
            <a:ext cx="713232" cy="2103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Git Runner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16736" y="4731702"/>
            <a:ext cx="621792" cy="2103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eCAMS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16736" y="4987734"/>
            <a:ext cx="621792" cy="2103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16736" y="5243766"/>
            <a:ext cx="731520" cy="2103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40" b="1">
                <a:solidFill>
                  <a:srgbClr val="FFFFFF"/>
                </a:solidFill>
                <a:latin typeface="Malgun Gothic"/>
              </a:rPr>
              <a:t>FWK Manager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25880" y="5783262"/>
            <a:ext cx="320040" cy="237744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Malgun Gothic"/>
              </a:rPr>
              <a:t>Pop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91640" y="5810694"/>
            <a:ext cx="502920" cy="192024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보고서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93392" y="5993574"/>
            <a:ext cx="1188720" cy="393192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900">
                <a:solidFill>
                  <a:srgbClr val="232323"/>
                </a:solidFill>
                <a:latin typeface="Malgun Gothic"/>
              </a:rPr>
              <a:t>인터넷 뱅킹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6487350"/>
            <a:ext cx="502920" cy="3840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고객행태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정보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32688" y="6377622"/>
            <a:ext cx="457200" cy="50292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WEB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채널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444752" y="6377622"/>
            <a:ext cx="457200" cy="50292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Mobile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채널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20240" y="6331902"/>
            <a:ext cx="685800" cy="438912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Wise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Collector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Proxy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0" y="6331902"/>
            <a:ext cx="685800" cy="438912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Wise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Collector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429000" y="6103302"/>
            <a:ext cx="594360" cy="1554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publish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09160" y="6103302"/>
            <a:ext cx="640080" cy="1554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subscribe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29000" y="6304469"/>
            <a:ext cx="594360" cy="1554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publish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09160" y="6304469"/>
            <a:ext cx="640080" cy="1554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subscribe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29000" y="6505638"/>
            <a:ext cx="594360" cy="1554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publish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709160" y="6505638"/>
            <a:ext cx="640080" cy="15544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subscribe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77639" y="6030150"/>
            <a:ext cx="640080" cy="45720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KAFKA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고객행동</a:t>
            </a:r>
          </a:p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데이터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376672" y="6057582"/>
            <a:ext cx="640080" cy="50292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행동정보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처리서버</a:t>
            </a:r>
          </a:p>
        </p:txBody>
      </p:sp>
      <p:sp>
        <p:nvSpPr>
          <p:cNvPr id="113" name="Can 112"/>
          <p:cNvSpPr/>
          <p:nvPr/>
        </p:nvSpPr>
        <p:spPr>
          <a:xfrm>
            <a:off x="5486400" y="6651942"/>
            <a:ext cx="548640" cy="228600"/>
          </a:xfrm>
          <a:prstGeom prst="can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이벤트 홈</a:t>
            </a:r>
          </a:p>
        </p:txBody>
      </p:sp>
      <p:sp>
        <p:nvSpPr>
          <p:cNvPr id="114" name="Can 113"/>
          <p:cNvSpPr/>
          <p:nvPr/>
        </p:nvSpPr>
        <p:spPr>
          <a:xfrm>
            <a:off x="6126480" y="6651942"/>
            <a:ext cx="548640" cy="228600"/>
          </a:xfrm>
          <a:prstGeom prst="can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620">
                <a:solidFill>
                  <a:srgbClr val="232323"/>
                </a:solidFill>
                <a:latin typeface="Malgun Gothic"/>
              </a:rPr>
              <a:t>Topic목록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8912" y="6907974"/>
            <a:ext cx="1353312" cy="27432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SMS, PUSH, MAIL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71800" y="6816534"/>
            <a:ext cx="914400" cy="320040"/>
          </a:xfrm>
          <a:prstGeom prst="rect">
            <a:avLst/>
          </a:prstGeom>
          <a:solidFill>
            <a:srgbClr val="D6C280"/>
          </a:solidFill>
          <a:ln w="10160">
            <a:solidFill>
              <a:srgbClr val="B4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900">
                <a:solidFill>
                  <a:srgbClr val="232323"/>
                </a:solidFill>
                <a:latin typeface="Malgun Gothic"/>
              </a:rPr>
              <a:t>UMS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18688" y="2930334"/>
            <a:ext cx="3493008" cy="2450592"/>
          </a:xfrm>
          <a:prstGeom prst="rect">
            <a:avLst/>
          </a:prstGeom>
          <a:solidFill>
            <a:srgbClr val="BBDDCB"/>
          </a:solidFill>
          <a:ln w="15240">
            <a:solidFill>
              <a:srgbClr val="5F8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291840" y="3040062"/>
            <a:ext cx="3346704" cy="310896"/>
          </a:xfrm>
          <a:prstGeom prst="rect">
            <a:avLst/>
          </a:prstGeom>
          <a:solidFill>
            <a:srgbClr val="3A8759"/>
          </a:solidFill>
          <a:ln>
            <a:solidFill>
              <a:srgbClr val="3A8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767328" y="3451542"/>
            <a:ext cx="2606040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3822191" y="3524694"/>
            <a:ext cx="2496312" cy="210312"/>
          </a:xfrm>
          <a:prstGeom prst="rect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50">
                <a:solidFill>
                  <a:srgbClr val="232323"/>
                </a:solidFill>
                <a:latin typeface="Malgun Gothic"/>
              </a:rPr>
              <a:t>어플리케이션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840480" y="377158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미니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싱글뷰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42816" y="377158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45152" y="377158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통합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고객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47488" y="377158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개인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고객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49824" y="377158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기업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고객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852160" y="377158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상담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판매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840480" y="4045901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통합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상품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42816" y="4045901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45152" y="4045901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EBM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47488" y="4045901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영업</a:t>
            </a:r>
          </a:p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지원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49824" y="4045901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CS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852160" y="4045901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컨텐츠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840480" y="4320222"/>
            <a:ext cx="365760" cy="228600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>
                <a:solidFill>
                  <a:srgbClr val="232323"/>
                </a:solidFill>
                <a:latin typeface="Malgun Gothic"/>
              </a:rPr>
              <a:t>메시지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822191" y="4548822"/>
            <a:ext cx="2496312" cy="256032"/>
          </a:xfrm>
          <a:prstGeom prst="rect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822191" y="4804854"/>
            <a:ext cx="2496312" cy="256032"/>
          </a:xfrm>
          <a:prstGeom prst="rect">
            <a:avLst/>
          </a:prstGeom>
          <a:solidFill>
            <a:srgbClr val="BFE2D5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73552" y="5444934"/>
            <a:ext cx="3401568" cy="228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73552" y="5682678"/>
            <a:ext cx="3401568" cy="228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IaaS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178040" y="3360102"/>
            <a:ext cx="658368" cy="329184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배치 AP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78040" y="3890454"/>
            <a:ext cx="658368" cy="329184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812280" y="5719254"/>
            <a:ext cx="822960" cy="384048"/>
          </a:xfrm>
          <a:prstGeom prst="rect">
            <a:avLst/>
          </a:prstGeom>
          <a:solidFill>
            <a:srgbClr val="232F31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보고서(RD)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63640" y="6048438"/>
            <a:ext cx="685800" cy="4114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실시간</a:t>
            </a:r>
          </a:p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처리서버</a:t>
            </a:r>
          </a:p>
        </p:txBody>
      </p:sp>
      <p:sp>
        <p:nvSpPr>
          <p:cNvPr id="142" name="Can 141"/>
          <p:cNvSpPr/>
          <p:nvPr/>
        </p:nvSpPr>
        <p:spPr>
          <a:xfrm>
            <a:off x="6291072" y="6450774"/>
            <a:ext cx="640080" cy="329184"/>
          </a:xfrm>
          <a:prstGeom prst="can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이벤트
정보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156448" y="4823142"/>
            <a:ext cx="640080" cy="320040"/>
          </a:xfrm>
          <a:prstGeom prst="rect">
            <a:avLst/>
          </a:prstGeom>
          <a:solidFill>
            <a:srgbClr val="232F31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646920" y="4823142"/>
            <a:ext cx="640080" cy="320040"/>
          </a:xfrm>
          <a:prstGeom prst="rect">
            <a:avLst/>
          </a:prstGeom>
          <a:solidFill>
            <a:srgbClr val="232F31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68512" y="4987734"/>
            <a:ext cx="530352" cy="164592"/>
          </a:xfrm>
          <a:prstGeom prst="rect">
            <a:avLst/>
          </a:prstGeom>
          <a:solidFill>
            <a:srgbClr val="314CA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99248" y="4503101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498079" y="3451542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662672" y="4000182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040880" y="6085014"/>
            <a:ext cx="530352" cy="164592"/>
          </a:xfrm>
          <a:prstGeom prst="rect">
            <a:avLst/>
          </a:prstGeom>
          <a:solidFill>
            <a:srgbClr val="CDA736"/>
          </a:solidFill>
          <a:ln w="10160">
            <a:solidFill>
              <a:srgbClr val="78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20">
                <a:solidFill>
                  <a:srgbClr val="232323"/>
                </a:solidFill>
                <a:latin typeface="Malgun Gothic"/>
              </a:rPr>
              <a:t>polling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36408" y="5143182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874702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52" name="Can 151"/>
          <p:cNvSpPr/>
          <p:nvPr/>
        </p:nvSpPr>
        <p:spPr>
          <a:xfrm>
            <a:off x="8503920" y="2262822"/>
            <a:ext cx="530352" cy="438912"/>
          </a:xfrm>
          <a:prstGeom prst="can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마케팅
정보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796528" y="2518854"/>
            <a:ext cx="786384" cy="201168"/>
          </a:xfrm>
          <a:prstGeom prst="rect">
            <a:avLst/>
          </a:prstGeom>
          <a:solidFill>
            <a:srgbClr val="3A9787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CDC 중계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705088" y="2884614"/>
            <a:ext cx="256032" cy="502920"/>
          </a:xfrm>
          <a:prstGeom prst="rect">
            <a:avLst/>
          </a:prstGeom>
          <a:solidFill>
            <a:srgbClr val="3A9787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CDC</a:t>
            </a:r>
          </a:p>
        </p:txBody>
      </p:sp>
      <p:sp>
        <p:nvSpPr>
          <p:cNvPr id="155" name="Can 154"/>
          <p:cNvSpPr/>
          <p:nvPr/>
        </p:nvSpPr>
        <p:spPr>
          <a:xfrm>
            <a:off x="9646920" y="2765742"/>
            <a:ext cx="530352" cy="438912"/>
          </a:xfrm>
          <a:prstGeom prst="can">
            <a:avLst/>
          </a:prstGeom>
          <a:solidFill>
            <a:srgbClr val="E2E2E2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마케팅
정보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784080" y="3405822"/>
            <a:ext cx="228600" cy="1078992"/>
          </a:xfrm>
          <a:prstGeom prst="rect">
            <a:avLst/>
          </a:prstGeom>
          <a:solidFill>
            <a:srgbClr val="2B519D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MFT·ETL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149840" y="3616134"/>
            <a:ext cx="786384" cy="228600"/>
          </a:xfrm>
          <a:prstGeom prst="rect">
            <a:avLst/>
          </a:prstGeom>
          <a:solidFill>
            <a:srgbClr val="229B5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Control-M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149840" y="2262822"/>
            <a:ext cx="1051560" cy="33832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900">
                <a:solidFill>
                  <a:srgbClr val="232323"/>
                </a:solidFill>
                <a:latin typeface="Malgun Gothic"/>
              </a:rPr>
              <a:t>계정계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149840" y="2884614"/>
            <a:ext cx="1051560" cy="33832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900">
                <a:solidFill>
                  <a:srgbClr val="232323"/>
                </a:solidFill>
                <a:latin typeface="Malgun Gothic"/>
              </a:rPr>
              <a:t>BCV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131552" y="4457382"/>
            <a:ext cx="960120" cy="292608"/>
          </a:xfrm>
          <a:prstGeom prst="rect">
            <a:avLst/>
          </a:prstGeom>
          <a:solidFill>
            <a:srgbClr val="E2E2E2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900">
                <a:solidFill>
                  <a:srgbClr val="232323"/>
                </a:solidFill>
                <a:latin typeface="Malgun Gothic"/>
              </a:rPr>
              <a:t>경영정보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732520" y="5938710"/>
            <a:ext cx="1051560" cy="1097280"/>
          </a:xfrm>
          <a:prstGeom prst="rect">
            <a:avLst/>
          </a:prstGeom>
          <a:noFill/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823960" y="6057582"/>
            <a:ext cx="841248" cy="201168"/>
          </a:xfrm>
          <a:prstGeom prst="rect">
            <a:avLst/>
          </a:prstGeom>
          <a:solidFill>
            <a:srgbClr val="3A265B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Cruz APIM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823960" y="6322758"/>
            <a:ext cx="841248" cy="201168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23960" y="6587934"/>
            <a:ext cx="841248" cy="201168"/>
          </a:xfrm>
          <a:prstGeom prst="rect">
            <a:avLst/>
          </a:prstGeom>
          <a:solidFill>
            <a:srgbClr val="3A265B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823960" y="6843966"/>
            <a:ext cx="841248" cy="201168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741665" y="7096385"/>
            <a:ext cx="1033271" cy="116955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대내 시스템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222992" y="5938710"/>
            <a:ext cx="1051560" cy="1097280"/>
          </a:xfrm>
          <a:prstGeom prst="rect">
            <a:avLst/>
          </a:prstGeom>
          <a:noFill/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0314432" y="6057582"/>
            <a:ext cx="841248" cy="201168"/>
          </a:xfrm>
          <a:prstGeom prst="rect">
            <a:avLst/>
          </a:prstGeom>
          <a:solidFill>
            <a:srgbClr val="3A265B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314432" y="6322758"/>
            <a:ext cx="841248" cy="201168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대외 MCA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314432" y="6843966"/>
            <a:ext cx="841248" cy="201168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222993" y="7096385"/>
            <a:ext cx="1033271" cy="116955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대외 시스템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059168" y="4045902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406640" y="3158934"/>
            <a:ext cx="320040" cy="438912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001000" y="2628582"/>
            <a:ext cx="228600" cy="594360"/>
          </a:xfrm>
          <a:prstGeom prst="rect">
            <a:avLst/>
          </a:prstGeom>
          <a:solidFill>
            <a:srgbClr val="3A9787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CDC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406640" y="5234622"/>
            <a:ext cx="411480" cy="182880"/>
          </a:xfrm>
          <a:prstGeom prst="rect">
            <a:avLst/>
          </a:prstGeom>
          <a:solidFill>
            <a:srgbClr val="464646"/>
          </a:solidFill>
          <a:ln w="889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4572" rIns="22860" bIns="4572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468880" y="6149022"/>
            <a:ext cx="475488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165860" y="237712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165860" y="2761170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223260" y="338296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3223260" y="4388801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223260" y="4663121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3223260" y="480028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6633972" y="361156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6633972" y="4050474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6633972" y="4480241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7813548" y="356584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7813548" y="4050474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7813548" y="297148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8874252" y="237712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9596628" y="3382962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9898380" y="4480241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0949940" y="5824410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0949940" y="6830250"/>
            <a:ext cx="45720" cy="4572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5989320" y="7200091"/>
            <a:ext cx="457200" cy="101566"/>
          </a:xfrm>
          <a:prstGeom prst="rect">
            <a:avLst/>
          </a:prstGeom>
          <a:noFill/>
        </p:spPr>
        <p:txBody>
          <a:bodyPr wrap="square" lIns="22860" tIns="4572" rIns="22860" bIns="4572" anchor="ctr">
            <a:spAutoFit/>
          </a:bodyPr>
          <a:lstStyle/>
          <a:p>
            <a:pPr algn="ctr"/>
            <a:r>
              <a:rPr sz="600">
                <a:solidFill>
                  <a:srgbClr val="6E6E6E"/>
                </a:solidFill>
                <a:latin typeface="Malgun Gothic"/>
              </a:rPr>
              <a:t>- 58 -</a:t>
            </a:r>
          </a:p>
        </p:txBody>
      </p:sp>
    </p:spTree>
    <p:extLst>
      <p:ext uri="{BB962C8B-B14F-4D97-AF65-F5344CB8AC3E}">
        <p14:creationId xmlns:p14="http://schemas.microsoft.com/office/powerpoint/2010/main" val="27108019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2546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814522"/>
            <a:ext cx="59436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73737"/>
                </a:solidFill>
                <a:latin typeface="Malgun Gothic"/>
              </a:rPr>
              <a:t>데이터플랫폼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637330"/>
            <a:ext cx="2148840" cy="18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100" b="1">
                <a:solidFill>
                  <a:srgbClr val="232323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875074"/>
            <a:ext cx="2148840" cy="18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100" b="1">
                <a:solidFill>
                  <a:srgbClr val="232323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86166"/>
            <a:ext cx="914400" cy="32004"/>
          </a:xfrm>
          <a:prstGeom prst="rect">
            <a:avLst/>
          </a:prstGeom>
          <a:solidFill>
            <a:srgbClr val="3A579D"/>
          </a:solidFill>
          <a:ln>
            <a:solidFill>
              <a:srgbClr val="3A5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586166"/>
            <a:ext cx="411480" cy="32004"/>
          </a:xfrm>
          <a:prstGeom prst="rect">
            <a:avLst/>
          </a:prstGeom>
          <a:solidFill>
            <a:srgbClr val="9AC24F"/>
          </a:solidFill>
          <a:ln>
            <a:solidFill>
              <a:srgbClr val="9A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25881" y="1586166"/>
            <a:ext cx="10865815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3910"/>
            <a:ext cx="11109960" cy="365760"/>
          </a:xfrm>
          <a:prstGeom prst="rect">
            <a:avLst/>
          </a:prstGeom>
          <a:solidFill>
            <a:srgbClr val="1C4143"/>
          </a:solidFill>
          <a:ln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데이터플랫폼 논리 기술 아키텍처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4602"/>
            <a:ext cx="685800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계정계</a:t>
            </a:r>
          </a:p>
        </p:txBody>
      </p:sp>
      <p:sp>
        <p:nvSpPr>
          <p:cNvPr id="11" name="Can 10"/>
          <p:cNvSpPr/>
          <p:nvPr/>
        </p:nvSpPr>
        <p:spPr>
          <a:xfrm>
            <a:off x="548640" y="2308542"/>
            <a:ext cx="640080" cy="384048"/>
          </a:xfrm>
          <a:prstGeom prst="can">
            <a:avLst/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코어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뱅킹</a:t>
            </a:r>
          </a:p>
        </p:txBody>
      </p:sp>
      <p:sp>
        <p:nvSpPr>
          <p:cNvPr id="12" name="Can 11"/>
          <p:cNvSpPr/>
          <p:nvPr/>
        </p:nvSpPr>
        <p:spPr>
          <a:xfrm>
            <a:off x="548640" y="2902902"/>
            <a:ext cx="640080" cy="384048"/>
          </a:xfrm>
          <a:prstGeom prst="can">
            <a:avLst/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연계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뱅킹</a:t>
            </a:r>
          </a:p>
        </p:txBody>
      </p:sp>
      <p:sp>
        <p:nvSpPr>
          <p:cNvPr id="13" name="Can 12"/>
          <p:cNvSpPr/>
          <p:nvPr/>
        </p:nvSpPr>
        <p:spPr>
          <a:xfrm>
            <a:off x="548640" y="3497262"/>
            <a:ext cx="640080" cy="384048"/>
          </a:xfrm>
          <a:prstGeom prst="can">
            <a:avLst/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BCV</a:t>
            </a:r>
          </a:p>
        </p:txBody>
      </p:sp>
      <p:sp>
        <p:nvSpPr>
          <p:cNvPr id="14" name="Can 13"/>
          <p:cNvSpPr/>
          <p:nvPr/>
        </p:nvSpPr>
        <p:spPr>
          <a:xfrm>
            <a:off x="548640" y="4091622"/>
            <a:ext cx="640080" cy="384048"/>
          </a:xfrm>
          <a:prstGeom prst="can">
            <a:avLst/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연계업무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18114"/>
            <a:ext cx="685800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비대면채널</a:t>
            </a:r>
          </a:p>
        </p:txBody>
      </p:sp>
      <p:sp>
        <p:nvSpPr>
          <p:cNvPr id="16" name="Can 15"/>
          <p:cNvSpPr/>
          <p:nvPr/>
        </p:nvSpPr>
        <p:spPr>
          <a:xfrm>
            <a:off x="548640" y="5262054"/>
            <a:ext cx="640080" cy="384048"/>
          </a:xfrm>
          <a:prstGeom prst="can">
            <a:avLst/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인터넷뱅킹</a:t>
            </a:r>
          </a:p>
        </p:txBody>
      </p:sp>
      <p:sp>
        <p:nvSpPr>
          <p:cNvPr id="17" name="Can 16"/>
          <p:cNvSpPr/>
          <p:nvPr/>
        </p:nvSpPr>
        <p:spPr>
          <a:xfrm>
            <a:off x="548640" y="5856414"/>
            <a:ext cx="640080" cy="384048"/>
          </a:xfrm>
          <a:prstGeom prst="can">
            <a:avLst/>
          </a:prstGeom>
          <a:solidFill>
            <a:srgbClr val="F5F5F5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스마트뱅킹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2399981"/>
            <a:ext cx="50292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실시간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857182"/>
            <a:ext cx="50292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CDC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497262"/>
            <a:ext cx="50292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073334"/>
            <a:ext cx="50292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857182"/>
            <a:ext cx="50292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2399981"/>
            <a:ext cx="640080" cy="475488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CDC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중계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508942"/>
            <a:ext cx="502920" cy="237744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KAFKA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5874702"/>
            <a:ext cx="658368" cy="438912"/>
          </a:xfrm>
          <a:prstGeom prst="rect">
            <a:avLst/>
          </a:prstGeom>
          <a:solidFill>
            <a:srgbClr val="D9D9D9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Wise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Collector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143182"/>
            <a:ext cx="685800" cy="594360"/>
          </a:xfrm>
          <a:prstGeom prst="rect">
            <a:avLst/>
          </a:prstGeom>
          <a:solidFill>
            <a:srgbClr val="D9D9D9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실시간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행동 정보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처리서버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6057582"/>
            <a:ext cx="731520" cy="320040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FFFFFF"/>
                </a:solidFill>
                <a:latin typeface="Malgun Gothic"/>
              </a:rPr>
              <a:t>실시간처리서버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Malgun Gothic"/>
              </a:rPr>
              <a:t>EBM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6450774"/>
            <a:ext cx="731520" cy="320040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>
                <a:solidFill>
                  <a:srgbClr val="FFFFFF"/>
                </a:solidFill>
                <a:latin typeface="Malgun Gothic"/>
              </a:rPr>
              <a:t>Smart Offer</a:t>
            </a:r>
          </a:p>
          <a:p>
            <a:pPr algn="ctr"/>
            <a:r>
              <a:rPr sz="580">
                <a:solidFill>
                  <a:srgbClr val="FFFFFF"/>
                </a:solidFill>
                <a:latin typeface="Malgun Gothic"/>
              </a:rPr>
              <a:t>(변수제어관리)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5481510"/>
            <a:ext cx="502920" cy="237744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insert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5764974"/>
            <a:ext cx="502920" cy="237744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4932870"/>
            <a:ext cx="502920" cy="237744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32" name="Rounded Rectangle 31"/>
          <p:cNvSpPr/>
          <p:nvPr/>
        </p:nvSpPr>
        <p:spPr>
          <a:xfrm rot="5400000">
            <a:off x="3977639" y="6121590"/>
            <a:ext cx="502920" cy="237744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Polling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2281110"/>
            <a:ext cx="3063240" cy="4846320"/>
          </a:xfrm>
          <a:prstGeom prst="rect">
            <a:avLst/>
          </a:prstGeom>
          <a:solidFill>
            <a:srgbClr val="EAF6EE"/>
          </a:solidFill>
          <a:ln w="1905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53712" y="2427414"/>
            <a:ext cx="2907792" cy="365760"/>
          </a:xfrm>
          <a:prstGeom prst="rect">
            <a:avLst/>
          </a:prstGeom>
          <a:solidFill>
            <a:srgbClr val="2C7A52"/>
          </a:solidFill>
          <a:ln w="10160">
            <a:solidFill>
              <a:srgbClr val="2C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sp>
        <p:nvSpPr>
          <p:cNvPr id="35" name="Can 34"/>
          <p:cNvSpPr/>
          <p:nvPr/>
        </p:nvSpPr>
        <p:spPr>
          <a:xfrm>
            <a:off x="4617720" y="2857182"/>
            <a:ext cx="2788920" cy="1920240"/>
          </a:xfrm>
          <a:prstGeom prst="can">
            <a:avLst/>
          </a:prstGeom>
          <a:solidFill>
            <a:srgbClr val="EDEDED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400" b="1">
                <a:solidFill>
                  <a:srgbClr val="232323"/>
                </a:solidFill>
                <a:latin typeface="Malgun Gothic"/>
              </a:rPr>
              <a:t>RDW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2" y="3405822"/>
            <a:ext cx="411480" cy="50292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실시간</a:t>
            </a:r>
          </a:p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76672" y="3378390"/>
            <a:ext cx="411480" cy="50292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실시간</a:t>
            </a:r>
          </a:p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집계/</a:t>
            </a:r>
          </a:p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분석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79592" y="3378390"/>
            <a:ext cx="411480" cy="50292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업무</a:t>
            </a:r>
          </a:p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지원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6792" y="3378390"/>
            <a:ext cx="411480" cy="50292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로그</a:t>
            </a:r>
          </a:p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분석</a:t>
            </a:r>
          </a:p>
        </p:txBody>
      </p:sp>
      <p:sp>
        <p:nvSpPr>
          <p:cNvPr id="40" name="Can 39"/>
          <p:cNvSpPr/>
          <p:nvPr/>
        </p:nvSpPr>
        <p:spPr>
          <a:xfrm>
            <a:off x="4782312" y="4073334"/>
            <a:ext cx="566928" cy="475488"/>
          </a:xfrm>
          <a:prstGeom prst="can">
            <a:avLst/>
          </a:prstGeom>
          <a:solidFill>
            <a:srgbClr val="63828B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630" b="1">
                <a:solidFill>
                  <a:srgbClr val="232323"/>
                </a:solidFill>
                <a:latin typeface="Malgun Gothic"/>
              </a:rPr>
              <a:t>마케팅</a:t>
            </a:r>
          </a:p>
          <a:p>
            <a:pPr algn="ctr"/>
            <a:r>
              <a:rPr sz="630" b="1">
                <a:solidFill>
                  <a:srgbClr val="232323"/>
                </a:solidFill>
                <a:latin typeface="Malgun Gothic"/>
              </a:rPr>
              <a:t>플랫폼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4045902"/>
            <a:ext cx="914400" cy="22860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Feedback</a:t>
            </a:r>
          </a:p>
        </p:txBody>
      </p:sp>
      <p:sp>
        <p:nvSpPr>
          <p:cNvPr id="42" name="Can 41"/>
          <p:cNvSpPr/>
          <p:nvPr/>
        </p:nvSpPr>
        <p:spPr>
          <a:xfrm>
            <a:off x="5413248" y="4484814"/>
            <a:ext cx="566928" cy="475488"/>
          </a:xfrm>
          <a:prstGeom prst="can">
            <a:avLst/>
          </a:prstGeom>
          <a:solidFill>
            <a:srgbClr val="63828B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630" b="1">
                <a:solidFill>
                  <a:srgbClr val="232323"/>
                </a:solidFill>
                <a:latin typeface="Malgun Gothic"/>
              </a:rPr>
              <a:t>원천행동</a:t>
            </a:r>
          </a:p>
          <a:p>
            <a:pPr algn="ctr"/>
            <a:r>
              <a:rPr sz="630" b="1">
                <a:solidFill>
                  <a:srgbClr val="232323"/>
                </a:solidFill>
                <a:latin typeface="Malgun Gothic"/>
              </a:rPr>
              <a:t>로그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6592" y="3936174"/>
            <a:ext cx="685800" cy="20116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60">
                <a:solidFill>
                  <a:srgbClr val="232323"/>
                </a:solidFill>
                <a:latin typeface="Malgun Gothic"/>
              </a:rPr>
              <a:t>긴급성 파일</a:t>
            </a:r>
          </a:p>
        </p:txBody>
      </p:sp>
      <p:sp>
        <p:nvSpPr>
          <p:cNvPr id="44" name="Can 43"/>
          <p:cNvSpPr/>
          <p:nvPr/>
        </p:nvSpPr>
        <p:spPr>
          <a:xfrm>
            <a:off x="6720840" y="3451542"/>
            <a:ext cx="713232" cy="384048"/>
          </a:xfrm>
          <a:prstGeom prst="can">
            <a:avLst/>
          </a:prstGeom>
          <a:solidFill>
            <a:srgbClr val="68808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670" b="1">
                <a:solidFill>
                  <a:srgbClr val="232323"/>
                </a:solidFill>
                <a:latin typeface="Malgun Gothic"/>
              </a:rPr>
              <a:t>BI 포탈</a:t>
            </a:r>
          </a:p>
        </p:txBody>
      </p:sp>
      <p:sp>
        <p:nvSpPr>
          <p:cNvPr id="45" name="Can 44"/>
          <p:cNvSpPr/>
          <p:nvPr/>
        </p:nvSpPr>
        <p:spPr>
          <a:xfrm>
            <a:off x="6720840" y="3927030"/>
            <a:ext cx="713232" cy="384048"/>
          </a:xfrm>
          <a:prstGeom prst="can">
            <a:avLst/>
          </a:prstGeom>
          <a:solidFill>
            <a:srgbClr val="68808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670" b="1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46" name="Can 45"/>
          <p:cNvSpPr/>
          <p:nvPr/>
        </p:nvSpPr>
        <p:spPr>
          <a:xfrm>
            <a:off x="6720840" y="4493958"/>
            <a:ext cx="713232" cy="384048"/>
          </a:xfrm>
          <a:prstGeom prst="can">
            <a:avLst/>
          </a:prstGeom>
          <a:solidFill>
            <a:srgbClr val="68808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670" b="1">
                <a:solidFill>
                  <a:srgbClr val="232323"/>
                </a:solidFill>
                <a:latin typeface="Malgun Gothic"/>
              </a:rPr>
              <a:t>데이터 품질</a:t>
            </a:r>
          </a:p>
        </p:txBody>
      </p:sp>
      <p:sp>
        <p:nvSpPr>
          <p:cNvPr id="47" name="Can 46"/>
          <p:cNvSpPr/>
          <p:nvPr/>
        </p:nvSpPr>
        <p:spPr>
          <a:xfrm>
            <a:off x="4617720" y="5234622"/>
            <a:ext cx="2788920" cy="1691640"/>
          </a:xfrm>
          <a:prstGeom prst="can">
            <a:avLst/>
          </a:prstGeom>
          <a:solidFill>
            <a:srgbClr val="EDEDED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400" b="1">
                <a:solidFill>
                  <a:srgbClr val="232323"/>
                </a:solidFill>
                <a:latin typeface="Malgun Gothic"/>
              </a:rPr>
              <a:t>ADW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6011862"/>
            <a:ext cx="475488" cy="3657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실시간</a:t>
            </a:r>
          </a:p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SoR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13248" y="5874702"/>
            <a:ext cx="640080" cy="3657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통합/요약</a:t>
            </a:r>
          </a:p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/집계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07608" y="5874702"/>
            <a:ext cx="475488" cy="3657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통합</a:t>
            </a:r>
          </a:p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마트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5874702"/>
            <a:ext cx="640080" cy="3657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분석/</a:t>
            </a:r>
          </a:p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보고서마트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04688" y="6514782"/>
            <a:ext cx="640080" cy="3657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송신마트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6514782"/>
            <a:ext cx="640080" cy="3657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32323"/>
                </a:solidFill>
                <a:latin typeface="Malgun Gothic"/>
              </a:rPr>
              <a:t>Feedback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577840" y="3286950"/>
            <a:ext cx="0" cy="640080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89320" y="3286950"/>
            <a:ext cx="0" cy="603504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806440" y="5856414"/>
            <a:ext cx="0" cy="502920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272784" y="5856414"/>
            <a:ext cx="0" cy="502920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20240" y="2966910"/>
            <a:ext cx="256032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20240" y="3606990"/>
            <a:ext cx="256032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20240" y="4183062"/>
            <a:ext cx="256032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46120" y="5591238"/>
            <a:ext cx="123444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46120" y="5984430"/>
            <a:ext cx="123444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246120" y="6441630"/>
            <a:ext cx="1234440" cy="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480560" y="4183062"/>
            <a:ext cx="548640" cy="868680"/>
          </a:xfrm>
          <a:prstGeom prst="line">
            <a:avLst/>
          </a:prstGeom>
          <a:ln w="16510">
            <a:solidFill>
              <a:srgbClr val="B94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480560" y="4658550"/>
            <a:ext cx="822960" cy="1225297"/>
          </a:xfrm>
          <a:prstGeom prst="line">
            <a:avLst/>
          </a:prstGeom>
          <a:ln w="16510">
            <a:solidFill>
              <a:srgbClr val="B94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183879" y="3067494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58200" y="5051742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42832" y="5051742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39327" y="5810694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29600" y="6606222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32520" y="6606222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6606222"/>
            <a:ext cx="457200" cy="219456"/>
          </a:xfrm>
          <a:prstGeom prst="roundRect">
            <a:avLst/>
          </a:prstGeom>
          <a:solidFill>
            <a:srgbClr val="3D4442"/>
          </a:solidFill>
          <a:ln w="889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대외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MCA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2193482"/>
            <a:ext cx="123444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Malgun Gothic"/>
              </a:rPr>
              <a:t>경영관리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46920" y="2399981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종합수익관리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13848" y="2399981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결산관리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46920" y="2601150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업적평가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13848" y="2601150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감사관리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46920" y="2802318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환원자료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13848" y="2802318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...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46920" y="3003486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금융정보제공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13848" y="3003486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재무회계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75520" y="3930843"/>
            <a:ext cx="123444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Malgun Gothic"/>
              </a:rPr>
              <a:t>리스크관리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46920" y="4137342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종합수익관리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213848" y="4137342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결산관리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46920" y="4338510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업적평가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13848" y="4338510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감사관리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4539678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환원자료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13848" y="4539678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재무회계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46920" y="4740846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금융정보제공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75520" y="5439603"/>
            <a:ext cx="123444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Malgun Gothic"/>
              </a:rPr>
              <a:t>마이데이터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46920" y="5646102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마이데이터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13848" y="5646102"/>
            <a:ext cx="530352" cy="16459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70">
                <a:solidFill>
                  <a:srgbClr val="232323"/>
                </a:solidFill>
                <a:latin typeface="Malgun Gothic"/>
              </a:rPr>
              <a:t>개인자산관리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66960" y="6600891"/>
            <a:ext cx="91440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Malgun Gothic"/>
              </a:rPr>
              <a:t>대외계</a:t>
            </a:r>
          </a:p>
        </p:txBody>
      </p:sp>
      <p:sp>
        <p:nvSpPr>
          <p:cNvPr id="94" name="Can 93"/>
          <p:cNvSpPr/>
          <p:nvPr/>
        </p:nvSpPr>
        <p:spPr>
          <a:xfrm>
            <a:off x="9646920" y="6816534"/>
            <a:ext cx="502920" cy="320040"/>
          </a:xfrm>
          <a:prstGeom prst="can">
            <a:avLst/>
          </a:prstGeom>
          <a:solidFill>
            <a:srgbClr val="EFEFEF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농협생보</a:t>
            </a:r>
          </a:p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손보</a:t>
            </a:r>
          </a:p>
        </p:txBody>
      </p:sp>
      <p:sp>
        <p:nvSpPr>
          <p:cNvPr id="95" name="Can 94"/>
          <p:cNvSpPr/>
          <p:nvPr/>
        </p:nvSpPr>
        <p:spPr>
          <a:xfrm>
            <a:off x="10241280" y="6816534"/>
            <a:ext cx="502920" cy="320040"/>
          </a:xfrm>
          <a:prstGeom prst="can">
            <a:avLst/>
          </a:prstGeom>
          <a:solidFill>
            <a:srgbClr val="EFEFEF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농협자산</a:t>
            </a:r>
          </a:p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관리</a:t>
            </a:r>
          </a:p>
        </p:txBody>
      </p:sp>
      <p:sp>
        <p:nvSpPr>
          <p:cNvPr id="96" name="Can 95"/>
          <p:cNvSpPr/>
          <p:nvPr/>
        </p:nvSpPr>
        <p:spPr>
          <a:xfrm>
            <a:off x="10835640" y="6816534"/>
            <a:ext cx="502920" cy="320040"/>
          </a:xfrm>
          <a:prstGeom prst="can">
            <a:avLst/>
          </a:prstGeom>
          <a:solidFill>
            <a:srgbClr val="EFEFEF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농협경제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498080" y="3085782"/>
            <a:ext cx="2057401" cy="0"/>
          </a:xfrm>
          <a:prstGeom prst="line">
            <a:avLst/>
          </a:prstGeom>
          <a:ln w="1524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98080" y="4960302"/>
            <a:ext cx="914401" cy="0"/>
          </a:xfrm>
          <a:prstGeom prst="line">
            <a:avLst/>
          </a:prstGeom>
          <a:ln w="1524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412480" y="4960302"/>
            <a:ext cx="1143000" cy="0"/>
          </a:xfrm>
          <a:prstGeom prst="line">
            <a:avLst/>
          </a:prstGeom>
          <a:ln w="1524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498080" y="5902134"/>
            <a:ext cx="2057401" cy="0"/>
          </a:xfrm>
          <a:prstGeom prst="line">
            <a:avLst/>
          </a:prstGeom>
          <a:ln w="1524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498080" y="6606222"/>
            <a:ext cx="2057401" cy="0"/>
          </a:xfrm>
          <a:prstGeom prst="line">
            <a:avLst/>
          </a:prstGeom>
          <a:ln w="1524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498080" y="5280342"/>
            <a:ext cx="2057401" cy="530352"/>
          </a:xfrm>
          <a:prstGeom prst="line">
            <a:avLst/>
          </a:prstGeom>
          <a:ln w="1524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06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2546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814522"/>
            <a:ext cx="594360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600" b="1">
                <a:solidFill>
                  <a:srgbClr val="373737"/>
                </a:solidFill>
                <a:latin typeface="Malgun Gothic"/>
              </a:rPr>
              <a:t>BI 포탈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637330"/>
            <a:ext cx="214884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1">
                <a:solidFill>
                  <a:srgbClr val="232323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875074"/>
            <a:ext cx="214884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1">
                <a:solidFill>
                  <a:srgbClr val="232323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86166"/>
            <a:ext cx="914400" cy="32004"/>
          </a:xfrm>
          <a:prstGeom prst="rect">
            <a:avLst/>
          </a:prstGeom>
          <a:solidFill>
            <a:srgbClr val="3A579D"/>
          </a:solidFill>
          <a:ln>
            <a:solidFill>
              <a:srgbClr val="3A5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586166"/>
            <a:ext cx="411480" cy="32004"/>
          </a:xfrm>
          <a:prstGeom prst="rect">
            <a:avLst/>
          </a:prstGeom>
          <a:solidFill>
            <a:srgbClr val="9AC24F"/>
          </a:solidFill>
          <a:ln>
            <a:solidFill>
              <a:srgbClr val="9A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25881" y="1586166"/>
            <a:ext cx="10865815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3910"/>
            <a:ext cx="11109960" cy="365760"/>
          </a:xfrm>
          <a:prstGeom prst="rect">
            <a:avLst/>
          </a:prstGeom>
          <a:solidFill>
            <a:srgbClr val="1C4143"/>
          </a:solidFill>
          <a:ln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BI 포탈 논리 기술 아키텍처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1110"/>
            <a:ext cx="822960" cy="201168"/>
          </a:xfrm>
          <a:prstGeom prst="rect">
            <a:avLst/>
          </a:prstGeom>
          <a:solidFill>
            <a:srgbClr val="CDDFE7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232323"/>
                </a:solidFill>
                <a:latin typeface="Malgun Gothic"/>
              </a:rPr>
              <a:t>인증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48622"/>
            <a:ext cx="914400" cy="1143000"/>
          </a:xfrm>
          <a:prstGeom prst="rect">
            <a:avLst/>
          </a:prstGeom>
          <a:solidFill>
            <a:srgbClr val="DEF1E5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Malgun Gothic"/>
              </a:rPr>
              <a:t>정보계</a:t>
            </a:r>
          </a:p>
          <a:p>
            <a:pPr algn="ctr"/>
            <a:r>
              <a:rPr sz="1000" b="1">
                <a:solidFill>
                  <a:srgbClr val="232323"/>
                </a:solidFill>
                <a:latin typeface="Malgun Gothic"/>
              </a:rPr>
              <a:t>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97262"/>
            <a:ext cx="658368" cy="310896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패키지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3405822"/>
            <a:ext cx="365760" cy="25603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http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378390"/>
            <a:ext cx="384048" cy="38404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L4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378390"/>
            <a:ext cx="365760" cy="38404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WEB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7320" y="3533838"/>
            <a:ext cx="274320" cy="100584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57400" y="3533838"/>
            <a:ext cx="457200" cy="0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8648" y="3570414"/>
            <a:ext cx="347472" cy="0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3232" y="6011862"/>
            <a:ext cx="274320" cy="164592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H="1">
            <a:off x="758952" y="6176454"/>
            <a:ext cx="91440" cy="155448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" y="6176454"/>
            <a:ext cx="91440" cy="155448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973079"/>
            <a:ext cx="365760" cy="14157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개발자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312" y="592042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Git 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3312" y="619474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Git Runner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1" y="651478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eCAMS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1" y="678910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Nexus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7063421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FWK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1" y="2171382"/>
            <a:ext cx="3749039" cy="4956048"/>
          </a:xfrm>
          <a:prstGeom prst="rect">
            <a:avLst/>
          </a:prstGeom>
          <a:solidFill>
            <a:srgbClr val="EAF6EE"/>
          </a:solidFill>
          <a:ln w="1905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29000" y="2335974"/>
            <a:ext cx="3566160" cy="347472"/>
          </a:xfrm>
          <a:prstGeom prst="rect">
            <a:avLst/>
          </a:prstGeom>
          <a:solidFill>
            <a:srgbClr val="2C7A52"/>
          </a:solidFill>
          <a:ln w="10160">
            <a:solidFill>
              <a:srgbClr val="2C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6432" y="2765742"/>
            <a:ext cx="621792" cy="3886200"/>
          </a:xfrm>
          <a:prstGeom prst="rect">
            <a:avLst/>
          </a:prstGeom>
          <a:solidFill>
            <a:srgbClr val="DEF1E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0" y="2747454"/>
            <a:ext cx="269748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51376" y="2803187"/>
            <a:ext cx="262432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신용실적 어플리케이션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98519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수신 실적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1748" y="298519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여신 실적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77256" y="298519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계좌 실적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2764" y="298519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사무량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154362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종합 메리트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1748" y="3154362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기타 실적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77256" y="3154362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BIMS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12764" y="3154362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실적 공통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506406"/>
            <a:ext cx="251460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680141"/>
            <a:ext cx="251460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3981894"/>
            <a:ext cx="269748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51376" y="4037626"/>
            <a:ext cx="262432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BI 포탈 어플리케이션 (Data Eye)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21963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계정/권한</a:t>
            </a:r>
          </a:p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1748" y="421963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결재 관리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77256" y="421963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통합 검색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12764" y="4219638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데이터활용</a:t>
            </a:r>
          </a:p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지원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4388801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커뮤니케이</a:t>
            </a:r>
          </a:p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1748" y="4388801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보고서 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77256" y="4388801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관련 시스템</a:t>
            </a:r>
          </a:p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연계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12764" y="4388801"/>
            <a:ext cx="608076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관리자 기능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4942013"/>
            <a:ext cx="251460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06240" y="5115750"/>
            <a:ext cx="251460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4896294"/>
            <a:ext cx="1115568" cy="1371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경영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4896294"/>
            <a:ext cx="1115568" cy="13716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50">
                <a:solidFill>
                  <a:srgbClr val="232323"/>
                </a:solidFill>
                <a:latin typeface="Malgun Gothic"/>
              </a:rPr>
              <a:t>거버넌스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5417502"/>
            <a:ext cx="26974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51376" y="5473234"/>
            <a:ext cx="262432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Self-BI어플리케이션 (BI-Matrix)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5655245"/>
            <a:ext cx="124358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자연어 질의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77256" y="5655245"/>
            <a:ext cx="124358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비정형 보고서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5719254"/>
            <a:ext cx="251460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5892990"/>
            <a:ext cx="251460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6167310"/>
            <a:ext cx="26974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51376" y="6223043"/>
            <a:ext cx="262432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OLAP어플리케이션 (MSTR)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6405054"/>
            <a:ext cx="124358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정형 보고서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77256" y="6405054"/>
            <a:ext cx="124358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비정형 보고서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0" y="6395910"/>
            <a:ext cx="251460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6569646"/>
            <a:ext cx="251460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29000" y="6798246"/>
            <a:ext cx="3566160" cy="182880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6981126"/>
            <a:ext cx="3566160" cy="137160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IaaS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3497262"/>
            <a:ext cx="685800" cy="438912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배치 AP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98079" y="4045902"/>
            <a:ext cx="685800" cy="438912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73" name="Rounded Rectangle 72"/>
          <p:cNvSpPr/>
          <p:nvPr/>
        </p:nvSpPr>
        <p:spPr>
          <a:xfrm rot="5400000">
            <a:off x="8549640" y="4320222"/>
            <a:ext cx="457200" cy="219456"/>
          </a:xfrm>
          <a:prstGeom prst="round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74" name="Rounded Rectangle 73"/>
          <p:cNvSpPr/>
          <p:nvPr/>
        </p:nvSpPr>
        <p:spPr>
          <a:xfrm rot="5400000">
            <a:off x="8092440" y="4777422"/>
            <a:ext cx="502920" cy="219456"/>
          </a:xfrm>
          <a:prstGeom prst="round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18120" y="5143182"/>
            <a:ext cx="502920" cy="219456"/>
          </a:xfrm>
          <a:prstGeom prst="round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5188902"/>
            <a:ext cx="640080" cy="420624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62288" y="5280342"/>
            <a:ext cx="457200" cy="219456"/>
          </a:xfrm>
          <a:prstGeom prst="roundRect">
            <a:avLst/>
          </a:prstGeom>
          <a:solidFill>
            <a:srgbClr val="2D52AA"/>
          </a:solidFill>
          <a:ln w="10160">
            <a:solidFill>
              <a:srgbClr val="2D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10928" y="5188902"/>
            <a:ext cx="640080" cy="420624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75520" y="2738310"/>
            <a:ext cx="548640" cy="237744"/>
          </a:xfrm>
          <a:prstGeom prst="roundRect">
            <a:avLst/>
          </a:prstGeom>
          <a:solidFill>
            <a:srgbClr val="318F8F"/>
          </a:solidFill>
          <a:ln w="10160">
            <a:solidFill>
              <a:srgbClr val="31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CDC 중계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71432" y="2537142"/>
            <a:ext cx="502920" cy="502920"/>
          </a:xfrm>
          <a:prstGeom prst="round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30">
                <a:solidFill>
                  <a:srgbClr val="232323"/>
                </a:solidFill>
                <a:latin typeface="Malgun Gothic"/>
              </a:rPr>
              <a:t>마케팅</a:t>
            </a:r>
          </a:p>
          <a:p>
            <a:pPr algn="ctr"/>
            <a:r>
              <a:rPr sz="630">
                <a:solidFill>
                  <a:srgbClr val="232323"/>
                </a:solidFill>
                <a:latin typeface="Malgun Gothic"/>
              </a:rPr>
              <a:t>정보</a:t>
            </a:r>
          </a:p>
        </p:txBody>
      </p:sp>
      <p:sp>
        <p:nvSpPr>
          <p:cNvPr id="81" name="Rounded Rectangle 80"/>
          <p:cNvSpPr/>
          <p:nvPr/>
        </p:nvSpPr>
        <p:spPr>
          <a:xfrm rot="5400000">
            <a:off x="9034272" y="3177222"/>
            <a:ext cx="347472" cy="347472"/>
          </a:xfrm>
          <a:prstGeom prst="roundRect">
            <a:avLst/>
          </a:prstGeom>
          <a:solidFill>
            <a:srgbClr val="318F8F"/>
          </a:solidFill>
          <a:ln w="10160">
            <a:solidFill>
              <a:srgbClr val="31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CDC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46920" y="3222942"/>
            <a:ext cx="502920" cy="502920"/>
          </a:xfrm>
          <a:prstGeom prst="round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30">
                <a:solidFill>
                  <a:srgbClr val="232323"/>
                </a:solidFill>
                <a:latin typeface="Malgun Gothic"/>
              </a:rPr>
              <a:t>마케팅</a:t>
            </a:r>
          </a:p>
          <a:p>
            <a:pPr algn="ctr"/>
            <a:r>
              <a:rPr sz="630">
                <a:solidFill>
                  <a:srgbClr val="232323"/>
                </a:solidFill>
                <a:latin typeface="Malgun Gothic"/>
              </a:rPr>
              <a:t>정보</a:t>
            </a:r>
          </a:p>
        </p:txBody>
      </p:sp>
      <p:sp>
        <p:nvSpPr>
          <p:cNvPr id="83" name="Rounded Rectangle 82"/>
          <p:cNvSpPr/>
          <p:nvPr/>
        </p:nvSpPr>
        <p:spPr>
          <a:xfrm rot="5400000">
            <a:off x="10149840" y="3725862"/>
            <a:ext cx="347472" cy="502920"/>
          </a:xfrm>
          <a:prstGeom prst="roundRect">
            <a:avLst/>
          </a:prstGeom>
          <a:solidFill>
            <a:srgbClr val="2D52AA"/>
          </a:solidFill>
          <a:ln w="10160">
            <a:solidFill>
              <a:srgbClr val="2D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84" name="Rounded Rectangle 83"/>
          <p:cNvSpPr/>
          <p:nvPr/>
        </p:nvSpPr>
        <p:spPr>
          <a:xfrm rot="5400000">
            <a:off x="10149840" y="4183062"/>
            <a:ext cx="347472" cy="502920"/>
          </a:xfrm>
          <a:prstGeom prst="roundRect">
            <a:avLst/>
          </a:prstGeom>
          <a:solidFill>
            <a:srgbClr val="2D52AA"/>
          </a:solidFill>
          <a:ln w="10160">
            <a:solidFill>
              <a:srgbClr val="2D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07040" y="2628582"/>
            <a:ext cx="1005840" cy="29260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계정계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52760" y="3049206"/>
            <a:ext cx="896112" cy="29260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BCV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0" y="3725862"/>
            <a:ext cx="822960" cy="274320"/>
          </a:xfrm>
          <a:prstGeom prst="rect">
            <a:avLst/>
          </a:prstGeom>
          <a:solidFill>
            <a:srgbClr val="288947"/>
          </a:solidFill>
          <a:ln w="10160"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Control 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32720" y="4457382"/>
            <a:ext cx="960120" cy="29260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경영정보</a:t>
            </a:r>
          </a:p>
        </p:txBody>
      </p:sp>
      <p:sp>
        <p:nvSpPr>
          <p:cNvPr id="89" name="Rounded Rectangle 88"/>
          <p:cNvSpPr/>
          <p:nvPr/>
        </p:nvSpPr>
        <p:spPr>
          <a:xfrm rot="5400000">
            <a:off x="10460736" y="4713414"/>
            <a:ext cx="411480" cy="219456"/>
          </a:xfrm>
          <a:prstGeom prst="round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86600" y="6011862"/>
            <a:ext cx="914400" cy="23774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086600" y="6322758"/>
            <a:ext cx="914400" cy="237744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IT 메타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86600" y="6633654"/>
            <a:ext cx="914400" cy="237744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데이터 품질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69680" y="7072566"/>
            <a:ext cx="1143000" cy="310896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대내 시스템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869680" y="5993574"/>
            <a:ext cx="914400" cy="23774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Cruz APIM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869680" y="6304470"/>
            <a:ext cx="914400" cy="237744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6615366"/>
            <a:ext cx="914400" cy="23774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69680" y="6926262"/>
            <a:ext cx="914400" cy="23774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05872" y="7072566"/>
            <a:ext cx="1143000" cy="310896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대외 시스템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405872" y="5993574"/>
            <a:ext cx="914400" cy="23774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05872" y="6304470"/>
            <a:ext cx="914400" cy="237744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대외 MCA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405872" y="6615366"/>
            <a:ext cx="914400" cy="23774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086601" y="3588702"/>
            <a:ext cx="411479" cy="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86601" y="4137342"/>
            <a:ext cx="411479" cy="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183880" y="3725862"/>
            <a:ext cx="320041" cy="146304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183880" y="4274502"/>
            <a:ext cx="320041" cy="1097281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098280" y="5390070"/>
            <a:ext cx="64008" cy="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19488" y="5390070"/>
            <a:ext cx="91440" cy="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381744" y="2774886"/>
            <a:ext cx="1225296" cy="100584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021824" y="3195510"/>
            <a:ext cx="585216" cy="27432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012680" y="4411662"/>
            <a:ext cx="0" cy="77724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086601" y="6103302"/>
            <a:ext cx="640079" cy="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001000" y="5600382"/>
            <a:ext cx="502920" cy="59436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869680" y="5600382"/>
            <a:ext cx="0" cy="50292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10030968" y="5600382"/>
            <a:ext cx="374904" cy="50292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9981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2546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814522"/>
            <a:ext cx="594360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600" b="1">
                <a:solidFill>
                  <a:srgbClr val="373737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637330"/>
            <a:ext cx="214884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1">
                <a:solidFill>
                  <a:srgbClr val="232323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875074"/>
            <a:ext cx="214884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100" b="1">
                <a:solidFill>
                  <a:srgbClr val="232323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86166"/>
            <a:ext cx="914400" cy="32004"/>
          </a:xfrm>
          <a:prstGeom prst="rect">
            <a:avLst/>
          </a:prstGeom>
          <a:solidFill>
            <a:srgbClr val="3A579D"/>
          </a:solidFill>
          <a:ln>
            <a:solidFill>
              <a:srgbClr val="3A5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586166"/>
            <a:ext cx="411480" cy="32004"/>
          </a:xfrm>
          <a:prstGeom prst="rect">
            <a:avLst/>
          </a:prstGeom>
          <a:solidFill>
            <a:srgbClr val="9AC24F"/>
          </a:solidFill>
          <a:ln>
            <a:solidFill>
              <a:srgbClr val="9A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25881" y="1586166"/>
            <a:ext cx="10865815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3910"/>
            <a:ext cx="11109960" cy="365760"/>
          </a:xfrm>
          <a:prstGeom prst="rect">
            <a:avLst/>
          </a:prstGeom>
          <a:solidFill>
            <a:srgbClr val="1C4143"/>
          </a:solidFill>
          <a:ln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데이터거버넌스 논리 기술 아키텍처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1110"/>
            <a:ext cx="822960" cy="201168"/>
          </a:xfrm>
          <a:prstGeom prst="rect">
            <a:avLst/>
          </a:prstGeom>
          <a:solidFill>
            <a:srgbClr val="CDDFE7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232323"/>
                </a:solidFill>
                <a:latin typeface="Malgun Gothic"/>
              </a:rPr>
              <a:t>인증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48622"/>
            <a:ext cx="914400" cy="1143000"/>
          </a:xfrm>
          <a:prstGeom prst="rect">
            <a:avLst/>
          </a:prstGeom>
          <a:solidFill>
            <a:srgbClr val="DEF1E5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Malgun Gothic"/>
              </a:rPr>
              <a:t>정보계</a:t>
            </a:r>
          </a:p>
          <a:p>
            <a:pPr algn="ctr"/>
            <a:r>
              <a:rPr sz="1000" b="1">
                <a:solidFill>
                  <a:srgbClr val="232323"/>
                </a:solidFill>
                <a:latin typeface="Malgun Gothic"/>
              </a:rPr>
              <a:t>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97262"/>
            <a:ext cx="658368" cy="310896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패키지</a:t>
            </a:r>
          </a:p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3405822"/>
            <a:ext cx="365760" cy="25603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http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378390"/>
            <a:ext cx="384048" cy="38404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L4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378390"/>
            <a:ext cx="365760" cy="384048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WEB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7320" y="3533838"/>
            <a:ext cx="274320" cy="100584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57400" y="3533838"/>
            <a:ext cx="457200" cy="0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8648" y="3570414"/>
            <a:ext cx="347472" cy="0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3232" y="6011862"/>
            <a:ext cx="274320" cy="164592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H="1">
            <a:off x="758952" y="6176454"/>
            <a:ext cx="91440" cy="155448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" y="6176454"/>
            <a:ext cx="91440" cy="155448"/>
          </a:xfrm>
          <a:prstGeom prst="line">
            <a:avLst/>
          </a:prstGeom>
          <a:ln w="1397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973079"/>
            <a:ext cx="365760" cy="14157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개발자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312" y="592042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Git 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3312" y="619474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Git Runner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1" y="651478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eCAMS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1" y="6789102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Nexus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7063421"/>
            <a:ext cx="822960" cy="219456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FWK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171382"/>
            <a:ext cx="3657600" cy="4956048"/>
          </a:xfrm>
          <a:prstGeom prst="rect">
            <a:avLst/>
          </a:prstGeom>
          <a:solidFill>
            <a:srgbClr val="EAF6EE"/>
          </a:solidFill>
          <a:ln w="1905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0" y="2335974"/>
            <a:ext cx="3474720" cy="347472"/>
          </a:xfrm>
          <a:prstGeom prst="rect">
            <a:avLst/>
          </a:prstGeom>
          <a:solidFill>
            <a:srgbClr val="2C7A52"/>
          </a:solidFill>
          <a:ln w="10160">
            <a:solidFill>
              <a:srgbClr val="2C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2765742"/>
            <a:ext cx="594360" cy="3886200"/>
          </a:xfrm>
          <a:prstGeom prst="rect">
            <a:avLst/>
          </a:prstGeom>
          <a:solidFill>
            <a:srgbClr val="DEF1E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60520" y="2857182"/>
            <a:ext cx="260604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97096" y="2912914"/>
            <a:ext cx="253288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094925"/>
            <a:ext cx="119786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업무 용어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77255" y="3094925"/>
            <a:ext cx="119786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표준 계수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387534"/>
            <a:ext cx="242316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3561270"/>
            <a:ext cx="242316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411662"/>
            <a:ext cx="26060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97096" y="4467395"/>
            <a:ext cx="253288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데이터 품질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649406"/>
            <a:ext cx="789432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CTQ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68824" y="4649406"/>
            <a:ext cx="789432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DQI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85687" y="4649406"/>
            <a:ext cx="789432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프로파일링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4818569"/>
            <a:ext cx="789432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업무규칙 (BR)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5033454"/>
            <a:ext cx="242316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5207190"/>
            <a:ext cx="242316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5874702"/>
            <a:ext cx="260604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C4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97096" y="5930434"/>
            <a:ext cx="2532888" cy="1354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60" b="1">
                <a:solidFill>
                  <a:srgbClr val="232323"/>
                </a:solidFill>
                <a:latin typeface="Malgun Gothic"/>
              </a:rPr>
              <a:t>데이터 흐름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59" y="6112445"/>
            <a:ext cx="119786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흐름 수집/파싱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77255" y="6112445"/>
            <a:ext cx="1197864" cy="137160"/>
          </a:xfrm>
          <a:prstGeom prst="rect">
            <a:avLst/>
          </a:prstGeom>
          <a:solidFill>
            <a:srgbClr val="EFEFEF"/>
          </a:solidFill>
          <a:ln w="4445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60">
                <a:solidFill>
                  <a:srgbClr val="232323"/>
                </a:solidFill>
                <a:latin typeface="Malgun Gothic"/>
              </a:rPr>
              <a:t>흐름 분석/검색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59" y="6405054"/>
            <a:ext cx="2423160" cy="146304"/>
          </a:xfrm>
          <a:prstGeom prst="rect">
            <a:avLst/>
          </a:prstGeom>
          <a:solidFill>
            <a:srgbClr val="EFEFEF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40">
                <a:solidFill>
                  <a:srgbClr val="232323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59" y="6578790"/>
            <a:ext cx="2423160" cy="128016"/>
          </a:xfrm>
          <a:prstGeom prst="rect">
            <a:avLst/>
          </a:prstGeom>
          <a:solidFill>
            <a:srgbClr val="D9D9D9"/>
          </a:solidFill>
          <a:ln w="508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WAS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6798246"/>
            <a:ext cx="3474720" cy="182880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6981126"/>
            <a:ext cx="3474720" cy="137160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Malgun Gothic"/>
              </a:rPr>
              <a:t>IaaS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90688" y="3744150"/>
            <a:ext cx="640080" cy="438912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79408" y="3744150"/>
            <a:ext cx="640080" cy="438912"/>
          </a:xfrm>
          <a:prstGeom prst="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33488" y="3771582"/>
            <a:ext cx="502920" cy="219456"/>
          </a:xfrm>
          <a:prstGeom prst="round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3881310"/>
            <a:ext cx="457200" cy="219456"/>
          </a:xfrm>
          <a:prstGeom prst="roundRect">
            <a:avLst/>
          </a:prstGeom>
          <a:solidFill>
            <a:srgbClr val="2D52AA"/>
          </a:solidFill>
          <a:ln w="10160">
            <a:solidFill>
              <a:srgbClr val="2D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79792" y="4685982"/>
            <a:ext cx="502920" cy="219456"/>
          </a:xfrm>
          <a:prstGeom prst="roundRect">
            <a:avLst/>
          </a:prstGeom>
          <a:solidFill>
            <a:srgbClr val="3D4442"/>
          </a:solidFill>
          <a:ln w="10160">
            <a:solidFill>
              <a:srgbClr val="3D4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43800" y="5280342"/>
            <a:ext cx="914400" cy="256032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5719254"/>
            <a:ext cx="914400" cy="25603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32323"/>
                </a:solidFill>
                <a:latin typeface="Malgun Gothic"/>
              </a:rPr>
              <a:t>IT 메타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4896294"/>
            <a:ext cx="1051560" cy="123444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372600" y="5024310"/>
            <a:ext cx="777240" cy="19202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Cruz APIM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5280342"/>
            <a:ext cx="777240" cy="192024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5536374"/>
            <a:ext cx="777240" cy="192024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5792406"/>
            <a:ext cx="777240" cy="192024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20" y="6286182"/>
            <a:ext cx="1097280" cy="27432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대내 시스템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44200" y="4914582"/>
            <a:ext cx="1005840" cy="1216152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863072" y="5051742"/>
            <a:ext cx="758952" cy="228600"/>
          </a:xfrm>
          <a:prstGeom prst="rect">
            <a:avLst/>
          </a:prstGeom>
          <a:solidFill>
            <a:srgbClr val="40225B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63072" y="5371782"/>
            <a:ext cx="758952" cy="228600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대외 MCA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63072" y="5691822"/>
            <a:ext cx="758952" cy="228600"/>
          </a:xfrm>
          <a:prstGeom prst="rect">
            <a:avLst/>
          </a:prstGeom>
          <a:solidFill>
            <a:srgbClr val="3D4442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8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98480" y="6286182"/>
            <a:ext cx="1097280" cy="274320"/>
          </a:xfrm>
          <a:prstGeom prst="rect">
            <a:avLst/>
          </a:prstGeom>
          <a:solidFill>
            <a:srgbClr val="EFEFEF"/>
          </a:solidFill>
          <a:ln w="1016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>
                <a:solidFill>
                  <a:srgbClr val="232323"/>
                </a:solidFill>
                <a:latin typeface="Malgun Gothic"/>
              </a:rPr>
              <a:t>대외 시스템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611880" y="3232086"/>
            <a:ext cx="548640" cy="0"/>
          </a:xfrm>
          <a:prstGeom prst="line">
            <a:avLst/>
          </a:prstGeom>
          <a:ln w="1270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611880" y="4841430"/>
            <a:ext cx="548640" cy="0"/>
          </a:xfrm>
          <a:prstGeom prst="line">
            <a:avLst/>
          </a:prstGeom>
          <a:ln w="1270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611880" y="6286182"/>
            <a:ext cx="548640" cy="0"/>
          </a:xfrm>
          <a:prstGeom prst="line">
            <a:avLst/>
          </a:prstGeom>
          <a:ln w="1270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040880" y="3497262"/>
            <a:ext cx="292608" cy="384048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0880" y="4795710"/>
            <a:ext cx="438912" cy="73152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790688" y="3881310"/>
            <a:ext cx="45720" cy="73152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12480" y="3954462"/>
            <a:ext cx="566928" cy="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979408" y="4183062"/>
            <a:ext cx="576072" cy="713232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979408" y="4183062"/>
            <a:ext cx="2084832" cy="73152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90688" y="4183062"/>
            <a:ext cx="210312" cy="109728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790688" y="4183062"/>
            <a:ext cx="1490472" cy="1371600"/>
          </a:xfrm>
          <a:prstGeom prst="line">
            <a:avLst/>
          </a:prstGeom>
          <a:ln w="13970">
            <a:solidFill>
              <a:srgbClr val="41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520440" y="3927030"/>
            <a:ext cx="342900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520440" y="5508942"/>
            <a:ext cx="342900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8512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841509"/>
            <a:ext cx="2011680" cy="5109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3200" b="1">
                <a:solidFill>
                  <a:srgbClr val="3A3A3A"/>
                </a:solidFill>
                <a:latin typeface="Malgun Gothic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821033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 b="1">
                <a:solidFill>
                  <a:srgbClr val="3A3A3A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77648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1.1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34265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0881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1.3 데이터 주제영역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7497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1.4 시스템 아키텍처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04113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 b="1">
                <a:solidFill>
                  <a:srgbClr val="3A3A3A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60729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2.1 전사 IT Zone 기반 구성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17345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2.2 시스템 노드 정의 및 식별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73961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30577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5390069"/>
            <a:ext cx="5120640" cy="347472"/>
          </a:xfrm>
          <a:prstGeom prst="rect">
            <a:avLst/>
          </a:prstGeom>
          <a:solidFill>
            <a:srgbClr val="DA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387193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 b="1">
                <a:solidFill>
                  <a:srgbClr val="3A3A3A"/>
                </a:solidFill>
                <a:latin typeface="Malgun Gothic"/>
              </a:rPr>
              <a:t>3. 물리 인프라 아키텍처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743808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3.1 하드웨어 구성도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100424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457040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6813656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3.4 소프트웨어 목록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821033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 b="1">
                <a:solidFill>
                  <a:srgbClr val="3A3A3A"/>
                </a:solidFill>
                <a:latin typeface="Malgun Gothic"/>
              </a:rPr>
              <a:t>4. 데이터베이스 아키텍처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177648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4.1 DB 아키텍처 구성도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34265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4.2 DB 이중화 구성도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890881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4.3 OGG 구성도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247497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4.4 OLTP 및 대용량 배치 수행 방안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604113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 b="1">
                <a:solidFill>
                  <a:srgbClr val="3A3A3A"/>
                </a:solidFill>
                <a:latin typeface="Malgun Gothic"/>
              </a:rPr>
              <a:t>5. 시스템 표준 정의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960729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5.1 서버 호스트 명명규칙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17345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5.2 파일 시스템 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673961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5.3 사용자 계정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030577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5.4 서비스 포트 현황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387193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 b="1">
                <a:solidFill>
                  <a:srgbClr val="3A3A3A"/>
                </a:solidFill>
                <a:latin typeface="Malgun Gothic"/>
              </a:rPr>
              <a:t>6. 인터페이스 아키텍처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743808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6100424"/>
            <a:ext cx="4983480" cy="2800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700">
                <a:solidFill>
                  <a:srgbClr val="3A3A3A"/>
                </a:solidFill>
                <a:latin typeface="Malgun Gothic"/>
              </a:rPr>
              <a:t>6.2 인터페이스 구성도</a:t>
            </a:r>
          </a:p>
        </p:txBody>
      </p:sp>
    </p:spTree>
    <p:extLst>
      <p:ext uri="{BB962C8B-B14F-4D97-AF65-F5344CB8AC3E}">
        <p14:creationId xmlns:p14="http://schemas.microsoft.com/office/powerpoint/2010/main" val="3535283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운영/DR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3.1 하드웨어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1" y="1878774"/>
            <a:ext cx="7955279" cy="384048"/>
          </a:xfrm>
          <a:prstGeom prst="rect">
            <a:avLst/>
          </a:prstGeom>
          <a:solidFill>
            <a:srgbClr val="272D37"/>
          </a:solidFill>
          <a:ln w="12700">
            <a:solidFill>
              <a:srgbClr val="27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의왕 센터 (주 센터)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878774"/>
            <a:ext cx="384048" cy="384048"/>
          </a:xfrm>
          <a:prstGeom prst="rect">
            <a:avLst/>
          </a:prstGeom>
          <a:solidFill>
            <a:srgbClr val="B44137"/>
          </a:solidFill>
          <a:ln w="12700">
            <a:solidFill>
              <a:srgbClr val="B4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내부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GSLB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878774"/>
            <a:ext cx="2743200" cy="384048"/>
          </a:xfrm>
          <a:prstGeom prst="rect">
            <a:avLst/>
          </a:prstGeom>
          <a:solidFill>
            <a:srgbClr val="272D37"/>
          </a:solidFill>
          <a:ln w="12700">
            <a:solidFill>
              <a:srgbClr val="27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안성 센터 (DR 센터)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49350"/>
            <a:ext cx="22860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>
                <a:solidFill>
                  <a:srgbClr val="2D2D2D"/>
                </a:solidFill>
                <a:latin typeface="Malgun Gothic"/>
              </a:rPr>
              <a:t>범</a:t>
            </a:r>
          </a:p>
          <a:p>
            <a:pPr algn="ctr"/>
            <a:r>
              <a:rPr sz="800">
                <a:solidFill>
                  <a:srgbClr val="2D2D2D"/>
                </a:solidFill>
                <a:latin typeface="Malgun Gothic"/>
              </a:rPr>
              <a:t>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299398"/>
            <a:ext cx="411480" cy="155448"/>
          </a:xfrm>
          <a:prstGeom prst="rect">
            <a:avLst/>
          </a:prstGeom>
          <a:solidFill>
            <a:srgbClr val="272D37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의왕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03136" y="2299398"/>
            <a:ext cx="411480" cy="155448"/>
          </a:xfrm>
          <a:prstGeom prst="rect">
            <a:avLst/>
          </a:prstGeom>
          <a:solidFill>
            <a:srgbClr val="505050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안성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6912" y="2299398"/>
            <a:ext cx="411480" cy="155448"/>
          </a:xfrm>
          <a:prstGeom prst="rect">
            <a:avLst/>
          </a:prstGeom>
          <a:solidFill>
            <a:srgbClr val="F0E7AE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2299398"/>
            <a:ext cx="411480" cy="155448"/>
          </a:xfrm>
          <a:prstGeom prst="rect">
            <a:avLst/>
          </a:prstGeom>
          <a:solidFill>
            <a:srgbClr val="CD814E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3" y="2299398"/>
            <a:ext cx="411480" cy="155448"/>
          </a:xfrm>
          <a:prstGeom prst="rect">
            <a:avLst/>
          </a:prstGeom>
          <a:solidFill>
            <a:srgbClr val="E0AB1A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39" y="2299398"/>
            <a:ext cx="411480" cy="155448"/>
          </a:xfrm>
          <a:prstGeom prst="rect">
            <a:avLst/>
          </a:prstGeom>
          <a:solidFill>
            <a:srgbClr val="52A537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5" y="2299398"/>
            <a:ext cx="411480" cy="155448"/>
          </a:xfrm>
          <a:prstGeom prst="rect">
            <a:avLst/>
          </a:prstGeom>
          <a:solidFill>
            <a:srgbClr val="2691C8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65791" y="2299398"/>
            <a:ext cx="411480" cy="155448"/>
          </a:xfrm>
          <a:prstGeom prst="rect">
            <a:avLst/>
          </a:prstGeom>
          <a:solidFill>
            <a:srgbClr val="828282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베어메탈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7" y="2299398"/>
            <a:ext cx="411480" cy="155448"/>
          </a:xfrm>
          <a:prstGeom prst="rect">
            <a:avLst/>
          </a:prstGeom>
          <a:solidFill>
            <a:srgbClr val="6DB853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IaaS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2765742"/>
            <a:ext cx="7909560" cy="68580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3" y="2874711"/>
            <a:ext cx="781812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1) 마케팅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497262"/>
            <a:ext cx="7909560" cy="68580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3" y="3606231"/>
            <a:ext cx="781812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2) 실적 /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4228782"/>
            <a:ext cx="7909560" cy="100584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3" y="4268501"/>
            <a:ext cx="7818120" cy="2954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3) 데이터거버넌스</a:t>
            </a:r>
          </a:p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/운영관리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5280342"/>
            <a:ext cx="7909560" cy="7315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3" y="5320061"/>
            <a:ext cx="7818120" cy="2954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4) 데이터 처리</a:t>
            </a:r>
          </a:p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/이행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6066726"/>
            <a:ext cx="7909560" cy="45720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3" y="6175695"/>
            <a:ext cx="781812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5) 저장소 / 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876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54533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568195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691639" y="289375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마케팅플랫폼WEB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9928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 dirty="0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80" b="1" dirty="0">
                <a:solidFill>
                  <a:srgbClr val="2D2D2D"/>
                </a:solidFill>
                <a:latin typeface="Malgun Gothic"/>
              </a:rPr>
              <a:t>sbmpcoltwb01-02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50545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528316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289375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마케팅플랫폼WAS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0048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sbmpcoltws01-02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46557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88436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611880" y="289375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미니싱글뷰 WEB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sbmpmsdwb01-02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42569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448556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0" y="289375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미니싱글뷰 WAS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sbmpmsdws01-02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4924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38581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408676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32120" y="289375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실시간처리 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7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sbmpeltap01-02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4593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68796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492240" y="289375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행동정보처리 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sbmpbltap01-02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69480" y="285718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7306056" y="294862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328916" y="300348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452360" y="289375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30" b="1">
                <a:solidFill>
                  <a:srgbClr val="2D2D2D"/>
                </a:solidFill>
                <a:latin typeface="Malgun Gothic"/>
              </a:rPr>
              <a:t>고객행동데이터 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0648" y="3116983"/>
            <a:ext cx="667512" cy="1661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#1,#2,#3</a:t>
            </a:r>
          </a:p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sbmpbdloap01-03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0876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54533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568195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691639" y="362527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BI포탈 WEB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09928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sbbiptwb01-02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46888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50545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528316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651760" y="362527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BI포탈WAS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70048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sbbiptws01-02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42900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346557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488436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611880" y="362527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Self-BI WEB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sbbisltwb01-02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8912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442569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448556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572000" y="362527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Self-BI WAS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90288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sbbisltws01-02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34924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538581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408676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532120" y="362527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50407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sbbisloap01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0936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634593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368796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492240" y="362527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신용실적WEB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10528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sbbicrtwb01-02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269480" y="3588702"/>
            <a:ext cx="896112" cy="45720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7306056" y="3680142"/>
            <a:ext cx="128016" cy="29260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328916" y="373500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52360" y="362527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520" b="1">
                <a:solidFill>
                  <a:srgbClr val="2D2D2D"/>
                </a:solidFill>
                <a:latin typeface="Malgun Gothic"/>
              </a:rPr>
              <a:t>신용실적WAS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70648" y="3850041"/>
            <a:ext cx="667512" cy="1631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sbbicrtws01-02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08760" y="43202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545336" y="44116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568195" y="44665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691639" y="435679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비즈메타/데이터품질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09928" y="4561824"/>
            <a:ext cx="667512" cy="1477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sbdgdqlows01-02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468880" y="43202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2505456" y="44116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528316" y="44665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651760" y="435679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데이터흐름</a:t>
            </a:r>
          </a:p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70048" y="4561824"/>
            <a:ext cx="667512" cy="1477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sbdfdllows01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29000" y="43202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3465576" y="44116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488436" y="44665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611880" y="435679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30168" y="4561824"/>
            <a:ext cx="667512" cy="1477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sbimrdlows01-02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389120" y="43202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4425696" y="44116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448556" y="44665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4572000" y="435679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90288" y="4561824"/>
            <a:ext cx="667512" cy="1477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sbimbjloap01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349240" y="43202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5385816" y="44116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408676" y="44665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532120" y="435679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70" b="1">
                <a:solidFill>
                  <a:srgbClr val="2D2D2D"/>
                </a:solidFill>
                <a:latin typeface="Malgun Gothic"/>
              </a:rPr>
              <a:t>마스터솔루션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50407" y="4561824"/>
            <a:ext cx="667512" cy="1477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20" b="1">
                <a:solidFill>
                  <a:srgbClr val="2D2D2D"/>
                </a:solidFill>
                <a:latin typeface="Malgun Gothic"/>
              </a:rPr>
              <a:t>sbimfwloap01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833872" y="4539678"/>
            <a:ext cx="384048" cy="146304"/>
          </a:xfrm>
          <a:prstGeom prst="rect">
            <a:avLst/>
          </a:prstGeom>
          <a:solidFill>
            <a:srgbClr val="26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 b="1">
                <a:solidFill>
                  <a:srgbClr val="FFFFFF"/>
                </a:solidFill>
                <a:latin typeface="Malgun Gothic"/>
              </a:rPr>
              <a:t>테크시스템부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508760" y="47774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545336" y="48688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568195" y="49237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691639" y="481399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09928" y="5017485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#1~#4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sbimxmltwb01-04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468880" y="47774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2505456" y="48688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528316" y="49237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2651760" y="481399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70048" y="5017485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#1~#4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sbimxmltws01-04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429000" y="47774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3465576" y="48688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488436" y="49237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611880" y="4813998"/>
            <a:ext cx="667512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30168" y="5017485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#1~#6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sbimxdltwb01-06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389120" y="47774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4425696" y="48688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448556" y="49237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572000" y="4813998"/>
            <a:ext cx="667512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90288" y="5017485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#1~#6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sbimxdltws01-06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349240" y="4777422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5385816" y="4868862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408676" y="49237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5532120" y="4813998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50407" y="5017485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sbimdloap01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508760" y="5390070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1545336" y="5481510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568195" y="553637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691639" y="5426646"/>
            <a:ext cx="667512" cy="182880"/>
          </a:xfrm>
          <a:prstGeom prst="rect">
            <a:avLst/>
          </a:prstGeom>
          <a:solidFill>
            <a:srgbClr val="26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ETL AP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09928" y="5630133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sbimdtdl01-02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468880" y="5390070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2505456" y="5481510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2528316" y="553637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651760" y="5426646"/>
            <a:ext cx="667512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CDC중계 DB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70048" y="5630133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sbimcdiob01-02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429000" y="5390070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3465576" y="5481510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3488436" y="553637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3611880" y="5426646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변환 AP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30168" y="5630133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#1~#6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sbimsiloap01-06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389120" y="5390070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4425696" y="5481510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4448556" y="553637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572000" y="5426646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이행 AP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90288" y="5630133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sbimsiloap07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49240" y="5390070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5385816" y="5481510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408676" y="553637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5532120" y="5426646"/>
            <a:ext cx="667512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SQL품질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550407" y="5630133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sbimsiloap08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309360" y="5390070"/>
            <a:ext cx="896112" cy="402336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345936" y="5481510"/>
            <a:ext cx="128016" cy="237744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368796" y="553637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6492240" y="5426646"/>
            <a:ext cx="667512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추출 DB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510528" y="5630133"/>
            <a:ext cx="667512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sbimsiloap09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251960" y="5207190"/>
            <a:ext cx="2834640" cy="164592"/>
          </a:xfrm>
          <a:prstGeom prst="rect">
            <a:avLst/>
          </a:prstGeom>
          <a:noFill/>
          <a:ln w="12700">
            <a:solidFill>
              <a:srgbClr val="69696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원천 데이터 이행 영역/임시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53312" y="6121590"/>
            <a:ext cx="640080" cy="310896"/>
          </a:xfrm>
          <a:prstGeom prst="roundRect">
            <a:avLst/>
          </a:prstGeom>
          <a:solidFill>
            <a:srgbClr val="CDD2D0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정보계</a:t>
            </a:r>
          </a:p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스토리지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2057400" y="6121590"/>
            <a:ext cx="640080" cy="310896"/>
          </a:xfrm>
          <a:prstGeom prst="roundRect">
            <a:avLst/>
          </a:prstGeom>
          <a:solidFill>
            <a:srgbClr val="CDD2D0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백업</a:t>
            </a:r>
          </a:p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스토리지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971800" y="6085014"/>
            <a:ext cx="1280160" cy="384048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185"/>
          <p:cNvSpPr/>
          <p:nvPr/>
        </p:nvSpPr>
        <p:spPr>
          <a:xfrm>
            <a:off x="3008376" y="6176454"/>
            <a:ext cx="128016" cy="219456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3031236" y="623131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3154680" y="6121590"/>
            <a:ext cx="1051560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ADW/RDW DB Appliance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172968" y="6313614"/>
            <a:ext cx="105156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ADW #1~#6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RDW #1,#2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983480" y="6085014"/>
            <a:ext cx="1325880" cy="384048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5020056" y="6176454"/>
            <a:ext cx="128016" cy="219456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042916" y="623131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5166360" y="6121590"/>
            <a:ext cx="1097280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RDW DB Appliance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184648" y="6313614"/>
            <a:ext cx="109728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RDW #1,#2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sbrdcoxdb01-02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02920" y="6725094"/>
            <a:ext cx="960120" cy="310896"/>
          </a:xfrm>
          <a:prstGeom prst="roundRect">
            <a:avLst/>
          </a:prstGeom>
          <a:solidFill>
            <a:srgbClr val="007EBE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원천 시스템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64592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디지털금융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288036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코어뱅킹 원천DB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411480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코어뱅킹 복제DB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534924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006840" y="2765742"/>
            <a:ext cx="2788920" cy="14173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9079993" y="2805461"/>
            <a:ext cx="2697479" cy="2954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IaaS</a:t>
            </a:r>
          </a:p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1) 마케팅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9372601" y="2994342"/>
            <a:ext cx="1042415" cy="41148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9409176" y="3085782"/>
            <a:ext cx="128016" cy="24688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9432036" y="314064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9555481" y="3030918"/>
            <a:ext cx="813815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마케팅플랫폼WEB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573769" y="3238977"/>
            <a:ext cx="813815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#51,#52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sbmpcolwb51-52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0515601" y="2994342"/>
            <a:ext cx="1042415" cy="41148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ounded Rectangle 207"/>
          <p:cNvSpPr/>
          <p:nvPr/>
        </p:nvSpPr>
        <p:spPr>
          <a:xfrm>
            <a:off x="10552176" y="3085782"/>
            <a:ext cx="128016" cy="24688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10575036" y="314064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10698481" y="3030918"/>
            <a:ext cx="813815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마케팅플랫폼WAS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716769" y="3238977"/>
            <a:ext cx="813815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#51,#52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sbmpcolws51-52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9372601" y="3497262"/>
            <a:ext cx="1042415" cy="41148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ounded Rectangle 212"/>
          <p:cNvSpPr/>
          <p:nvPr/>
        </p:nvSpPr>
        <p:spPr>
          <a:xfrm>
            <a:off x="9409176" y="3588702"/>
            <a:ext cx="128016" cy="24688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432036" y="364356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555481" y="3533838"/>
            <a:ext cx="813815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미니싱글뷰 WEB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573769" y="3741897"/>
            <a:ext cx="813815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#51,#52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sbmpmsdwb51-52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0515601" y="3497262"/>
            <a:ext cx="1042415" cy="41148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ounded Rectangle 217"/>
          <p:cNvSpPr/>
          <p:nvPr/>
        </p:nvSpPr>
        <p:spPr>
          <a:xfrm>
            <a:off x="10552176" y="3588702"/>
            <a:ext cx="128016" cy="24688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10575036" y="364356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10698481" y="3533838"/>
            <a:ext cx="813815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80" b="1">
                <a:solidFill>
                  <a:srgbClr val="2D2D2D"/>
                </a:solidFill>
                <a:latin typeface="Malgun Gothic"/>
              </a:rPr>
              <a:t>미니싱글뷰 WAS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716769" y="3741897"/>
            <a:ext cx="813815" cy="15081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#51,#52</a:t>
            </a:r>
          </a:p>
          <a:p>
            <a:pPr algn="l"/>
            <a:r>
              <a:rPr sz="430" b="1">
                <a:solidFill>
                  <a:srgbClr val="2D2D2D"/>
                </a:solidFill>
                <a:latin typeface="Malgun Gothic"/>
              </a:rPr>
              <a:t>sbmpmsdws51-52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006840" y="4320222"/>
            <a:ext cx="2788920" cy="14173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9079993" y="4359941"/>
            <a:ext cx="2697479" cy="2954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IaaS</a:t>
            </a:r>
          </a:p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2) 운영관리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372601" y="4548822"/>
            <a:ext cx="1042415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ounded Rectangle 224"/>
          <p:cNvSpPr/>
          <p:nvPr/>
        </p:nvSpPr>
        <p:spPr>
          <a:xfrm>
            <a:off x="9409176" y="4640262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9432036" y="46951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9555481" y="4585398"/>
            <a:ext cx="813815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573769" y="4775215"/>
            <a:ext cx="813815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#51~#54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sbimxmlowb51-54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0515601" y="4548822"/>
            <a:ext cx="1042415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ounded Rectangle 229"/>
          <p:cNvSpPr/>
          <p:nvPr/>
        </p:nvSpPr>
        <p:spPr>
          <a:xfrm>
            <a:off x="10552176" y="4640262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10575036" y="4695126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10698481" y="4585398"/>
            <a:ext cx="813815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716769" y="4775215"/>
            <a:ext cx="813815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#51~#54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sbimxmlows51-54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9372601" y="4987734"/>
            <a:ext cx="1042415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ounded Rectangle 234"/>
          <p:cNvSpPr/>
          <p:nvPr/>
        </p:nvSpPr>
        <p:spPr>
          <a:xfrm>
            <a:off x="9409176" y="5079174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9432036" y="513403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9555481" y="5024310"/>
            <a:ext cx="813815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573769" y="5214127"/>
            <a:ext cx="813815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#51~#56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sbimxdlowb51-56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0515601" y="4987734"/>
            <a:ext cx="1042415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ounded Rectangle 239"/>
          <p:cNvSpPr/>
          <p:nvPr/>
        </p:nvSpPr>
        <p:spPr>
          <a:xfrm>
            <a:off x="10552176" y="5079174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10575036" y="513403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10698481" y="5024310"/>
            <a:ext cx="813815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716769" y="5214127"/>
            <a:ext cx="813815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#51~#56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sbimxdlows51-56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9372601" y="5426646"/>
            <a:ext cx="1042415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ounded Rectangle 244"/>
          <p:cNvSpPr/>
          <p:nvPr/>
        </p:nvSpPr>
        <p:spPr>
          <a:xfrm>
            <a:off x="9409176" y="5518086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9432036" y="5572950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9555481" y="5463222"/>
            <a:ext cx="813815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마스터솔루션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573769" y="5653039"/>
            <a:ext cx="813815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#51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sbimfwloap51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006840" y="5920422"/>
            <a:ext cx="2788920" cy="694944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079993" y="6029391"/>
            <a:ext cx="2697479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3) 저장소 / DB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9189720" y="6121590"/>
            <a:ext cx="640080" cy="310896"/>
          </a:xfrm>
          <a:prstGeom prst="roundRect">
            <a:avLst/>
          </a:prstGeom>
          <a:solidFill>
            <a:srgbClr val="CDD2D0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정보계</a:t>
            </a:r>
          </a:p>
          <a:p>
            <a:pPr algn="ctr"/>
            <a:r>
              <a:rPr sz="600">
                <a:solidFill>
                  <a:srgbClr val="2D2D2D"/>
                </a:solidFill>
                <a:latin typeface="Malgun Gothic"/>
              </a:rPr>
              <a:t>스토리지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9875520" y="6085014"/>
            <a:ext cx="1143000" cy="384048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ounded Rectangle 252"/>
          <p:cNvSpPr/>
          <p:nvPr/>
        </p:nvSpPr>
        <p:spPr>
          <a:xfrm>
            <a:off x="9912096" y="6176454"/>
            <a:ext cx="128016" cy="219456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9934956" y="623131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10058400" y="6121590"/>
            <a:ext cx="914400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RDW DB Appliance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076688" y="6292080"/>
            <a:ext cx="914400" cy="1985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390" b="1">
                <a:solidFill>
                  <a:srgbClr val="2D2D2D"/>
                </a:solidFill>
                <a:latin typeface="Malgun Gothic"/>
              </a:rPr>
              <a:t>Standby</a:t>
            </a:r>
          </a:p>
          <a:p>
            <a:pPr algn="l"/>
            <a:r>
              <a:rPr sz="390" b="1">
                <a:solidFill>
                  <a:srgbClr val="2D2D2D"/>
                </a:solidFill>
                <a:latin typeface="Malgun Gothic"/>
              </a:rPr>
              <a:t>#51,#52</a:t>
            </a:r>
          </a:p>
          <a:p>
            <a:pPr algn="l"/>
            <a:r>
              <a:rPr sz="390" b="1">
                <a:solidFill>
                  <a:srgbClr val="2D2D2D"/>
                </a:solidFill>
                <a:latin typeface="Malgun Gothic"/>
              </a:rPr>
              <a:t>sbrdcoxdb51-52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9052560" y="6725094"/>
            <a:ext cx="868680" cy="310896"/>
          </a:xfrm>
          <a:prstGeom prst="roundRect">
            <a:avLst/>
          </a:prstGeom>
          <a:solidFill>
            <a:srgbClr val="007EBE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원천 시스템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0012680" y="6725094"/>
            <a:ext cx="82296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50">
                <a:solidFill>
                  <a:srgbClr val="2D2D2D"/>
                </a:solidFill>
                <a:latin typeface="Malgun Gothic"/>
              </a:rPr>
              <a:t>정보계</a:t>
            </a:r>
          </a:p>
          <a:p>
            <a:pPr algn="ctr"/>
            <a:r>
              <a:rPr sz="550">
                <a:solidFill>
                  <a:srgbClr val="2D2D2D"/>
                </a:solidFill>
                <a:latin typeface="Malgun Gothic"/>
              </a:rPr>
              <a:t>스토리지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0927080" y="6725094"/>
            <a:ext cx="64008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50">
                <a:solidFill>
                  <a:srgbClr val="2D2D2D"/>
                </a:solidFill>
                <a:latin typeface="Malgun Gothic"/>
              </a:rPr>
              <a:t>RDW #1</a:t>
            </a:r>
          </a:p>
        </p:txBody>
      </p:sp>
    </p:spTree>
    <p:extLst>
      <p:ext uri="{BB962C8B-B14F-4D97-AF65-F5344CB8AC3E}">
        <p14:creationId xmlns:p14="http://schemas.microsoft.com/office/powerpoint/2010/main" val="11417718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개발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3.1 하드웨어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878774"/>
            <a:ext cx="11338560" cy="365760"/>
          </a:xfrm>
          <a:prstGeom prst="rect">
            <a:avLst/>
          </a:prstGeom>
          <a:solidFill>
            <a:srgbClr val="272D37"/>
          </a:solidFill>
          <a:ln w="12700">
            <a:solidFill>
              <a:srgbClr val="27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의왕 센터 (주 센터)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285926"/>
            <a:ext cx="22860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>
                <a:solidFill>
                  <a:srgbClr val="2D2D2D"/>
                </a:solidFill>
                <a:latin typeface="Malgun Gothic"/>
              </a:rPr>
              <a:t>범</a:t>
            </a:r>
          </a:p>
          <a:p>
            <a:pPr algn="ctr"/>
            <a:r>
              <a:rPr sz="800">
                <a:solidFill>
                  <a:srgbClr val="2D2D2D"/>
                </a:solidFill>
                <a:latin typeface="Malgun Gothic"/>
              </a:rPr>
              <a:t>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335974"/>
            <a:ext cx="411480" cy="155448"/>
          </a:xfrm>
          <a:prstGeom prst="rect">
            <a:avLst/>
          </a:prstGeom>
          <a:solidFill>
            <a:srgbClr val="272D37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의왕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03136" y="2335974"/>
            <a:ext cx="411480" cy="155448"/>
          </a:xfrm>
          <a:prstGeom prst="rect">
            <a:avLst/>
          </a:prstGeom>
          <a:solidFill>
            <a:srgbClr val="505050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안성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6912" y="2335974"/>
            <a:ext cx="411480" cy="155448"/>
          </a:xfrm>
          <a:prstGeom prst="rect">
            <a:avLst/>
          </a:prstGeom>
          <a:solidFill>
            <a:srgbClr val="F0E7AE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0688" y="2335974"/>
            <a:ext cx="411480" cy="155448"/>
          </a:xfrm>
          <a:prstGeom prst="rect">
            <a:avLst/>
          </a:prstGeom>
          <a:solidFill>
            <a:srgbClr val="CD814E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3" y="2335974"/>
            <a:ext cx="411480" cy="155448"/>
          </a:xfrm>
          <a:prstGeom prst="rect">
            <a:avLst/>
          </a:prstGeom>
          <a:solidFill>
            <a:srgbClr val="E0AB1A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9" y="2335974"/>
            <a:ext cx="411480" cy="155448"/>
          </a:xfrm>
          <a:prstGeom prst="rect">
            <a:avLst/>
          </a:prstGeom>
          <a:solidFill>
            <a:srgbClr val="52A537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5" y="2335974"/>
            <a:ext cx="411480" cy="155448"/>
          </a:xfrm>
          <a:prstGeom prst="rect">
            <a:avLst/>
          </a:prstGeom>
          <a:solidFill>
            <a:srgbClr val="2691C8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65791" y="2335974"/>
            <a:ext cx="411480" cy="155448"/>
          </a:xfrm>
          <a:prstGeom prst="rect">
            <a:avLst/>
          </a:prstGeom>
          <a:solidFill>
            <a:srgbClr val="828282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베어메탈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59567" y="2335974"/>
            <a:ext cx="411480" cy="155448"/>
          </a:xfrm>
          <a:prstGeom prst="rect">
            <a:avLst/>
          </a:prstGeom>
          <a:solidFill>
            <a:srgbClr val="6DB853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IaaS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74302"/>
            <a:ext cx="11201400" cy="658368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783271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1) 마케팅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63677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5963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83080" y="28388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마케팅플랫폼WEB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1368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sbmpcoltwb01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05409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7695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28388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마케팅플랫폼WAS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sbmpcoltws01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7141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9427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17720" y="28388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실시간처리 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sbmpeltap01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88873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1159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35040" y="28388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행동정보처리 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sbmpbltap01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0605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2891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52360" y="28388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고객행동데이터 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sbmpbdltap01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588702"/>
            <a:ext cx="11201400" cy="658368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6072" y="3697671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2) 실적 / 분석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0020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63677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65963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783080" y="37532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BI포탈 WEB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136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sbbiptwb01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05409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7695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0" y="37532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BI포탈WAS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1868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sbbiptws01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3484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7141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49427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617720" y="37532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신용실적WEB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36007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sbbicrtwb01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5216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88873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1159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035040" y="37532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신용실적WAS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5332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sbbicrtws01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6948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730605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32891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452360" y="37532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Self-BI WEB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064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sbbisltwb01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8680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872337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74623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869680" y="37532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Self-BI WAS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796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sbbisltws01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0412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14069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16355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287000" y="37532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0528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#01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sbbisltap01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4503101"/>
            <a:ext cx="11201400" cy="9601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76072" y="4612070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3) 데이터거버넌스 / 운영관리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60020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63677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65963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783080" y="4667693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비즈메타/데이터품질 WAS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01368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sbdgdqltws01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01752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305409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07695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200400" y="4667693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데이터흐름관리 WAS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18688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sbdfdlltws01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43484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447141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49427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617720" y="4667693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출력물(RD) WAS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36007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sbimrdltws01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85216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88873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91159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035040" y="4667693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53328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sbimdtlap01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26948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30605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2891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52360" y="4667693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70648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sbimxmltwb01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872337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74623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8869680" y="4667693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87968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sbimxmltws01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104120" y="4631117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0140696" y="4722557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0163556" y="4777421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287000" y="4667693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05288" y="4851353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sbimxdltwb01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60020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163677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65963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783080" y="5106605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01368" y="5290265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sbimxdltws01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01752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305409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07695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200400" y="5106605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18688" y="5290265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sbimxmltap01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43484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447141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49427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617720" y="5106605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배치 AP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36007" y="5290265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sbimbjltap01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85216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588873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591159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6035040" y="5106605"/>
            <a:ext cx="1069848" cy="182880"/>
          </a:xfrm>
          <a:prstGeom prst="rect">
            <a:avLst/>
          </a:prstGeom>
          <a:solidFill>
            <a:srgbClr val="26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ETL AP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53328" y="5290265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sbimdltl01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26948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730605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732891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7452360" y="5106605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70648" y="5290265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sbimsmltap01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872337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874623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8869680" y="5106605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마스터솔루션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887968" y="5290265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sbimfwltap01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104120" y="5070029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10140696" y="5161469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0163556" y="5216333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287000" y="5106605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라이브러리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305288" y="5324121"/>
            <a:ext cx="1069848" cy="861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2920" y="5719254"/>
            <a:ext cx="11201400" cy="5029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76072" y="5828223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저장소 / DB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88720" y="5847269"/>
            <a:ext cx="960120" cy="292608"/>
          </a:xfrm>
          <a:prstGeom prst="roundRect">
            <a:avLst/>
          </a:prstGeom>
          <a:solidFill>
            <a:srgbClr val="CDD2D0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D2D2D"/>
                </a:solidFill>
                <a:latin typeface="Malgun Gothic"/>
              </a:rPr>
              <a:t>정보계</a:t>
            </a:r>
          </a:p>
          <a:p>
            <a:pPr algn="ctr"/>
            <a:r>
              <a:rPr sz="650">
                <a:solidFill>
                  <a:srgbClr val="2D2D2D"/>
                </a:solidFill>
                <a:latin typeface="Malgun Gothic"/>
              </a:rPr>
              <a:t>스토리지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240280" y="5810693"/>
            <a:ext cx="1508760" cy="347472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2276856" y="5902133"/>
            <a:ext cx="128016" cy="182880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299716" y="595699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2423160" y="5847269"/>
            <a:ext cx="1280160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ADW/RDW DB Appliance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441448" y="6027942"/>
            <a:ext cx="1280160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#1,#2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sbrdcoxdb01-02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48640" y="6725094"/>
            <a:ext cx="960120" cy="310896"/>
          </a:xfrm>
          <a:prstGeom prst="roundRect">
            <a:avLst/>
          </a:prstGeom>
          <a:solidFill>
            <a:srgbClr val="007EBE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원천 시스템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69164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디지털금융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92608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코어뱅킹 원천DB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16052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코어뱅킹 복제DB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39496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</p:spTree>
    <p:extLst>
      <p:ext uri="{BB962C8B-B14F-4D97-AF65-F5344CB8AC3E}">
        <p14:creationId xmlns:p14="http://schemas.microsoft.com/office/powerpoint/2010/main" val="16444712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선도환경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3.1 하드웨어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878774"/>
            <a:ext cx="11338560" cy="365760"/>
          </a:xfrm>
          <a:prstGeom prst="rect">
            <a:avLst/>
          </a:prstGeom>
          <a:solidFill>
            <a:srgbClr val="272D37"/>
          </a:solidFill>
          <a:ln w="12700">
            <a:solidFill>
              <a:srgbClr val="27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의왕 센터 (주 센터)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285926"/>
            <a:ext cx="22860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00">
                <a:solidFill>
                  <a:srgbClr val="2D2D2D"/>
                </a:solidFill>
                <a:latin typeface="Malgun Gothic"/>
              </a:rPr>
              <a:t>범</a:t>
            </a:r>
          </a:p>
          <a:p>
            <a:pPr algn="ctr"/>
            <a:r>
              <a:rPr sz="800">
                <a:solidFill>
                  <a:srgbClr val="2D2D2D"/>
                </a:solidFill>
                <a:latin typeface="Malgun Gothic"/>
              </a:rPr>
              <a:t>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335974"/>
            <a:ext cx="411480" cy="155448"/>
          </a:xfrm>
          <a:prstGeom prst="rect">
            <a:avLst/>
          </a:prstGeom>
          <a:solidFill>
            <a:srgbClr val="272D37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의왕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03136" y="2335974"/>
            <a:ext cx="411480" cy="155448"/>
          </a:xfrm>
          <a:prstGeom prst="rect">
            <a:avLst/>
          </a:prstGeom>
          <a:solidFill>
            <a:srgbClr val="505050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안성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6912" y="2335974"/>
            <a:ext cx="411480" cy="155448"/>
          </a:xfrm>
          <a:prstGeom prst="rect">
            <a:avLst/>
          </a:prstGeom>
          <a:solidFill>
            <a:srgbClr val="F0E7AE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0688" y="2335974"/>
            <a:ext cx="411480" cy="155448"/>
          </a:xfrm>
          <a:prstGeom prst="rect">
            <a:avLst/>
          </a:prstGeom>
          <a:solidFill>
            <a:srgbClr val="CD814E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3" y="2335974"/>
            <a:ext cx="411480" cy="155448"/>
          </a:xfrm>
          <a:prstGeom prst="rect">
            <a:avLst/>
          </a:prstGeom>
          <a:solidFill>
            <a:srgbClr val="E0AB1A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9" y="2335974"/>
            <a:ext cx="411480" cy="155448"/>
          </a:xfrm>
          <a:prstGeom prst="rect">
            <a:avLst/>
          </a:prstGeom>
          <a:solidFill>
            <a:srgbClr val="52A537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5" y="2335974"/>
            <a:ext cx="411480" cy="155448"/>
          </a:xfrm>
          <a:prstGeom prst="rect">
            <a:avLst/>
          </a:prstGeom>
          <a:solidFill>
            <a:srgbClr val="2691C8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65791" y="2335974"/>
            <a:ext cx="411480" cy="155448"/>
          </a:xfrm>
          <a:prstGeom prst="rect">
            <a:avLst/>
          </a:prstGeom>
          <a:solidFill>
            <a:srgbClr val="828282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베어메탈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59567" y="2335974"/>
            <a:ext cx="411480" cy="155448"/>
          </a:xfrm>
          <a:prstGeom prst="rect">
            <a:avLst/>
          </a:prstGeom>
          <a:solidFill>
            <a:srgbClr val="6DB853"/>
          </a:solidFill>
          <a:ln w="635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40" b="1">
                <a:solidFill>
                  <a:srgbClr val="2D2D2D"/>
                </a:solidFill>
                <a:latin typeface="Malgun Gothic"/>
              </a:rPr>
              <a:t>IaaS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74302"/>
            <a:ext cx="11201400" cy="658368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783271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1) 마케팅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63677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5963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83080" y="28388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마케팅플랫폼WEB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1368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sbmpcoltwb01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8023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054096" y="28937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76956" y="29486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28388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마케팅플랫폼WAS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0225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sbmpcoltws01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588702"/>
            <a:ext cx="11201400" cy="9601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3697671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2) 운영관리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0020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3677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5963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783080" y="37532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단말관리 WEB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sbimxmltwb01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05409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7695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0" y="37532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단말관리 WAS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1868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sbimxmltws01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7141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9427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617720" y="3753294"/>
            <a:ext cx="1069848" cy="182880"/>
          </a:xfrm>
          <a:prstGeom prst="rect">
            <a:avLst/>
          </a:prstGeom>
          <a:solidFill>
            <a:srgbClr val="E0A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단말배포 WEB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7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sbimxdltwb01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5216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88873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1159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35040" y="3753294"/>
            <a:ext cx="1069848" cy="182880"/>
          </a:xfrm>
          <a:prstGeom prst="rect">
            <a:avLst/>
          </a:prstGeom>
          <a:solidFill>
            <a:srgbClr val="52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단말배포 WAS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sbimxdltws01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948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30605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2891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452360" y="37532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단말개발도구 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064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sbimxmltap01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72337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74623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69680" y="37532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소스관리 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8796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sbimsmltap01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04120" y="3716718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140696" y="3808158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163556" y="3863022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287000" y="3753294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마스터솔루션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05288" y="3936954"/>
            <a:ext cx="1069848" cy="153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sbimfwltap01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600200" y="4155630"/>
            <a:ext cx="1298448" cy="365760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636776" y="4247070"/>
            <a:ext cx="128016" cy="201168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659636" y="4301934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783080" y="4192206"/>
            <a:ext cx="1069848" cy="182880"/>
          </a:xfrm>
          <a:prstGeom prst="rect">
            <a:avLst/>
          </a:prstGeom>
          <a:solidFill>
            <a:srgbClr val="EED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90" b="1">
                <a:solidFill>
                  <a:srgbClr val="2D2D2D"/>
                </a:solidFill>
                <a:latin typeface="Malgun Gothic"/>
              </a:rPr>
              <a:t>라이브러리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01368" y="4409722"/>
            <a:ext cx="1069848" cy="861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40" b="1">
                <a:solidFill>
                  <a:srgbClr val="2D2D2D"/>
                </a:solidFill>
                <a:latin typeface="Malgun Gothic"/>
              </a:rPr>
              <a:t>#1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804854"/>
            <a:ext cx="11201400" cy="502920"/>
          </a:xfrm>
          <a:prstGeom prst="rect">
            <a:avLst/>
          </a:prstGeom>
          <a:solidFill>
            <a:srgbClr val="DEECE8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76072" y="4913823"/>
            <a:ext cx="1110996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b="1">
                <a:solidFill>
                  <a:srgbClr val="2D2D2D"/>
                </a:solidFill>
                <a:latin typeface="Malgun Gothic"/>
              </a:rPr>
              <a:t>저장소 / DB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88720" y="4932869"/>
            <a:ext cx="960120" cy="292608"/>
          </a:xfrm>
          <a:prstGeom prst="roundRect">
            <a:avLst/>
          </a:prstGeom>
          <a:solidFill>
            <a:srgbClr val="CDD2D0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>
                <a:solidFill>
                  <a:srgbClr val="2D2D2D"/>
                </a:solidFill>
                <a:latin typeface="Malgun Gothic"/>
              </a:rPr>
              <a:t>정보계</a:t>
            </a:r>
          </a:p>
          <a:p>
            <a:pPr algn="ctr"/>
            <a:r>
              <a:rPr sz="650">
                <a:solidFill>
                  <a:srgbClr val="2D2D2D"/>
                </a:solidFill>
                <a:latin typeface="Malgun Gothic"/>
              </a:rPr>
              <a:t>스토리지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94560" y="4896293"/>
            <a:ext cx="1508760" cy="347472"/>
          </a:xfrm>
          <a:prstGeom prst="roundRect">
            <a:avLst/>
          </a:prstGeom>
          <a:solidFill>
            <a:srgbClr val="6D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231136" y="4987733"/>
            <a:ext cx="128016" cy="182880"/>
          </a:xfrm>
          <a:prstGeom prst="roundRect">
            <a:avLst/>
          </a:prstGeom>
          <a:solidFill>
            <a:srgbClr val="D7E1D7"/>
          </a:solidFill>
          <a:ln w="7620">
            <a:solidFill>
              <a:srgbClr val="5A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253996" y="5042598"/>
            <a:ext cx="82296" cy="64008"/>
          </a:xfrm>
          <a:prstGeom prst="rect">
            <a:avLst/>
          </a:prstGeom>
          <a:solidFill>
            <a:srgbClr val="B4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377440" y="4932869"/>
            <a:ext cx="1280160" cy="182880"/>
          </a:xfrm>
          <a:prstGeom prst="rect">
            <a:avLst/>
          </a:prstGeom>
          <a:solidFill>
            <a:srgbClr val="CD8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450" b="1">
                <a:solidFill>
                  <a:srgbClr val="2D2D2D"/>
                </a:solidFill>
                <a:latin typeface="Malgun Gothic"/>
              </a:rPr>
              <a:t>CRM DB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95728" y="5113542"/>
            <a:ext cx="1280160" cy="14157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#1</a:t>
            </a:r>
          </a:p>
          <a:p>
            <a:pPr algn="l"/>
            <a:r>
              <a:rPr sz="400" b="1">
                <a:solidFill>
                  <a:srgbClr val="2D2D2D"/>
                </a:solidFill>
                <a:latin typeface="Malgun Gothic"/>
              </a:rPr>
              <a:t>sbimfcrdtb01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5175430"/>
            <a:ext cx="457200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00">
                <a:solidFill>
                  <a:srgbClr val="2D2D2D"/>
                </a:solidFill>
                <a:latin typeface="Malgun Gothic"/>
              </a:rPr>
              <a:t>※ 선도장비는 마케팅영역에서 BI포탈까지 포함</a:t>
            </a:r>
          </a:p>
          <a:p>
            <a:pPr algn="l"/>
            <a:r>
              <a:rPr sz="800">
                <a:solidFill>
                  <a:srgbClr val="2D2D2D"/>
                </a:solidFill>
                <a:latin typeface="Malgun Gothic"/>
              </a:rPr>
              <a:t>※ DB는 AS-IS 장비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8640" y="6725094"/>
            <a:ext cx="960120" cy="310896"/>
          </a:xfrm>
          <a:prstGeom prst="roundRect">
            <a:avLst/>
          </a:prstGeom>
          <a:solidFill>
            <a:srgbClr val="007EBE"/>
          </a:solidFill>
          <a:ln>
            <a:solidFill>
              <a:srgbClr val="00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원천 시스템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69164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디지털금융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92608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코어뱅킹 원천DB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6052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코어뱅킹 복제DB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394960" y="6725094"/>
            <a:ext cx="1143000" cy="310896"/>
          </a:xfrm>
          <a:prstGeom prst="roundRect">
            <a:avLst/>
          </a:prstGeom>
          <a:solidFill>
            <a:srgbClr val="EBEBEB"/>
          </a:solidFill>
          <a:ln w="889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00">
                <a:solidFill>
                  <a:srgbClr val="2D2D2D"/>
                </a:solidFill>
                <a:latin typeface="Malgun Gothic"/>
              </a:rPr>
              <a:t>FOS</a:t>
            </a:r>
          </a:p>
        </p:txBody>
      </p:sp>
    </p:spTree>
    <p:extLst>
      <p:ext uri="{BB962C8B-B14F-4D97-AF65-F5344CB8AC3E}">
        <p14:creationId xmlns:p14="http://schemas.microsoft.com/office/powerpoint/2010/main" val="21899463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운영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8774"/>
            <a:ext cx="11247120" cy="384048"/>
          </a:xfrm>
          <a:prstGeom prst="rect">
            <a:avLst/>
          </a:prstGeom>
          <a:solidFill>
            <a:srgbClr val="1D4042"/>
          </a:solidFill>
          <a:ln>
            <a:solidFill>
              <a:srgbClr val="1D4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운영 소프트웨어 구성도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#1,#2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6304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9961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 EBM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형태정보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961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961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8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미니싱글뷰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#1,#2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0545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0545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545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미니싱글뷰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1129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1129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129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8056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실시간처리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#1,#2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1713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1713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실시간처리@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713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713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행동정보처리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#1,#2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29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데이터관리@Master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229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행동정보데이터@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229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29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229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9224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고객행동데이터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#1~#3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2881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2881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2881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 감지엔진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행동정보엔진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2881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2881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49808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BI포탈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#1,#2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3465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3465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53465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BI포탈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3465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3465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50392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BI포탈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4049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54049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4049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BI포탈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BI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4049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4049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50976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신용실적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#1,#2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4633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4633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54633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신용실적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4633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4633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156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5156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신용실적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521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5521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5521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신용실적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521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5521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572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Self-BI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#1,#2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937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Self-BI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6304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46304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Self-BI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49961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49961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49961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Self-BI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9961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9961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6888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46888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Self-BI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0545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50545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50545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0545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0545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7472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47472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비즈메타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/데이터품질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1129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51129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51129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DQMiner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비즈메타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51129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51129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48056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48056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데이터흐름관리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1713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51713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51713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흐름관리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1713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1713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4864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4864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#1~#4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229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5229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55229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229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5229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9224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49224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#1~#4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2881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52881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52881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2881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2881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49808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49808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#1~#6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53465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53465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753465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3465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53465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0392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850392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#1~#6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4049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854049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854049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4049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4049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50976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950976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배치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54633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Spring Batch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54633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Petra Cipher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Client(Oracle)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54633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54633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54633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5156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05156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마스터솔루션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5521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05521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05521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프레임워크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5521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5521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5720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45720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출력물(RD)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#1,#2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9377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49377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49377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Report Design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9377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9377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46304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46304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ETL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#1,#2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49961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Data Stage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49961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49961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49961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49961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46888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246888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CDC 중계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DB #1,#2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50545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OGG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50545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 Safer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50545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250545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50545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UNIX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47472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347472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[임시] 데이터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이행(변환) AP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#1~#6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51129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351129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351129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데이터 변환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51129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51129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48056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448056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[임시]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데이터 이행 AP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#01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51713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451713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451713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데이터 이행@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51713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51713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48640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548640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[임시]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SQL 품질 AP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#01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52297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Open POP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52297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52297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552297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52297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49224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649224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[임시] 데이터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이행 추출 DB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#01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52881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652881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652881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데이터 추출@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52881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52881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UNIX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749808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749808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ADW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어플라이언스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#1~#6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53465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753465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753465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 Safer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53465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53465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50392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850392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RDW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어플라이언스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#1,#2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54049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OGG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54049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 Safer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854049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854049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54049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50976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950976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UNO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Dashboard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954633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954633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954633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54633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54633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469880" y="6331902"/>
            <a:ext cx="320040" cy="640080"/>
          </a:xfrm>
          <a:prstGeom prst="rect">
            <a:avLst/>
          </a:prstGeom>
          <a:solidFill>
            <a:srgbClr val="2D3234"/>
          </a:solidFill>
          <a:ln w="12700"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범</a:t>
            </a:r>
          </a:p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례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853928" y="6431113"/>
            <a:ext cx="914400" cy="44165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•Default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시스템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식별보안◎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백업◎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OS백업◎</a:t>
            </a:r>
          </a:p>
        </p:txBody>
      </p:sp>
    </p:spTree>
    <p:extLst>
      <p:ext uri="{BB962C8B-B14F-4D97-AF65-F5344CB8AC3E}">
        <p14:creationId xmlns:p14="http://schemas.microsoft.com/office/powerpoint/2010/main" val="31466631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DR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8774"/>
            <a:ext cx="11247120" cy="384048"/>
          </a:xfrm>
          <a:prstGeom prst="rect">
            <a:avLst/>
          </a:prstGeom>
          <a:solidFill>
            <a:srgbClr val="1D4042"/>
          </a:solidFill>
          <a:ln>
            <a:solidFill>
              <a:srgbClr val="1D4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DR 소프트웨어 구성도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#51,#52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6304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#51,#52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9961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 EBM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형태정보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961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961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8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미니싱글뷰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#51,#52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0545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0545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545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미니싱글뷰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#51,#52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1129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1129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129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8056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#51~#54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1713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1713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713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713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#51~#54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37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937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6304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46304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#51~#56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9961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49961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49961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9961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9961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46888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#51~#56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0545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50545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545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0545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0545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47472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마스터솔루션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1129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51129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51129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프레임워크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1129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1129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48056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RDW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어플라이언스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#51,#52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1713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OGG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1713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 Safer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1713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51713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1713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469880" y="6331902"/>
            <a:ext cx="320040" cy="640080"/>
          </a:xfrm>
          <a:prstGeom prst="rect">
            <a:avLst/>
          </a:prstGeom>
          <a:solidFill>
            <a:srgbClr val="2D3234"/>
          </a:solidFill>
          <a:ln w="12700"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범</a:t>
            </a:r>
          </a:p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53928" y="6431113"/>
            <a:ext cx="914400" cy="44165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•Default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시스템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식별보안◎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백업◎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OS백업◎</a:t>
            </a:r>
          </a:p>
        </p:txBody>
      </p:sp>
    </p:spTree>
    <p:extLst>
      <p:ext uri="{BB962C8B-B14F-4D97-AF65-F5344CB8AC3E}">
        <p14:creationId xmlns:p14="http://schemas.microsoft.com/office/powerpoint/2010/main" val="41573990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개발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8774"/>
            <a:ext cx="11247120" cy="384048"/>
          </a:xfrm>
          <a:prstGeom prst="rect">
            <a:avLst/>
          </a:prstGeom>
          <a:solidFill>
            <a:srgbClr val="1D4042"/>
          </a:solidFill>
          <a:ln>
            <a:solidFill>
              <a:srgbClr val="1D4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개발 소프트웨어 구성도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6304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9961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 EBM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형태정보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961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961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8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실시간처리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0545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실시간처리@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Spring Boot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0545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JDK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545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행동정보처리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1129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행동정보데이터@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Spring Boot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1129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JDK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129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8056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고객행동데이터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1713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Kafka(Kraft)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1713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JDK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713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713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BI포탈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29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229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229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BI포탈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29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229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9224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BI포탈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2881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2881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2881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BI포탈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2881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2881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49808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Self-BI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3465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3465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53465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Self-BI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3465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3465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50392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Self-BI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4049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54049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4049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Self-BI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4049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4049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50976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Self-BI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4633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4633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54633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Self-BI AP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4633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4633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신용실적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937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37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신용실적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37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6304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46304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신용실적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9961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49961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49961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신용실적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9961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9961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8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46888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비즈메타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/데이터품질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0545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50545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50545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DQMiner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비즈메타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0545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0545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7472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47472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데이터흐름관리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1129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51129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51129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흐름관리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1129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51129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8056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48056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451713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51713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1713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1713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4864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5229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55229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5229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229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5229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49224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49224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2881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52881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652881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2881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2881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9808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49808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53465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53465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53465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53465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3465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50392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850392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단말개발도구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4049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54049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854049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WebSquareStudio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54049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4049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50976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950976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배치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4633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Spring Batch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4633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Petra Cipher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Client(Oracle)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54633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54633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54633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5720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5720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출력물(RD)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9377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49377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49377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Report Design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9377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9377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46304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46304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ETL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49961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Data Stage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49961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Control-M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49961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49961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49961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46888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246888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소스관리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50545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50545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250545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GitLab Runner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GitLab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50545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50545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7472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347472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SQL품질/이행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 (임시)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51129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SQL Canvas@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51129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SQL Canvas Adaptor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Open POP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51129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 Client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51129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51129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48056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448056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UNO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Dashboard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1713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451713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451713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UNO Dashboard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1713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51713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48640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548640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RDW/ADW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어플라이언스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#1,#2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52297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OGG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52297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 Safer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52297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52297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52297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49224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649224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마스터솔루션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52881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652881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652881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프레임워크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52881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52881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498080" y="5088318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7498080" y="5088318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라이브러리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534656" y="549065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7534656" y="5588494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7534656" y="5686335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NEXUS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534656" y="578417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534656" y="5947854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469880" y="6331902"/>
            <a:ext cx="320040" cy="640080"/>
          </a:xfrm>
          <a:prstGeom prst="rect">
            <a:avLst/>
          </a:prstGeom>
          <a:solidFill>
            <a:srgbClr val="2D3234"/>
          </a:solidFill>
          <a:ln w="12700"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범</a:t>
            </a:r>
          </a:p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례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853928" y="6431113"/>
            <a:ext cx="914400" cy="44165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•Default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시스템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식별보안◎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백업◎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OS백업◎</a:t>
            </a:r>
          </a:p>
        </p:txBody>
      </p:sp>
    </p:spTree>
    <p:extLst>
      <p:ext uri="{BB962C8B-B14F-4D97-AF65-F5344CB8AC3E}">
        <p14:creationId xmlns:p14="http://schemas.microsoft.com/office/powerpoint/2010/main" val="212054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46526"/>
            <a:ext cx="77724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600" b="1">
                <a:solidFill>
                  <a:srgbClr val="3A3A3A"/>
                </a:solidFill>
                <a:latin typeface="Malgun Gothic"/>
              </a:rPr>
              <a:t>선도환경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654894"/>
            <a:ext cx="201168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865206"/>
            <a:ext cx="2194560" cy="1800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050">
                <a:solidFill>
                  <a:srgbClr val="2D2D2D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4454"/>
            <a:ext cx="868680" cy="32004"/>
          </a:xfrm>
          <a:prstGeom prst="rect">
            <a:avLst/>
          </a:prstGeom>
          <a:solidFill>
            <a:srgbClr val="3958A4"/>
          </a:solidFill>
          <a:ln>
            <a:solidFill>
              <a:srgbClr val="39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604454"/>
            <a:ext cx="384048" cy="32004"/>
          </a:xfrm>
          <a:prstGeom prst="rect">
            <a:avLst/>
          </a:prstGeom>
          <a:solidFill>
            <a:srgbClr val="A0C846"/>
          </a:solidFill>
          <a:ln>
            <a:solidFill>
              <a:srgbClr val="A0C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52728" y="1604454"/>
            <a:ext cx="10936224" cy="32004"/>
          </a:xfrm>
          <a:prstGeom prst="rect">
            <a:avLst/>
          </a:prstGeom>
          <a:solidFill>
            <a:srgbClr val="288947"/>
          </a:solidFill>
          <a:ln>
            <a:solidFill>
              <a:srgbClr val="288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78774"/>
            <a:ext cx="11247120" cy="384048"/>
          </a:xfrm>
          <a:prstGeom prst="rect">
            <a:avLst/>
          </a:prstGeom>
          <a:solidFill>
            <a:srgbClr val="1D4042"/>
          </a:solidFill>
          <a:ln>
            <a:solidFill>
              <a:srgbClr val="1D4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선도개발 소프트웨어 구성도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6304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9961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실시간 EBM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형태정보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961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961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8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0545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0545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545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1129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1129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 Manager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WebTop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129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8056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WEB #1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1713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1713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713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713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2491422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0" y="2491422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단말배포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WAS #1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2976" y="289375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22976" y="299159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22976" y="3089439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EdgeSquare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2976" y="3187280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22976" y="3350958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단말개발도구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9377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9377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WebSquareStudio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4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46304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소스관리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AP #1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9961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49961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49961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GitLab Runner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GitLab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9961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9961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46888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CRM DB #1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0545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50545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 Safer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DBMS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0545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50545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0545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UNIX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7472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47472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마스터솔루션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1129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51129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51129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프레임워크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WEB</a:t>
            </a:r>
          </a:p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WAS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1129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1129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80560" y="3789870"/>
            <a:ext cx="932688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480560" y="3789870"/>
            <a:ext cx="932688" cy="384048"/>
          </a:xfrm>
          <a:prstGeom prst="rect">
            <a:avLst/>
          </a:prstGeom>
          <a:solidFill>
            <a:srgbClr val="1D656C"/>
          </a:solidFill>
          <a:ln>
            <a:solidFill>
              <a:srgbClr val="1D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라이브러리</a:t>
            </a:r>
          </a:p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#1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17136" y="419220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517136" y="4290046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17136" y="4387887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NEXUS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17136" y="4485728"/>
            <a:ext cx="859536" cy="84124"/>
          </a:xfrm>
          <a:prstGeom prst="rect">
            <a:avLst/>
          </a:prstGeom>
          <a:solidFill>
            <a:srgbClr val="EEEEEE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80">
                <a:solidFill>
                  <a:srgbClr val="2D2D2D"/>
                </a:solidFill>
                <a:latin typeface="Malgun Gothic"/>
              </a:rPr>
              <a:t>• Default S/W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17136" y="4649406"/>
            <a:ext cx="859536" cy="219456"/>
          </a:xfrm>
          <a:prstGeom prst="rect">
            <a:avLst/>
          </a:prstGeom>
          <a:solidFill>
            <a:srgbClr val="2D3234"/>
          </a:solidFill>
          <a:ln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490">
                <a:solidFill>
                  <a:srgbClr val="FFFFFF"/>
                </a:solidFill>
                <a:latin typeface="Malgun Gothic"/>
              </a:rPr>
              <a:t>Linux (RHEL9)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" y="5639339"/>
            <a:ext cx="5029200" cy="2954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00" dirty="0">
                <a:solidFill>
                  <a:srgbClr val="2D2D2D"/>
                </a:solidFill>
                <a:latin typeface="Malgun Gothic"/>
              </a:rPr>
              <a:t>※ </a:t>
            </a:r>
            <a:r>
              <a:rPr sz="900" dirty="0" err="1">
                <a:solidFill>
                  <a:srgbClr val="2D2D2D"/>
                </a:solidFill>
                <a:latin typeface="Malgun Gothic"/>
              </a:rPr>
              <a:t>선도장비는</a:t>
            </a:r>
            <a:r>
              <a:rPr sz="900" dirty="0">
                <a:solidFill>
                  <a:srgbClr val="2D2D2D"/>
                </a:solidFill>
                <a:latin typeface="Malgun Gothic"/>
              </a:rPr>
              <a:t> </a:t>
            </a:r>
            <a:r>
              <a:rPr sz="900" dirty="0" err="1">
                <a:solidFill>
                  <a:srgbClr val="2D2D2D"/>
                </a:solidFill>
                <a:latin typeface="Malgun Gothic"/>
              </a:rPr>
              <a:t>마케팅영역에서</a:t>
            </a:r>
            <a:r>
              <a:rPr sz="900" dirty="0">
                <a:solidFill>
                  <a:srgbClr val="2D2D2D"/>
                </a:solidFill>
                <a:latin typeface="Malgun Gothic"/>
              </a:rPr>
              <a:t> </a:t>
            </a:r>
            <a:r>
              <a:rPr sz="900" dirty="0" err="1">
                <a:solidFill>
                  <a:srgbClr val="2D2D2D"/>
                </a:solidFill>
                <a:latin typeface="Malgun Gothic"/>
              </a:rPr>
              <a:t>BI포탈까지</a:t>
            </a:r>
            <a:r>
              <a:rPr sz="900" dirty="0">
                <a:solidFill>
                  <a:srgbClr val="2D2D2D"/>
                </a:solidFill>
                <a:latin typeface="Malgun Gothic"/>
              </a:rPr>
              <a:t> </a:t>
            </a:r>
            <a:r>
              <a:rPr sz="900" dirty="0" err="1">
                <a:solidFill>
                  <a:srgbClr val="2D2D2D"/>
                </a:solidFill>
                <a:latin typeface="Malgun Gothic"/>
              </a:rPr>
              <a:t>포함</a:t>
            </a:r>
            <a:endParaRPr sz="900" dirty="0">
              <a:solidFill>
                <a:srgbClr val="2D2D2D"/>
              </a:solidFill>
              <a:latin typeface="Malgun Gothic"/>
            </a:endParaRPr>
          </a:p>
          <a:p>
            <a:pPr algn="l"/>
            <a:r>
              <a:rPr sz="900" dirty="0">
                <a:solidFill>
                  <a:srgbClr val="2D2D2D"/>
                </a:solidFill>
                <a:latin typeface="Malgun Gothic"/>
              </a:rPr>
              <a:t>※ </a:t>
            </a:r>
            <a:r>
              <a:rPr sz="900" dirty="0" err="1">
                <a:solidFill>
                  <a:srgbClr val="2D2D2D"/>
                </a:solidFill>
                <a:latin typeface="Malgun Gothic"/>
              </a:rPr>
              <a:t>DB는</a:t>
            </a:r>
            <a:r>
              <a:rPr sz="900" dirty="0">
                <a:solidFill>
                  <a:srgbClr val="2D2D2D"/>
                </a:solidFill>
                <a:latin typeface="Malgun Gothic"/>
              </a:rPr>
              <a:t> AS-IS </a:t>
            </a:r>
            <a:r>
              <a:rPr sz="900" dirty="0" err="1">
                <a:solidFill>
                  <a:srgbClr val="2D2D2D"/>
                </a:solidFill>
                <a:latin typeface="Malgun Gothic"/>
              </a:rPr>
              <a:t>장비</a:t>
            </a:r>
            <a:endParaRPr sz="900" dirty="0">
              <a:solidFill>
                <a:srgbClr val="2D2D2D"/>
              </a:solidFill>
              <a:latin typeface="Malgun Gothic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0469880" y="6331902"/>
            <a:ext cx="320040" cy="640080"/>
          </a:xfrm>
          <a:prstGeom prst="rect">
            <a:avLst/>
          </a:prstGeom>
          <a:solidFill>
            <a:srgbClr val="2D3234"/>
          </a:solidFill>
          <a:ln w="12700">
            <a:solidFill>
              <a:srgbClr val="2D3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범</a:t>
            </a:r>
          </a:p>
          <a:p>
            <a:pPr algn="ctr"/>
            <a:r>
              <a:rPr sz="600">
                <a:solidFill>
                  <a:srgbClr val="FFFFFF"/>
                </a:solidFill>
                <a:latin typeface="Malgun Gothic"/>
              </a:rPr>
              <a:t>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53928" y="6431113"/>
            <a:ext cx="914400" cy="44165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•Default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시스템 S/W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식별보안◎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백업◎</a:t>
            </a:r>
          </a:p>
          <a:p>
            <a:pPr algn="l"/>
            <a:r>
              <a:rPr sz="550">
                <a:solidFill>
                  <a:srgbClr val="2D2D2D"/>
                </a:solidFill>
                <a:latin typeface="Malgun Gothic"/>
              </a:rPr>
              <a:t>OS백업◎</a:t>
            </a:r>
          </a:p>
        </p:txBody>
      </p:sp>
    </p:spTree>
    <p:extLst>
      <p:ext uri="{BB962C8B-B14F-4D97-AF65-F5344CB8AC3E}">
        <p14:creationId xmlns:p14="http://schemas.microsoft.com/office/powerpoint/2010/main" val="40844105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234551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운영 환경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380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6310" y="844164"/>
            <a:ext cx="14366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7294"/>
            <a:ext cx="11064240" cy="393192"/>
          </a:xfrm>
          <a:prstGeom prst="rect">
            <a:avLst/>
          </a:prstGeom>
          <a:solidFill>
            <a:srgbClr val="244C40"/>
          </a:solidFill>
          <a:ln>
            <a:solidFill>
              <a:srgbClr val="24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운영 환경 구성내역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006790"/>
          <a:ext cx="10863072" cy="8403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09996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운영구분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센터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제조사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 Type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Hostname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서버명(한글)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CPU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(Core)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MEM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 Disk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추가 Disk (GB)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  <a:endParaRPr sz="600" b="0" dirty="0">
                        <a:solidFill>
                          <a:srgbClr val="282828"/>
                        </a:solidFill>
                        <a:latin typeface="Malgun Gothic"/>
                      </a:endParaRP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sbmpcolowb01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WEB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48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sbmpcolowb02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WEB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48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sbmpcolows01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WAS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sbmpcolows02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WAS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sbmpmslowb01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WEB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sbmpmslowb02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WEB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sbmpmslows01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WAS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sbmpmslows02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WAS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sbmpeploap01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실시간 처리 AP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sbmpeploap02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실시간 처리 AP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sbmpbploap01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행동정보 처리 AP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sbmpbploap02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행동정보 처리 AP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sbmpbdloap01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고객 행동 데이터 AP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sbmpbdloap02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고객 행동 데이터 AP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sbmpbdloap03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고객 행동 데이터 AP #03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sbbiptlowb01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BI 포탈 WEB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sbbiptlowb02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BI 포탈 WEB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sbbiptlows01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BI 포탈 WAS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sbbiptlows02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BI 포탈 WAS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sbbicrlowb01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신용 실적 WEB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sbbicrlowb02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신용 실적 WEB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sbbicrlows01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신용 실적 WAS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48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sbbicrlows02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신용 실적 WAS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48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sbbisblowb01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Self-BI WEB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sbbisblowb02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Self-BI WEB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sbbisblows01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Self-BI WAS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sbbisblows02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Self-BI WAS #02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AUD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73747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sbbisbloap01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Self-BI AP #01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512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TRINITY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3333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234551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운영 환경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380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6310" y="844164"/>
            <a:ext cx="14366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7294"/>
            <a:ext cx="11064240" cy="393192"/>
          </a:xfrm>
          <a:prstGeom prst="rect">
            <a:avLst/>
          </a:prstGeom>
          <a:solidFill>
            <a:srgbClr val="244C40"/>
          </a:solidFill>
          <a:ln>
            <a:solidFill>
              <a:srgbClr val="24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운영 환경 구성내역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006790"/>
          <a:ext cx="10863072" cy="715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운영구분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센터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제조사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 Type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Hostname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서버명(한글)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CPU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(Core)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MEM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 Disk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추가 Disk 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sbdgdqlows01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비즈메타/데이터품질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sbdgdqlows02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비즈메타/데이터품질 WAS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sbdgdlows01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데이터흐름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1,536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sbimxmlowb03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sbimxmlowb04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sbimxmlows02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sbimxmlows03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sbimxmlows04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sbimxdlowb03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sbimxdlowb04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sbimxdlowb05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sbimxdlowb06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sbimxdlows02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sbimxdlows03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sbimxdlows04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sbimxdlows05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9616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sbimxdlows06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5970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234551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운영 환경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380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6310" y="844164"/>
            <a:ext cx="14366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7294"/>
            <a:ext cx="11064240" cy="393192"/>
          </a:xfrm>
          <a:prstGeom prst="rect">
            <a:avLst/>
          </a:prstGeom>
          <a:solidFill>
            <a:srgbClr val="244C40"/>
          </a:solidFill>
          <a:ln>
            <a:solidFill>
              <a:srgbClr val="24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운영 환경 구성내역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006790"/>
          <a:ext cx="10863072" cy="703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5551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운영구분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센터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제조사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 Type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Hostname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서버명(한글)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CPU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(Core)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MEM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 Disk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추가 Disk 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sbimbjloap01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배치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sbimcdloap01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UNO Dashboard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OGG 모니터링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sbimrdlows01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출력물(RD)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sbimrdlows02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출력물(RD) WAS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sbimfwloap01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마스터솔루션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IBM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UNIX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단독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sbimdtlotl01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ETL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512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IBM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UNIX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단독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sbimdtlotl02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ETL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512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IBM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UNIX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단독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sbimcdiodb01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CDC 중계 DB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800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IBM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UNIX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단독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sbimcdiodb02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CDC 중계 DB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800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sbrdcoxodb01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96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249,856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Quarter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sbrdcoxodb02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96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249,856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Quarter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sbadcoxodb01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ADW 어플라이언스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3,072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1,073,152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Full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sbadcoxodb02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ADW 어플라이언스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3,072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1,073,152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Full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sbadcoxodb03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ADW 어플라이언스 #03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3,072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1,073,152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Full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sbadcoxodb04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ADW 어플라이언스 #04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3,072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1,073,152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Full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sbadcoxodb05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ADW 어플라이언스 #05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3,072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1,073,152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Full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sbadcoxodb06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ADW 어플라이언스 #06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384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3,072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1,073,152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Full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변환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변환 AP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690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변환 AP #03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변환 AP #04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변환 AP #05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변환 AP #06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640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sbimsiloap07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400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sbimsiloap08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SQL 품질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90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6514"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UNIX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단독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이행용 임시장비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[임시] 데이터 이행 추출 DB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128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9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1813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134043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DR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380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6310" y="844164"/>
            <a:ext cx="14366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7294"/>
            <a:ext cx="11064240" cy="393192"/>
          </a:xfrm>
          <a:prstGeom prst="rect">
            <a:avLst/>
          </a:prstGeom>
          <a:solidFill>
            <a:srgbClr val="244C40"/>
          </a:solidFill>
          <a:ln>
            <a:solidFill>
              <a:srgbClr val="24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DR 환경 구성내역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006790"/>
          <a:ext cx="10863072" cy="9554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90309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운영구분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센터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제조사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 Type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Hostname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서버명(한글)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CPU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(Core)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MEM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 Disk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추가 Disk 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sbmpcolowb51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WEB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sbmpcolowb52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WEB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sbmpcolows51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WAS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sbmpcolows52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WAS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sbmpmslowb51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WEB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sbmpmslowb52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WEB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sbmpmslows51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WAS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sbmpmslows52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WAS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sbimxmlowb51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sbimxmlowb52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sbimxmlowb53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sbimxmlowb54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sbimxmlows51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sbimxmlows52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sbimxmlows53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sbimxmlows54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sbimxdlowb51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sbimxdlowb52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sbimxdlowb53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sbimxdlowb54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sbimxdlowb55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#55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sbimxdlowb56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#56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sbimxdlows51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sbimxdlows52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sbimxdlows53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#53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sbimxdlows54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#54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sbimxdlows55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#55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sbimxdlows56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#56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sbimfwloap51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마스터솔루션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sbrdcoxodb51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#51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96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249,856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7568"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안성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sbrdcoxodb52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#52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96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80" b="0">
                          <a:solidFill>
                            <a:srgbClr val="282828"/>
                          </a:solidFill>
                          <a:latin typeface="Malgun Gothic"/>
                        </a:rPr>
                        <a:t>249,856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3877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152477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개발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380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6310" y="844164"/>
            <a:ext cx="14366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7294"/>
            <a:ext cx="11064240" cy="393192"/>
          </a:xfrm>
          <a:prstGeom prst="rect">
            <a:avLst/>
          </a:prstGeom>
          <a:solidFill>
            <a:srgbClr val="244C40"/>
          </a:solidFill>
          <a:ln>
            <a:solidFill>
              <a:srgbClr val="24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개발 환경 구성내역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006791"/>
          <a:ext cx="10863072" cy="7769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02996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운영구분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센터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제조사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 Type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Hostname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서버명(한글)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CPU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(Core)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MEM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 Disk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추가 Disk 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sbmpcoltwb01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통합구성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sbmpcoltws01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sbmpepltap01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실시간처리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sbmpbpltap01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행동정보 처리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sbmpbdltap01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고객행동 데이터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1,024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sbbiptlwb01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BI 포탈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sbbiptlws01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BI 포탈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sbbicrltwb01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신용 실적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170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sbbicrltws01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신용 실적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170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sbbisbltwb01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Self-BI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sbbisbltws01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Self-BI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AUD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신BI포탈시스템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sbbisbltap01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Self-BI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TRINITY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sbdgdqltws01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비즈메타/데이터품질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sbdgdltws01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데이터흐름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sbimxmltwb01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sbimxmltws01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sbimxdltwb01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sbimxdltws01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sbimxmltap01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단말개발도구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sbimbjltap01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배치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96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sbimrdltws01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출력물(RD)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sbimdtltl01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ETL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1,000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sbimsmltap01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소스관리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배포관리와 통합 구성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sbimfwtap01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마스터솔루션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미들웨어팀 요청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라이브러리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AS-IS Nexus 사용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sbimcdltap01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UNO Dashboard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OGG 모니터링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sbimsiltap01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SQL 품질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sbrdcoxtdb01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768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124,928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Eighth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7997"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sbrdcoxtdb02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48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768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124,928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60" b="0">
                          <a:solidFill>
                            <a:srgbClr val="282828"/>
                          </a:solidFill>
                          <a:latin typeface="Malgun Gothic"/>
                        </a:rPr>
                        <a:t>Eighth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4733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152477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선도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380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6310" y="844164"/>
            <a:ext cx="14366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7294"/>
            <a:ext cx="11064240" cy="393192"/>
          </a:xfrm>
          <a:prstGeom prst="rect">
            <a:avLst/>
          </a:prstGeom>
          <a:solidFill>
            <a:srgbClr val="244C40"/>
          </a:solidFill>
          <a:ln>
            <a:solidFill>
              <a:srgbClr val="24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선도 환경 구성내역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006790"/>
          <a:ext cx="1086307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운영구분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센터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제조사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 Type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Hostname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서버명(한글)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CPU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(Core)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MEM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OS Disk</a:t>
                      </a:r>
                    </a:p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추가 Disk (GB)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sbmpcoltwb01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미니싱글뷰 통합구성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sbmpcoltws01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256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단말관리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sbimxdltwb01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WEB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sbimxdltws01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단말배포 WAS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110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sbimxmltap01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단말개발도구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sbimsmltap01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소스관리 AP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32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배포관리와 통합 구성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sbimfwtap01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마스터솔루션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64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250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100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미들웨어팀 요청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x86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IaaS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IT 서비스 및 업무지원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라이브러리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AS-IS Nexus 사용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sbrdcoxtdb01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#01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768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124,928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Eighth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선도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의왕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데이터플랫폼 시스템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sbrdcoxtdb02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RDW 어플라이언스 #02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DB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48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768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124,928 GB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82828"/>
                          </a:solidFill>
                          <a:latin typeface="Malgun Gothic"/>
                        </a:rPr>
                        <a:t>Eighth Rack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6842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92979"/>
            <a:ext cx="244810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82828"/>
                </a:solidFill>
                <a:latin typeface="Malgun Gothic"/>
              </a:rPr>
              <a:t>소프트웨어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78080" y="642996"/>
            <a:ext cx="170912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 물리 기술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96700" y="844164"/>
            <a:ext cx="1590500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82828"/>
                </a:solidFill>
                <a:latin typeface="Malgun Gothic"/>
              </a:rPr>
              <a:t>3.4 소프트웨어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93558"/>
            <a:ext cx="1078992" cy="36576"/>
          </a:xfrm>
          <a:prstGeom prst="rect">
            <a:avLst/>
          </a:prstGeom>
          <a:solidFill>
            <a:srgbClr val="386899"/>
          </a:solidFill>
          <a:ln>
            <a:solidFill>
              <a:srgbClr val="386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293558"/>
            <a:ext cx="10927080" cy="36576"/>
          </a:xfrm>
          <a:prstGeom prst="rect">
            <a:avLst/>
          </a:prstGeom>
          <a:solidFill>
            <a:srgbClr val="41815F"/>
          </a:solidFill>
          <a:ln>
            <a:solidFill>
              <a:srgbClr val="418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9" y="1439527"/>
            <a:ext cx="7675499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>
                <a:solidFill>
                  <a:srgbClr val="282828"/>
                </a:solidFill>
                <a:latin typeface="Malgun Gothic"/>
              </a:rPr>
              <a:t>정보계 차세대 시스템 운영 환경 구성을 위한 S/W목록(17종) 및 버전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2061654"/>
          <a:ext cx="9756648" cy="60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308">
                <a:tc rowSpan="2"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282828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282828"/>
                          </a:solidFill>
                          <a:latin typeface="Malgun Gothic"/>
                        </a:rPr>
                        <a:t>IaaS 서버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1EB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282828"/>
                          </a:solidFill>
                          <a:latin typeface="Malgun Gothic"/>
                        </a:rPr>
                        <a:t>물리 서버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1EB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282828"/>
                          </a:solidFill>
                          <a:latin typeface="Malgun Gothic"/>
                        </a:rPr>
                        <a:t>어플라이언스 서버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1EB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282828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3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82828"/>
                          </a:solidFill>
                          <a:latin typeface="Malgun Gothic"/>
                        </a:rPr>
                        <a:t>제품명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82828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82828"/>
                          </a:solidFill>
                          <a:latin typeface="Malgun Gothic"/>
                        </a:rPr>
                        <a:t>제품명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82828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82828"/>
                          </a:solidFill>
                          <a:latin typeface="Malgun Gothic"/>
                        </a:rPr>
                        <a:t>제품명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82828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25400" marR="25400" marT="12700" marB="12700" anchor="ctr">
                    <a:solidFill>
                      <a:srgbClr val="E1EB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1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O/S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Redhat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9.4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AIX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7.X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Oracle Linux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구성점검 제외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JAVA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JDK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구성점검 제외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Tomcat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F/W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NH F/W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DBMS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Oracle 21Ai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Appliance 서버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단말UI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WebTopSuite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데이터품질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DQ Miner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비즈메타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Meta Miner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데이터흐름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Data Hawk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CDC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Oracle Golden Gate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BI 포탈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BI Matrix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Kafka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4.X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Datastage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Datastage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개발(IaaS) / 운영(물리)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소스관리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Gitlab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배포관리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Gitlab Runner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보고서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SQL품질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OpenPOP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308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SQL Canvas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8282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0193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77235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30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0120" y="1668462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en-US" sz="2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아키텍처 정의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2089086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 개요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436558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어플리케이션 분류 체계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784030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데이터 주제영역 정의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31502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 시스템 아키텍처 구성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478974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en-US" sz="2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논리 기술 아키텍처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899598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전사 IT Zone 기반 구성 기준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247070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시스템 노드 정의 및 식별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594542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기술 컴포넌트 정의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942014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논리 기술 아키텍처 정의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289486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en-US" sz="2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물리 인프라 아키텍처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5710110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하드웨어 구성도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6057582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소프트웨어 구성도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6405054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하드웨어 목록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6752526"/>
            <a:ext cx="4846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소프트웨어 목록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1622742"/>
            <a:ext cx="5532120" cy="393192"/>
          </a:xfrm>
          <a:prstGeom prst="rect">
            <a:avLst/>
          </a:prstGeom>
          <a:solidFill>
            <a:srgbClr val="C9DBD5"/>
          </a:solidFill>
          <a:ln w="12700">
            <a:solidFill>
              <a:srgbClr val="C9D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668462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en-US" sz="2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데이터베이스 아키텍처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2089086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DB 아키텍처 구성도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436558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 DB 이중화 구성도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784030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 OGG 구성도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3131502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4.4 OLTP 및 대용량 배치 수행 방안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3478974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en-US" sz="2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시스템 표준 정의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29400" y="3899598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 서버 호스트 명명규칙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4247070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 파일 시스템 구성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4594542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 사용자 계정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4942014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5.4 서비스 포트 현황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5289486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en-US" sz="2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인터페이스 아키텍처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29400" y="5710110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 인터페이스 표준 정의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6057582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 인터페이스 구성도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48458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690054"/>
            <a:ext cx="5303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5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아키텍처 구성도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0" y="1311846"/>
            <a:ext cx="1143000" cy="36576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11846"/>
            <a:ext cx="11155680" cy="36576"/>
          </a:xfrm>
          <a:prstGeom prst="rect">
            <a:avLst/>
          </a:prstGeom>
          <a:solidFill>
            <a:srgbClr val="58A15B"/>
          </a:solidFill>
          <a:ln w="12700">
            <a:solidFill>
              <a:srgbClr val="58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21574"/>
            <a:ext cx="7315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RDW, ADW는 EXADATA RAC 각 1식 이중화 구성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" y="2061654"/>
            <a:ext cx="11338560" cy="320040"/>
          </a:xfrm>
          <a:prstGeom prst="rect">
            <a:avLst/>
          </a:prstGeom>
          <a:solidFill>
            <a:srgbClr val="2F7D54"/>
          </a:solidFill>
          <a:ln w="12700">
            <a:solidFill>
              <a:srgbClr val="2F7D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061654"/>
            <a:ext cx="113385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아키텍처 구성도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99982"/>
            <a:ext cx="822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674302"/>
            <a:ext cx="685800" cy="384048"/>
          </a:xfrm>
          <a:prstGeom prst="can">
            <a:avLst/>
          </a:prstGeom>
          <a:solidFill>
            <a:srgbClr val="EDF1EF">
              <a:alpha val="9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65742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뱅킹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6072" y="3332670"/>
            <a:ext cx="685800" cy="384048"/>
          </a:xfrm>
          <a:prstGeom prst="can">
            <a:avLst/>
          </a:prstGeom>
          <a:solidFill>
            <a:srgbClr val="EDF1EF">
              <a:alpha val="9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424110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뱅킹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" y="3991038"/>
            <a:ext cx="685800" cy="384048"/>
          </a:xfrm>
          <a:prstGeom prst="can">
            <a:avLst/>
          </a:prstGeom>
          <a:solidFill>
            <a:srgbClr val="EDF1EF">
              <a:alpha val="9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082478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6072" y="4649406"/>
            <a:ext cx="685800" cy="384048"/>
          </a:xfrm>
          <a:prstGeom prst="can">
            <a:avLst/>
          </a:prstGeom>
          <a:solidFill>
            <a:srgbClr val="EDF1EF">
              <a:alpha val="9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740846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연계업무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352" y="5646102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비대면채널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5975286"/>
            <a:ext cx="685800" cy="384048"/>
          </a:xfrm>
          <a:prstGeom prst="can">
            <a:avLst/>
          </a:prstGeom>
          <a:solidFill>
            <a:srgbClr val="EDF1EF">
              <a:alpha val="8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066726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인터넷뱅킹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4360" y="6542214"/>
            <a:ext cx="685800" cy="384048"/>
          </a:xfrm>
          <a:prstGeom prst="can">
            <a:avLst/>
          </a:prstGeom>
          <a:solidFill>
            <a:srgbClr val="EDF1EF">
              <a:alpha val="8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633654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스마트뱅킹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481328" y="3268662"/>
            <a:ext cx="384048" cy="475488"/>
          </a:xfrm>
          <a:prstGeom prst="rect">
            <a:avLst/>
          </a:prstGeom>
          <a:solidFill>
            <a:srgbClr val="44504B"/>
          </a:solidFill>
          <a:ln w="12700">
            <a:solidFill>
              <a:srgbClr val="4450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9616" y="3268662"/>
            <a:ext cx="34747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700" dirty="0"/>
          </a:p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57400" y="2537142"/>
            <a:ext cx="3566160" cy="4251960"/>
          </a:xfrm>
          <a:prstGeom prst="can">
            <a:avLst/>
          </a:prstGeom>
          <a:solidFill>
            <a:srgbClr val="EFF2F1">
              <a:alpha val="92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628582"/>
            <a:ext cx="3474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57984" y="3158934"/>
            <a:ext cx="3364992" cy="3063240"/>
          </a:xfrm>
          <a:prstGeom prst="rect">
            <a:avLst/>
          </a:prstGeom>
          <a:solidFill>
            <a:srgbClr val="EAF4F2"/>
          </a:solidFill>
          <a:ln w="12700">
            <a:solidFill>
              <a:srgbClr val="6573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31136" y="3222942"/>
            <a:ext cx="3218688" cy="274320"/>
          </a:xfrm>
          <a:prstGeom prst="rect">
            <a:avLst/>
          </a:prstGeom>
          <a:solidFill>
            <a:srgbClr val="CFE4E1"/>
          </a:solidFill>
          <a:ln w="12700">
            <a:solidFill>
              <a:srgbClr val="8FA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3222942"/>
            <a:ext cx="318211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데이터플랫폼 RDW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59152" y="3616134"/>
            <a:ext cx="13258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97A0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616134"/>
            <a:ext cx="128930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실시간SoR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22192" y="3506406"/>
            <a:ext cx="1508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A0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506406"/>
            <a:ext cx="147218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준실시간요약집계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준실시간보고서마트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49424" y="4274502"/>
            <a:ext cx="3182112" cy="274320"/>
          </a:xfrm>
          <a:prstGeom prst="rect">
            <a:avLst/>
          </a:prstGeom>
          <a:solidFill>
            <a:srgbClr val="CFE4E1"/>
          </a:solidFill>
          <a:ln w="12700">
            <a:solidFill>
              <a:srgbClr val="8FA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7712" y="4274502"/>
            <a:ext cx="314553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마케팅플랫폼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95728" y="4658550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4658550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3813048" y="4658550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1336" y="4658550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통합고객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2395728" y="4878006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14016" y="4878006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개인고객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3813048" y="4878006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1336" y="4878006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기업고객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2395728" y="5097462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14016" y="5097462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미니싱글뷰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3813048" y="5097462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31336" y="5097462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상담판매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2395728" y="5316918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14016" y="5316918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통합상품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3813048" y="5316918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1336" y="5316918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2395728" y="5536374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14016" y="5536374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EBM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3813048" y="5536374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1336" y="5536374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실시간처리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2395728" y="5755830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14016" y="5755830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행동정보처리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3813048" y="5755830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31336" y="5755830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고객행동데이터</a:t>
            </a:r>
            <a:endParaRPr lang="en-US" sz="660" dirty="0"/>
          </a:p>
        </p:txBody>
      </p:sp>
      <p:sp>
        <p:nvSpPr>
          <p:cNvPr id="59" name="Shape 57"/>
          <p:cNvSpPr/>
          <p:nvPr/>
        </p:nvSpPr>
        <p:spPr>
          <a:xfrm>
            <a:off x="2395728" y="5975286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14016" y="5975286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영업지원</a:t>
            </a:r>
            <a:endParaRPr lang="en-US" sz="660" dirty="0"/>
          </a:p>
        </p:txBody>
      </p:sp>
      <p:sp>
        <p:nvSpPr>
          <p:cNvPr id="61" name="Shape 59"/>
          <p:cNvSpPr/>
          <p:nvPr/>
        </p:nvSpPr>
        <p:spPr>
          <a:xfrm>
            <a:off x="3813048" y="5975286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31336" y="5975286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</a:t>
            </a:r>
            <a:endParaRPr lang="en-US" sz="660" dirty="0"/>
          </a:p>
        </p:txBody>
      </p:sp>
      <p:sp>
        <p:nvSpPr>
          <p:cNvPr id="63" name="Shape 61"/>
          <p:cNvSpPr/>
          <p:nvPr/>
        </p:nvSpPr>
        <p:spPr>
          <a:xfrm>
            <a:off x="2395728" y="6194742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14016" y="6194742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3813048" y="6194742"/>
            <a:ext cx="1280160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31336" y="6194742"/>
            <a:ext cx="124358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1261872" y="3451542"/>
            <a:ext cx="777240" cy="320040"/>
          </a:xfrm>
          <a:prstGeom prst="line">
            <a:avLst/>
          </a:prstGeom>
          <a:noFill/>
          <a:ln w="11430">
            <a:solidFill>
              <a:srgbClr val="59635E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261872" y="4768278"/>
            <a:ext cx="777240" cy="82296"/>
          </a:xfrm>
          <a:prstGeom prst="line">
            <a:avLst/>
          </a:prstGeom>
          <a:noFill/>
          <a:ln w="11430">
            <a:solidFill>
              <a:srgbClr val="59635E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961888" y="2537142"/>
            <a:ext cx="5257800" cy="4251960"/>
          </a:xfrm>
          <a:prstGeom prst="can">
            <a:avLst/>
          </a:prstGeom>
          <a:solidFill>
            <a:srgbClr val="EFF2F1">
              <a:alpha val="92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07608" y="2628582"/>
            <a:ext cx="5166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080760" y="3131502"/>
            <a:ext cx="5010912" cy="3154680"/>
          </a:xfrm>
          <a:prstGeom prst="rect">
            <a:avLst/>
          </a:prstGeom>
          <a:solidFill>
            <a:srgbClr val="EAF4F2"/>
          </a:solidFill>
          <a:ln w="12700">
            <a:solidFill>
              <a:srgbClr val="65736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72200" y="3222942"/>
            <a:ext cx="1463040" cy="283464"/>
          </a:xfrm>
          <a:prstGeom prst="rect">
            <a:avLst/>
          </a:prstGeom>
          <a:solidFill>
            <a:srgbClr val="CFE4E1"/>
          </a:solidFill>
          <a:ln w="12700">
            <a:solidFill>
              <a:srgbClr val="8FA5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0488" y="3222942"/>
            <a:ext cx="1426464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97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데이터플랫폼 ADW</a:t>
            </a:r>
            <a:endParaRPr lang="en-US" sz="970" dirty="0"/>
          </a:p>
        </p:txBody>
      </p:sp>
      <p:sp>
        <p:nvSpPr>
          <p:cNvPr id="74" name="Shape 72"/>
          <p:cNvSpPr/>
          <p:nvPr/>
        </p:nvSpPr>
        <p:spPr>
          <a:xfrm>
            <a:off x="7726680" y="3222942"/>
            <a:ext cx="1417320" cy="283464"/>
          </a:xfrm>
          <a:prstGeom prst="rect">
            <a:avLst/>
          </a:prstGeom>
          <a:solidFill>
            <a:srgbClr val="CFE4E1"/>
          </a:solidFill>
          <a:ln w="12700">
            <a:solidFill>
              <a:srgbClr val="8FA5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44968" y="3222942"/>
            <a:ext cx="1380744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97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포탈</a:t>
            </a:r>
            <a:endParaRPr lang="en-US" sz="970" dirty="0"/>
          </a:p>
        </p:txBody>
      </p:sp>
      <p:sp>
        <p:nvSpPr>
          <p:cNvPr id="76" name="Shape 74"/>
          <p:cNvSpPr/>
          <p:nvPr/>
        </p:nvSpPr>
        <p:spPr>
          <a:xfrm>
            <a:off x="9290304" y="3222942"/>
            <a:ext cx="1600200" cy="283464"/>
          </a:xfrm>
          <a:prstGeom prst="rect">
            <a:avLst/>
          </a:prstGeom>
          <a:solidFill>
            <a:srgbClr val="CFE4E1"/>
          </a:solidFill>
          <a:ln w="12700">
            <a:solidFill>
              <a:srgbClr val="8FA5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08592" y="3222942"/>
            <a:ext cx="1563624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97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데이터거버넌스</a:t>
            </a:r>
            <a:endParaRPr lang="en-US" sz="970" dirty="0"/>
          </a:p>
        </p:txBody>
      </p:sp>
      <p:sp>
        <p:nvSpPr>
          <p:cNvPr id="78" name="Shape 76"/>
          <p:cNvSpPr/>
          <p:nvPr/>
        </p:nvSpPr>
        <p:spPr>
          <a:xfrm>
            <a:off x="6272784" y="35978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91072" y="35978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6272784" y="38264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91072" y="38264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분석SoR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6272784" y="40550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91072" y="40550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분석통합요약집계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6272784" y="42836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91072" y="42836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분석단위업무마트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6272784" y="45122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91072" y="45122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분석보고서마트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6272784" y="47408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91072" y="47408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6272784" y="4969446"/>
            <a:ext cx="118872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91072" y="4969446"/>
            <a:ext cx="1152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분석지원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7818120" y="3661854"/>
            <a:ext cx="123444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36408" y="3661854"/>
            <a:ext cx="1197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BI포탈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7818120" y="4009326"/>
            <a:ext cx="123444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36408" y="4009326"/>
            <a:ext cx="1197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신용실적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7818120" y="4356798"/>
            <a:ext cx="123444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36408" y="4356798"/>
            <a:ext cx="1197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OLAP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7818120" y="4704270"/>
            <a:ext cx="123444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36408" y="4704270"/>
            <a:ext cx="1197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BI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7818120" y="5051742"/>
            <a:ext cx="123444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36408" y="5051742"/>
            <a:ext cx="1197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신포탈UI/UX</a:t>
            </a:r>
            <a:endParaRPr lang="en-US" sz="720" dirty="0"/>
          </a:p>
        </p:txBody>
      </p:sp>
      <p:sp>
        <p:nvSpPr>
          <p:cNvPr id="102" name="Shape 100"/>
          <p:cNvSpPr/>
          <p:nvPr/>
        </p:nvSpPr>
        <p:spPr>
          <a:xfrm>
            <a:off x="9473184" y="3661854"/>
            <a:ext cx="11430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491472" y="3661854"/>
            <a:ext cx="11064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9473184" y="4192206"/>
            <a:ext cx="11430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91472" y="4192206"/>
            <a:ext cx="11064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비즈메타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9473184" y="4722558"/>
            <a:ext cx="11430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491472" y="4722558"/>
            <a:ext cx="11064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데이터품질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9473184" y="5252910"/>
            <a:ext cx="11430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491472" y="5252910"/>
            <a:ext cx="11064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데이터흐름</a:t>
            </a:r>
            <a:endParaRPr lang="en-US" sz="720" dirty="0"/>
          </a:p>
        </p:txBody>
      </p:sp>
      <p:sp>
        <p:nvSpPr>
          <p:cNvPr id="110" name="Shape 108"/>
          <p:cNvSpPr/>
          <p:nvPr/>
        </p:nvSpPr>
        <p:spPr>
          <a:xfrm>
            <a:off x="6172200" y="5353494"/>
            <a:ext cx="4800600" cy="256032"/>
          </a:xfrm>
          <a:prstGeom prst="rect">
            <a:avLst/>
          </a:prstGeom>
          <a:solidFill>
            <a:srgbClr val="CFE4E1"/>
          </a:solidFill>
          <a:ln w="12700">
            <a:solidFill>
              <a:srgbClr val="8FA5A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90488" y="5353494"/>
            <a:ext cx="47640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02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IT서비스 및 업무지원</a:t>
            </a:r>
            <a:endParaRPr lang="en-US" sz="1020" dirty="0"/>
          </a:p>
        </p:txBody>
      </p:sp>
      <p:sp>
        <p:nvSpPr>
          <p:cNvPr id="112" name="Shape 110"/>
          <p:cNvSpPr/>
          <p:nvPr/>
        </p:nvSpPr>
        <p:spPr>
          <a:xfrm>
            <a:off x="6355080" y="5737542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73368" y="5737542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관리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7772400" y="5737542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790688" y="5737542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공통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9189720" y="5737542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208008" y="5737542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6355080" y="5993574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373368" y="5993574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7772400" y="5993574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790688" y="5993574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9189720" y="5993574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208008" y="5993574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버전관리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6355080" y="6249606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373368" y="6249606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정보단말 관리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7772400" y="6249606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790688" y="6249606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정보단말 배포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9189720" y="6249606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208008" y="6249606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배치작업 처리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6355080" y="6505638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373368" y="6505638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중계</a:t>
            </a:r>
            <a:endParaRPr lang="en-US" sz="660" dirty="0"/>
          </a:p>
        </p:txBody>
      </p:sp>
      <p:sp>
        <p:nvSpPr>
          <p:cNvPr id="132" name="Shape 130"/>
          <p:cNvSpPr/>
          <p:nvPr/>
        </p:nvSpPr>
        <p:spPr>
          <a:xfrm>
            <a:off x="7772400" y="6505638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790688" y="6505638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치환 적재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9189720" y="6505638"/>
            <a:ext cx="1234440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EA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208008" y="6505638"/>
            <a:ext cx="11978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디자이너</a:t>
            </a:r>
            <a:endParaRPr lang="en-US" sz="660" dirty="0"/>
          </a:p>
        </p:txBody>
      </p:sp>
    </p:spTree>
    <p:extLst>
      <p:ext uri="{BB962C8B-B14F-4D97-AF65-F5344CB8AC3E}">
        <p14:creationId xmlns:p14="http://schemas.microsoft.com/office/powerpoint/2010/main" val="40923935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690054"/>
            <a:ext cx="5303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5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이중화 구성도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0" y="1311846"/>
            <a:ext cx="1143000" cy="36576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11846"/>
            <a:ext cx="11155680" cy="36576"/>
          </a:xfrm>
          <a:prstGeom prst="rect">
            <a:avLst/>
          </a:prstGeom>
          <a:solidFill>
            <a:srgbClr val="58A15B"/>
          </a:solidFill>
          <a:ln w="12700">
            <a:solidFill>
              <a:srgbClr val="58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21574"/>
            <a:ext cx="7498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정보계 차세대 시스템 운영 환경의 고가용성을 위한 이중화 구성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769046"/>
            <a:ext cx="78638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RDW, ADW 각 RAC(Active – Active) 2노드, 6노드 구성함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" y="2399982"/>
            <a:ext cx="384048" cy="2011680"/>
          </a:xfrm>
          <a:prstGeom prst="rect">
            <a:avLst/>
          </a:prstGeom>
          <a:solidFill>
            <a:srgbClr val="243F3A"/>
          </a:solidFill>
          <a:ln w="12700">
            <a:solidFill>
              <a:srgbClr val="243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628582"/>
            <a:ext cx="329184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500" dirty="0"/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500" dirty="0"/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685982"/>
            <a:ext cx="384048" cy="2011680"/>
          </a:xfrm>
          <a:prstGeom prst="rect">
            <a:avLst/>
          </a:prstGeom>
          <a:solidFill>
            <a:srgbClr val="243F3A"/>
          </a:solidFill>
          <a:ln w="12700">
            <a:solidFill>
              <a:srgbClr val="243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4914582"/>
            <a:ext cx="329184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500" dirty="0"/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500" dirty="0"/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74520" y="2226246"/>
            <a:ext cx="178308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281110"/>
            <a:ext cx="1691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RAC(Active – Active)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48256" y="2573718"/>
            <a:ext cx="548640" cy="685800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2573718"/>
            <a:ext cx="5120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98064" y="2573718"/>
            <a:ext cx="548640" cy="685800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573718"/>
            <a:ext cx="5120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55648" y="3378390"/>
            <a:ext cx="2194560" cy="256032"/>
          </a:xfrm>
          <a:prstGeom prst="rect">
            <a:avLst/>
          </a:prstGeom>
          <a:solidFill>
            <a:srgbClr val="243F3A"/>
          </a:solidFill>
          <a:ln w="12700">
            <a:solidFill>
              <a:srgbClr val="243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3936" y="3378390"/>
            <a:ext cx="21579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RDMA Network Fabric(RoCE)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37360" y="3771582"/>
            <a:ext cx="502920" cy="594360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3771582"/>
            <a:ext cx="46634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700" dirty="0"/>
          </a:p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148840" y="3250374"/>
            <a:ext cx="0" cy="521208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95728" y="3771582"/>
            <a:ext cx="502920" cy="594360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3771582"/>
            <a:ext cx="46634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700" dirty="0"/>
          </a:p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331720" y="3250374"/>
            <a:ext cx="310896" cy="521208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54096" y="3771582"/>
            <a:ext cx="502920" cy="594360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3771582"/>
            <a:ext cx="46634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700" dirty="0"/>
          </a:p>
          <a:p>
            <a:pPr algn="ctr"/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14600" y="3250374"/>
            <a:ext cx="786384" cy="521208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261872" y="4576254"/>
            <a:ext cx="539496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4631118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RAC(Active – Active)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17320" y="4969446"/>
            <a:ext cx="502920" cy="658368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35608" y="4969446"/>
            <a:ext cx="466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60" dirty="0"/>
          </a:p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221992" y="4969446"/>
            <a:ext cx="502920" cy="658368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4969446"/>
            <a:ext cx="466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60" dirty="0"/>
          </a:p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3026664" y="4969446"/>
            <a:ext cx="502920" cy="658368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44952" y="4969446"/>
            <a:ext cx="466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60" dirty="0"/>
          </a:p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3831336" y="4969446"/>
            <a:ext cx="502920" cy="658368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9624" y="4969446"/>
            <a:ext cx="466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60" dirty="0"/>
          </a:p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4636008" y="4969446"/>
            <a:ext cx="502920" cy="658368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4969446"/>
            <a:ext cx="466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60" dirty="0"/>
          </a:p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5440680" y="4969446"/>
            <a:ext cx="502920" cy="658368"/>
          </a:xfrm>
          <a:prstGeom prst="rect">
            <a:avLst/>
          </a:prstGeom>
          <a:solidFill>
            <a:srgbClr val="0D3A62"/>
          </a:solidFill>
          <a:ln w="12700">
            <a:solidFill>
              <a:srgbClr val="7995B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8968" y="4969446"/>
            <a:ext cx="466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60" dirty="0"/>
          </a:p>
          <a:p>
            <a:pPr algn="ctr"/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1078992" y="5664390"/>
            <a:ext cx="5943600" cy="210312"/>
          </a:xfrm>
          <a:prstGeom prst="rect">
            <a:avLst/>
          </a:prstGeom>
          <a:solidFill>
            <a:srgbClr val="243F3A"/>
          </a:solidFill>
          <a:ln w="12700">
            <a:solidFill>
              <a:srgbClr val="243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5664390"/>
            <a:ext cx="590702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RDMA Network Fabric(RoCE)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1024128" y="6085014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" y="6085014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1737360" y="6286182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55648" y="6286182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2450592" y="6085014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6085014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3163824" y="6286182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82112" y="6286182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3877056" y="6085014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95344" y="6085014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4590288" y="6286182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08576" y="6286182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56" name="Shape 54"/>
          <p:cNvSpPr/>
          <p:nvPr/>
        </p:nvSpPr>
        <p:spPr>
          <a:xfrm>
            <a:off x="5303520" y="6085014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21808" y="6085014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58" name="Shape 56"/>
          <p:cNvSpPr/>
          <p:nvPr/>
        </p:nvSpPr>
        <p:spPr>
          <a:xfrm>
            <a:off x="6016752" y="6286182"/>
            <a:ext cx="548640" cy="475488"/>
          </a:xfrm>
          <a:prstGeom prst="rect">
            <a:avLst/>
          </a:prstGeom>
          <a:solidFill>
            <a:srgbClr val="53A8D2"/>
          </a:solidFill>
          <a:ln w="12700">
            <a:solidFill>
              <a:srgbClr val="3B71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6286182"/>
            <a:ext cx="512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30" dirty="0"/>
          </a:p>
          <a:p>
            <a:pPr algn="ctr"/>
            <a:r>
              <a:rPr lang="en-US" sz="6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7360920" y="2098230"/>
            <a:ext cx="4251960" cy="301752"/>
          </a:xfrm>
          <a:prstGeom prst="rect">
            <a:avLst/>
          </a:prstGeom>
          <a:solidFill>
            <a:srgbClr val="2F7D54"/>
          </a:solidFill>
          <a:ln w="12700">
            <a:solidFill>
              <a:srgbClr val="2F7D5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60920" y="2098230"/>
            <a:ext cx="425196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Exadata 계층 및 주요 프로세스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543800" y="2573718"/>
            <a:ext cx="1463040" cy="1325880"/>
          </a:xfrm>
          <a:prstGeom prst="rect">
            <a:avLst/>
          </a:prstGeom>
          <a:solidFill>
            <a:srgbClr val="F6F7F7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43800" y="2573718"/>
            <a:ext cx="1463040" cy="292608"/>
          </a:xfrm>
          <a:prstGeom prst="rect">
            <a:avLst/>
          </a:prstGeom>
          <a:solidFill>
            <a:srgbClr val="0D3A62"/>
          </a:solidFill>
          <a:ln w="12700">
            <a:solidFill>
              <a:srgbClr val="0D3A6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2573718"/>
            <a:ext cx="14630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Server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644384" y="2857182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62672" y="2857182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Instance</a:t>
            </a:r>
            <a:endParaRPr lang="en-US" sz="460" dirty="0"/>
          </a:p>
        </p:txBody>
      </p:sp>
      <p:sp>
        <p:nvSpPr>
          <p:cNvPr id="67" name="Shape 65"/>
          <p:cNvSpPr/>
          <p:nvPr/>
        </p:nvSpPr>
        <p:spPr>
          <a:xfrm>
            <a:off x="7644384" y="2976054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62672" y="2976054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DBRM</a:t>
            </a:r>
            <a:endParaRPr lang="en-US" sz="460" dirty="0"/>
          </a:p>
        </p:txBody>
      </p:sp>
      <p:sp>
        <p:nvSpPr>
          <p:cNvPr id="69" name="Shape 67"/>
          <p:cNvSpPr/>
          <p:nvPr/>
        </p:nvSpPr>
        <p:spPr>
          <a:xfrm>
            <a:off x="7644384" y="3094926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62672" y="3094926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Software</a:t>
            </a:r>
            <a:endParaRPr lang="en-US" sz="460" dirty="0"/>
          </a:p>
        </p:txBody>
      </p:sp>
      <p:sp>
        <p:nvSpPr>
          <p:cNvPr id="71" name="Shape 69"/>
          <p:cNvSpPr/>
          <p:nvPr/>
        </p:nvSpPr>
        <p:spPr>
          <a:xfrm>
            <a:off x="7644384" y="3213798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62672" y="3213798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Exascale Client Services</a:t>
            </a:r>
            <a:endParaRPr lang="en-US" sz="460" dirty="0"/>
          </a:p>
        </p:txBody>
      </p:sp>
      <p:sp>
        <p:nvSpPr>
          <p:cNvPr id="73" name="Shape 71"/>
          <p:cNvSpPr/>
          <p:nvPr/>
        </p:nvSpPr>
        <p:spPr>
          <a:xfrm>
            <a:off x="7644384" y="3332670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62672" y="3332670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DBMCLI</a:t>
            </a:r>
            <a:endParaRPr lang="en-US" sz="460" dirty="0"/>
          </a:p>
        </p:txBody>
      </p:sp>
      <p:sp>
        <p:nvSpPr>
          <p:cNvPr id="75" name="Shape 73"/>
          <p:cNvSpPr/>
          <p:nvPr/>
        </p:nvSpPr>
        <p:spPr>
          <a:xfrm>
            <a:off x="7644384" y="3451542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62672" y="3451542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</a:t>
            </a:r>
            <a:endParaRPr lang="en-US" sz="460" dirty="0"/>
          </a:p>
        </p:txBody>
      </p:sp>
      <p:sp>
        <p:nvSpPr>
          <p:cNvPr id="77" name="Shape 75"/>
          <p:cNvSpPr/>
          <p:nvPr/>
        </p:nvSpPr>
        <p:spPr>
          <a:xfrm>
            <a:off x="7644384" y="3570414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62672" y="3570414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Infrastructure</a:t>
            </a:r>
            <a:endParaRPr lang="en-US" sz="460" dirty="0"/>
          </a:p>
        </p:txBody>
      </p:sp>
      <p:sp>
        <p:nvSpPr>
          <p:cNvPr id="79" name="Shape 77"/>
          <p:cNvSpPr/>
          <p:nvPr/>
        </p:nvSpPr>
        <p:spPr>
          <a:xfrm>
            <a:off x="7644384" y="3689286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62672" y="3689286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ASM Instance</a:t>
            </a:r>
            <a:endParaRPr lang="en-US" sz="460" dirty="0"/>
          </a:p>
        </p:txBody>
      </p:sp>
      <p:sp>
        <p:nvSpPr>
          <p:cNvPr id="81" name="Shape 79"/>
          <p:cNvSpPr/>
          <p:nvPr/>
        </p:nvSpPr>
        <p:spPr>
          <a:xfrm>
            <a:off x="7452360" y="4183062"/>
            <a:ext cx="1600200" cy="384048"/>
          </a:xfrm>
          <a:prstGeom prst="rect">
            <a:avLst/>
          </a:prstGeom>
          <a:solidFill>
            <a:srgbClr val="243F3A"/>
          </a:solidFill>
          <a:ln w="12700">
            <a:solidFill>
              <a:srgbClr val="243F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70648" y="4183062"/>
            <a:ext cx="156362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RDMA Network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Fabric(RoCE)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543800" y="4749990"/>
            <a:ext cx="1463040" cy="1691640"/>
          </a:xfrm>
          <a:prstGeom prst="rect">
            <a:avLst/>
          </a:prstGeom>
          <a:solidFill>
            <a:srgbClr val="F6F7F7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543800" y="4749990"/>
            <a:ext cx="1463040" cy="292608"/>
          </a:xfrm>
          <a:prstGeom prst="rect">
            <a:avLst/>
          </a:prstGeom>
          <a:solidFill>
            <a:srgbClr val="53A8D2"/>
          </a:solidFill>
          <a:ln w="12700">
            <a:solidFill>
              <a:srgbClr val="53A8D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43800" y="4749990"/>
            <a:ext cx="14630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 Server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644384" y="5033454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62672" y="5033454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Exadata System Software</a:t>
            </a:r>
            <a:endParaRPr lang="en-US" sz="450" dirty="0"/>
          </a:p>
        </p:txBody>
      </p:sp>
      <p:sp>
        <p:nvSpPr>
          <p:cNvPr id="88" name="Shape 86"/>
          <p:cNvSpPr/>
          <p:nvPr/>
        </p:nvSpPr>
        <p:spPr>
          <a:xfrm>
            <a:off x="7644384" y="5152326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62672" y="5152326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Exadata Storage Services</a:t>
            </a:r>
            <a:endParaRPr lang="en-US" sz="450" dirty="0"/>
          </a:p>
        </p:txBody>
      </p:sp>
      <p:sp>
        <p:nvSpPr>
          <p:cNvPr id="90" name="Shape 88"/>
          <p:cNvSpPr/>
          <p:nvPr/>
        </p:nvSpPr>
        <p:spPr>
          <a:xfrm>
            <a:off x="7644384" y="5271198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62672" y="5271198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CellCLI</a:t>
            </a:r>
            <a:endParaRPr lang="en-US" sz="450" dirty="0"/>
          </a:p>
        </p:txBody>
      </p:sp>
      <p:sp>
        <p:nvSpPr>
          <p:cNvPr id="92" name="Shape 90"/>
          <p:cNvSpPr/>
          <p:nvPr/>
        </p:nvSpPr>
        <p:spPr>
          <a:xfrm>
            <a:off x="8266176" y="5271198"/>
            <a:ext cx="5760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84464" y="5271198"/>
            <a:ext cx="5394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7644384" y="5508942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662672" y="5508942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CELLSRV</a:t>
            </a:r>
            <a:endParaRPr lang="en-US" sz="450" dirty="0"/>
          </a:p>
        </p:txBody>
      </p:sp>
      <p:sp>
        <p:nvSpPr>
          <p:cNvPr id="96" name="Shape 94"/>
          <p:cNvSpPr/>
          <p:nvPr/>
        </p:nvSpPr>
        <p:spPr>
          <a:xfrm>
            <a:off x="8266176" y="5508942"/>
            <a:ext cx="5760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84464" y="5508942"/>
            <a:ext cx="5394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</a:t>
            </a:r>
            <a:endParaRPr lang="en-US" sz="450" dirty="0"/>
          </a:p>
        </p:txBody>
      </p:sp>
      <p:sp>
        <p:nvSpPr>
          <p:cNvPr id="98" name="Shape 96"/>
          <p:cNvSpPr/>
          <p:nvPr/>
        </p:nvSpPr>
        <p:spPr>
          <a:xfrm>
            <a:off x="7644384" y="5746686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62672" y="5746686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7644384" y="5865558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662672" y="5865558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XRMEM Cache</a:t>
            </a:r>
            <a:endParaRPr lang="en-US" sz="450" dirty="0"/>
          </a:p>
        </p:txBody>
      </p:sp>
      <p:sp>
        <p:nvSpPr>
          <p:cNvPr id="102" name="Shape 100"/>
          <p:cNvSpPr/>
          <p:nvPr/>
        </p:nvSpPr>
        <p:spPr>
          <a:xfrm>
            <a:off x="7644384" y="5984430"/>
            <a:ext cx="12618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62672" y="5984430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Performance-Optimized Flash</a:t>
            </a:r>
            <a:endParaRPr lang="en-US" sz="450" dirty="0"/>
          </a:p>
        </p:txBody>
      </p:sp>
      <p:sp>
        <p:nvSpPr>
          <p:cNvPr id="104" name="Shape 102"/>
          <p:cNvSpPr/>
          <p:nvPr/>
        </p:nvSpPr>
        <p:spPr>
          <a:xfrm>
            <a:off x="7644384" y="6103302"/>
            <a:ext cx="1261872" cy="91440"/>
          </a:xfrm>
          <a:prstGeom prst="rect">
            <a:avLst/>
          </a:prstGeom>
          <a:solidFill>
            <a:srgbClr val="C7E4F0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62672" y="6103302"/>
            <a:ext cx="12252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 Cache</a:t>
            </a:r>
            <a:endParaRPr lang="en-US" sz="450" dirty="0"/>
          </a:p>
        </p:txBody>
      </p:sp>
      <p:sp>
        <p:nvSpPr>
          <p:cNvPr id="106" name="Shape 104"/>
          <p:cNvSpPr/>
          <p:nvPr/>
        </p:nvSpPr>
        <p:spPr>
          <a:xfrm>
            <a:off x="8266176" y="6103302"/>
            <a:ext cx="576072" cy="91440"/>
          </a:xfrm>
          <a:prstGeom prst="rect">
            <a:avLst/>
          </a:prstGeom>
          <a:solidFill>
            <a:srgbClr val="E8F2F5"/>
          </a:solidFill>
          <a:ln w="12700">
            <a:solidFill>
              <a:srgbClr val="5B819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84464" y="6103302"/>
            <a:ext cx="539496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 Log</a:t>
            </a:r>
            <a:endParaRPr lang="en-US" sz="450" dirty="0"/>
          </a:p>
        </p:txBody>
      </p:sp>
      <p:sp>
        <p:nvSpPr>
          <p:cNvPr id="108" name="Text 106"/>
          <p:cNvSpPr/>
          <p:nvPr/>
        </p:nvSpPr>
        <p:spPr>
          <a:xfrm>
            <a:off x="9308592" y="2765742"/>
            <a:ext cx="23317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SQL을 실행하고</a:t>
            </a:r>
            <a:endParaRPr lang="en-US" sz="1000" dirty="0"/>
          </a:p>
          <a:p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RAC 및 데이터베이스 서비스를 제공하는 컴퓨팅 계층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9308592" y="4210494"/>
            <a:ext cx="233172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Server 와 Storage</a:t>
            </a:r>
            <a:endParaRPr lang="en-US" sz="1000" dirty="0"/>
          </a:p>
          <a:p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간 데이터를 고대역폭으로 전송하는 고속 통신 계층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9308592" y="4951158"/>
            <a:ext cx="23317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저장하고 Smart Scan, Flash Cache 등</a:t>
            </a:r>
            <a:endParaRPr lang="en-US" sz="1000" dirty="0"/>
          </a:p>
          <a:p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Exadata 고유 기능을 통해 데이터 처리를 가속화 하는 지능형 스토리지 계층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308592" y="6149022"/>
            <a:ext cx="2377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DBRM - Database Resource Manager</a:t>
            </a:r>
            <a:endParaRPr lang="en-US" sz="800" dirty="0"/>
          </a:p>
          <a:p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DBMCLI - Database Machine Command Line Interface</a:t>
            </a:r>
            <a:endParaRPr lang="en-US" sz="800" dirty="0"/>
          </a:p>
          <a:p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 - Management Server</a:t>
            </a:r>
            <a:endParaRPr lang="en-US" sz="800" dirty="0"/>
          </a:p>
          <a:p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- Restart Server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502588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690054"/>
            <a:ext cx="5303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5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OGG 구성도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0" y="1311846"/>
            <a:ext cx="1143000" cy="36576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11846"/>
            <a:ext cx="11155680" cy="36576"/>
          </a:xfrm>
          <a:prstGeom prst="rect">
            <a:avLst/>
          </a:prstGeom>
          <a:solidFill>
            <a:srgbClr val="58A15B"/>
          </a:solidFill>
          <a:ln w="12700">
            <a:solidFill>
              <a:srgbClr val="58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7294"/>
            <a:ext cx="73152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중계서버를 구성하여 계정계 DB 서버 부하를 최소화함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2390838"/>
            <a:ext cx="384048" cy="2880360"/>
          </a:xfrm>
          <a:prstGeom prst="rect">
            <a:avLst/>
          </a:prstGeom>
          <a:solidFill>
            <a:srgbClr val="243F3A"/>
          </a:solidFill>
          <a:ln w="12700">
            <a:solidFill>
              <a:srgbClr val="243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829750"/>
            <a:ext cx="292608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</a:t>
            </a:r>
            <a:endParaRPr lang="en-US" sz="1500" dirty="0"/>
          </a:p>
          <a:p>
            <a:pPr algn="ctr"/>
            <a:endParaRPr lang="en-US" sz="1500" dirty="0"/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427414"/>
            <a:ext cx="3291840" cy="2487168"/>
          </a:xfrm>
          <a:prstGeom prst="rect">
            <a:avLst/>
          </a:prstGeom>
          <a:solidFill>
            <a:srgbClr val="F6F7F7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427414"/>
            <a:ext cx="3291840" cy="292608"/>
          </a:xfrm>
          <a:prstGeom prst="rect">
            <a:avLst/>
          </a:prstGeom>
          <a:solidFill>
            <a:srgbClr val="2F7D54"/>
          </a:solidFill>
          <a:ln w="12700">
            <a:solidFill>
              <a:srgbClr val="2F7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27414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계정계(Source)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427414"/>
            <a:ext cx="3429000" cy="2487168"/>
          </a:xfrm>
          <a:prstGeom prst="rect">
            <a:avLst/>
          </a:prstGeom>
          <a:solidFill>
            <a:srgbClr val="F6F7F7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427414"/>
            <a:ext cx="3429000" cy="292608"/>
          </a:xfrm>
          <a:prstGeom prst="rect">
            <a:avLst/>
          </a:prstGeom>
          <a:solidFill>
            <a:srgbClr val="2F7D54"/>
          </a:solidFill>
          <a:ln w="12700">
            <a:solidFill>
              <a:srgbClr val="2F7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427414"/>
            <a:ext cx="3429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중계서버(Downstream)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427414"/>
            <a:ext cx="3154680" cy="2487168"/>
          </a:xfrm>
          <a:prstGeom prst="rect">
            <a:avLst/>
          </a:prstGeom>
          <a:solidFill>
            <a:srgbClr val="F6F7F7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427414"/>
            <a:ext cx="3154680" cy="292608"/>
          </a:xfrm>
          <a:prstGeom prst="rect">
            <a:avLst/>
          </a:prstGeom>
          <a:solidFill>
            <a:srgbClr val="2F7D54"/>
          </a:solidFill>
          <a:ln w="12700">
            <a:solidFill>
              <a:srgbClr val="2F7D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427414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RDW(Target)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89888" y="2902902"/>
            <a:ext cx="402336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701734"/>
            <a:ext cx="5120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계정계#1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048256" y="2902902"/>
            <a:ext cx="402336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84248" y="2701734"/>
            <a:ext cx="5120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계정계#2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706624" y="2902902"/>
            <a:ext cx="402336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42616" y="2701734"/>
            <a:ext cx="5120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계정계#3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364992" y="2902902"/>
            <a:ext cx="402336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2701734"/>
            <a:ext cx="5120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계정계#4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331720" y="3908742"/>
            <a:ext cx="731520" cy="438912"/>
          </a:xfrm>
          <a:prstGeom prst="can">
            <a:avLst/>
          </a:prstGeom>
          <a:solidFill>
            <a:srgbClr val="E6E6E6">
              <a:alpha val="8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000182"/>
            <a:ext cx="640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DBMS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03120" y="4320222"/>
            <a:ext cx="118872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4320222"/>
            <a:ext cx="1152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Online/Archived Redo Log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542032" y="4621974"/>
            <a:ext cx="411480" cy="201168"/>
          </a:xfrm>
          <a:prstGeom prst="rect">
            <a:avLst/>
          </a:prstGeom>
          <a:solidFill>
            <a:srgbClr val="AFC7D6"/>
          </a:solidFill>
          <a:ln w="12700">
            <a:solidFill>
              <a:srgbClr val="7E9C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621974"/>
            <a:ext cx="374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LNSn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697480" y="3250374"/>
            <a:ext cx="0" cy="658368"/>
          </a:xfrm>
          <a:prstGeom prst="line">
            <a:avLst/>
          </a:prstGeom>
          <a:noFill/>
          <a:ln w="1016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609344" y="3250374"/>
            <a:ext cx="896112" cy="658368"/>
          </a:xfrm>
          <a:prstGeom prst="line">
            <a:avLst/>
          </a:prstGeom>
          <a:noFill/>
          <a:ln w="1016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26080" y="4713414"/>
            <a:ext cx="2258568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5358384" y="2921190"/>
            <a:ext cx="384048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701734"/>
            <a:ext cx="5669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중계DB#1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6473952" y="2921190"/>
            <a:ext cx="384048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701734"/>
            <a:ext cx="5669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중계DB#2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879592" y="2683446"/>
            <a:ext cx="640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시</a:t>
            </a:r>
            <a:endParaRPr lang="en-US" sz="650" dirty="0"/>
          </a:p>
          <a:p>
            <a:pPr algn="ctr"/>
            <a:r>
              <a:rPr lang="en-US" sz="6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Over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824728" y="3927030"/>
            <a:ext cx="713232" cy="438912"/>
          </a:xfrm>
          <a:prstGeom prst="can">
            <a:avLst/>
          </a:prstGeom>
          <a:solidFill>
            <a:srgbClr val="E6E6E6">
              <a:alpha val="8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4018470"/>
            <a:ext cx="6217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DBMS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532120" y="4320222"/>
            <a:ext cx="1170432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0408" y="4320222"/>
            <a:ext cx="11338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Standby Redo Log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5285232" y="4621974"/>
            <a:ext cx="411480" cy="201168"/>
          </a:xfrm>
          <a:prstGeom prst="rect">
            <a:avLst/>
          </a:prstGeom>
          <a:solidFill>
            <a:srgbClr val="AFC7D6"/>
          </a:solidFill>
          <a:ln w="12700">
            <a:solidFill>
              <a:srgbClr val="7E9CA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4621974"/>
            <a:ext cx="374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440680" y="3497262"/>
            <a:ext cx="548640" cy="201168"/>
          </a:xfrm>
          <a:prstGeom prst="rect">
            <a:avLst/>
          </a:prstGeom>
          <a:solidFill>
            <a:srgbClr val="AFC7D6"/>
          </a:solidFill>
          <a:ln w="12700">
            <a:solidFill>
              <a:srgbClr val="7E9CA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58968" y="3497262"/>
            <a:ext cx="5120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989320" y="3497262"/>
            <a:ext cx="713232" cy="201168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07608" y="3497262"/>
            <a:ext cx="67665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Trail File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114032" y="3680142"/>
            <a:ext cx="502920" cy="201168"/>
          </a:xfrm>
          <a:prstGeom prst="rect">
            <a:avLst/>
          </a:prstGeom>
          <a:solidFill>
            <a:srgbClr val="AFC7D6"/>
          </a:solidFill>
          <a:ln w="12700">
            <a:solidFill>
              <a:srgbClr val="7E9CA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3680142"/>
            <a:ext cx="4663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Pump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925312" y="3497262"/>
            <a:ext cx="0" cy="704088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6702552" y="3597846"/>
            <a:ext cx="411480" cy="146304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9436608" y="2921190"/>
            <a:ext cx="384048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72600" y="2701734"/>
            <a:ext cx="5669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 #1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0396728" y="2921190"/>
            <a:ext cx="384048" cy="475488"/>
          </a:xfrm>
          <a:prstGeom prst="cube">
            <a:avLst/>
          </a:prstGeom>
          <a:solidFill>
            <a:srgbClr val="DDE8D3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32720" y="2701734"/>
            <a:ext cx="56692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 #2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9857232" y="3954462"/>
            <a:ext cx="777240" cy="438912"/>
          </a:xfrm>
          <a:prstGeom prst="can">
            <a:avLst/>
          </a:prstGeom>
          <a:solidFill>
            <a:srgbClr val="E6E6E6">
              <a:alpha val="80000"/>
            </a:srgbClr>
          </a:solidFill>
          <a:ln w="13970">
            <a:solidFill>
              <a:srgbClr val="5E6A6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02952" y="4045902"/>
            <a:ext cx="685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DBMS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692640" y="3497262"/>
            <a:ext cx="731520" cy="310896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10928" y="3497262"/>
            <a:ext cx="6949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ACFS</a:t>
            </a:r>
            <a:endParaRPr lang="en-US" sz="630" dirty="0"/>
          </a:p>
          <a:p>
            <a:pPr algn="ctr"/>
            <a:r>
              <a:rPr lang="en-US" sz="63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Trail File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10607040" y="3863022"/>
            <a:ext cx="603504" cy="201168"/>
          </a:xfrm>
          <a:prstGeom prst="rect">
            <a:avLst/>
          </a:prstGeom>
          <a:solidFill>
            <a:srgbClr val="AFC7D6"/>
          </a:solidFill>
          <a:ln w="12700">
            <a:solidFill>
              <a:srgbClr val="7E9CA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625328" y="3863022"/>
            <a:ext cx="5669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Replicat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626096" y="3771582"/>
            <a:ext cx="2066544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0899648" y="4064190"/>
            <a:ext cx="0" cy="14630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/>
          </p:nvPr>
        </p:nvGraphicFramePr>
        <p:xfrm>
          <a:off x="530352" y="5444934"/>
          <a:ext cx="7132320" cy="150876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 DB 에서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Downstream DB Redo 전송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계정계(Source) DB에서 발생한 트랜잭션 변경 정보는 Redo Log에 기록되며, LNSn 프로세스를 통해 중계서버의 Standby Redo Log로 실시간 전송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Downstream Extract 수행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중계서버의 Extract 프로세스가 Standby Redo Log를 Log Mining하여 Commit된 변경 데이터를 추출하고 Trail File로 생성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Trail File 전송(Pump)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중계서버의 Pump 프로세스는 생성된 Trail File을 Target(RDW) 서버의 Trail File 저장소(ACFS)로 전송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 DB 반영(Replicat)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Target(RDW) 서버의 Replicat 프로세스가 Trail File을 읽어 Source DB에 발생한 변경사항을 Target DB에 동일하게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8339328" y="5572950"/>
            <a:ext cx="310896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LNSn : Log Network Server</a:t>
            </a:r>
            <a:endParaRPr lang="en-US" sz="750" dirty="0"/>
          </a:p>
          <a:p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RFS : Remote File Server</a:t>
            </a:r>
            <a:endParaRPr lang="en-US" sz="750" dirty="0"/>
          </a:p>
          <a:p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Extract : Log File을 읽어 Commit된 변경 데이터를 추출하여 Trail File로 저장하는 프로세스</a:t>
            </a:r>
            <a:endParaRPr lang="en-US" sz="750" dirty="0"/>
          </a:p>
          <a:p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Pump : Target으로 Trail File을 배포하는 프로세스</a:t>
            </a:r>
            <a:endParaRPr lang="en-US" sz="750" dirty="0"/>
          </a:p>
          <a:p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Replicat : Target DB에 Trail File을 적용하는 프로세스</a:t>
            </a:r>
            <a:endParaRPr lang="en-US" sz="750" dirty="0"/>
          </a:p>
          <a:p>
            <a:r>
              <a:rPr lang="en-US" sz="7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ACFS : Advanced Cluster File System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8321040" y="6450774"/>
            <a:ext cx="324612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375904" y="6487350"/>
            <a:ext cx="3200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8915400" y="6542214"/>
            <a:ext cx="594360" cy="146304"/>
          </a:xfrm>
          <a:prstGeom prst="rect">
            <a:avLst/>
          </a:prstGeom>
          <a:solidFill>
            <a:srgbClr val="AFC7D6"/>
          </a:solidFill>
          <a:ln w="12700">
            <a:solidFill>
              <a:srgbClr val="AFC7D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933688" y="6542214"/>
            <a:ext cx="5577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5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550" dirty="0"/>
          </a:p>
        </p:txBody>
      </p:sp>
      <p:sp>
        <p:nvSpPr>
          <p:cNvPr id="71" name="Shape 68"/>
          <p:cNvSpPr/>
          <p:nvPr/>
        </p:nvSpPr>
        <p:spPr>
          <a:xfrm>
            <a:off x="9829800" y="6505638"/>
            <a:ext cx="502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848088" y="6505638"/>
            <a:ext cx="4663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5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공유볼륨</a:t>
            </a:r>
            <a:endParaRPr lang="en-US" sz="550" dirty="0"/>
          </a:p>
        </p:txBody>
      </p:sp>
      <p:sp>
        <p:nvSpPr>
          <p:cNvPr id="73" name="Shape 70"/>
          <p:cNvSpPr/>
          <p:nvPr/>
        </p:nvSpPr>
        <p:spPr>
          <a:xfrm>
            <a:off x="8915400" y="6743382"/>
            <a:ext cx="502920" cy="146304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933688" y="6743382"/>
            <a:ext cx="4663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5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 File</a:t>
            </a:r>
            <a:endParaRPr lang="en-US" sz="550" dirty="0"/>
          </a:p>
        </p:txBody>
      </p:sp>
      <p:sp>
        <p:nvSpPr>
          <p:cNvPr id="75" name="Shape 72"/>
          <p:cNvSpPr/>
          <p:nvPr/>
        </p:nvSpPr>
        <p:spPr>
          <a:xfrm>
            <a:off x="9829800" y="6743382"/>
            <a:ext cx="502920" cy="146304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848088" y="6743382"/>
            <a:ext cx="46634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5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Trail File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10458653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690054"/>
            <a:ext cx="5303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5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OLTP 및 대용량 배치 수행 방안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0" y="1311846"/>
            <a:ext cx="1143000" cy="36576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11846"/>
            <a:ext cx="11155680" cy="36576"/>
          </a:xfrm>
          <a:prstGeom prst="rect">
            <a:avLst/>
          </a:prstGeom>
          <a:solidFill>
            <a:srgbClr val="58A15B"/>
          </a:solidFill>
          <a:ln w="12700">
            <a:solidFill>
              <a:srgbClr val="58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76438"/>
            <a:ext cx="107899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부하 및 기능적 요소를 고려하여 OLTP 및 대용량 배치의 부하 분산 아키텍처를 설계하며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851342"/>
            <a:ext cx="91440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 DB는 2노드를 한 그룹으로 지정하고 업무별 부하를 분산함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317686"/>
            <a:ext cx="11064240" cy="256032"/>
          </a:xfrm>
          <a:prstGeom prst="rect">
            <a:avLst/>
          </a:prstGeom>
          <a:solidFill>
            <a:srgbClr val="2F7D54"/>
          </a:solidFill>
          <a:ln w="12700">
            <a:solidFill>
              <a:srgbClr val="2F7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17686"/>
            <a:ext cx="11064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OLTP 및 대용량 배치 처리 AP/DB 분리 구성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2582862"/>
            <a:ext cx="7955280" cy="210312"/>
          </a:xfrm>
          <a:prstGeom prst="rect">
            <a:avLst/>
          </a:prstGeom>
          <a:solidFill>
            <a:srgbClr val="18232E"/>
          </a:solidFill>
          <a:ln w="12700">
            <a:solidFill>
              <a:srgbClr val="1823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582862"/>
            <a:ext cx="79552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68512" y="2582862"/>
            <a:ext cx="2926080" cy="210312"/>
          </a:xfrm>
          <a:prstGeom prst="rect">
            <a:avLst/>
          </a:prstGeom>
          <a:solidFill>
            <a:srgbClr val="18232E"/>
          </a:solidFill>
          <a:ln w="12700">
            <a:solidFill>
              <a:srgbClr val="1823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68512" y="2582862"/>
            <a:ext cx="29260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2857182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3F4F4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#1,#2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176272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AP #1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50392" y="3405822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3405822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OLAP #1,#2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487168" y="2857182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3F4F4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4328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신용실적 #1,#2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950208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Self-BI #1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624328" y="3405822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0088" y="3405822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BI포탈 #1,#2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261104" y="2857182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F3F4F4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98264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데이터흐름관리#1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724144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비즈메타/</a:t>
            </a:r>
            <a:endParaRPr lang="en-US" sz="650" dirty="0"/>
          </a:p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데이터품질#1,#2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656832" y="2857182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3F4F4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9752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마케팅플랫폼 #1,#2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8119872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미니싱글뷰 #1,#2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9052560" y="2857182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3F4F4"/>
          </a:solidFill>
          <a:ln w="12700">
            <a:solidFill>
              <a:srgbClr val="6E77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89720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마케팅플랫폼 #51,#52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0515600" y="3021774"/>
            <a:ext cx="310896" cy="347472"/>
          </a:xfrm>
          <a:prstGeom prst="cube">
            <a:avLst/>
          </a:prstGeom>
          <a:solidFill>
            <a:srgbClr val="DCE8DD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24160" y="3021774"/>
            <a:ext cx="822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미니싱글뷰 #51,#52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94360" y="4320222"/>
            <a:ext cx="5715000" cy="1408176"/>
          </a:xfrm>
          <a:prstGeom prst="rect">
            <a:avLst/>
          </a:prstGeom>
          <a:solidFill>
            <a:srgbClr val="EAF4F2"/>
          </a:solidFill>
          <a:ln w="12700">
            <a:solidFill>
              <a:srgbClr val="6573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2512" y="4320222"/>
            <a:ext cx="5321808" cy="1408176"/>
          </a:xfrm>
          <a:prstGeom prst="rect">
            <a:avLst/>
          </a:prstGeom>
          <a:solidFill>
            <a:srgbClr val="EAF4F2"/>
          </a:solidFill>
          <a:ln w="12700">
            <a:solidFill>
              <a:srgbClr val="65736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4503102"/>
            <a:ext cx="15544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배치 수행 Node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88720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07008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ADW#1</a:t>
            </a:r>
            <a:endParaRPr lang="en-US" sz="480" dirty="0"/>
          </a:p>
        </p:txBody>
      </p:sp>
      <p:sp>
        <p:nvSpPr>
          <p:cNvPr id="47" name="Shape 45"/>
          <p:cNvSpPr/>
          <p:nvPr/>
        </p:nvSpPr>
        <p:spPr>
          <a:xfrm>
            <a:off x="1847088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65376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ADW#2</a:t>
            </a:r>
            <a:endParaRPr lang="en-US" sz="480" dirty="0"/>
          </a:p>
        </p:txBody>
      </p:sp>
      <p:sp>
        <p:nvSpPr>
          <p:cNvPr id="49" name="Text 47"/>
          <p:cNvSpPr/>
          <p:nvPr/>
        </p:nvSpPr>
        <p:spPr>
          <a:xfrm>
            <a:off x="2926080" y="4503102"/>
            <a:ext cx="15544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배치 수행 Node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108960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27248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ADW#1</a:t>
            </a:r>
            <a:endParaRPr lang="en-US" sz="480" dirty="0"/>
          </a:p>
        </p:txBody>
      </p:sp>
      <p:sp>
        <p:nvSpPr>
          <p:cNvPr id="52" name="Shape 50"/>
          <p:cNvSpPr/>
          <p:nvPr/>
        </p:nvSpPr>
        <p:spPr>
          <a:xfrm>
            <a:off x="3767328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85616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ADW#2</a:t>
            </a:r>
            <a:endParaRPr lang="en-US" sz="480" dirty="0"/>
          </a:p>
        </p:txBody>
      </p:sp>
      <p:sp>
        <p:nvSpPr>
          <p:cNvPr id="54" name="Text 52"/>
          <p:cNvSpPr/>
          <p:nvPr/>
        </p:nvSpPr>
        <p:spPr>
          <a:xfrm>
            <a:off x="4617720" y="4503102"/>
            <a:ext cx="15544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Online 수행 Node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00600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18888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ADW#1</a:t>
            </a:r>
            <a:endParaRPr lang="en-US" sz="480" dirty="0"/>
          </a:p>
        </p:txBody>
      </p:sp>
      <p:sp>
        <p:nvSpPr>
          <p:cNvPr id="57" name="Shape 55"/>
          <p:cNvSpPr/>
          <p:nvPr/>
        </p:nvSpPr>
        <p:spPr>
          <a:xfrm>
            <a:off x="5458968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ADW#2</a:t>
            </a:r>
            <a:endParaRPr lang="en-US" sz="480" dirty="0"/>
          </a:p>
        </p:txBody>
      </p:sp>
      <p:sp>
        <p:nvSpPr>
          <p:cNvPr id="59" name="Text 57"/>
          <p:cNvSpPr/>
          <p:nvPr/>
        </p:nvSpPr>
        <p:spPr>
          <a:xfrm>
            <a:off x="6949440" y="4503102"/>
            <a:ext cx="15544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132320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0608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RDW#1</a:t>
            </a:r>
            <a:endParaRPr lang="en-US" sz="480" dirty="0"/>
          </a:p>
        </p:txBody>
      </p:sp>
      <p:sp>
        <p:nvSpPr>
          <p:cNvPr id="62" name="Shape 60"/>
          <p:cNvSpPr/>
          <p:nvPr/>
        </p:nvSpPr>
        <p:spPr>
          <a:xfrm>
            <a:off x="7790688" y="4667694"/>
            <a:ext cx="411480" cy="502920"/>
          </a:xfrm>
          <a:prstGeom prst="cube">
            <a:avLst/>
          </a:prstGeom>
          <a:solidFill>
            <a:srgbClr val="DFE9DC"/>
          </a:solidFill>
          <a:ln w="8890">
            <a:solidFill>
              <a:srgbClr val="60706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5170614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4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RDW#2</a:t>
            </a:r>
            <a:endParaRPr lang="en-US" sz="480" dirty="0"/>
          </a:p>
        </p:txBody>
      </p:sp>
      <p:sp>
        <p:nvSpPr>
          <p:cNvPr id="64" name="Text 62"/>
          <p:cNvSpPr/>
          <p:nvPr/>
        </p:nvSpPr>
        <p:spPr>
          <a:xfrm>
            <a:off x="914400" y="5572950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데이터플랫폼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246120" y="5572950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BI포탈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736592" y="5572950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거버넌스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132320" y="5508942"/>
            <a:ext cx="14630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마케팅플랫폼</a:t>
            </a:r>
            <a:endParaRPr lang="en-US" sz="650" dirty="0"/>
          </a:p>
          <a:p>
            <a:pPr algn="ctr"/>
            <a:r>
              <a:rPr lang="en-US" sz="6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고객행동정보수집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536192" y="3890454"/>
            <a:ext cx="0" cy="521208"/>
          </a:xfrm>
          <a:prstGeom prst="line">
            <a:avLst/>
          </a:prstGeom>
          <a:noFill/>
          <a:ln w="11430">
            <a:solidFill>
              <a:srgbClr val="C69A3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255264" y="3890454"/>
            <a:ext cx="0" cy="521208"/>
          </a:xfrm>
          <a:prstGeom prst="line">
            <a:avLst/>
          </a:prstGeom>
          <a:noFill/>
          <a:ln w="11430">
            <a:solidFill>
              <a:srgbClr val="C69A3B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074920" y="3890454"/>
            <a:ext cx="0" cy="521208"/>
          </a:xfrm>
          <a:prstGeom prst="line">
            <a:avLst/>
          </a:prstGeom>
          <a:noFill/>
          <a:ln w="11430">
            <a:solidFill>
              <a:srgbClr val="C69A3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498080" y="3890454"/>
            <a:ext cx="0" cy="521208"/>
          </a:xfrm>
          <a:prstGeom prst="line">
            <a:avLst/>
          </a:prstGeom>
          <a:noFill/>
          <a:ln w="11430">
            <a:solidFill>
              <a:srgbClr val="C69A3B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875520" y="3890454"/>
            <a:ext cx="0" cy="521208"/>
          </a:xfrm>
          <a:prstGeom prst="line">
            <a:avLst/>
          </a:prstGeom>
          <a:noFill/>
          <a:ln w="11430">
            <a:solidFill>
              <a:srgbClr val="C69A3B"/>
            </a:solidFill>
            <a:prstDash val="solid"/>
            <a:tailEnd type="triangle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/>
          </p:nvPr>
        </p:nvGraphicFramePr>
        <p:xfrm>
          <a:off x="594360" y="5801550"/>
          <a:ext cx="5715000" cy="1161288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ETL 서버 2대중 1번 서버를 ADW 전용으로 사용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ETL 배치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 - 대용량 배치는 ADW #1, #2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 - 일반 배치는 ADW #3, #4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포탈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OLAP은 배치성 업무로 ADW #1, #2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BI포탈, 신용실적은 ADW #3, #4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데이터흐름관리, 비즈메타, 데이터품질은 ADW #5, #6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ADW #1, #2는 대용량 배치 수행을 위주로 수행하며,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Undo/Temp TS 용량 증설 및 Redo Log Member 추가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ADW의 Online용 Node의 Failover는 각 업무 그룹 기준으로 설정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4" name="Table 1"/>
          <p:cNvGraphicFramePr>
            <a:graphicFrameLocks noGrp="1"/>
          </p:cNvGraphicFramePr>
          <p:nvPr>
            <p:extLst/>
          </p:nvPr>
        </p:nvGraphicFramePr>
        <p:xfrm>
          <a:off x="6510528" y="5801550"/>
          <a:ext cx="5093208" cy="96012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7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RDW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OGG는 RDW #2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69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마케팅플랫폼은 AP #1,#2 기준 각 RDW #1, #2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ETL 배치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 - RDW #1, #2 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9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 - 대용량 배치는 RDW #2에서 수행</a:t>
                      </a:r>
                      <a:endParaRPr lang="en-US" sz="69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E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174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690054"/>
            <a:ext cx="5303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25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OLTP 및 대용량 배치 수행 방안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0" y="1311846"/>
            <a:ext cx="1143000" cy="36576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11846"/>
            <a:ext cx="11155680" cy="36576"/>
          </a:xfrm>
          <a:prstGeom prst="rect">
            <a:avLst/>
          </a:prstGeom>
          <a:solidFill>
            <a:srgbClr val="58A15B"/>
          </a:solidFill>
          <a:ln w="12700">
            <a:solidFill>
              <a:srgbClr val="58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85582"/>
            <a:ext cx="110642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부하 및 기능적 요소를 고려하여 어플리케이션 - 데이터베이스 서버 간 매트릭스 정보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104120" y="1970214"/>
            <a:ext cx="1417320" cy="420624"/>
          </a:xfrm>
          <a:prstGeom prst="rect">
            <a:avLst/>
          </a:prstGeom>
          <a:solidFill>
            <a:srgbClr val="F3F4F2"/>
          </a:solidFill>
          <a:ln w="12700">
            <a:solidFill>
              <a:srgbClr val="6D6D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8984" y="2034222"/>
            <a:ext cx="320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8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61320" y="1997646"/>
            <a:ext cx="731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주노드</a:t>
            </a:r>
            <a:endParaRPr lang="en-US" sz="800" dirty="0"/>
          </a:p>
          <a:p>
            <a:r>
              <a:rPr lang="en-US" sz="8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보조노드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/>
          </p:nvPr>
        </p:nvGraphicFramePr>
        <p:xfrm>
          <a:off x="685800" y="2491422"/>
          <a:ext cx="10881356" cy="4361688"/>
        </p:xfrm>
        <a:graphic>
          <a:graphicData uri="http://schemas.openxmlformats.org/drawingml/2006/table">
            <a:tbl>
              <a:tblPr/>
              <a:tblGrid>
                <a:gridCol w="57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44556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대구분</a:t>
                      </a: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업무구분</a:t>
                      </a: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데이터베이스</a:t>
                      </a: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ETL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ETL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신용실적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신용실적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OLAP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OLAP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BI포탈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BI포탈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-BI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흐름관리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흐름관리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비즈메타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비즈메타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마케팅플랫폼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마케팅플랫폼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마케팅플랫폼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#51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마케팅플랫폼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#52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미니싱글뷰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미니싱글뷰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미니싱글뷰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#51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미니싱글뷰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5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#52</a:t>
                      </a:r>
                      <a:endParaRPr lang="en-US" sz="5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E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E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>
                    <a:lnL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D5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764792" y="2491422"/>
            <a:ext cx="891124" cy="411480"/>
          </a:xfrm>
          <a:prstGeom prst="rect">
            <a:avLst/>
          </a:prstGeom>
          <a:solidFill>
            <a:srgbClr val="2E7F62"/>
          </a:solidFill>
          <a:ln w="12700">
            <a:solidFill>
              <a:srgbClr val="4D56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64792" y="2491422"/>
            <a:ext cx="89112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655917" y="2491422"/>
            <a:ext cx="3118935" cy="411480"/>
          </a:xfrm>
          <a:prstGeom prst="rect">
            <a:avLst/>
          </a:prstGeom>
          <a:solidFill>
            <a:srgbClr val="2E7F62"/>
          </a:solidFill>
          <a:ln w="12700">
            <a:solidFill>
              <a:srgbClr val="4D56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5917" y="2491422"/>
            <a:ext cx="3118935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BI포탈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220415" y="2491422"/>
            <a:ext cx="1782249" cy="411480"/>
          </a:xfrm>
          <a:prstGeom prst="rect">
            <a:avLst/>
          </a:prstGeom>
          <a:solidFill>
            <a:srgbClr val="2E7F62"/>
          </a:solidFill>
          <a:ln w="12700">
            <a:solidFill>
              <a:srgbClr val="4D56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0415" y="2491422"/>
            <a:ext cx="1782249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8002664" y="2491422"/>
            <a:ext cx="3564497" cy="411480"/>
          </a:xfrm>
          <a:prstGeom prst="rect">
            <a:avLst/>
          </a:prstGeom>
          <a:solidFill>
            <a:srgbClr val="2E7F62"/>
          </a:solidFill>
          <a:ln w="12700">
            <a:solidFill>
              <a:srgbClr val="4D56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2664" y="2491422"/>
            <a:ext cx="3564497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774852" y="2902902"/>
            <a:ext cx="445562" cy="585216"/>
          </a:xfrm>
          <a:prstGeom prst="rect">
            <a:avLst/>
          </a:prstGeom>
          <a:solidFill>
            <a:srgbClr val="2E7F62"/>
          </a:solidFill>
          <a:ln w="12700">
            <a:solidFill>
              <a:srgbClr val="4D56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74852" y="2902902"/>
            <a:ext cx="445562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3171273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754062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28"/>
                </a:solidFill>
                <a:latin typeface="Malgun Gothic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577022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1" y="1577022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19088" y="3899598"/>
            <a:ext cx="5431536" cy="329184"/>
          </a:xfrm>
          <a:prstGeom prst="rect">
            <a:avLst/>
          </a:prstGeom>
          <a:solidFill>
            <a:srgbClr val="E0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51342"/>
            <a:ext cx="241123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1" y="2198815"/>
            <a:ext cx="98616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1.1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1" y="2473135"/>
            <a:ext cx="288412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7454"/>
            <a:ext cx="26661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1.3 데이터 주제영역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21774"/>
            <a:ext cx="26661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1.4 시스템 아키텍처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1" y="3296093"/>
            <a:ext cx="3105337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3566"/>
            <a:ext cx="335540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2.1 전사 IT Zone 기반 구성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1" y="3917886"/>
            <a:ext cx="303801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2.2 시스템 노드 정의 및 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92206"/>
            <a:ext cx="244810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1" y="4466526"/>
            <a:ext cx="296106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40845"/>
            <a:ext cx="340029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3. 물리 인프라 아키텍처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88318"/>
            <a:ext cx="215315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3.1 하드웨어 구성도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62638"/>
            <a:ext cx="23711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1" y="5636958"/>
            <a:ext cx="193514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11278"/>
            <a:ext cx="215315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3.4 소프트웨어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851342"/>
            <a:ext cx="359104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4. 데이터베이스 아키텍처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198815"/>
            <a:ext cx="251383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4.1 DB 아키텍처 구성도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1" y="2473135"/>
            <a:ext cx="229582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4.2 DB 이중화 구성도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747454"/>
            <a:ext cx="175400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4.3 OGG 구성도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1" y="3021774"/>
            <a:ext cx="361650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4.4 OLTP 및 대용량 배치 수행 방안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1" y="3296093"/>
            <a:ext cx="281038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643566"/>
            <a:ext cx="26661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5.1 서버 호스트 명명규칙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17886"/>
            <a:ext cx="223009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5.2 파일 시스템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1" y="4192206"/>
            <a:ext cx="171713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5.3 사용자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466526"/>
            <a:ext cx="223009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5.4 서비스 포트 현황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1" y="4740845"/>
            <a:ext cx="329609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088318"/>
            <a:ext cx="26661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62638"/>
            <a:ext cx="23711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2828"/>
                </a:solidFill>
                <a:latin typeface="Malgun Gothic"/>
              </a:rPr>
              <a:t>6.2 인터페이스 구성도</a:t>
            </a:r>
          </a:p>
        </p:txBody>
      </p:sp>
    </p:spTree>
    <p:extLst>
      <p:ext uri="{BB962C8B-B14F-4D97-AF65-F5344CB8AC3E}">
        <p14:creationId xmlns:p14="http://schemas.microsoft.com/office/powerpoint/2010/main" val="42408607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54062"/>
            <a:ext cx="36695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28"/>
                </a:solidFill>
                <a:latin typeface="Malgun Gothic"/>
              </a:rPr>
              <a:t>서버 호스트 명명규칙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89554" y="690055"/>
            <a:ext cx="1669047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5.1 서버 호스트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명명규칙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77022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77022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51342"/>
            <a:ext cx="11064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82828"/>
                </a:solidFill>
                <a:latin typeface="Malgun Gothic"/>
              </a:rPr>
              <a:t>서버 호스트명은 12자리, 소문자로 아래와 같은 명명 규칙을 적용함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793174"/>
            <a:ext cx="4892040" cy="274320"/>
          </a:xfrm>
          <a:prstGeom prst="rect">
            <a:avLst/>
          </a:prstGeom>
          <a:solidFill>
            <a:srgbClr val="223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hostname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4475670"/>
            <a:ext cx="256032" cy="256032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334" y="4850574"/>
            <a:ext cx="3690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+</a:t>
            </a:r>
          </a:p>
        </p:txBody>
      </p:sp>
      <p:sp>
        <p:nvSpPr>
          <p:cNvPr id="12" name="Oval 11"/>
          <p:cNvSpPr/>
          <p:nvPr/>
        </p:nvSpPr>
        <p:spPr>
          <a:xfrm>
            <a:off x="1865376" y="4475670"/>
            <a:ext cx="256032" cy="256032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5608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1222" y="4850574"/>
            <a:ext cx="3690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+</a:t>
            </a:r>
          </a:p>
        </p:txBody>
      </p:sp>
      <p:sp>
        <p:nvSpPr>
          <p:cNvPr id="18" name="Oval 17"/>
          <p:cNvSpPr/>
          <p:nvPr/>
        </p:nvSpPr>
        <p:spPr>
          <a:xfrm>
            <a:off x="2706624" y="4475670"/>
            <a:ext cx="256032" cy="256032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3744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5854" y="4850574"/>
            <a:ext cx="3690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+</a:t>
            </a:r>
          </a:p>
        </p:txBody>
      </p:sp>
      <p:sp>
        <p:nvSpPr>
          <p:cNvPr id="21" name="Oval 20"/>
          <p:cNvSpPr/>
          <p:nvPr/>
        </p:nvSpPr>
        <p:spPr>
          <a:xfrm>
            <a:off x="3191256" y="4475670"/>
            <a:ext cx="256032" cy="256032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08376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0486" y="4850574"/>
            <a:ext cx="3690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+</a:t>
            </a:r>
          </a:p>
        </p:txBody>
      </p:sp>
      <p:sp>
        <p:nvSpPr>
          <p:cNvPr id="24" name="Oval 23"/>
          <p:cNvSpPr/>
          <p:nvPr/>
        </p:nvSpPr>
        <p:spPr>
          <a:xfrm>
            <a:off x="3858768" y="4475670"/>
            <a:ext cx="256032" cy="256032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93008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6870" y="4850574"/>
            <a:ext cx="3690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+</a:t>
            </a:r>
          </a:p>
        </p:txBody>
      </p:sp>
      <p:sp>
        <p:nvSpPr>
          <p:cNvPr id="28" name="Oval 27"/>
          <p:cNvSpPr/>
          <p:nvPr/>
        </p:nvSpPr>
        <p:spPr>
          <a:xfrm>
            <a:off x="4645152" y="4475670"/>
            <a:ext cx="256032" cy="256032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1144" y="4859718"/>
            <a:ext cx="2468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82828"/>
                </a:solidFill>
                <a:latin typeface="Malgun 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966143"/>
            <a:ext cx="128112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latin typeface="Malgun Gothic"/>
              </a:rPr>
              <a:t>■ 작성 예시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176454"/>
            <a:ext cx="4892040" cy="10241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249606"/>
            <a:ext cx="3525324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82828"/>
                </a:solidFill>
                <a:latin typeface="Malgun Gothic"/>
              </a:rPr>
              <a:t>• [운영] 마케팅플랫폼 WEB #01 : sbmpcolowb01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9" y="6377621"/>
            <a:ext cx="3437159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82828"/>
                </a:solidFill>
                <a:latin typeface="Malgun Gothic"/>
              </a:rPr>
              <a:t>• [DR] 마케팅플랫폼 WEB #51 : sbmpcolowb51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05638"/>
            <a:ext cx="349005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82828"/>
                </a:solidFill>
                <a:latin typeface="Malgun Gothic"/>
              </a:rPr>
              <a:t>• [개발] 마케팅플랫폼 WEB #01 : sbmpcoltwb01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9" y="6633654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9" y="6761670"/>
            <a:ext cx="3494867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82828"/>
                </a:solidFill>
                <a:latin typeface="Malgun Gothic"/>
              </a:rPr>
              <a:t>• [운영] RDW 어플라이언스 #01 : sbrdcoxodb01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889686"/>
            <a:ext cx="3406702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82828"/>
                </a:solidFill>
                <a:latin typeface="Malgun Gothic"/>
              </a:rPr>
              <a:t>• [DR] RDW 어플라이언스 #51 : sbrdcoxodb51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9" y="7017702"/>
            <a:ext cx="3459601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82828"/>
                </a:solidFill>
                <a:latin typeface="Malgun Gothic"/>
              </a:rPr>
              <a:t>• [개발] RDW 어플라이언스 #01 : sbrdcoxtdb01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59552" y="2902902"/>
            <a:ext cx="6016752" cy="292608"/>
          </a:xfrm>
          <a:prstGeom prst="rect">
            <a:avLst/>
          </a:prstGeom>
          <a:solidFill>
            <a:srgbClr val="22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항목 설명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9552" y="3213798"/>
            <a:ext cx="6016752" cy="3931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705856" y="3414966"/>
            <a:ext cx="201168" cy="201168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9" y="3387535"/>
            <a:ext cx="8867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2828"/>
                </a:solidFill>
                <a:latin typeface="Malgun Gothic"/>
              </a:rPr>
              <a:t>법인 (2)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3" y="3597847"/>
            <a:ext cx="12218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상호금융 : sb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7073" y="3597847"/>
            <a:ext cx="1202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금융지주 : fg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3" y="3735007"/>
            <a:ext cx="21034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중앙회(상호금융제외) : nh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3" y="3735007"/>
            <a:ext cx="12346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경제지주 : 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3" y="3872167"/>
            <a:ext cx="9364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은행 : nb</a:t>
            </a:r>
          </a:p>
        </p:txBody>
      </p:sp>
      <p:sp>
        <p:nvSpPr>
          <p:cNvPr id="49" name="Oval 48"/>
          <p:cNvSpPr/>
          <p:nvPr/>
        </p:nvSpPr>
        <p:spPr>
          <a:xfrm>
            <a:off x="5705856" y="4064190"/>
            <a:ext cx="201168" cy="201168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4036759"/>
            <a:ext cx="327525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2828"/>
                </a:solidFill>
                <a:latin typeface="Malgun Gothic"/>
              </a:rPr>
              <a:t>대구분 코드(2) + 업무구분 코드 (2)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2" y="4247071"/>
            <a:ext cx="26452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※ 어플리케이션 코드 정의서 참조</a:t>
            </a:r>
          </a:p>
        </p:txBody>
      </p:sp>
      <p:sp>
        <p:nvSpPr>
          <p:cNvPr id="52" name="Oval 51"/>
          <p:cNvSpPr/>
          <p:nvPr/>
        </p:nvSpPr>
        <p:spPr>
          <a:xfrm>
            <a:off x="5705856" y="4439094"/>
            <a:ext cx="201168" cy="201168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9" y="4411663"/>
            <a:ext cx="8867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2828"/>
                </a:solidFill>
                <a:latin typeface="Malgun Gothic"/>
              </a:rPr>
              <a:t>서버 (1)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9632" y="4621975"/>
            <a:ext cx="11272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Unix-IBM : 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4621975"/>
            <a:ext cx="15215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Linux(EMC/HP) : 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9633" y="4759135"/>
            <a:ext cx="11063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Unix-HP : 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77072" y="4759135"/>
            <a:ext cx="18085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Window(EMC/HP) : 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9632" y="4896295"/>
            <a:ext cx="13548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Unix-Oracle : 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77073" y="4896295"/>
            <a:ext cx="15953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Exadata(Oracle) : x</a:t>
            </a:r>
          </a:p>
        </p:txBody>
      </p:sp>
      <p:sp>
        <p:nvSpPr>
          <p:cNvPr id="60" name="Oval 59"/>
          <p:cNvSpPr/>
          <p:nvPr/>
        </p:nvSpPr>
        <p:spPr>
          <a:xfrm>
            <a:off x="5705856" y="5088318"/>
            <a:ext cx="201168" cy="201168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61889" y="5060887"/>
            <a:ext cx="8867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2828"/>
                </a:solidFill>
                <a:latin typeface="Malgun Gothic"/>
              </a:rPr>
              <a:t>운영 (1)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9633" y="5271199"/>
            <a:ext cx="11544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운영서버 : 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2" y="5408359"/>
            <a:ext cx="11368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검증서버 : 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9632" y="5545519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개발서버 : t</a:t>
            </a:r>
          </a:p>
        </p:txBody>
      </p:sp>
      <p:sp>
        <p:nvSpPr>
          <p:cNvPr id="65" name="Oval 64"/>
          <p:cNvSpPr/>
          <p:nvPr/>
        </p:nvSpPr>
        <p:spPr>
          <a:xfrm>
            <a:off x="5705856" y="5737542"/>
            <a:ext cx="201168" cy="201168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61889" y="5710111"/>
            <a:ext cx="8867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2828"/>
                </a:solidFill>
                <a:latin typeface="Malgun Gothic"/>
              </a:rPr>
              <a:t>용도 (2)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3" y="5920423"/>
            <a:ext cx="11160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AP서버 : 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77072" y="5920423"/>
            <a:ext cx="12330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백업서버 : bk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2" y="6057583"/>
            <a:ext cx="11400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DB서버 : db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77072" y="6057583"/>
            <a:ext cx="12073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배치서버 : bt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6194743"/>
            <a:ext cx="12779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WEB서버 : wb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77073" y="6194743"/>
            <a:ext cx="11355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ETL 서버 : tl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99632" y="6331903"/>
            <a:ext cx="12606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WAS서버 : ws</a:t>
            </a:r>
          </a:p>
        </p:txBody>
      </p:sp>
      <p:sp>
        <p:nvSpPr>
          <p:cNvPr id="74" name="Oval 73"/>
          <p:cNvSpPr/>
          <p:nvPr/>
        </p:nvSpPr>
        <p:spPr>
          <a:xfrm>
            <a:off x="5705856" y="6523926"/>
            <a:ext cx="201168" cy="201168"/>
          </a:xfrm>
          <a:prstGeom prst="ellipse">
            <a:avLst/>
          </a:prstGeom>
          <a:solidFill>
            <a:srgbClr val="EBE8A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61889" y="6496495"/>
            <a:ext cx="8867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2828"/>
                </a:solidFill>
                <a:latin typeface="Malgun Gothic"/>
              </a:rPr>
              <a:t>순번 (2)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3" y="6706807"/>
            <a:ext cx="17556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주센터(의왕) : 01~49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99633" y="6843967"/>
            <a:ext cx="18069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Malgun Gothic"/>
              </a:rPr>
              <a:t>• DR센터(안성) : 51~99</a:t>
            </a:r>
          </a:p>
        </p:txBody>
      </p:sp>
    </p:spTree>
    <p:extLst>
      <p:ext uri="{BB962C8B-B14F-4D97-AF65-F5344CB8AC3E}">
        <p14:creationId xmlns:p14="http://schemas.microsoft.com/office/powerpoint/2010/main" val="42718471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754062"/>
            <a:ext cx="29514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28"/>
                </a:solidFill>
                <a:latin typeface="Malgun Gothic"/>
              </a:rPr>
              <a:t>파일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9404" y="690055"/>
            <a:ext cx="17491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5.2 파일 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77022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77022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51342"/>
            <a:ext cx="11064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82828"/>
                </a:solidFill>
                <a:latin typeface="Malgun Gothic"/>
              </a:rPr>
              <a:t>Linux OS 표준 파일시스템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2610293"/>
          <a:ext cx="114300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963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</a:rPr>
                        <a:t>Volume Group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</a:rPr>
                        <a:t>Mount Point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63">
                <a:tc rowSpan="12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82828"/>
                          </a:solidFill>
                          <a:latin typeface="Malgun Gothic"/>
                        </a:rPr>
                        <a:t>/dev/mapper/vg_os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root 디렉토리, 모든 디렉토리의 시작점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/boot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부트 로더 디렉토리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/etc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시스템 전역 설정 파일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/dev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시스템 디바이스 (장치파일)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/root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root 계정 홈 디렉토리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/usr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일반사용자들 공통 파일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/home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사용자 계정의 홈 디렉토리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/tmp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임시 파일 저장소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/var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시스템 운용 중에 생성되는 임시 데이터 및 로그 저장소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/var/crash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시스템 덤프 파일 저장소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963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/userdir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업무 계정 홈 저장소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97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/그 외 SW명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82828"/>
                          </a:solidFill>
                          <a:latin typeface="Malgun Gothic"/>
                        </a:rPr>
                        <a:t>WEB, WAS, 서버보안, 관제 등 시스템 소프트웨어 설치 디렉토리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1" y="6953694"/>
            <a:ext cx="518763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2828"/>
                </a:solidFill>
                <a:latin typeface="Malgun Gothic"/>
              </a:rPr>
              <a:t>※ 업무 구분 및 특성에 따라 파일시스템 명명 규칙 및 할당 위치는 변경 될 수 있음</a:t>
            </a:r>
          </a:p>
        </p:txBody>
      </p:sp>
    </p:spTree>
    <p:extLst>
      <p:ext uri="{BB962C8B-B14F-4D97-AF65-F5344CB8AC3E}">
        <p14:creationId xmlns:p14="http://schemas.microsoft.com/office/powerpoint/2010/main" val="850548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754062"/>
            <a:ext cx="29514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28"/>
                </a:solidFill>
                <a:latin typeface="Malgun Gothic"/>
              </a:rPr>
              <a:t>파일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9404" y="690055"/>
            <a:ext cx="17491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5.2 파일 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77022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77022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51342"/>
            <a:ext cx="11064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82828"/>
                </a:solidFill>
                <a:latin typeface="Malgun Gothic"/>
              </a:rPr>
              <a:t>AP, DB 서버의 디렉토리는 크게 3가지로 분류한다.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6032" y="2537142"/>
          <a:ext cx="115671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4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용도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기본 디렉토리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HA 적용시스템 디렉토리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Program Area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프로그램 및 Schema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/pgm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/pgm_hostname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Application Log Area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프로그램 실행 시 발생되는 로그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/aplog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/aplog_hostname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Data Area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프로그램 실행 시 입ㆍ출력되는 파일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/userdir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/userdir_hostname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Oracle S/W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오라클 데이터베이스 엔진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/nhod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서버보안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서버보안(Secuve TOS) 설치 디렉토리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/usr/local/TOS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서버운영 관리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서버운영 관리 설치 디렉토리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/sepa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배치작업 관리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배치작업 관리 설치 디렉토리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/seba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4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SMS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SMS(HP Overview) Agent 설치 디렉토리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/SMS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4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통합관제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통합관제(perfmon) Agent 설치 디렉토리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/SMT/perfmon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82828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3" y="6880542"/>
            <a:ext cx="518763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2828"/>
                </a:solidFill>
                <a:latin typeface="Malgun Gothic"/>
              </a:rPr>
              <a:t>※ 업무 구분 및 특성에 따라 파일시스템 명명 규칙 및 할당 위치는 변경 될 수 있음</a:t>
            </a:r>
          </a:p>
        </p:txBody>
      </p:sp>
    </p:spTree>
    <p:extLst>
      <p:ext uri="{BB962C8B-B14F-4D97-AF65-F5344CB8AC3E}">
        <p14:creationId xmlns:p14="http://schemas.microsoft.com/office/powerpoint/2010/main" val="2125524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1" y="754062"/>
            <a:ext cx="21066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28"/>
                </a:solidFill>
                <a:latin typeface="Malgun Gothic"/>
              </a:rPr>
              <a:t>사용자 계정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89554" y="690055"/>
            <a:ext cx="16690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5.3 사용자 계정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77022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77022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51343"/>
            <a:ext cx="11064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82828"/>
                </a:solidFill>
                <a:latin typeface="Malgun Gothic"/>
              </a:rPr>
              <a:t>서버 접속 및 소프트웨어 설치를 위한 사용자 계정은 동일한 권한을 가질 수 있도록 전 시스템에</a:t>
            </a:r>
          </a:p>
          <a:p>
            <a:r>
              <a:rPr sz="2100">
                <a:solidFill>
                  <a:srgbClr val="282828"/>
                </a:solidFill>
                <a:latin typeface="Malgun Gothic"/>
              </a:rPr>
              <a:t>동일하게 부여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2829750"/>
          <a:ext cx="11841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계정 항목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계정 구분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계정명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그룹명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82828"/>
                          </a:solidFill>
                          <a:latin typeface="Malgun Gothic"/>
                        </a:rPr>
                        <a:t>엔진계정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WEB 서버(apache) 엔진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Apache WEB 서버 엔진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WAS 서버(tomcat) 엔진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tomcat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tomcat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Tomcat WAS 서버 엔진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82828"/>
                          </a:solidFill>
                          <a:latin typeface="Malgun Gothic"/>
                        </a:rPr>
                        <a:t>업무계정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업무팀 사용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□□□□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□□□□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□□□□ : 어플리케이션 코드 (대 구분코드(2) + 업무구분 코드(2))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그룹명은 관련 그룹명을 할당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(ex. WEB 업무는 apache 그룹, WAS 업무는 tomcat 그룹)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rowSpan="10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82828"/>
                          </a:solidFill>
                          <a:latin typeface="Malgun Gothic"/>
                        </a:rPr>
                        <a:t>사용자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282828"/>
                          </a:solidFill>
                          <a:latin typeface="Malgun Gothic"/>
                        </a:rPr>
                        <a:t>계정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828"/>
                          </a:solidFill>
                          <a:latin typeface="Malgun Gothic"/>
                        </a:rPr>
                        <a:t>솔루션 계정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Nexus 오픈소스 저장소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nexus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cicd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라이브러리 소프트웨어 설치 및 관리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SQL 품질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openpop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openpop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SQL품질 프로그램 설치 및 관리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828"/>
                          </a:solidFill>
                          <a:latin typeface="Malgun Gothic"/>
                        </a:rPr>
                        <a:t>ETL 계정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DataStage 관리자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dsadm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dstage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DataStage 관리자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Websphere Application Server 관리자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wasadm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dstage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Websphere Application Server 관리자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 Instance 소유자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db2inst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db2grp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 Instance 소유자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 Fenced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db2fenc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db2grp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 Fenced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Metadata Repository 소유자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xmeta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db2grp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Metadata Repository 소유자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Metadata Repository 사용자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xmetasr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db2grp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Metadata Repository 사용자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Operation Database 소유자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dsodb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db2grp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Operation Database 소유자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82828"/>
                          </a:solidFill>
                          <a:latin typeface="Malgun Gothic"/>
                        </a:rPr>
                        <a:t>오라클 계정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오라클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oragrid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Oracle Database 계정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1" y="6743382"/>
            <a:ext cx="50802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828"/>
                </a:solidFill>
                <a:latin typeface="Malgun Gothic"/>
              </a:rPr>
              <a:t>※ □□□□□ → 대구분 코드(2) + 업무구분 코드(2) : 어플리케이션 코드 정의서 참조</a:t>
            </a:r>
          </a:p>
          <a:p>
            <a:r>
              <a:rPr sz="1000">
                <a:solidFill>
                  <a:srgbClr val="282828"/>
                </a:solidFill>
                <a:latin typeface="Malgun Gothic"/>
              </a:rPr>
              <a:t>※ 업무구분 및 특성에 따라 시스템 사용자 계정 명명 규칙은 변경 될 수 있음</a:t>
            </a:r>
          </a:p>
        </p:txBody>
      </p:sp>
    </p:spTree>
    <p:extLst>
      <p:ext uri="{BB962C8B-B14F-4D97-AF65-F5344CB8AC3E}">
        <p14:creationId xmlns:p14="http://schemas.microsoft.com/office/powerpoint/2010/main" val="5374780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54062"/>
            <a:ext cx="25923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28"/>
                </a:solidFill>
                <a:latin typeface="Malgun Gothic"/>
              </a:rPr>
              <a:t>서버 포트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9404" y="690055"/>
            <a:ext cx="17491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5.4 서비스 포트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77022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77022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51342"/>
            <a:ext cx="11064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82828"/>
                </a:solidFill>
                <a:latin typeface="Malgun Gothic"/>
              </a:rPr>
              <a:t>서버와 서버간 서비스를 위한 방화벽 포트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2628582"/>
          <a:ext cx="1143000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포트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50800" marR="50800" marT="25400" marB="25400">
                    <a:solidFill>
                      <a:srgbClr val="287C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OS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SSH/SFTP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서버 접속 및 파일 송수신을 위한 포트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WEB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80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WEB서버 서비스 포트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WAS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Tomcat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8080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WAS서버 서비스 포트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DBMS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Oracle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15310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DBMS 서비스 포트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개발환경 서비스 포트 1531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단말UI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WebTopSuite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데이터품질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DQ Miner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비즈메타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Meta Miner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데이터흐름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Data Hawk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CDC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Oracle Golden Gate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728">
                <a:tc row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82828"/>
                          </a:solidFill>
                          <a:latin typeface="Malgun Gothic"/>
                        </a:rPr>
                        <a:t>BI 포탈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Data Eye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72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BI MATRIX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마케팅 플랫폼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Kafka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DataStage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소스관리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GitLab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80, 443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배포관리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GitLab Runner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SQL 품질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OpenPOP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672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이행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82828"/>
                          </a:solidFill>
                          <a:latin typeface="Malgun Gothic"/>
                        </a:rPr>
                        <a:t>SQL Canvas</a:t>
                      </a:r>
                    </a:p>
                  </a:txBody>
                  <a:tcPr marL="50800" marR="50800" marT="25400" marB="25400">
                    <a:solidFill>
                      <a:srgbClr val="C4D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6093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46520" y="5051742"/>
            <a:ext cx="5257800" cy="347472"/>
          </a:xfrm>
          <a:prstGeom prst="rect">
            <a:avLst/>
          </a:prstGeom>
          <a:solidFill>
            <a:srgbClr val="E0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08744"/>
            <a:ext cx="493776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300" b="1">
                <a:solidFill>
                  <a:srgbClr val="282828"/>
                </a:solidFill>
                <a:latin typeface="Malgun Gothic"/>
              </a:rPr>
              <a:t>1. 아키텍처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881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1.1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7313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1.2 어플리케이션 분류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7453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1.3 데이터 주제영역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21773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1.4 시스템 아키텍처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3495"/>
            <a:ext cx="493776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300" b="1">
                <a:solidFill>
                  <a:srgbClr val="282828"/>
                </a:solidFill>
                <a:latin typeface="Malgun Gothic"/>
              </a:rPr>
              <a:t>2. 논리 기술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356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2.1 전사 IT Zone 기반 구성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1788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2.2 시스템 노드 정의 및 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9220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2.3 기술 컴포넌트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652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2.4 논리 기술 아키텍처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8247"/>
            <a:ext cx="493776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300" b="1">
                <a:solidFill>
                  <a:srgbClr val="282828"/>
                </a:solidFill>
                <a:latin typeface="Malgun Gothic"/>
              </a:rPr>
              <a:t>3. 물리 인프라 아키텍처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88317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3.1 하드웨어 구성도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62637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3.2 소프트웨어 구성도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36957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3.3 하드웨어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11277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3.4 소프트웨어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08744"/>
            <a:ext cx="493776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300" b="1">
                <a:solidFill>
                  <a:srgbClr val="282828"/>
                </a:solidFill>
                <a:latin typeface="Malgun Gothic"/>
              </a:rPr>
              <a:t>4. 데이터베이스 아키텍처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9881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4.1 DB 아키텍처 구성도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73134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4.2 DB 이중화 구성도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47453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4.3 OGG 구성도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21773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4.4 OLTP 및 대용량 배치 수행 방안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53495"/>
            <a:ext cx="493776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300" b="1">
                <a:solidFill>
                  <a:srgbClr val="282828"/>
                </a:solidFill>
                <a:latin typeface="Malgun Gothic"/>
              </a:rPr>
              <a:t>5. 시스템 표준 정의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4356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5.1 서버 호스트 명명규칙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1788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5.2 파일 시스템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9220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5.3 사용자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466525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5.4 서비스 포트 현황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98247"/>
            <a:ext cx="493776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88317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62637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>
                <a:solidFill>
                  <a:srgbClr val="282828"/>
                </a:solidFill>
                <a:latin typeface="Malgun Gothic"/>
              </a:rPr>
              <a:t>6.2 인터페이스 구성도</a:t>
            </a:r>
          </a:p>
        </p:txBody>
      </p:sp>
    </p:spTree>
    <p:extLst>
      <p:ext uri="{BB962C8B-B14F-4D97-AF65-F5344CB8AC3E}">
        <p14:creationId xmlns:p14="http://schemas.microsoft.com/office/powerpoint/2010/main" val="22416451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정보계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731575"/>
            <a:ext cx="11155680" cy="605294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>
                <a:solidFill>
                  <a:srgbClr val="282828"/>
                </a:solidFill>
                <a:latin typeface="Malgun Gothic"/>
              </a:rPr>
              <a:t>시스템 간 자원 경합을 최소화함으로써 플랫폼 독립성을 유지할 수 있도록 차세대 정보계의 온라인, 데이터, 파일 연계를 수행할 인터페이스 원칙을 수립함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82862"/>
            <a:ext cx="4572000" cy="384048"/>
          </a:xfrm>
          <a:prstGeom prst="rect">
            <a:avLst/>
          </a:prstGeom>
          <a:solidFill>
            <a:srgbClr val="253732"/>
          </a:solidFill>
          <a:ln>
            <a:solidFill>
              <a:srgbClr val="25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차세대 정보계 시스템 구축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94343"/>
            <a:ext cx="4572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171755"/>
            <a:ext cx="4114800" cy="605294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b="1">
                <a:solidFill>
                  <a:srgbClr val="2E8354"/>
                </a:solidFill>
                <a:latin typeface="Malgun Gothic"/>
              </a:rPr>
              <a:t>“도메인 특성을 고려한 서비스 플랫폼 독립 정의”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535"/>
            <a:ext cx="393192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▪ 온라인 AP / 배치 AP 자원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50640"/>
            <a:ext cx="3657600" cy="22826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온라인 실시간 거래와 배치 처리 자원 충돌방지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71183"/>
            <a:ext cx="393192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▪ ETL 서버 독립 서버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486318"/>
            <a:ext cx="3657600" cy="58221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DataStage 기반 대량 배치 데이터 가공/정제 전용 공간으로</a:t>
            </a:r>
          </a:p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대량 배치 공간 마련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83831"/>
            <a:ext cx="393192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▪ 이벤트 서버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275936"/>
            <a:ext cx="3657600" cy="22826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Kafka 이벤트 스트리밍 전용 고속 실시간 고객 오퍼링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96479"/>
            <a:ext cx="393192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▪ CDC 중계서버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800100"/>
            <a:ext cx="3657600" cy="4052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계정계 원천 DB의 변경사항 실시간 캡처, 원천 DB 부하 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209127"/>
            <a:ext cx="393192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▪ ADW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6501232"/>
            <a:ext cx="3657600" cy="22826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전략 분석 전용 대용량 데이터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821774"/>
            <a:ext cx="393192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▪ RDW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7113880"/>
            <a:ext cx="3657600" cy="22826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실시간 OLTP 운영 관리로 CDC로 수집된 데이터 관리</a:t>
            </a:r>
          </a:p>
        </p:txBody>
      </p:sp>
      <p:sp>
        <p:nvSpPr>
          <p:cNvPr id="22" name="Chevron 21"/>
          <p:cNvSpPr/>
          <p:nvPr/>
        </p:nvSpPr>
        <p:spPr>
          <a:xfrm>
            <a:off x="5166360" y="4503101"/>
            <a:ext cx="502920" cy="1051560"/>
          </a:xfrm>
          <a:prstGeom prst="chevron">
            <a:avLst/>
          </a:prstGeom>
          <a:solidFill>
            <a:srgbClr val="8D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582862"/>
            <a:ext cx="5349240" cy="384048"/>
          </a:xfrm>
          <a:prstGeom prst="rect">
            <a:avLst/>
          </a:prstGeom>
          <a:solidFill>
            <a:srgbClr val="253732"/>
          </a:solidFill>
          <a:ln>
            <a:solidFill>
              <a:srgbClr val="25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차세대 정보계 인터페이스 원칙 정의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067494"/>
            <a:ext cx="5349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067494"/>
            <a:ext cx="5349240" cy="274320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72784" y="3122358"/>
            <a:ext cx="137160" cy="137160"/>
          </a:xfrm>
          <a:prstGeom prst="ellipse">
            <a:avLst/>
          </a:prstGeom>
          <a:solidFill>
            <a:srgbClr val="567C69"/>
          </a:solidFill>
          <a:ln>
            <a:solidFill>
              <a:srgbClr val="56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3045303"/>
            <a:ext cx="219456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온라인 인터페이스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297542"/>
            <a:ext cx="4663440" cy="436017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정보계 어플리케이션 시스템은 json/http 방식으로 프로토콜 일원화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31466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GUID 기반 전문 적용으로 거래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69209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이벤트 데이터 Streaming은 Kafka로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06953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시스템 간 연계는 API Gateway (Cruz APIM) 로 일원화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85094"/>
            <a:ext cx="4663440" cy="436017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→ API Gateway와 EAI 간 연계는 인터페이스 솔루션 내부에서 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713414"/>
            <a:ext cx="5349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713414"/>
            <a:ext cx="5349240" cy="274320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272784" y="4768278"/>
            <a:ext cx="137160" cy="137160"/>
          </a:xfrm>
          <a:prstGeom prst="ellipse">
            <a:avLst/>
          </a:prstGeom>
          <a:solidFill>
            <a:srgbClr val="567C69"/>
          </a:solidFill>
          <a:ln>
            <a:solidFill>
              <a:srgbClr val="56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28232" y="4691223"/>
            <a:ext cx="219456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데이터 인터페이스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39642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실시간 데이터 동기화는 CDC로 처리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77386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배치 처리 데이터 동기화는 ETL로 처리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6039294"/>
            <a:ext cx="5349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6039294"/>
            <a:ext cx="5349240" cy="274320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272784" y="6094158"/>
            <a:ext cx="137160" cy="137160"/>
          </a:xfrm>
          <a:prstGeom prst="ellipse">
            <a:avLst/>
          </a:prstGeom>
          <a:solidFill>
            <a:srgbClr val="567C69"/>
          </a:solidFill>
          <a:ln>
            <a:solidFill>
              <a:srgbClr val="567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28232" y="6017103"/>
            <a:ext cx="2194560" cy="28212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282828"/>
                </a:solidFill>
                <a:latin typeface="Malgun Gothic"/>
              </a:rPr>
              <a:t>파일 인터페이스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365522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▪ 파일 연계는 FOS로 일원화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639842"/>
            <a:ext cx="4663440" cy="24365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>
                <a:solidFill>
                  <a:srgbClr val="282828"/>
                </a:solidFill>
                <a:latin typeface="Malgun Gothic"/>
              </a:rPr>
              <a:t>→ FOS 와 MFT 간 연계는 인터페이스 솔루션 내부에서 처리</a:t>
            </a:r>
          </a:p>
        </p:txBody>
      </p:sp>
    </p:spTree>
    <p:extLst>
      <p:ext uri="{BB962C8B-B14F-4D97-AF65-F5344CB8AC3E}">
        <p14:creationId xmlns:p14="http://schemas.microsoft.com/office/powerpoint/2010/main" val="42527945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온라인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851342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소스 ➜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인터페이스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시스템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➜ 타겟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온라인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통합업무시스템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영업점 MCA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대면 채널 전사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비대면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채널</a:t>
                      </a:r>
                      <a:endParaRPr sz="1200" b="0" dirty="0">
                        <a:solidFill>
                          <a:srgbClr val="282828"/>
                        </a:solidFill>
                        <a:latin typeface="Malgun Gothic"/>
                      </a:endParaRP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MCI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비대면 채널 전사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 단말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대면 채널 인터페이스, 인터페이스 시스템 경유 없이 거래 처리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패키지 UI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 솔루션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패키지 솔루션 UI 인터페이스, 인터페이스 시스템 경유 없이 거래 처리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API G/W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대내 시스템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정보계와 대내 시스템 간 전사 표준 인터페이스는 API G/W (CruzAPIM)를 경유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대내 시스템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API G/W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대내 시스템과 정보계 간 전사 표준 인터페이스는 API G/W (CruzAPIM)를 경유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API G/W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대외 기관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대외 기관 전문 연계 전사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대외 기관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API G/W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▪ 대외 기관 전문 연계 전사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타 법인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GSE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▪ 타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법인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(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은행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)과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 간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전사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표준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인터페이스는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GSE를</a:t>
                      </a:r>
                      <a:r>
                        <a:rPr sz="1200" b="0" dirty="0">
                          <a:solidFill>
                            <a:srgbClr val="282828"/>
                          </a:solidFill>
                          <a:latin typeface="Malgun Gothi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82828"/>
                          </a:solidFill>
                          <a:latin typeface="Malgun Gothic"/>
                        </a:rPr>
                        <a:t>경유</a:t>
                      </a:r>
                      <a:endParaRPr sz="1200" b="0" dirty="0">
                        <a:solidFill>
                          <a:srgbClr val="282828"/>
                        </a:solidFill>
                        <a:latin typeface="Malgun Gothic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6247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파일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91535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소스 ➜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인터페이스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시스템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➜ 타겟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파일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 단말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FOS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시스템 파일 전송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패키지 UI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FOS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 솔루션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시스템 파일 전송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FOS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대내 시스템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시스템 파일 전송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대내 시스템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FOS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시스템 파일 전송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FOS (대외MCA)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대외 기관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시스템 파일 전송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대외 기관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FOS (대외MCA)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시스템 파일 전송 표준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9860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데이터 인터페이스 표준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91535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소스 ➜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인터페이스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시스템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➜ 타겟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25400" marB="25400">
                    <a:solidFill>
                      <a:srgbClr val="2C4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코어뱅킹DB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CDC (실시간)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 DW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계정계 데이터 실시간 동기화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코어뱅킹DB BCV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정보계 DW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계정계 데이터 동기화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RDW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ADW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데이터 동기화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DW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타 시스템 DB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데이터 동기화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타 시스템 DB</a:t>
                      </a:r>
                    </a:p>
                  </a:txBody>
                  <a:tcPr marL="50800" marR="50800" marT="25400" marB="25400"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DW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82828"/>
                          </a:solidFill>
                          <a:latin typeface="Malgun Gothic"/>
                        </a:rPr>
                        <a:t>▪ 정보계 데이터 동기화 인터페이스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4092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인터페이스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6.1 인터페이스 표준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2217102"/>
            <a:ext cx="2331720" cy="4160520"/>
          </a:xfrm>
          <a:prstGeom prst="rect">
            <a:avLst/>
          </a:prstGeom>
          <a:solidFill>
            <a:srgbClr val="E9F4EF"/>
          </a:solidFill>
          <a:ln w="25400">
            <a:solidFill>
              <a:srgbClr val="2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362400"/>
            <a:ext cx="1645920" cy="3129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700" b="1">
                <a:solidFill>
                  <a:srgbClr val="282828"/>
                </a:solidFill>
                <a:latin typeface="Malgun Gothic"/>
              </a:rPr>
              <a:t>어플리케이션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4288" y="2582862"/>
            <a:ext cx="2011680" cy="201168"/>
          </a:xfrm>
          <a:prstGeom prst="rect">
            <a:avLst/>
          </a:prstGeom>
          <a:solidFill>
            <a:srgbClr val="2E8354"/>
          </a:solidFill>
          <a:ln>
            <a:solidFill>
              <a:srgbClr val="2E8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921190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미니 싱글뷰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Service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NH Cloud FWK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WAS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2921190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마케팅플랫폼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Service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NH Cloud FWK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WAS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4274501"/>
            <a:ext cx="749808" cy="6583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BI Portal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Data Eye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Spring Boot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WAS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4274501"/>
            <a:ext cx="749808" cy="6583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신용실적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Service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프레임워크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WAS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22776" y="4274501"/>
            <a:ext cx="502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Self BI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솔루션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Engine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WAS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5024310"/>
            <a:ext cx="713232" cy="4572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OLAP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Service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WAS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5024310"/>
            <a:ext cx="713232" cy="4572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OLAP AP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MSTR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5572950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비즈메타/데이터품질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솔루션 서비스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9272" y="5572950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데이터흐름관리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솔루션 서비스</a:t>
            </a:r>
          </a:p>
          <a:p>
            <a:pPr algn="ctr"/>
            <a:r>
              <a:rPr sz="1050">
                <a:solidFill>
                  <a:srgbClr val="282828"/>
                </a:solidFill>
                <a:latin typeface="Malgun Gothic"/>
              </a:rPr>
              <a:t>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288" y="4027614"/>
            <a:ext cx="2011680" cy="201168"/>
          </a:xfrm>
          <a:prstGeom prst="rect">
            <a:avLst/>
          </a:prstGeom>
          <a:solidFill>
            <a:srgbClr val="2E8354"/>
          </a:solidFill>
          <a:ln>
            <a:solidFill>
              <a:srgbClr val="2E8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5326062"/>
            <a:ext cx="2011680" cy="201168"/>
          </a:xfrm>
          <a:prstGeom prst="rect">
            <a:avLst/>
          </a:prstGeom>
          <a:solidFill>
            <a:srgbClr val="2E8354"/>
          </a:solidFill>
          <a:ln>
            <a:solidFill>
              <a:srgbClr val="2E8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76272" y="6176454"/>
            <a:ext cx="2304288" cy="164592"/>
          </a:xfrm>
          <a:prstGeom prst="rect">
            <a:avLst/>
          </a:prstGeom>
          <a:solidFill>
            <a:srgbClr val="686E69"/>
          </a:solidFill>
          <a:ln>
            <a:solidFill>
              <a:srgbClr val="68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2948622"/>
            <a:ext cx="822960" cy="137160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정보계 단말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" y="4320222"/>
            <a:ext cx="822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Package</a:t>
            </a:r>
          </a:p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" y="2537142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통합업무</a:t>
            </a:r>
          </a:p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217102"/>
            <a:ext cx="868680" cy="411480"/>
          </a:xfrm>
          <a:prstGeom prst="rect">
            <a:avLst/>
          </a:prstGeom>
          <a:solidFill>
            <a:srgbClr val="ED8142"/>
          </a:solidFill>
          <a:ln>
            <a:solidFill>
              <a:srgbClr val="ED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영업점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MCA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268662"/>
            <a:ext cx="8229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단말배포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524694"/>
            <a:ext cx="82296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단말관리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3255279"/>
            <a:ext cx="274320" cy="66684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>
                <a:solidFill>
                  <a:srgbClr val="282828"/>
                </a:solidFill>
                <a:latin typeface="Malgun Gothic"/>
              </a:rPr>
              <a:t>인증/인가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6514782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SMS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PUSH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6487350"/>
            <a:ext cx="6858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UMS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" y="6194742"/>
            <a:ext cx="50292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고객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행태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103302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Collector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7048" y="6149022"/>
            <a:ext cx="50292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6149913"/>
            <a:ext cx="1645920" cy="23596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algun Gothic"/>
              </a:rPr>
              <a:t>마케팅 이벤트 처리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6331902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고객행동 데이터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Kafka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6331902"/>
            <a:ext cx="5486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고객행태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6331902"/>
            <a:ext cx="731520" cy="274320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행동정보처리서버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Daemon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6331902"/>
            <a:ext cx="640080" cy="274320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실시간처리서버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EBM</a:t>
            </a:r>
          </a:p>
        </p:txBody>
      </p:sp>
      <p:sp>
        <p:nvSpPr>
          <p:cNvPr id="38" name="Oval 37"/>
          <p:cNvSpPr/>
          <p:nvPr/>
        </p:nvSpPr>
        <p:spPr>
          <a:xfrm>
            <a:off x="3456432" y="6578790"/>
            <a:ext cx="411480" cy="201168"/>
          </a:xfrm>
          <a:prstGeom prst="ellipse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이벤트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6789102"/>
            <a:ext cx="3108960" cy="164592"/>
          </a:xfrm>
          <a:prstGeom prst="rect">
            <a:avLst/>
          </a:prstGeom>
          <a:solidFill>
            <a:srgbClr val="686E69"/>
          </a:solidFill>
          <a:ln>
            <a:solidFill>
              <a:srgbClr val="68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4688" y="3542982"/>
            <a:ext cx="2423160" cy="1005840"/>
          </a:xfrm>
          <a:prstGeom prst="rect">
            <a:avLst/>
          </a:prstGeom>
          <a:solidFill>
            <a:srgbClr val="E9F4EF"/>
          </a:solidFill>
          <a:ln>
            <a:solidFill>
              <a:srgbClr val="2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32704" y="3661854"/>
            <a:ext cx="2148840" cy="201168"/>
          </a:xfrm>
          <a:prstGeom prst="rect">
            <a:avLst/>
          </a:prstGeom>
          <a:solidFill>
            <a:srgbClr val="2E8354"/>
          </a:solidFill>
          <a:ln>
            <a:solidFill>
              <a:srgbClr val="2E8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2432" y="3927030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RDW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실시간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DBMS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3992" y="3927030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ADW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대량분석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DBMS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0952" y="3542982"/>
            <a:ext cx="164592" cy="1005840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Database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857182"/>
            <a:ext cx="2011680" cy="320040"/>
          </a:xfrm>
          <a:prstGeom prst="rect">
            <a:avLst/>
          </a:prstGeom>
          <a:solidFill>
            <a:srgbClr val="ED8142"/>
          </a:solidFill>
          <a:ln>
            <a:solidFill>
              <a:srgbClr val="ED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API Gateway (Cruz APIM)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2445702"/>
            <a:ext cx="411480" cy="219456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EAI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2674302"/>
            <a:ext cx="146304" cy="347472"/>
          </a:xfrm>
          <a:prstGeom prst="rect">
            <a:avLst/>
          </a:prstGeom>
          <a:solidFill>
            <a:srgbClr val="ED8142"/>
          </a:solidFill>
          <a:ln>
            <a:solidFill>
              <a:srgbClr val="ED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CDC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32120" y="3314382"/>
            <a:ext cx="457200" cy="16459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CDC중계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13414"/>
            <a:ext cx="594360" cy="219456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MFT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115750"/>
            <a:ext cx="1417320" cy="201168"/>
          </a:xfrm>
          <a:prstGeom prst="rect">
            <a:avLst/>
          </a:prstGeom>
          <a:solidFill>
            <a:srgbClr val="ED8142"/>
          </a:solidFill>
          <a:ln>
            <a:solidFill>
              <a:srgbClr val="ED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FOS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5371782"/>
            <a:ext cx="1417320" cy="201168"/>
          </a:xfrm>
          <a:prstGeom prst="rect">
            <a:avLst/>
          </a:prstGeom>
          <a:solidFill>
            <a:srgbClr val="ED8142"/>
          </a:solidFill>
          <a:ln>
            <a:solidFill>
              <a:srgbClr val="ED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3792" y="4685982"/>
            <a:ext cx="347472" cy="41148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배치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2034222"/>
            <a:ext cx="1417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29600" y="2171382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코어 뱅킹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171382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연계 뱅킹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2171382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단위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9738360" y="2125662"/>
            <a:ext cx="411480" cy="320040"/>
          </a:xfrm>
          <a:prstGeom prst="ellipse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BCV</a:t>
            </a:r>
          </a:p>
        </p:txBody>
      </p:sp>
      <p:sp>
        <p:nvSpPr>
          <p:cNvPr id="58" name="Oval 57"/>
          <p:cNvSpPr/>
          <p:nvPr/>
        </p:nvSpPr>
        <p:spPr>
          <a:xfrm>
            <a:off x="8503920" y="2399981"/>
            <a:ext cx="384048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코어 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2474692"/>
            <a:ext cx="274320" cy="728405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282828"/>
                </a:solidFill>
                <a:latin typeface="Malgun Gothic"/>
              </a:rPr>
              <a:t>대외 MCA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0" y="2006790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NH생명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15600" y="2262822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NH손해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515600" y="2518854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NH 멤버스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2774886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농협신용보증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3030918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NH경제지주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15600" y="3286950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KT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0" y="3542982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Nice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0" y="3799014"/>
            <a:ext cx="105156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Ko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378440" y="3588702"/>
            <a:ext cx="114300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Legacy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69880" y="3835590"/>
            <a:ext cx="960120" cy="219456"/>
          </a:xfrm>
          <a:prstGeom prst="rect">
            <a:avLst/>
          </a:prstGeom>
          <a:solidFill>
            <a:srgbClr val="5C646D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카드정보계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9880" y="4128198"/>
            <a:ext cx="960120" cy="219456"/>
          </a:xfrm>
          <a:prstGeom prst="rect">
            <a:avLst/>
          </a:prstGeom>
          <a:solidFill>
            <a:srgbClr val="5C646D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카드DW / 회계관리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69880" y="4420806"/>
            <a:ext cx="960120" cy="219456"/>
          </a:xfrm>
          <a:prstGeom prst="rect">
            <a:avLst/>
          </a:prstGeom>
          <a:solidFill>
            <a:srgbClr val="5C646D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Malgun Gothic"/>
              </a:rPr>
              <a:t>리스크 관리 / ...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469880" y="4713414"/>
            <a:ext cx="9601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회계관리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69880" y="5006022"/>
            <a:ext cx="9601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리스크관리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69880" y="5298630"/>
            <a:ext cx="9601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경제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69880" y="5591238"/>
            <a:ext cx="9601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로우코드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99648" y="6091257"/>
            <a:ext cx="548640" cy="38985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>
                <a:solidFill>
                  <a:srgbClr val="282828"/>
                </a:solidFill>
                <a:latin typeface="Malgun Gothic"/>
              </a:rPr>
              <a:t>Big Data</a:t>
            </a:r>
          </a:p>
        </p:txBody>
      </p:sp>
      <p:sp>
        <p:nvSpPr>
          <p:cNvPr id="77" name="Oval 76"/>
          <p:cNvSpPr/>
          <p:nvPr/>
        </p:nvSpPr>
        <p:spPr>
          <a:xfrm>
            <a:off x="10881360" y="6377622"/>
            <a:ext cx="457200" cy="201168"/>
          </a:xfrm>
          <a:prstGeom prst="ellipse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498079" y="6304470"/>
            <a:ext cx="1051560" cy="201168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통합개발 환경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16368" y="6523926"/>
            <a:ext cx="1005840" cy="14630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GitLab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16368" y="6688517"/>
            <a:ext cx="1005840" cy="14630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GitLab Runner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16368" y="6853110"/>
            <a:ext cx="1005840" cy="14630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NEXUS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32520" y="6240462"/>
            <a:ext cx="32004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통합관리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70264" y="6240462"/>
            <a:ext cx="32004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FDS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08008" y="6240462"/>
            <a:ext cx="32004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ITSM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45752" y="6240462"/>
            <a:ext cx="32004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배치작업</a:t>
            </a:r>
          </a:p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관리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9720" y="6240462"/>
            <a:ext cx="27432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단말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18904" y="6240462"/>
            <a:ext cx="27432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FWK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48088" y="6240462"/>
            <a:ext cx="27432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마케팅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77272" y="6240462"/>
            <a:ext cx="27432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282828"/>
                </a:solidFill>
                <a:latin typeface="Malgun Gothic"/>
              </a:rPr>
              <a:t>BI포탈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15400" y="6514782"/>
            <a:ext cx="1645920" cy="14630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>
                <a:solidFill>
                  <a:srgbClr val="282828"/>
                </a:solidFill>
                <a:latin typeface="Malgun Gothic"/>
              </a:rPr>
              <a:t>용어 배포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15400" y="6679374"/>
            <a:ext cx="1645920" cy="14630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>
                <a:solidFill>
                  <a:srgbClr val="282828"/>
                </a:solidFill>
                <a:latin typeface="Malgun Gothic"/>
              </a:rPr>
              <a:t>소스 배포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23960" y="6880542"/>
            <a:ext cx="1920240" cy="164592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Malgun Gothic"/>
              </a:rPr>
              <a:t>eCAMS 연계정보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43984" y="5975286"/>
            <a:ext cx="384048" cy="256032"/>
          </a:xfrm>
          <a:prstGeom prst="rect">
            <a:avLst/>
          </a:prstGeom>
          <a:solidFill>
            <a:srgbClr val="363636"/>
          </a:solidFill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Malgun Gothic"/>
              </a:rPr>
              <a:t>LLM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645920" y="2427414"/>
            <a:ext cx="5029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60120" y="3634422"/>
            <a:ext cx="11887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69264" y="4594542"/>
            <a:ext cx="1179576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554480" y="6267894"/>
            <a:ext cx="5943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480560" y="4594542"/>
            <a:ext cx="850392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828032" y="3634422"/>
            <a:ext cx="143560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828032" y="3012630"/>
            <a:ext cx="1435608" cy="210312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936992" y="5079174"/>
            <a:ext cx="244144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936992" y="5444934"/>
            <a:ext cx="244144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75320" y="3012630"/>
            <a:ext cx="2103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645920" y="2308542"/>
            <a:ext cx="0" cy="118872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749808" y="6615366"/>
            <a:ext cx="667512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664208" y="2948622"/>
            <a:ext cx="0" cy="6858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41248" y="2427414"/>
            <a:ext cx="0" cy="32004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2273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552334"/>
            <a:ext cx="5303520" cy="851515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상위 수준 시스템 Context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2. 상위 수준 시스템 Context 다이어그램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1603672"/>
            <a:ext cx="1188720" cy="2667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495952"/>
            <a:ext cx="118872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채널</a:t>
            </a:r>
          </a:p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03672"/>
            <a:ext cx="1188720" cy="2667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업무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95952"/>
            <a:ext cx="118872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대내</a:t>
            </a:r>
          </a:p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495952"/>
            <a:ext cx="118872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연계</a:t>
            </a:r>
          </a:p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" y="1988502"/>
            <a:ext cx="1508760" cy="475488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100572"/>
            <a:ext cx="960120" cy="25135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채널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2354262"/>
            <a:ext cx="868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335972"/>
            <a:ext cx="640080" cy="4206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대내 채널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83446"/>
            <a:ext cx="621792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통합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업무 시스템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60102"/>
            <a:ext cx="822960" cy="438912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정보 단말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63022"/>
            <a:ext cx="822960" cy="438912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Package</a:t>
            </a:r>
          </a:p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UI (MSTR)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4594542"/>
            <a:ext cx="8686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4576252"/>
            <a:ext cx="685800" cy="4206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대고객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987734"/>
            <a:ext cx="621792" cy="3200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인터넷 뱅킹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426645"/>
            <a:ext cx="621792" cy="3200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스마트 뱅킹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865558"/>
            <a:ext cx="621792" cy="3200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SMS, PUSH,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e-Mail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6149022"/>
            <a:ext cx="868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IT 직원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(작업조회)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578790"/>
            <a:ext cx="868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대외 채널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농협자산관리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농협신용보증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농정원(AgriX) 등...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034222"/>
            <a:ext cx="1097280" cy="457200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93392" y="2146292"/>
            <a:ext cx="868680" cy="25135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채널 통합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9112" y="2399981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영업점 MCA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84831" y="4365942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MCI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19" y="4896294"/>
            <a:ext cx="502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Collector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Proxy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896294"/>
            <a:ext cx="502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Collector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5691822"/>
            <a:ext cx="566928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UMS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6121590"/>
            <a:ext cx="41148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아리톡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7168" y="6085014"/>
            <a:ext cx="475488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챗봇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8528" y="6633654"/>
            <a:ext cx="384048" cy="3200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대외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MCA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6688518"/>
            <a:ext cx="475488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MFT ↔ FOS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40" y="2006790"/>
            <a:ext cx="3749039" cy="4983480"/>
          </a:xfrm>
          <a:prstGeom prst="rect">
            <a:avLst/>
          </a:prstGeom>
          <a:solidFill>
            <a:srgbClr val="2A6848"/>
          </a:solidFill>
          <a:ln>
            <a:solidFill>
              <a:srgbClr val="2A6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2042139"/>
            <a:ext cx="1737360" cy="35907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50208" y="2372550"/>
            <a:ext cx="3337560" cy="1554480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2370096"/>
            <a:ext cx="1554480" cy="297517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2354262"/>
            <a:ext cx="164592" cy="219456"/>
          </a:xfrm>
          <a:prstGeom prst="rect">
            <a:avLst/>
          </a:prstGeom>
          <a:solidFill>
            <a:srgbClr val="E3825C"/>
          </a:solidFill>
          <a:ln>
            <a:solidFill>
              <a:srgbClr val="E3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05072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미니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싱글뷰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98264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공통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91456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상담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판매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통합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상품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통합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고객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1031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개인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고객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64224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기업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고객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57416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행동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정보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0608" y="2701734"/>
            <a:ext cx="34747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캠페인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05072" y="3104070"/>
            <a:ext cx="420624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컨텐츠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3104070"/>
            <a:ext cx="420624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메시지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56048" y="3104070"/>
            <a:ext cx="420624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영업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지원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31536" y="3104070"/>
            <a:ext cx="420624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07024" y="3104070"/>
            <a:ext cx="420624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EBM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50208" y="3981894"/>
            <a:ext cx="3337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66360" y="3887108"/>
            <a:ext cx="91440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96512" y="4347653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고객 행동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2040" y="4347653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행동정보처리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4292790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실시간 처리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EBM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50208" y="5051742"/>
            <a:ext cx="1417320" cy="1325880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858768" y="5024310"/>
            <a:ext cx="164592" cy="219456"/>
          </a:xfrm>
          <a:prstGeom prst="rect">
            <a:avLst/>
          </a:prstGeom>
          <a:solidFill>
            <a:srgbClr val="E3825C"/>
          </a:solidFill>
          <a:ln>
            <a:solidFill>
              <a:srgbClr val="E3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0" y="4950711"/>
            <a:ext cx="594360" cy="51296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Malgun Gothic"/>
              </a:rPr>
              <a:t>BI 포탈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87368" y="5417502"/>
            <a:ext cx="8686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신용 실적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87368" y="5673534"/>
            <a:ext cx="8686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BI 포탈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87368" y="5929566"/>
            <a:ext cx="8686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OLAP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87368" y="6185598"/>
            <a:ext cx="8686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Self BI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5051742"/>
            <a:ext cx="1417320" cy="1325880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577840" y="5024310"/>
            <a:ext cx="164592" cy="219456"/>
          </a:xfrm>
          <a:prstGeom prst="rect">
            <a:avLst/>
          </a:prstGeom>
          <a:solidFill>
            <a:srgbClr val="E3825C"/>
          </a:solidFill>
          <a:ln>
            <a:solidFill>
              <a:srgbClr val="E3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52160" y="4950711"/>
            <a:ext cx="1005840" cy="51296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89320" y="5463222"/>
            <a:ext cx="77724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비즈 메타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5810694"/>
            <a:ext cx="77724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데이터 품질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6158166"/>
            <a:ext cx="77724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데이터 흐름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0208" y="6450774"/>
            <a:ext cx="3337560" cy="438912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858768" y="6423342"/>
            <a:ext cx="164592" cy="219456"/>
          </a:xfrm>
          <a:prstGeom prst="rect">
            <a:avLst/>
          </a:prstGeom>
          <a:solidFill>
            <a:srgbClr val="E3825C"/>
          </a:solidFill>
          <a:ln>
            <a:solidFill>
              <a:srgbClr val="E3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74920" y="6294879"/>
            <a:ext cx="1097280" cy="51296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96512" y="667023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RDW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실시간 SoR / Feed back / 공통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준실시간 요약집계 / 준실시간 보고서 마트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50992" y="6670230"/>
            <a:ext cx="1417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60">
                <a:solidFill>
                  <a:srgbClr val="282828"/>
                </a:solidFill>
                <a:latin typeface="Malgun Gothic"/>
              </a:rPr>
              <a:t>ADW</a:t>
            </a:r>
          </a:p>
          <a:p>
            <a:pPr algn="ctr"/>
            <a:r>
              <a:rPr sz="860">
                <a:solidFill>
                  <a:srgbClr val="282828"/>
                </a:solidFill>
                <a:latin typeface="Malgun Gothic"/>
              </a:rPr>
              <a:t>분석 SoR / Feed back / 공통</a:t>
            </a:r>
          </a:p>
          <a:p>
            <a:pPr algn="ctr"/>
            <a:r>
              <a:rPr sz="860">
                <a:solidFill>
                  <a:srgbClr val="282828"/>
                </a:solidFill>
                <a:latin typeface="Malgun Gothic"/>
              </a:rPr>
              <a:t>분석 통합/요약/집계 / 단위업무 마트 / 분석 보고서 마트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92440" y="2217102"/>
            <a:ext cx="1143000" cy="178308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21040" y="2213756"/>
            <a:ext cx="68580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대내 통합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66760" y="2720022"/>
            <a:ext cx="502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API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G/W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66760" y="3195510"/>
            <a:ext cx="502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API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G/W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66760" y="3670998"/>
            <a:ext cx="5029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GSE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15400" y="2720022"/>
            <a:ext cx="3200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EAI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92440" y="4457382"/>
            <a:ext cx="1143000" cy="155448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39327" y="4454036"/>
            <a:ext cx="68580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파일 통합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66760" y="4960302"/>
            <a:ext cx="7315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>
                <a:solidFill>
                  <a:srgbClr val="282828"/>
                </a:solidFill>
                <a:latin typeface="Malgun Gothic"/>
              </a:rPr>
              <a:t>FOS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66760" y="5344350"/>
            <a:ext cx="7315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>
                <a:solidFill>
                  <a:srgbClr val="282828"/>
                </a:solidFill>
                <a:latin typeface="Malgun Gothic"/>
              </a:rPr>
              <a:t>FOS—MFT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66760" y="5728398"/>
            <a:ext cx="7315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>
                <a:solidFill>
                  <a:srgbClr val="282828"/>
                </a:solidFill>
                <a:latin typeface="Malgun Gothic"/>
              </a:rPr>
              <a:t>FOS—MFT—CDC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6149022"/>
            <a:ext cx="1143000" cy="82296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339327" y="6163964"/>
            <a:ext cx="68580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데이터 통합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30768" y="6606222"/>
            <a:ext cx="4754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ETL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46920" y="2217102"/>
            <a:ext cx="1188720" cy="475488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30384" y="2213756"/>
            <a:ext cx="64008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대내 연계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20" y="2674302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계정계 AP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875520" y="2966910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코어뱅킹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75520" y="3259518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계정계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Online DB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75520" y="3552126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계정계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BCV DB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75520" y="3844734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e 뱅킹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875520" y="4137342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e 정보계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75520" y="4429949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카드 정보계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4722558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카드 DW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20" y="5015166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Big Data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875520" y="5307774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회계관리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75520" y="5600382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리스크 관리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875520" y="5892990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경제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75520" y="6185598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로우코드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20" y="6478206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아리오피스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21240" y="6709703"/>
            <a:ext cx="64008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외부 연계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893808" y="7017702"/>
            <a:ext cx="731520" cy="16459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지도 GIS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017521" y="258286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017521" y="304006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017521" y="345154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017521" y="482314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017521" y="518890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017521" y="560038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017521" y="6697662"/>
            <a:ext cx="73151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498080" y="2765742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235440" y="2765742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498080" y="3241230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235440" y="3241230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498080" y="3652710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235440" y="3652710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498080" y="4932870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235440" y="4932870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498080" y="5326062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235440" y="5326062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498080" y="5710110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235440" y="5710110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498080" y="6725094"/>
            <a:ext cx="594361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235440" y="6725094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5513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656932"/>
            <a:ext cx="2194560" cy="6514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2. 상위 수준 시스템 Context 다이어그램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2.1 마케팅 플랫폼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872934"/>
            <a:ext cx="201168" cy="256032"/>
          </a:xfrm>
          <a:prstGeom prst="rect">
            <a:avLst/>
          </a:prstGeom>
          <a:solidFill>
            <a:srgbClr val="E3825C"/>
          </a:solidFill>
          <a:ln>
            <a:solidFill>
              <a:srgbClr val="E3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576240"/>
            <a:ext cx="1280160" cy="2667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채널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8520"/>
            <a:ext cx="128016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채널</a:t>
            </a:r>
          </a:p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76240"/>
            <a:ext cx="1280160" cy="26674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업무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68520"/>
            <a:ext cx="128016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대내</a:t>
            </a:r>
          </a:p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468520"/>
            <a:ext cx="128016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연계</a:t>
            </a:r>
          </a:p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업무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942782"/>
            <a:ext cx="1325880" cy="489204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2054852"/>
            <a:ext cx="822960" cy="25135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채널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08542"/>
            <a:ext cx="8686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281107"/>
            <a:ext cx="685800" cy="4206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대내 채널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74302"/>
            <a:ext cx="6217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통합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업무 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71582"/>
            <a:ext cx="868680" cy="47548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정보 단말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85982"/>
            <a:ext cx="868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685980"/>
            <a:ext cx="685800" cy="4206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algun Gothic"/>
              </a:rPr>
              <a:t>대고객 채널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5097462"/>
            <a:ext cx="621792" cy="3200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인터넷 뱅킹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5481510"/>
            <a:ext cx="621792" cy="32004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스마트 뱅킹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" y="6158166"/>
            <a:ext cx="8686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SMS,PUSH,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e-Mail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1988502"/>
            <a:ext cx="1005840" cy="461772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65960" y="1991399"/>
            <a:ext cx="731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채널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2399981"/>
            <a:ext cx="685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영업점 MCA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365942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MCI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5280342"/>
            <a:ext cx="457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Collector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280342"/>
            <a:ext cx="457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Wise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Collector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6103302"/>
            <a:ext cx="50292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UMS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9312" y="1942782"/>
            <a:ext cx="3703320" cy="4937760"/>
          </a:xfrm>
          <a:prstGeom prst="rect">
            <a:avLst/>
          </a:prstGeom>
          <a:solidFill>
            <a:srgbClr val="2A6848"/>
          </a:solidFill>
          <a:ln>
            <a:solidFill>
              <a:srgbClr val="2A6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1853346"/>
            <a:ext cx="1508760" cy="63607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2290254"/>
            <a:ext cx="3383280" cy="2587752"/>
          </a:xfrm>
          <a:prstGeom prst="rect">
            <a:avLst/>
          </a:prstGeom>
          <a:solidFill>
            <a:srgbClr val="E9F4E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94176" y="2290254"/>
            <a:ext cx="164592" cy="219456"/>
          </a:xfrm>
          <a:prstGeom prst="rect">
            <a:avLst/>
          </a:prstGeom>
          <a:solidFill>
            <a:srgbClr val="E3825C"/>
          </a:solidFill>
          <a:ln>
            <a:solidFill>
              <a:srgbClr val="E3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173834"/>
            <a:ext cx="1280160" cy="543739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394292"/>
            <a:ext cx="822960" cy="65146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온라인 어플리케이션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50208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미니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싱글뷰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9976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공통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9744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상담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판매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9512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통합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상품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통합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고객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8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개인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고객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28816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기업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고객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8584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행동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88352" y="2857182"/>
            <a:ext cx="384048" cy="329184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캠페인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50208" y="3250374"/>
            <a:ext cx="457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컨텐츠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71416" y="3250374"/>
            <a:ext cx="457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메시지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92624" y="3250374"/>
            <a:ext cx="457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영업</a:t>
            </a:r>
          </a:p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지원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13832" y="3250374"/>
            <a:ext cx="457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250374"/>
            <a:ext cx="457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282828"/>
                </a:solidFill>
                <a:latin typeface="Malgun Gothic"/>
              </a:rPr>
              <a:t>EBM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82512" y="3680142"/>
            <a:ext cx="457200" cy="292608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데몬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4932870"/>
            <a:ext cx="3383280" cy="17190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10912" y="4871759"/>
            <a:ext cx="91440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282828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7639" y="5280342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고객 행동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데이터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5280342"/>
            <a:ext cx="7132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행동정보처리</a:t>
            </a:r>
          </a:p>
        </p:txBody>
      </p:sp>
      <p:sp>
        <p:nvSpPr>
          <p:cNvPr id="55" name="Oval 54"/>
          <p:cNvSpPr/>
          <p:nvPr/>
        </p:nvSpPr>
        <p:spPr>
          <a:xfrm>
            <a:off x="5833872" y="5600382"/>
            <a:ext cx="411480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행동정보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DB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13248" y="6149022"/>
            <a:ext cx="621792" cy="34747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실시간 처리</a:t>
            </a:r>
          </a:p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EBM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2098230"/>
            <a:ext cx="868680" cy="150876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75320" y="2113172"/>
            <a:ext cx="68580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94192" y="2628582"/>
            <a:ext cx="411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API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94192" y="3040062"/>
            <a:ext cx="411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API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G/W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94192" y="3451541"/>
            <a:ext cx="411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628582"/>
            <a:ext cx="2560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EAI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4000182"/>
            <a:ext cx="86868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21040" y="3987692"/>
            <a:ext cx="64008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파일 통합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94192" y="4457382"/>
            <a:ext cx="54864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FOS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94192" y="4841430"/>
            <a:ext cx="54864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FOS—MFT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94192" y="5225478"/>
            <a:ext cx="548640" cy="2286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282828"/>
                </a:solidFill>
                <a:latin typeface="Malgun Gothic"/>
              </a:rPr>
              <a:t>FOS—MFT—CDC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79" y="5600382"/>
            <a:ext cx="868680" cy="960120"/>
          </a:xfrm>
          <a:prstGeom prst="rect">
            <a:avLst/>
          </a:prstGeom>
          <a:solidFill>
            <a:srgbClr val="F2F2F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5633612"/>
            <a:ext cx="64008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데이터 통합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30768" y="6149022"/>
            <a:ext cx="384048" cy="21945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ETL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4640" y="2257023"/>
            <a:ext cx="731520" cy="35907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json/http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표준전문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06040" y="2805663"/>
            <a:ext cx="868680" cy="35907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미니 싱글뷰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json/http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77440" y="3597399"/>
            <a:ext cx="960120" cy="512961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온라인 거래 처리</a:t>
            </a:r>
          </a:p>
          <a:p>
            <a:pPr algn="ctr"/>
            <a:r>
              <a:rPr sz="1000">
                <a:solidFill>
                  <a:srgbClr val="282828"/>
                </a:solidFill>
                <a:latin typeface="Malgun Gothic"/>
              </a:rPr>
              <a:t>json/http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4665686"/>
            <a:ext cx="365760" cy="205184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>
                <a:solidFill>
                  <a:srgbClr val="282828"/>
                </a:solidFill>
                <a:latin typeface="Malgun Gothic"/>
              </a:rPr>
              <a:t>kafka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463040" y="2582862"/>
            <a:ext cx="3657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88720" y="3981894"/>
            <a:ext cx="2468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834640" y="4548822"/>
            <a:ext cx="8229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788920" y="5417502"/>
            <a:ext cx="10058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236208" y="2774886"/>
            <a:ext cx="2157984" cy="1024128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68680" y="6331902"/>
            <a:ext cx="51663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052560" y="2774886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052560" y="3222942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052560" y="3588702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052560" y="4567110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052560" y="4951158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52560" y="5326062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052560" y="6258750"/>
            <a:ext cx="6400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829800" y="2113172"/>
            <a:ext cx="640080" cy="482183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algun Gothic"/>
              </a:rPr>
              <a:t>대내 연계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93808" y="2582862"/>
            <a:ext cx="640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282828"/>
                </a:solidFill>
                <a:latin typeface="Malgun Gothic"/>
              </a:rPr>
              <a:t>계정계 AP</a:t>
            </a:r>
          </a:p>
        </p:txBody>
      </p:sp>
    </p:spTree>
    <p:extLst>
      <p:ext uri="{BB962C8B-B14F-4D97-AF65-F5344CB8AC3E}">
        <p14:creationId xmlns:p14="http://schemas.microsoft.com/office/powerpoint/2010/main" val="7253654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마케팅플랫폼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6.2 인터페이스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3910"/>
            <a:ext cx="10789920" cy="347472"/>
          </a:xfrm>
          <a:prstGeom prst="rect">
            <a:avLst/>
          </a:prstGeom>
          <a:solidFill>
            <a:srgbClr val="253732"/>
          </a:solidFill>
          <a:ln>
            <a:solidFill>
              <a:srgbClr val="25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마케팅플랫폼 인터페이스 구성도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45702"/>
            <a:ext cx="1234440" cy="45720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통합업무시스템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491422"/>
            <a:ext cx="640080" cy="292608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영업점</a:t>
            </a:r>
          </a:p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MCA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674302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1760" y="2674302"/>
            <a:ext cx="11430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3542982"/>
            <a:ext cx="1234440" cy="45720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정보단말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3771582"/>
            <a:ext cx="21945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4823142"/>
            <a:ext cx="1234440" cy="68580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인터넷 뱅킹</a:t>
            </a:r>
          </a:p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스마트 뱅킹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868862"/>
            <a:ext cx="640080" cy="292608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Kafka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5051742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51760" y="5051742"/>
            <a:ext cx="11430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5760" y="6011862"/>
            <a:ext cx="1234440" cy="68580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SMS</a:t>
            </a:r>
          </a:p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EMAIL</a:t>
            </a:r>
          </a:p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6057582"/>
            <a:ext cx="640080" cy="292608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UMS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6240462"/>
            <a:ext cx="4114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6240462"/>
            <a:ext cx="11430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5760" y="7063422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보고서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00200" y="7292022"/>
            <a:ext cx="21945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94760" y="2354262"/>
            <a:ext cx="352044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77639" y="2537142"/>
            <a:ext cx="1143000" cy="4160520"/>
          </a:xfrm>
          <a:prstGeom prst="rect">
            <a:avLst/>
          </a:prstGeom>
          <a:solidFill>
            <a:srgbClr val="42A788"/>
          </a:solidFill>
          <a:ln>
            <a:solidFill>
              <a:srgbClr val="2D7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마케팅</a:t>
            </a:r>
          </a:p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플랫폼</a:t>
            </a:r>
          </a:p>
          <a:p>
            <a:pPr algn="ctr"/>
            <a:endParaRPr sz="2000" b="1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2000" b="1">
                <a:solidFill>
                  <a:srgbClr val="282828"/>
                </a:solidFill>
                <a:latin typeface="Malgun Gothic"/>
              </a:rPr>
              <a:t>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55543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공통 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0" y="268344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394960" y="292119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통합고객 IC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20640" y="304920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94960" y="328695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개인고객 PC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20640" y="341496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394960" y="365271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기업고객 BC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0640" y="378072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394960" y="401847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미니싱글뷰 MS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20640" y="414648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94960" y="438423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상담판매 SA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20640" y="4512245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394960" y="474999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통합상품 PD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20640" y="487800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94960" y="511575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캠페인 CM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20640" y="524376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394960" y="548151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EBM EB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20640" y="560952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394960" y="584727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영업지원 SS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120640" y="597528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394960" y="621303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CS CS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120640" y="6341045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394960" y="657879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컨텐츠 CT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120640" y="670680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394960" y="6944550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메시지 MG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120640" y="7072566"/>
            <a:ext cx="2743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635240" y="253714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API G/W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2537142"/>
            <a:ext cx="50292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EAI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12280" y="2665158"/>
            <a:ext cx="8229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915400" y="2665158"/>
            <a:ext cx="5029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418320" y="2491422"/>
            <a:ext cx="1234440" cy="38404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코어뱅킹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18120" y="368014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API G/W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812280" y="3808158"/>
            <a:ext cx="10058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458200" y="3808158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9418320" y="3634422"/>
            <a:ext cx="1234440" cy="50292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아리톡</a:t>
            </a:r>
          </a:p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(알림 서비스)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240" y="436594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API G/W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4365942"/>
            <a:ext cx="50292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EAI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812280" y="4493958"/>
            <a:ext cx="8229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915400" y="4493958"/>
            <a:ext cx="5029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9418320" y="4320222"/>
            <a:ext cx="1234440" cy="38404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태블릿 브랜치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18120" y="509746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API G/W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12280" y="5225478"/>
            <a:ext cx="10058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458200" y="5225478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418320" y="5051742"/>
            <a:ext cx="1234440" cy="502920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아리톡</a:t>
            </a:r>
          </a:p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(알림 서비스)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592042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ETL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812280" y="6048438"/>
            <a:ext cx="10058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58200" y="6048438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418320" y="5874702"/>
            <a:ext cx="1234440" cy="38404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RDW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642334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ETL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812280" y="6551358"/>
            <a:ext cx="10058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458200" y="6551358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9418320" y="6377622"/>
            <a:ext cx="1234440" cy="38404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ADW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35240" y="6971982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ETL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6971982"/>
            <a:ext cx="50292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FOS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812280" y="7099998"/>
            <a:ext cx="8229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915400" y="7099998"/>
            <a:ext cx="5029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9418320" y="6926262"/>
            <a:ext cx="1234440" cy="38404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UMS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18120" y="8000365"/>
            <a:ext cx="640080" cy="256032"/>
          </a:xfrm>
          <a:prstGeom prst="rect">
            <a:avLst/>
          </a:prstGeom>
          <a:solidFill>
            <a:srgbClr val="E1DD9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282828"/>
                </a:solidFill>
                <a:latin typeface="Malgun Gothic"/>
              </a:rPr>
              <a:t>JDBC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812280" y="8128380"/>
            <a:ext cx="100584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458200" y="8128380"/>
            <a:ext cx="96012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9418320" y="7954645"/>
            <a:ext cx="1234440" cy="384048"/>
          </a:xfrm>
          <a:prstGeom prst="rect">
            <a:avLst/>
          </a:prstGeom>
          <a:solidFill>
            <a:srgbClr val="D5E7E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82828"/>
                </a:solidFill>
                <a:latin typeface="Malgun Gothic"/>
              </a:rPr>
              <a:t>RDW</a:t>
            </a:r>
          </a:p>
        </p:txBody>
      </p:sp>
    </p:spTree>
    <p:extLst>
      <p:ext uri="{BB962C8B-B14F-4D97-AF65-F5344CB8AC3E}">
        <p14:creationId xmlns:p14="http://schemas.microsoft.com/office/powerpoint/2010/main" val="12684206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데이터플랫폼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6.2 인터페이스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3910"/>
            <a:ext cx="10789920" cy="347472"/>
          </a:xfrm>
          <a:prstGeom prst="rect">
            <a:avLst/>
          </a:prstGeom>
          <a:solidFill>
            <a:srgbClr val="253732"/>
          </a:solidFill>
          <a:ln>
            <a:solidFill>
              <a:srgbClr val="25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데이터플랫폼 인터페이스 구성도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9555480" y="1302702"/>
            <a:ext cx="1645920" cy="640080"/>
          </a:xfrm>
          <a:prstGeom prst="wedgeRoundRectCallout">
            <a:avLst/>
          </a:prstGeom>
          <a:noFill/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787878"/>
                </a:solidFill>
                <a:latin typeface="Malgun Gothic"/>
              </a:rPr>
              <a:t>업무팀 분석 단계</a:t>
            </a:r>
          </a:p>
          <a:p>
            <a:pPr algn="ctr"/>
            <a:r>
              <a:rPr sz="1300">
                <a:solidFill>
                  <a:srgbClr val="787878"/>
                </a:solidFill>
                <a:latin typeface="Malgun Gothic"/>
              </a:rPr>
              <a:t>구체화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2308542"/>
            <a:ext cx="329184" cy="164592"/>
          </a:xfrm>
          <a:prstGeom prst="rect">
            <a:avLst/>
          </a:prstGeom>
          <a:solidFill>
            <a:srgbClr val="FFFFFF"/>
          </a:solidFill>
          <a:ln>
            <a:solidFill>
              <a:srgbClr val="DCAA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2153092"/>
            <a:ext cx="685800" cy="4206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: 확인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2582862"/>
            <a:ext cx="3749039" cy="448056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77639" y="2765742"/>
            <a:ext cx="1188720" cy="2331720"/>
          </a:xfrm>
          <a:prstGeom prst="rect">
            <a:avLst/>
          </a:prstGeom>
          <a:solidFill>
            <a:srgbClr val="42A788"/>
          </a:solidFill>
          <a:ln>
            <a:solidFill>
              <a:srgbClr val="2D7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플랫폼</a:t>
            </a:r>
          </a:p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RDW</a:t>
            </a:r>
          </a:p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65742"/>
            <a:ext cx="16459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공통 CO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60" y="2912046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49240" y="3158934"/>
            <a:ext cx="16459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실시간SoR SR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3305238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49240" y="3552126"/>
            <a:ext cx="16459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준실시간요약집계 ZD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66360" y="3698430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49240" y="3945318"/>
            <a:ext cx="16459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준실시간보고서마트 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60" y="4091622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49240" y="4338510"/>
            <a:ext cx="16459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▪  피드백 FA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6360" y="4484814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977639" y="5188902"/>
            <a:ext cx="1188720" cy="2011680"/>
          </a:xfrm>
          <a:prstGeom prst="rect">
            <a:avLst/>
          </a:prstGeom>
          <a:solidFill>
            <a:srgbClr val="42A788"/>
          </a:solidFill>
          <a:ln>
            <a:solidFill>
              <a:srgbClr val="2D7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데이터</a:t>
            </a:r>
          </a:p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플랫폼</a:t>
            </a:r>
          </a:p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ADW</a:t>
            </a:r>
          </a:p>
          <a:p>
            <a:pPr algn="ctr"/>
            <a:r>
              <a:rPr b="1">
                <a:solidFill>
                  <a:srgbClr val="282828"/>
                </a:solidFill>
                <a:latin typeface="Malgun Gothic"/>
              </a:rPr>
              <a:t>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5188902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공통 CO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66360" y="5316918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49240" y="5545517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분석SoR SR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66360" y="5673534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349240" y="5902134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분석통합요약집계 ZD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66360" y="6030150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49240" y="6258750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분석단위업무마트 UM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66360" y="6386766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349240" y="6615366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분석보고서마트 RM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66360" y="6743382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349240" y="6971982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피드백 FA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66360" y="7099998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49240" y="7328598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>
                <a:solidFill>
                  <a:srgbClr val="282828"/>
                </a:solidFill>
                <a:latin typeface="Malgun Gothic"/>
              </a:rPr>
              <a:t>▪  분석지원 DA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66360" y="7982077"/>
            <a:ext cx="182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08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752387"/>
            <a:ext cx="530352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  <a:latin typeface="Malgun Gothic"/>
              </a:rPr>
              <a:t>BI포탈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56959"/>
            <a:ext cx="2194560" cy="451406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300" b="1">
                <a:solidFill>
                  <a:srgbClr val="282828"/>
                </a:solidFill>
                <a:latin typeface="Malgun Gothic"/>
              </a:rPr>
              <a:t>6. 인터페이스 아키텍처</a:t>
            </a:r>
          </a:p>
          <a:p>
            <a:pPr algn="r"/>
            <a:r>
              <a:rPr sz="1300">
                <a:solidFill>
                  <a:srgbClr val="282828"/>
                </a:solidFill>
                <a:latin typeface="Malgun Gothic"/>
              </a:rPr>
              <a:t>6.2 인터페이스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49590"/>
            <a:ext cx="1051560" cy="45720"/>
          </a:xfrm>
          <a:prstGeom prst="rect">
            <a:avLst/>
          </a:prstGeom>
          <a:solidFill>
            <a:srgbClr val="58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1" y="1549590"/>
            <a:ext cx="11140135" cy="45720"/>
          </a:xfrm>
          <a:prstGeom prst="rect">
            <a:avLst/>
          </a:prstGeom>
          <a:solidFill>
            <a:srgbClr val="2E8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3910"/>
            <a:ext cx="10789920" cy="347472"/>
          </a:xfrm>
          <a:prstGeom prst="rect">
            <a:avLst/>
          </a:prstGeom>
          <a:solidFill>
            <a:srgbClr val="253732"/>
          </a:solidFill>
          <a:ln>
            <a:solidFill>
              <a:srgbClr val="25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BI포탈 인터페이스 구성도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9555480" y="1302702"/>
            <a:ext cx="1645920" cy="640080"/>
          </a:xfrm>
          <a:prstGeom prst="wedgeRoundRectCallout">
            <a:avLst/>
          </a:prstGeom>
          <a:noFill/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787878"/>
                </a:solidFill>
                <a:latin typeface="Malgun Gothic"/>
              </a:rPr>
              <a:t>업무팀 분석 단계</a:t>
            </a:r>
          </a:p>
          <a:p>
            <a:pPr algn="ctr"/>
            <a:r>
              <a:rPr sz="1300">
                <a:solidFill>
                  <a:srgbClr val="787878"/>
                </a:solidFill>
                <a:latin typeface="Malgun Gothic"/>
              </a:rPr>
              <a:t>구체화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2308542"/>
            <a:ext cx="329184" cy="164592"/>
          </a:xfrm>
          <a:prstGeom prst="rect">
            <a:avLst/>
          </a:prstGeom>
          <a:solidFill>
            <a:srgbClr val="FFFFFF"/>
          </a:solidFill>
          <a:ln>
            <a:solidFill>
              <a:srgbClr val="DCAA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2153092"/>
            <a:ext cx="685800" cy="420628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>
                <a:solidFill>
                  <a:srgbClr val="282828"/>
                </a:solidFill>
                <a:latin typeface="Malgun Gothic"/>
              </a:rPr>
              <a:t>: 확인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2582862"/>
            <a:ext cx="3749039" cy="448056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77639" y="2765742"/>
            <a:ext cx="1234440" cy="4023360"/>
          </a:xfrm>
          <a:prstGeom prst="rect">
            <a:avLst/>
          </a:prstGeom>
          <a:solidFill>
            <a:srgbClr val="42A788"/>
          </a:solidFill>
          <a:ln>
            <a:solidFill>
              <a:srgbClr val="2D7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282828"/>
                </a:solidFill>
                <a:latin typeface="Malgun Gothic"/>
              </a:rPr>
              <a:t>BI포탈</a:t>
            </a:r>
          </a:p>
          <a:p>
            <a:pPr algn="ctr"/>
            <a:endParaRPr sz="2200" b="1">
              <a:solidFill>
                <a:srgbClr val="282828"/>
              </a:solidFill>
              <a:latin typeface="Malgun Gothic"/>
            </a:endParaRPr>
          </a:p>
          <a:p>
            <a:pPr algn="ctr"/>
            <a:r>
              <a:rPr sz="2200" b="1">
                <a:solidFill>
                  <a:srgbClr val="282828"/>
                </a:solidFill>
                <a:latin typeface="Malgun Gothic"/>
              </a:rPr>
              <a:t>BL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8" y="2765742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82828"/>
                </a:solidFill>
                <a:latin typeface="Malgun Gothic"/>
              </a:rPr>
              <a:t>▪  BI포탈 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2921190"/>
            <a:ext cx="56692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779008" y="3241230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82828"/>
                </a:solidFill>
                <a:latin typeface="Malgun Gothic"/>
              </a:rPr>
              <a:t>▪  신용실적 CR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3396678"/>
            <a:ext cx="56692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79008" y="3716718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82828"/>
                </a:solidFill>
                <a:latin typeface="Malgun Gothic"/>
              </a:rPr>
              <a:t>▪  OLAP OA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0" y="3872166"/>
            <a:ext cx="56692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79008" y="4192206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82828"/>
                </a:solidFill>
                <a:latin typeface="Malgun Gothic"/>
              </a:rPr>
              <a:t>▪  Self-BI SB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12080" y="4347653"/>
            <a:ext cx="566928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34242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50215"/>
            <a:ext cx="11887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3C3C3C"/>
                </a:solidFill>
                <a:latin typeface="Malgun Gothic"/>
              </a:defRPr>
            </a:pPr>
            <a:r>
              <a:rPr sz="3000"/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577022"/>
            <a:ext cx="6126480" cy="393192"/>
          </a:xfrm>
          <a:prstGeom prst="rect">
            <a:avLst/>
          </a:prstGeom>
          <a:solidFill>
            <a:srgbClr val="DDEEE4"/>
          </a:solidFill>
          <a:ln>
            <a:solidFill>
              <a:srgbClr val="DD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1547359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3C3C3C"/>
                </a:solidFill>
                <a:latin typeface="Malgun Gothic"/>
              </a:defRPr>
            </a:pPr>
            <a:r>
              <a:rPr sz="2400"/>
              <a:t>7. 런타임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08351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7.1 업무 처리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0103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7.2 단말 거래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11855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7.3 미니 싱글뷰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13607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7.4 UMS 고객 통지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65428"/>
            <a:ext cx="521208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8. 아키텍처 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35983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8.1 어플리케이션 계층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7735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8.2 전문 표준화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39487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8.3 GUID 관리 체계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1239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8.4 캐릭터 셋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2991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8.5 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44743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8.6 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6495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8.7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48247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8.8 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49999"/>
            <a:ext cx="5212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8.9 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55500"/>
            <a:ext cx="457200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9. 아키텍처 구성 요소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926055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9.1 단말 프레임워크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227807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9.2 온라인 프레임워크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529559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9.3 배치 프레임워크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90524"/>
            <a:ext cx="457200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10. 업무 솔루션 아키텍처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61079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10.1 SELF-BI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562831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10.2 OLAP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64583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10.3 EBM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166335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10.4 데이터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527299"/>
            <a:ext cx="457200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11. 기타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897855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11.1 시스템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199607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11.2 시스템 가용성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501359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11.3 시스템 확장성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803111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11.4 DR 구성 (센터 간 가용성)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6104863"/>
            <a:ext cx="457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Malgun Gothic"/>
              </a:defRPr>
            </a:pPr>
            <a:r>
              <a:rPr sz="1400"/>
              <a:t>11.5 백업 구성</a:t>
            </a:r>
          </a:p>
        </p:txBody>
      </p:sp>
    </p:spTree>
    <p:extLst>
      <p:ext uri="{BB962C8B-B14F-4D97-AF65-F5344CB8AC3E}">
        <p14:creationId xmlns:p14="http://schemas.microsoft.com/office/powerpoint/2010/main" val="27350124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561032"/>
            <a:ext cx="4114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68462"/>
            <a:ext cx="7863840" cy="365760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차세대 정보계 업무 처리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841248" y="322294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07" name="Oval 106"/>
          <p:cNvSpPr/>
          <p:nvPr/>
        </p:nvSpPr>
        <p:spPr>
          <a:xfrm>
            <a:off x="822960" y="235426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08" name="Oval 107"/>
          <p:cNvSpPr/>
          <p:nvPr/>
        </p:nvSpPr>
        <p:spPr>
          <a:xfrm>
            <a:off x="1115568" y="262858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109" name="Oval 108"/>
          <p:cNvSpPr/>
          <p:nvPr/>
        </p:nvSpPr>
        <p:spPr>
          <a:xfrm>
            <a:off x="3246120" y="212566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110" name="Oval 109"/>
          <p:cNvSpPr/>
          <p:nvPr/>
        </p:nvSpPr>
        <p:spPr>
          <a:xfrm>
            <a:off x="5989320" y="276574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111" name="Oval 110"/>
          <p:cNvSpPr/>
          <p:nvPr/>
        </p:nvSpPr>
        <p:spPr>
          <a:xfrm>
            <a:off x="594360" y="509746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112" name="Oval 111"/>
          <p:cNvSpPr/>
          <p:nvPr/>
        </p:nvSpPr>
        <p:spPr>
          <a:xfrm>
            <a:off x="3749039" y="544493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113" name="Oval 112"/>
          <p:cNvSpPr/>
          <p:nvPr/>
        </p:nvSpPr>
        <p:spPr>
          <a:xfrm>
            <a:off x="4187952" y="246399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sp>
        <p:nvSpPr>
          <p:cNvPr id="114" name="Oval 113"/>
          <p:cNvSpPr/>
          <p:nvPr/>
        </p:nvSpPr>
        <p:spPr>
          <a:xfrm>
            <a:off x="5440680" y="401847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9</a:t>
            </a:r>
          </a:p>
        </p:txBody>
      </p:sp>
      <p:sp>
        <p:nvSpPr>
          <p:cNvPr id="115" name="Oval 114"/>
          <p:cNvSpPr/>
          <p:nvPr/>
        </p:nvSpPr>
        <p:spPr>
          <a:xfrm>
            <a:off x="3794760" y="331438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10</a:t>
            </a:r>
          </a:p>
        </p:txBody>
      </p:sp>
      <p:sp>
        <p:nvSpPr>
          <p:cNvPr id="116" name="Oval 115"/>
          <p:cNvSpPr/>
          <p:nvPr/>
        </p:nvSpPr>
        <p:spPr>
          <a:xfrm>
            <a:off x="5440680" y="384473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11</a:t>
            </a:r>
          </a:p>
        </p:txBody>
      </p:sp>
      <p:sp>
        <p:nvSpPr>
          <p:cNvPr id="117" name="Oval 116"/>
          <p:cNvSpPr/>
          <p:nvPr/>
        </p:nvSpPr>
        <p:spPr>
          <a:xfrm>
            <a:off x="3730752" y="392703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89720" y="1447220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C3C3C"/>
                </a:solidFill>
                <a:latin typeface="Malgun Gothic"/>
              </a:defRPr>
            </a:pPr>
            <a:r>
              <a:t>업무 처리 유형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61120" y="1759902"/>
            <a:ext cx="2697480" cy="228600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채널 업무 처리 유형</a:t>
            </a:r>
          </a:p>
        </p:txBody>
      </p:sp>
      <p:sp>
        <p:nvSpPr>
          <p:cNvPr id="120" name="Oval 119"/>
          <p:cNvSpPr/>
          <p:nvPr/>
        </p:nvSpPr>
        <p:spPr>
          <a:xfrm>
            <a:off x="9144000" y="205251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372600" y="2015934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정보계 단말 거래</a:t>
            </a:r>
          </a:p>
        </p:txBody>
      </p:sp>
      <p:sp>
        <p:nvSpPr>
          <p:cNvPr id="122" name="Oval 121"/>
          <p:cNvSpPr/>
          <p:nvPr/>
        </p:nvSpPr>
        <p:spPr>
          <a:xfrm>
            <a:off x="9144000" y="2345118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372600" y="2308542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통합업무시스템 거래</a:t>
            </a:r>
          </a:p>
        </p:txBody>
      </p:sp>
      <p:sp>
        <p:nvSpPr>
          <p:cNvPr id="124" name="Oval 123"/>
          <p:cNvSpPr/>
          <p:nvPr/>
        </p:nvSpPr>
        <p:spPr>
          <a:xfrm>
            <a:off x="9144000" y="263772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372600" y="2601150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61120" y="2939477"/>
            <a:ext cx="2697480" cy="228600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연계 업무 처리 유형</a:t>
            </a:r>
          </a:p>
        </p:txBody>
      </p:sp>
      <p:sp>
        <p:nvSpPr>
          <p:cNvPr id="127" name="Oval 126"/>
          <p:cNvSpPr/>
          <p:nvPr/>
        </p:nvSpPr>
        <p:spPr>
          <a:xfrm>
            <a:off x="9144000" y="323208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372600" y="3195510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시스템간 연계</a:t>
            </a:r>
          </a:p>
        </p:txBody>
      </p:sp>
      <p:sp>
        <p:nvSpPr>
          <p:cNvPr id="129" name="Oval 128"/>
          <p:cNvSpPr/>
          <p:nvPr/>
        </p:nvSpPr>
        <p:spPr>
          <a:xfrm>
            <a:off x="9144000" y="352469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372600" y="3488118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대외 시스템간 연계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961120" y="3826445"/>
            <a:ext cx="2697480" cy="228600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 이벤트 업무 처리 유형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0" y="4119053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372600" y="4082477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실시간 고객 반응형 정보 수집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0" y="441166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372600" y="4375086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실시간 고객 오퍼링 제공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61120" y="4713414"/>
            <a:ext cx="2697480" cy="228600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 분석/제공 업무 처리 유형</a:t>
            </a:r>
          </a:p>
        </p:txBody>
      </p:sp>
      <p:sp>
        <p:nvSpPr>
          <p:cNvPr id="137" name="Oval 136"/>
          <p:cNvSpPr/>
          <p:nvPr/>
        </p:nvSpPr>
        <p:spPr>
          <a:xfrm>
            <a:off x="9144000" y="500602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372600" y="4969446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CDC 실시간 데이터 동기화</a:t>
            </a:r>
          </a:p>
        </p:txBody>
      </p:sp>
      <p:sp>
        <p:nvSpPr>
          <p:cNvPr id="139" name="Oval 138"/>
          <p:cNvSpPr/>
          <p:nvPr/>
        </p:nvSpPr>
        <p:spPr>
          <a:xfrm>
            <a:off x="9144000" y="529863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372600" y="5262054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ETL 연계</a:t>
            </a:r>
          </a:p>
        </p:txBody>
      </p:sp>
      <p:sp>
        <p:nvSpPr>
          <p:cNvPr id="141" name="Oval 140"/>
          <p:cNvSpPr/>
          <p:nvPr/>
        </p:nvSpPr>
        <p:spPr>
          <a:xfrm>
            <a:off x="9144000" y="5591238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372600" y="5554662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데이터 분석 기반 의사결정 지원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961120" y="5892990"/>
            <a:ext cx="2697480" cy="228600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파일 연계 업무 처리 유형</a:t>
            </a:r>
          </a:p>
        </p:txBody>
      </p:sp>
      <p:sp>
        <p:nvSpPr>
          <p:cNvPr id="144" name="Oval 143"/>
          <p:cNvSpPr/>
          <p:nvPr/>
        </p:nvSpPr>
        <p:spPr>
          <a:xfrm>
            <a:off x="9144000" y="6185598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372600" y="6149022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FOS 파일 처리 연계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961120" y="6487350"/>
            <a:ext cx="2697480" cy="228600"/>
          </a:xfrm>
          <a:prstGeom prst="rect">
            <a:avLst/>
          </a:prstGeom>
          <a:solidFill>
            <a:srgbClr val="3C3C3C"/>
          </a:solidFill>
          <a:ln w="508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배치 업무 처리 유형</a:t>
            </a:r>
          </a:p>
        </p:txBody>
      </p:sp>
      <p:sp>
        <p:nvSpPr>
          <p:cNvPr id="147" name="Oval 146"/>
          <p:cNvSpPr/>
          <p:nvPr/>
        </p:nvSpPr>
        <p:spPr>
          <a:xfrm>
            <a:off x="9144000" y="6779958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372600" y="6743382"/>
            <a:ext cx="22860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000000"/>
                </a:solidFill>
                <a:latin typeface="Malgun Gothic"/>
              </a:defRPr>
            </a:pPr>
            <a:r>
              <a:rPr sz="1100"/>
              <a:t>배치 처리</a:t>
            </a:r>
          </a:p>
        </p:txBody>
      </p:sp>
    </p:spTree>
    <p:extLst>
      <p:ext uri="{BB962C8B-B14F-4D97-AF65-F5344CB8AC3E}">
        <p14:creationId xmlns:p14="http://schemas.microsoft.com/office/powerpoint/2010/main" val="237491426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561032"/>
            <a:ext cx="4114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채널 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322438"/>
            <a:ext cx="114300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  <a:latin typeface="Malgun Gothic"/>
              </a:defRPr>
            </a:pPr>
            <a:r>
              <a:t>정보단말 기반의 차세대 정보계 업무 처리와 통합업무시스템 미니 싱글뷰, 싱글뷰 업무를 http 웹 기반의</a:t>
            </a:r>
            <a:br/>
            <a:r>
              <a:t>요청 거래를 처리하는 업무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97062"/>
            <a:ext cx="7680960" cy="34747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채널 업무 처리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47472" y="2793174"/>
            <a:ext cx="640080" cy="960120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10896" y="2171382"/>
            <a:ext cx="658368" cy="502920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298448" y="2308542"/>
            <a:ext cx="2404872" cy="822960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22960" y="322294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11" name="Oval 110"/>
          <p:cNvSpPr/>
          <p:nvPr/>
        </p:nvSpPr>
        <p:spPr>
          <a:xfrm>
            <a:off x="786384" y="233597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12" name="Oval 111"/>
          <p:cNvSpPr/>
          <p:nvPr/>
        </p:nvSpPr>
        <p:spPr>
          <a:xfrm>
            <a:off x="1124712" y="258286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98280" y="2006790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정보계 단말 거래</a:t>
            </a:r>
          </a:p>
        </p:txBody>
      </p:sp>
      <p:sp>
        <p:nvSpPr>
          <p:cNvPr id="114" name="Oval 113"/>
          <p:cNvSpPr/>
          <p:nvPr/>
        </p:nvSpPr>
        <p:spPr>
          <a:xfrm>
            <a:off x="8787384" y="206165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89720" y="2445702"/>
            <a:ext cx="237744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웹 기반 전용 브라우저 업무 화면에서 어플리케이션 시스템으로 거래를 요청하고 응답 받는 업무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Json/http 기반 통신으로 클라이언트와 서버간 거래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거래 별 유일한 식별자(GUID)를 로그에 기록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Json/Http, 요청/응답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098280" y="3433254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통합업무시스템 거래</a:t>
            </a:r>
          </a:p>
        </p:txBody>
      </p:sp>
      <p:sp>
        <p:nvSpPr>
          <p:cNvPr id="117" name="Oval 116"/>
          <p:cNvSpPr/>
          <p:nvPr/>
        </p:nvSpPr>
        <p:spPr>
          <a:xfrm>
            <a:off x="8787384" y="3488118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89720" y="3872166"/>
            <a:ext cx="2377440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C/S 기반 업무 화면에서 어플리케이션 시스템으로 거래를 요청하고 응답 받는 업무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영업점 MCA 인터페이스 시스템을 경유해서 거래 요청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Json/Http, 요청/응답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098280" y="4777422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미니 싱글뷰</a:t>
            </a:r>
          </a:p>
        </p:txBody>
      </p:sp>
      <p:sp>
        <p:nvSpPr>
          <p:cNvPr id="120" name="Oval 119"/>
          <p:cNvSpPr/>
          <p:nvPr/>
        </p:nvSpPr>
        <p:spPr>
          <a:xfrm>
            <a:off x="8787384" y="483228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89720" y="5216335"/>
            <a:ext cx="2377440" cy="171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C/S 기반 업무 화면에서 Web View(웹 클라이언트)를 통해 정보계 어플리케이션 시스템으로 거래를 요청하고 응답 받는 업무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Json/http 기반 통신으로 클라이언트와 서버간 거래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Json/Http, 요청/응답</a:t>
            </a:r>
          </a:p>
        </p:txBody>
      </p:sp>
    </p:spTree>
    <p:extLst>
      <p:ext uri="{BB962C8B-B14F-4D97-AF65-F5344CB8AC3E}">
        <p14:creationId xmlns:p14="http://schemas.microsoft.com/office/powerpoint/2010/main" val="29586385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561032"/>
            <a:ext cx="4114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연계 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376967"/>
            <a:ext cx="1143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3C3C3C"/>
                </a:solidFill>
                <a:latin typeface="Malgun Gothic"/>
              </a:defRPr>
            </a:pPr>
            <a:r>
              <a:rPr sz="2000"/>
              <a:t>차세대 정보계 시스템과 대내 시스템, 대외기관, 농협은행 간 연계를 처리하는 업무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51342"/>
            <a:ext cx="7680960" cy="34747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연계 업무 처리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EA792A"/>
          </a:solidFill>
          <a:ln w="10160">
            <a:solidFill>
              <a:srgbClr val="EA7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3218688" y="214395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108" name="Oval 107"/>
          <p:cNvSpPr/>
          <p:nvPr/>
        </p:nvSpPr>
        <p:spPr>
          <a:xfrm>
            <a:off x="4882896" y="256457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109" name="Oval 108"/>
          <p:cNvSpPr/>
          <p:nvPr/>
        </p:nvSpPr>
        <p:spPr>
          <a:xfrm>
            <a:off x="5943600" y="2747454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052560" y="203422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대내 시스템간 연계</a:t>
            </a:r>
          </a:p>
        </p:txBody>
      </p:sp>
      <p:sp>
        <p:nvSpPr>
          <p:cNvPr id="111" name="Oval 110"/>
          <p:cNvSpPr/>
          <p:nvPr/>
        </p:nvSpPr>
        <p:spPr>
          <a:xfrm>
            <a:off x="8741664" y="208908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0" y="2473134"/>
            <a:ext cx="2468880" cy="263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정보계 어플리케이션 시스템과 대내 시스템 간 거래를 요청하고 응답받는 업무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정보계 대내 시스템은 API Gateway(CruzAPIM)을 통해 연계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농협 은행과 법인간 거래는 GSE를 통해 연계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인터페이스 시스템 간 연계 처리는 인터페이스 시스템 내부에서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예) EAI → API Gateway / API Gateway → EAI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Json/Http, 요청/응답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52560" y="395446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대외 시스템간 연계</a:t>
            </a:r>
          </a:p>
        </p:txBody>
      </p:sp>
      <p:sp>
        <p:nvSpPr>
          <p:cNvPr id="114" name="Oval 113"/>
          <p:cNvSpPr/>
          <p:nvPr/>
        </p:nvSpPr>
        <p:spPr>
          <a:xfrm>
            <a:off x="8741664" y="400932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0" y="4393374"/>
            <a:ext cx="2468880" cy="20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정보계 어플리케이션 시스템과 대외 기관 간 거래를 요청하고 응답받는 업무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API Gateway(CruzAPIM)을 통해 연계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인터페이스 시스템 간 연계 처리는 인터페이스 시스템 내부에서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예) 대외MCA → API Gateway / API Gateway → 대외MCA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Json/Http, 요청/응답</a:t>
            </a:r>
          </a:p>
        </p:txBody>
      </p:sp>
    </p:spTree>
    <p:extLst>
      <p:ext uri="{BB962C8B-B14F-4D97-AF65-F5344CB8AC3E}">
        <p14:creationId xmlns:p14="http://schemas.microsoft.com/office/powerpoint/2010/main" val="149063769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345590"/>
            <a:ext cx="41148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마케팅 이벤트 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307048"/>
            <a:ext cx="1143000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3C3C3C"/>
                </a:solidFill>
                <a:latin typeface="Malgun Gothic"/>
              </a:defRPr>
            </a:pPr>
            <a:r>
              <a:rPr sz="1900"/>
              <a:t>고객 마케팅을 위해 고객 서비스 사용 정보를 수집, 분석하고 마케팅 대상 규칙을 설정해서 고객 접점을</a:t>
            </a:r>
            <a:br>
              <a:rPr sz="1900"/>
            </a:br>
            <a:r>
              <a:rPr sz="1900"/>
              <a:t>통해 마케팅 이벤트를 실행하는 업무처리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15350"/>
            <a:ext cx="7680960" cy="34747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마케팅 이벤트 업무 처리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1645920" y="5280342"/>
            <a:ext cx="1645920" cy="201168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794760" y="5280342"/>
            <a:ext cx="594360" cy="201168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4360" y="509746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110" name="Oval 109"/>
          <p:cNvSpPr/>
          <p:nvPr/>
        </p:nvSpPr>
        <p:spPr>
          <a:xfrm>
            <a:off x="3749039" y="5417502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052560" y="207994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실시간 고객 반응형 정보 수집</a:t>
            </a:r>
          </a:p>
        </p:txBody>
      </p:sp>
      <p:sp>
        <p:nvSpPr>
          <p:cNvPr id="112" name="Oval 111"/>
          <p:cNvSpPr/>
          <p:nvPr/>
        </p:nvSpPr>
        <p:spPr>
          <a:xfrm>
            <a:off x="8741664" y="213480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0" y="2518855"/>
            <a:ext cx="2468880" cy="171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비대면 고객채널(인터넷뱅킹, 스마트뱅킹)에서 생성된 서비스 이용 정보는 Wise Collector로부터 Publish/Subscribe Streaming으로 전송 받는 업무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Kafka를 기반으로 미리 약속된 채널을 Subscribe 해서 Topic을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비동기(Async), Json/Http, 스트리밍 수집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52560" y="368014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실시간 고객 오퍼링 제공</a:t>
            </a:r>
          </a:p>
        </p:txBody>
      </p:sp>
      <p:sp>
        <p:nvSpPr>
          <p:cNvPr id="115" name="Oval 114"/>
          <p:cNvSpPr/>
          <p:nvPr/>
        </p:nvSpPr>
        <p:spPr>
          <a:xfrm>
            <a:off x="8741664" y="373500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0" y="4119055"/>
            <a:ext cx="2468880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고객채널로부터 수집된 고객의 서비스 이용 정보를 기반으로 사전에 설정된 규칙에 따라 마케팅 요소를 식별해서 다시 사용자 접점(SMS, App Push, 이메일)으로 마케팅을 수행하는 업무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RDW로 분석된 정보를 주기적으로 조회해서 대상 식별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UMS를 통해 사용자 접점으로 마케팅 메시지 전송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준실시간/비동기(Async), UMS API, 메시지 발송 요청</a:t>
            </a:r>
          </a:p>
        </p:txBody>
      </p:sp>
    </p:spTree>
    <p:extLst>
      <p:ext uri="{BB962C8B-B14F-4D97-AF65-F5344CB8AC3E}">
        <p14:creationId xmlns:p14="http://schemas.microsoft.com/office/powerpoint/2010/main" val="42787026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345590"/>
            <a:ext cx="41148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데이터 분석/제공 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160854"/>
            <a:ext cx="11521440" cy="96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3C3C3C"/>
                </a:solidFill>
                <a:latin typeface="Malgun Gothic"/>
              </a:defRPr>
            </a:pPr>
            <a:r>
              <a:rPr sz="1900"/>
              <a:t>계정 처리 업무 데이터와 단위 시스템, 레거시 시스템 정보를 수집하고 분석해서 전략적 업무 판단의 근거를</a:t>
            </a:r>
            <a:br>
              <a:rPr sz="1900"/>
            </a:br>
            <a:r>
              <a:rPr sz="1900"/>
              <a:t>위한 지표를 확인할 수 있도록 레포트로 서비스를 제공하는 업무 처리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15350"/>
            <a:ext cx="7680960" cy="34747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데이터 분석/제공 업무 처리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EA792A"/>
          </a:solidFill>
          <a:ln w="5080">
            <a:solidFill>
              <a:srgbClr val="EA7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4526280" y="3469830"/>
            <a:ext cx="1417320" cy="512064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056632" y="4000182"/>
            <a:ext cx="694944" cy="164592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187952" y="246399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sp>
        <p:nvSpPr>
          <p:cNvPr id="110" name="Oval 109"/>
          <p:cNvSpPr/>
          <p:nvPr/>
        </p:nvSpPr>
        <p:spPr>
          <a:xfrm>
            <a:off x="5440680" y="400932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9</a:t>
            </a:r>
          </a:p>
        </p:txBody>
      </p:sp>
      <p:sp>
        <p:nvSpPr>
          <p:cNvPr id="111" name="Oval 110"/>
          <p:cNvSpPr/>
          <p:nvPr/>
        </p:nvSpPr>
        <p:spPr>
          <a:xfrm>
            <a:off x="3767328" y="3305238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52560" y="207994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CDC 실시간 데이터 동기화</a:t>
            </a:r>
          </a:p>
        </p:txBody>
      </p:sp>
      <p:sp>
        <p:nvSpPr>
          <p:cNvPr id="113" name="Oval 112"/>
          <p:cNvSpPr/>
          <p:nvPr/>
        </p:nvSpPr>
        <p:spPr>
          <a:xfrm>
            <a:off x="8741664" y="213480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0" y="2518855"/>
            <a:ext cx="246888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코어뱅킹에서 생성되는 고객 거래 정보를 코어뱅킹DB에서 CDC솔루션 기반 (준)실시간으로 정보계 RDW DB에 데이터 동기화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CDC, 데이터 복제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52560" y="340582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ETL 연계</a:t>
            </a:r>
          </a:p>
        </p:txBody>
      </p:sp>
      <p:sp>
        <p:nvSpPr>
          <p:cNvPr id="116" name="Oval 115"/>
          <p:cNvSpPr/>
          <p:nvPr/>
        </p:nvSpPr>
        <p:spPr>
          <a:xfrm>
            <a:off x="8741664" y="346068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0" y="3844735"/>
            <a:ext cx="246888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대내 시스템과 정보계 시스템 간 데이터 변환 동기화 작업을 ETL 솔루션 기반 배치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DB 또는 파일 데이터들 변환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파일 데이터 처리는 FOS를 연계해서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미리 지정된 시간에 Control-M 등 배치 처리 자동화 솔루션을 통해 실행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배치, Control-M, 데이터 적재/변환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52560" y="523462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데이터 분석 기반 의사결정 지원</a:t>
            </a:r>
          </a:p>
        </p:txBody>
      </p:sp>
      <p:sp>
        <p:nvSpPr>
          <p:cNvPr id="119" name="Oval 118"/>
          <p:cNvSpPr/>
          <p:nvPr/>
        </p:nvSpPr>
        <p:spPr>
          <a:xfrm>
            <a:off x="8741664" y="528948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0" y="5673535"/>
            <a:ext cx="246888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정보계 데이터 플랫폼 시스템에서 정보를 수집하고 분석한 결과는 BI포털을 통해 의사결정을 위한 정보 분석 결과 레포트로 제공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동기(Sync), Json/Http, 요청/응답</a:t>
            </a:r>
          </a:p>
        </p:txBody>
      </p:sp>
    </p:spTree>
    <p:extLst>
      <p:ext uri="{BB962C8B-B14F-4D97-AF65-F5344CB8AC3E}">
        <p14:creationId xmlns:p14="http://schemas.microsoft.com/office/powerpoint/2010/main" val="8305419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345590"/>
            <a:ext cx="41148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파일 연계 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307048"/>
            <a:ext cx="1152144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3C3C3C"/>
                </a:solidFill>
                <a:latin typeface="Malgun Gothic"/>
              </a:defRPr>
            </a:pPr>
            <a:r>
              <a:rPr sz="1900"/>
              <a:t>차세대 정보계 파일 연계 기준을 FOS로 일원화해서 연계하며, FOS는 기존 MFT와 내부적으로 연계 구성</a:t>
            </a:r>
            <a:br>
              <a:rPr sz="1900"/>
            </a:br>
            <a:r>
              <a:rPr sz="1900"/>
              <a:t>처리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15350"/>
            <a:ext cx="7680960" cy="34747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파일 연계 업무 처리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EA792A"/>
          </a:solidFill>
          <a:ln w="5080">
            <a:solidFill>
              <a:srgbClr val="EA7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5056632" y="3817302"/>
            <a:ext cx="694944" cy="164592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5440680" y="382644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52560" y="221710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FOS 파일 처리 연계</a:t>
            </a:r>
          </a:p>
        </p:txBody>
      </p:sp>
      <p:sp>
        <p:nvSpPr>
          <p:cNvPr id="110" name="Oval 109"/>
          <p:cNvSpPr/>
          <p:nvPr/>
        </p:nvSpPr>
        <p:spPr>
          <a:xfrm>
            <a:off x="8741664" y="227196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0" y="2656014"/>
            <a:ext cx="2468880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정보계 시스템과 대내시스템 또는 대외기관과 FOS 솔루션을 통해 파일을 연계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FOS와 MFT는 설정을 통해 연계 처리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배치, Control-M, 데이터 적재/변환</a:t>
            </a:r>
          </a:p>
        </p:txBody>
      </p:sp>
    </p:spTree>
    <p:extLst>
      <p:ext uri="{BB962C8B-B14F-4D97-AF65-F5344CB8AC3E}">
        <p14:creationId xmlns:p14="http://schemas.microsoft.com/office/powerpoint/2010/main" val="385728748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561032"/>
            <a:ext cx="4114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3C3C3C"/>
                </a:solidFill>
                <a:latin typeface="Malgun Gothic"/>
              </a:defRPr>
            </a:pPr>
            <a:r>
              <a:rPr sz="2800"/>
              <a:t>배치 업무 처리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8694"/>
            <a:ext cx="1051560" cy="27432"/>
          </a:xfrm>
          <a:prstGeom prst="rect">
            <a:avLst/>
          </a:prstGeom>
          <a:solidFill>
            <a:srgbClr val="35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238694"/>
            <a:ext cx="292608" cy="27432"/>
          </a:xfrm>
          <a:prstGeom prst="rect">
            <a:avLst/>
          </a:prstGeom>
          <a:solidFill>
            <a:srgbClr val="A2B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44168" y="1238694"/>
            <a:ext cx="10515600" cy="27432"/>
          </a:xfrm>
          <a:prstGeom prst="rect">
            <a:avLst/>
          </a:prstGeom>
          <a:solidFill>
            <a:srgbClr val="27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307048"/>
            <a:ext cx="1152144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3C3C3C"/>
                </a:solidFill>
                <a:latin typeface="Malgun Gothic"/>
              </a:defRPr>
            </a:pPr>
            <a:r>
              <a:rPr sz="1900"/>
              <a:t>NH Cloud Framework의 배치 프레임워크를 기반으로 작성된 배치 프로그램을 Control-M 작업 자동화</a:t>
            </a:r>
            <a:br>
              <a:rPr sz="1900"/>
            </a:br>
            <a:r>
              <a:rPr sz="1900"/>
              <a:t>시스템을 배치 작업을 실행하는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15350"/>
            <a:ext cx="7680960" cy="34747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배치 업무 처리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942782"/>
            <a:ext cx="822960" cy="2697480"/>
          </a:xfrm>
          <a:prstGeom prst="rect">
            <a:avLst/>
          </a:prstGeom>
          <a:solidFill>
            <a:srgbClr val="EDEDED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15685"/>
            <a:ext cx="685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Malgun Gothic"/>
              </a:defRPr>
            </a:pPr>
            <a:r>
              <a:rPr sz="1000"/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17102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채널 통합</a:t>
            </a:r>
            <a:br>
              <a:rPr sz="900"/>
            </a:br>
            <a:r>
              <a:rPr sz="900"/>
              <a:t>영업점</a:t>
            </a:r>
            <a:br>
              <a:rPr sz="900"/>
            </a:br>
            <a:r>
              <a:rPr sz="900"/>
              <a:t>MCA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57182"/>
            <a:ext cx="566928" cy="502920"/>
          </a:xfrm>
          <a:prstGeom prst="rect">
            <a:avLst/>
          </a:prstGeom>
          <a:solidFill>
            <a:srgbClr val="DAEFE8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정보 단말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69830"/>
            <a:ext cx="566928" cy="502920"/>
          </a:xfrm>
          <a:prstGeom prst="rect">
            <a:avLst/>
          </a:prstGeom>
          <a:solidFill>
            <a:srgbClr val="E4E4E4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Package</a:t>
            </a:r>
            <a:br>
              <a:rPr sz="900"/>
            </a:br>
            <a:r>
              <a:rPr sz="900"/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500602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고객</a:t>
            </a:r>
            <a:br>
              <a:rPr sz="1000"/>
            </a:br>
            <a:r>
              <a:rPr sz="1000"/>
              <a:t>행태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5417502"/>
            <a:ext cx="868680" cy="411480"/>
          </a:xfrm>
          <a:prstGeom prst="rect">
            <a:avLst/>
          </a:prstGeom>
          <a:solidFill>
            <a:srgbClr val="F5F5F5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SMS</a:t>
            </a:r>
            <a:br>
              <a:rPr sz="1000"/>
            </a:br>
            <a:r>
              <a:rPr sz="1000"/>
              <a:t>PUSH</a:t>
            </a:r>
            <a:br>
              <a:rPr sz="1000"/>
            </a:br>
            <a:r>
              <a:rPr sz="1000"/>
              <a:t>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34222"/>
            <a:ext cx="2606040" cy="2743200"/>
          </a:xfrm>
          <a:prstGeom prst="rect">
            <a:avLst/>
          </a:prstGeom>
          <a:solidFill>
            <a:srgbClr val="F4F8F5"/>
          </a:solidFill>
          <a:ln w="2794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8448" y="2153094"/>
            <a:ext cx="2377440" cy="201168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애플리케이션</a:t>
            </a:r>
            <a:br>
              <a:rPr sz="1200"/>
            </a:br>
            <a:r>
              <a:rPr sz="1200"/>
              <a:t>마케팅플랫폼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17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미니 싱글뷰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99981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0" y="2399981"/>
            <a:ext cx="10058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마케팅플랫폼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656013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0981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NH Cloud FWK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905949"/>
            <a:ext cx="914400" cy="97536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WAS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3195510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3195510"/>
            <a:ext cx="22860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BI 포털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51542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BI Portal / Data Eye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628326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신용실적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05110"/>
            <a:ext cx="2194560" cy="14935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Self BI 솔루션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1732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09162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14600" y="4091622"/>
            <a:ext cx="91440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OLAP 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347654"/>
            <a:ext cx="822960" cy="11887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MSTR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59454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98448" y="4594542"/>
            <a:ext cx="2377440" cy="219456"/>
          </a:xfrm>
          <a:prstGeom prst="rect">
            <a:avLst/>
          </a:prstGeom>
          <a:solidFill>
            <a:srgbClr val="3C3C3C"/>
          </a:solidFill>
          <a:ln w="63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데이터거버넌스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4168" y="4850574"/>
            <a:ext cx="2286000" cy="9144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17320" y="4658549"/>
            <a:ext cx="105156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비즈메타/데이터품질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658549"/>
            <a:ext cx="1005840" cy="21031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데이터흐름관리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7008" y="4942014"/>
            <a:ext cx="2578608" cy="155448"/>
          </a:xfrm>
          <a:prstGeom prst="rect">
            <a:avLst/>
          </a:prstGeom>
          <a:solidFill>
            <a:srgbClr val="4D4D4D"/>
          </a:solidFill>
          <a:ln w="63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79942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algun Gothic"/>
              </a:defRPr>
            </a:pPr>
            <a:r>
              <a:rPr sz="1100"/>
              <a:t>대내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2198814"/>
            <a:ext cx="50292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뱅킹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198814"/>
            <a:ext cx="530352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연계 뱅킹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4104" y="2198814"/>
            <a:ext cx="457200" cy="1828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단위 업무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2098230"/>
            <a:ext cx="384048" cy="320040"/>
          </a:xfrm>
          <a:prstGeom prst="round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BCV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427414"/>
            <a:ext cx="36576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코어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2857182"/>
            <a:ext cx="1554480" cy="292608"/>
          </a:xfrm>
          <a:prstGeom prst="rect">
            <a:avLst/>
          </a:prstGeom>
          <a:solidFill>
            <a:srgbClr val="3C3C3C"/>
          </a:solidFill>
          <a:ln w="1016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API Gateway (Cruz APIM)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628582"/>
            <a:ext cx="237744" cy="146304"/>
          </a:xfrm>
          <a:prstGeom prst="rect">
            <a:avLst/>
          </a:prstGeom>
          <a:solidFill>
            <a:srgbClr val="414141"/>
          </a:solidFill>
          <a:ln w="635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EAI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610293"/>
            <a:ext cx="146304" cy="457200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CDC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079942"/>
            <a:ext cx="777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  <a:r>
              <a:rPr sz="1000"/>
              <a:t>대외</a:t>
            </a:r>
            <a:br>
              <a:rPr sz="1000"/>
            </a:br>
            <a:r>
              <a:rPr sz="1000"/>
              <a:t>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6872" y="20982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NH생명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22353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NH손해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6872" y="23725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 멤버스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250971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농협신용보증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76872" y="264687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NH경제지주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278403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76872" y="292119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Nice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3058350"/>
            <a:ext cx="68580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000000"/>
                </a:solidFill>
                <a:latin typeface="Malgun Gothic"/>
              </a:defRPr>
            </a:pPr>
            <a:r>
              <a:rPr sz="650"/>
              <a:t>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222942"/>
            <a:ext cx="1124712" cy="1097280"/>
          </a:xfrm>
          <a:prstGeom prst="rect">
            <a:avLst/>
          </a:prstGeom>
          <a:solidFill>
            <a:srgbClr val="4B4B4B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31152" y="311432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11112" y="3414966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카드정보계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11112" y="3533838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카드DW   회계관리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11112" y="3652710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 관리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11112" y="3771582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1112" y="3890453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회계관리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1112" y="4009325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리스크관리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11112" y="4128197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경제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11112" y="4247069"/>
            <a:ext cx="978408" cy="109728"/>
          </a:xfrm>
          <a:prstGeom prst="rect">
            <a:avLst/>
          </a:prstGeom>
          <a:solidFill>
            <a:srgbClr val="646464"/>
          </a:solidFill>
          <a:ln w="508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50" b="0">
                <a:solidFill>
                  <a:srgbClr val="FFFFFF"/>
                </a:solidFill>
                <a:latin typeface="Malgun Gothic"/>
              </a:defRPr>
            </a:pPr>
            <a:r>
              <a:rPr sz="650"/>
              <a:t>로우코드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39712" y="4338510"/>
            <a:ext cx="502920" cy="164592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Big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195510"/>
            <a:ext cx="18288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434840" y="3268662"/>
            <a:ext cx="1536192" cy="164592"/>
          </a:xfrm>
          <a:prstGeom prst="rect">
            <a:avLst/>
          </a:prstGeom>
          <a:solidFill>
            <a:srgbClr val="215842"/>
          </a:solidFill>
          <a:ln w="6350">
            <a:solidFill>
              <a:srgbClr val="215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데이터플랫폼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526280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RDW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실시간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85232" y="346983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85232" y="3469830"/>
            <a:ext cx="658368" cy="21945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ADW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30952" y="3725862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대용분석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0952" y="3821874"/>
            <a:ext cx="566928" cy="68580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00000"/>
                </a:solidFill>
                <a:latin typeface="Malgun Gothic"/>
              </a:defRPr>
            </a:pPr>
            <a:r>
              <a:rPr sz="900"/>
              <a:t>DBMS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588702"/>
            <a:ext cx="201168" cy="182880"/>
          </a:xfrm>
          <a:prstGeom prst="rect">
            <a:avLst/>
          </a:prstGeom>
          <a:solidFill>
            <a:srgbClr val="2D2D2D"/>
          </a:solidFill>
          <a:ln w="508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MFT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3844734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FOS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4920" y="4018470"/>
            <a:ext cx="658368" cy="146304"/>
          </a:xfrm>
          <a:prstGeom prst="rect">
            <a:avLst/>
          </a:prstGeom>
          <a:solidFill>
            <a:srgbClr val="262626"/>
          </a:solidFill>
          <a:ln w="508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ETL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1648" y="3222942"/>
            <a:ext cx="137160" cy="86868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Database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3314382"/>
            <a:ext cx="109728" cy="502920"/>
          </a:xfrm>
          <a:prstGeom prst="rect">
            <a:avLst/>
          </a:prstGeom>
          <a:solidFill>
            <a:srgbClr val="373737"/>
          </a:solidFill>
          <a:ln w="508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JDBC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50208" y="3835590"/>
            <a:ext cx="201168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배치</a:t>
            </a:r>
            <a:br>
              <a:rPr sz="700"/>
            </a:br>
            <a:r>
              <a:rPr sz="700"/>
              <a:t>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00200" y="5115750"/>
            <a:ext cx="2377440" cy="164592"/>
          </a:xfrm>
          <a:prstGeom prst="rect">
            <a:avLst/>
          </a:prstGeom>
          <a:solidFill>
            <a:srgbClr val="4D4D4D"/>
          </a:solidFill>
          <a:ln w="508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마케팅 이벤트 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9072" y="5316918"/>
            <a:ext cx="566928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고객행동데이터</a:t>
            </a:r>
            <a:br>
              <a:rPr sz="700"/>
            </a:br>
            <a:r>
              <a:rPr sz="700"/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59152" y="5316918"/>
            <a:ext cx="45720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고객행태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316918"/>
            <a:ext cx="36576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이벤트</a:t>
            </a:r>
            <a:br>
              <a:rPr sz="700"/>
            </a:br>
            <a:r>
              <a:rPr sz="700"/>
              <a:t>정보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40" y="5316918"/>
            <a:ext cx="512064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행동정보처리서버</a:t>
            </a:r>
            <a:br>
              <a:rPr sz="700"/>
            </a:br>
            <a:r>
              <a:rPr sz="700"/>
              <a:t>Daemon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58768" y="5316918"/>
            <a:ext cx="502920" cy="164592"/>
          </a:xfrm>
          <a:prstGeom prst="rect">
            <a:avLst/>
          </a:prstGeom>
          <a:solidFill>
            <a:srgbClr val="EDEDED"/>
          </a:solidFill>
          <a:ln w="762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실시간처리서버</a:t>
            </a:r>
            <a:br>
              <a:rPr sz="700"/>
            </a:br>
            <a:r>
              <a:rPr sz="700"/>
              <a:t>EBM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7408" y="5225478"/>
            <a:ext cx="932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000000"/>
                </a:solidFill>
                <a:latin typeface="Malgun Gothic"/>
              </a:defRPr>
            </a:pPr>
            <a:r>
              <a:rPr sz="800"/>
              <a:t>통합개발 환경</a:t>
            </a:r>
            <a:br>
              <a:rPr sz="800"/>
            </a:br>
            <a:r>
              <a:rPr sz="800"/>
              <a:t>GitLab</a:t>
            </a:r>
            <a:br>
              <a:rPr sz="800"/>
            </a:br>
            <a:r>
              <a:rPr sz="800"/>
              <a:t>Git Runner</a:t>
            </a:r>
            <a:br>
              <a:rPr sz="800"/>
            </a:br>
            <a:r>
              <a:rPr sz="800"/>
              <a:t>NEXUS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5115750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80" b="0">
                <a:solidFill>
                  <a:srgbClr val="000000"/>
                </a:solidFill>
                <a:latin typeface="Malgun Gothic"/>
              </a:defRPr>
            </a:pPr>
            <a:r>
              <a:rPr sz="680"/>
              <a:t>통합관리 FDS / ITSM / 배치작업 관리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06440" y="5316918"/>
            <a:ext cx="1325880" cy="164592"/>
          </a:xfrm>
          <a:prstGeom prst="rect">
            <a:avLst/>
          </a:prstGeom>
          <a:solidFill>
            <a:srgbClr val="EDEDED"/>
          </a:solidFill>
          <a:ln w="50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000000"/>
                </a:solidFill>
                <a:latin typeface="Malgun Gothic"/>
              </a:defRPr>
            </a:pPr>
            <a:r>
              <a:rPr sz="700"/>
              <a:t>단말  FWK  마케팅  BI포털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5518086"/>
            <a:ext cx="1325880" cy="164592"/>
          </a:xfrm>
          <a:prstGeom prst="rect">
            <a:avLst/>
          </a:prstGeom>
          <a:solidFill>
            <a:srgbClr val="323232"/>
          </a:solidFill>
          <a:ln w="508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  <a:latin typeface="Malgun Gothic"/>
              </a:defRPr>
            </a:pPr>
            <a:r>
              <a:rPr sz="700"/>
              <a:t>eCAMS  연계정보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60120" y="247313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60120" y="3104070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120" y="3707574"/>
            <a:ext cx="2286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94760" y="2720022"/>
            <a:ext cx="73152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794760" y="358870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794760" y="3954462"/>
            <a:ext cx="246888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003486"/>
            <a:ext cx="86868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78408" y="5399214"/>
            <a:ext cx="740664" cy="18288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913632" y="3835590"/>
            <a:ext cx="228600" cy="292608"/>
          </a:xfrm>
          <a:prstGeom prst="rect">
            <a:avLst/>
          </a:prstGeom>
          <a:solidFill>
            <a:srgbClr val="000000"/>
          </a:solidFill>
          <a:ln w="25400">
            <a:solidFill>
              <a:srgbClr val="CF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3712463" y="3927030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52560" y="2308542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3C3C3C"/>
                </a:solidFill>
                <a:latin typeface="Malgun Gothic"/>
              </a:defRPr>
            </a:pPr>
            <a:r>
              <a:rPr sz="1700"/>
              <a:t>배치 처리</a:t>
            </a:r>
          </a:p>
        </p:txBody>
      </p:sp>
      <p:sp>
        <p:nvSpPr>
          <p:cNvPr id="110" name="Oval 109"/>
          <p:cNvSpPr/>
          <p:nvPr/>
        </p:nvSpPr>
        <p:spPr>
          <a:xfrm>
            <a:off x="8741664" y="2363406"/>
            <a:ext cx="256032" cy="256032"/>
          </a:xfrm>
          <a:prstGeom prst="ellipse">
            <a:avLst/>
          </a:prstGeom>
          <a:solidFill>
            <a:srgbClr val="F3B935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  <a:latin typeface="Malgun Gothic"/>
              </a:defRPr>
            </a:pPr>
            <a:r>
              <a:rPr sz="1200"/>
              <a:t>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0" y="2747454"/>
            <a:ext cx="2468880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배치 프레임워크(NH Cloud Framework) 기반으로 작성된 어플리케이션이 Control-M 작업 자동화 시스템을 통해 정해진 시간에 동작</a:t>
            </a:r>
          </a:p>
          <a:p>
            <a:pPr>
              <a:spcAft>
                <a:spcPts val="100"/>
              </a:spcAft>
              <a:defRPr sz="1150">
                <a:latin typeface="Malgun Gothic"/>
              </a:defRPr>
            </a:pPr>
            <a:r>
              <a:rPr sz="1150"/>
              <a:t>• 배치, 배치 프레임워크, 일괄처리</a:t>
            </a:r>
          </a:p>
        </p:txBody>
      </p:sp>
    </p:spTree>
    <p:extLst>
      <p:ext uri="{BB962C8B-B14F-4D97-AF65-F5344CB8AC3E}">
        <p14:creationId xmlns:p14="http://schemas.microsoft.com/office/powerpoint/2010/main" val="97165015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" y="635191"/>
            <a:ext cx="1371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82828"/>
                </a:solidFill>
                <a:latin typeface="Malgun Gothic"/>
              </a:defRPr>
            </a:pPr>
            <a:r>
              <a:rPr sz="3200"/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3076638"/>
            <a:ext cx="6016752" cy="393192"/>
          </a:xfrm>
          <a:prstGeom prst="rect">
            <a:avLst/>
          </a:prstGeom>
          <a:solidFill>
            <a:srgbClr val="DCEFE4"/>
          </a:solidFill>
          <a:ln>
            <a:solidFill>
              <a:srgbClr val="DC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005840" y="1531302"/>
            <a:ext cx="43891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7. 런타임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15350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7.1 업무 처리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17102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7.2 단말 거래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8854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7.3 미니 싱글뷰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20606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7.4 UMS 고객 통지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2358"/>
            <a:ext cx="43891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82828"/>
                </a:solidFill>
                <a:latin typeface="Malgun Gothic"/>
              </a:defRPr>
            </a:pPr>
            <a:r>
              <a:rPr sz="2500"/>
              <a:t>8. 아키텍처 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06406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8.1 어플리케이션 계층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08158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8.2 전문 표준화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09910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8.3 GUID 관리 체계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11662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8.4 캐릭터 셋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13414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8.5 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15166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8.6 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16918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8.7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18670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8.8 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20422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8.9 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531302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9. 아키텍처 구성 요소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15350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9.1 단말 프레임워크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17102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9.2 온라인 프레임워크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518854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9.3 배치 프레임워크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20606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10. 업무 솔루션 아키텍처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204654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10.1 SELF-BI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506406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10.2 OLAP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808158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10.3 EBM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109910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10.4 데이터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411662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11. 기타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795710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11.1 시스템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097462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11.2 시스템 가용성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399214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11.3 시스템 확장성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700966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11.4 DR 구성 (센터 간 가용성)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6002718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11.5 백업 구성</a:t>
            </a:r>
          </a:p>
        </p:txBody>
      </p:sp>
    </p:spTree>
    <p:extLst>
      <p:ext uri="{BB962C8B-B14F-4D97-AF65-F5344CB8AC3E}">
        <p14:creationId xmlns:p14="http://schemas.microsoft.com/office/powerpoint/2010/main" val="243042025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정보 단말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73152" y="1394142"/>
            <a:ext cx="11841480" cy="640080"/>
          </a:xfrm>
          <a:prstGeom prst="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1458150"/>
            <a:ext cx="73152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프로젝트 명 : WebTop_NSIGHT</a:t>
            </a:r>
          </a:p>
          <a:p>
            <a:pPr algn="l">
              <a:lnSpc>
                <a:spcPct val="100000"/>
              </a:lnSpc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프로젝트 위치 : C:\WEBTOP\workspace\WebTop_NSIGHT</a:t>
            </a:r>
          </a:p>
          <a:p>
            <a:pPr algn="l">
              <a:lnSpc>
                <a:spcPct val="100000"/>
              </a:lnSpc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Web Root 경로 : WebTop_NSIGHT/src/main/webapp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6282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Web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454846"/>
            <a:ext cx="36576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31720" y="2454846"/>
            <a:ext cx="0" cy="3328416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31720" y="2244534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_wpack_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35391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화면 xml을 빌드한 js 파일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10293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1" y="2747454"/>
            <a:ext cx="685799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663440" y="2601150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gcc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582863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기본 공통 함수 xml 파일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921190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udc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902903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기본 공통 UDC xml 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241230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css</a:t>
            </a:r>
            <a:br>
              <a:rPr sz="1200"/>
            </a:br>
            <a:r>
              <a:rPr sz="1200"/>
              <a:t>images</a:t>
            </a:r>
            <a:br>
              <a:rPr sz="1200"/>
            </a:br>
            <a:r>
              <a:rPr sz="1200"/>
              <a:t>font</a:t>
            </a:r>
            <a:br>
              <a:rPr sz="1200"/>
            </a:br>
            <a:r>
              <a:rPr sz="1200"/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60103"/>
            <a:ext cx="2377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웹 화면에 사용하는</a:t>
            </a:r>
            <a:br>
              <a:rPr sz="1200"/>
            </a:br>
            <a:r>
              <a:rPr sz="1200"/>
              <a:t>기본 공통 css, 이미지, font 등 리소스 파일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61488" y="2884614"/>
            <a:ext cx="0" cy="649224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61488" y="3533838"/>
            <a:ext cx="1792224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49039" y="2747454"/>
            <a:ext cx="0" cy="786384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87168" y="4201349"/>
            <a:ext cx="11521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websquare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201350"/>
            <a:ext cx="2926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웹스퀘어 엔진에서 사용하는 리소스 및 설정 파일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4594542"/>
            <a:ext cx="11521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webTop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4740846"/>
            <a:ext cx="155448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39312" y="4740846"/>
            <a:ext cx="658368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297680" y="4594542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4608" y="4731702"/>
            <a:ext cx="621792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486400" y="4576253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gcc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4567111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정보단말 공통 함수 xml 파일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4887150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udc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878007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정보단말 공통 UDC xml 파일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2392" y="5198046"/>
            <a:ext cx="7498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css</a:t>
            </a:r>
            <a:br>
              <a:rPr sz="1100"/>
            </a:br>
            <a:r>
              <a:rPr sz="1100"/>
              <a:t>images</a:t>
            </a:r>
            <a:br>
              <a:rPr sz="1100"/>
            </a:br>
            <a:r>
              <a:rPr sz="1100"/>
              <a:t>font</a:t>
            </a:r>
            <a:br>
              <a:rPr sz="1100"/>
            </a:br>
            <a:r>
              <a:rPr sz="1100"/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298631"/>
            <a:ext cx="22860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웹 화면에 사용하는</a:t>
            </a:r>
            <a:br>
              <a:rPr sz="1200"/>
            </a:br>
            <a:r>
              <a:rPr sz="1200"/>
              <a:t>정보단말 css, 이미지, font 등 리소스 파일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0" y="4868862"/>
            <a:ext cx="0" cy="141732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5481510"/>
            <a:ext cx="841248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617720" y="5847270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layout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847271"/>
            <a:ext cx="2286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정보단말 layout 화면 xml 파일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6176454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screen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158167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업무 구분에 따른 화면 xml 파일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83480" y="6450774"/>
            <a:ext cx="0" cy="310896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217920" y="6331902"/>
            <a:ext cx="548640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6679374"/>
            <a:ext cx="548640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BI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66560" y="6459918"/>
            <a:ext cx="50292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66560" y="6807390"/>
            <a:ext cx="50292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269480" y="633190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6679374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633190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6679374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6331902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mpcoa0000M0.xml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6679374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bicra0000M0.xml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0" y="6459918"/>
            <a:ext cx="77724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72400" y="6807390"/>
            <a:ext cx="77724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- 122 -</a:t>
            </a:r>
          </a:p>
        </p:txBody>
      </p:sp>
    </p:spTree>
    <p:extLst>
      <p:ext uri="{BB962C8B-B14F-4D97-AF65-F5344CB8AC3E}">
        <p14:creationId xmlns:p14="http://schemas.microsoft.com/office/powerpoint/2010/main" val="15772628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온라인 프레임워크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256032" y="1531302"/>
            <a:ext cx="86868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1531302"/>
            <a:ext cx="146304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어플리케이션 그룹</a:t>
            </a:r>
            <a:br>
              <a:rPr sz="1400"/>
            </a:br>
            <a:r>
              <a:rPr sz="1400"/>
              <a:t>(대구분)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31302"/>
            <a:ext cx="132588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어플리케이션</a:t>
            </a:r>
            <a:br>
              <a:rPr sz="1400"/>
            </a:br>
            <a:r>
              <a:rPr sz="1400"/>
              <a:t>(업무 구분)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5424" y="1531302"/>
            <a:ext cx="150876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기능</a:t>
            </a:r>
            <a:br>
              <a:rPr sz="1400"/>
            </a:br>
            <a:r>
              <a:rPr sz="1400"/>
              <a:t>(세부 업무 구분)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31302"/>
            <a:ext cx="5468112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업무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98230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nhnis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" y="2354262"/>
            <a:ext cx="0" cy="246888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691640" y="2308542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mp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" y="2427414"/>
            <a:ext cx="1133856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520440" y="2537142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58568" y="2436557"/>
            <a:ext cx="1261872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31336" y="2793174"/>
            <a:ext cx="0" cy="3035808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20640" y="2747454"/>
            <a:ext cx="47548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2232" y="2665158"/>
            <a:ext cx="978408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554480" y="4960302"/>
            <a:ext cx="914400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resource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" y="5088318"/>
            <a:ext cx="996696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20240" y="5390070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mp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5216334"/>
            <a:ext cx="0" cy="173736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456432" y="5673534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87168" y="5518086"/>
            <a:ext cx="969264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544568" y="5966142"/>
            <a:ext cx="47548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67328" y="5801550"/>
            <a:ext cx="77724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40680" y="584727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mpcoa0001-</a:t>
            </a:r>
            <a:br>
              <a:rPr sz="1100"/>
            </a:br>
            <a:r>
              <a:rPr sz="1100"/>
              <a:t>ORA.xml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0056" y="6094158"/>
            <a:ext cx="420624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08192" y="2537143"/>
            <a:ext cx="27432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nhnis.mp.co.a.controller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793174"/>
            <a:ext cx="868680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82975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mpcoaController.java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3268662"/>
            <a:ext cx="2743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524694"/>
            <a:ext cx="749808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1192" y="356127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mpcoa0001Service.java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4000183"/>
            <a:ext cx="2286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nhnis.mp.co.a.dao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4256214"/>
            <a:ext cx="594360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1192" y="4237925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mpcoa0001DAO.java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51192" y="447567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mpcoa0001DAO.java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4731702"/>
            <a:ext cx="2286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nhnis.mp.co.a.dto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4987734"/>
            <a:ext cx="548640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dto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4969446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mpcoa0001SODTOin.java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51192" y="520719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mpcoa0001SODTOout.java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51192" y="5444934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mpcoa0001SODTOio.java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2189670"/>
            <a:ext cx="2514600" cy="96012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37192" y="2308543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2509710"/>
            <a:ext cx="224028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서비스ID = Controller Class Method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본 처리에 해당하는 거래 처리 흐름</a:t>
            </a:r>
            <a:br>
              <a:rPr sz="1100"/>
            </a:br>
            <a:r>
              <a:rPr sz="1100"/>
              <a:t>  제어 업무 구현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Service Method 호출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3222942"/>
            <a:ext cx="2514600" cy="91440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37192" y="3341815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3524695"/>
            <a:ext cx="224028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 ID = Service Class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처리를 위한 Biz 로직 구현체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dto, dao 객체를 사용해서 로직 처리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18320" y="4228782"/>
            <a:ext cx="2514600" cy="100584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37192" y="4347654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DAO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4530534"/>
            <a:ext cx="224028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 ID = DAO Class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DB Access (C/R/U/D) 로직 구현체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SQL ID를 호출해서 OR Mapper를 통해</a:t>
            </a:r>
            <a:br>
              <a:rPr sz="1100"/>
            </a:br>
            <a:r>
              <a:rPr sz="1100"/>
              <a:t>  DB Data Access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5326062"/>
            <a:ext cx="2514600" cy="105156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37192" y="5444935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DTO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5627815"/>
            <a:ext cx="224028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서비스의 입력과 출력 값을 처리할 데이터 객체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입력과 출력 또는 입출력이 동일한 데이터</a:t>
            </a:r>
            <a:br>
              <a:rPr sz="1100"/>
            </a:br>
            <a:r>
              <a:rPr sz="1100"/>
              <a:t>  세트를 처리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- 123 -</a:t>
            </a:r>
          </a:p>
        </p:txBody>
      </p:sp>
    </p:spTree>
    <p:extLst>
      <p:ext uri="{BB962C8B-B14F-4D97-AF65-F5344CB8AC3E}">
        <p14:creationId xmlns:p14="http://schemas.microsoft.com/office/powerpoint/2010/main" val="129946643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거래 처리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365760" y="1604454"/>
            <a:ext cx="580644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거래 처리 구조도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31303"/>
            <a:ext cx="2560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82828"/>
                </a:solidFill>
                <a:latin typeface="Malgun Gothic"/>
              </a:defRPr>
            </a:pPr>
            <a:r>
              <a:rPr sz="2400"/>
              <a:t>주요 처리 내용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1942782"/>
            <a:ext cx="4617720" cy="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2281111"/>
            <a:ext cx="7315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거래 요청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2399981"/>
            <a:ext cx="731520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" y="6715951"/>
            <a:ext cx="7315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거래 응답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11480" y="6862254"/>
            <a:ext cx="594360" cy="0"/>
          </a:xfrm>
          <a:prstGeom prst="line">
            <a:avLst/>
          </a:prstGeom>
          <a:ln w="1651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17320" y="2491422"/>
            <a:ext cx="49377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2011680" y="2537142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시스템 선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64575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5C43"/>
                </a:solidFill>
                <a:latin typeface="Malgun Gothic"/>
              </a:defRPr>
            </a:pPr>
            <a:r>
              <a:t>NH Cloud Framework</a:t>
            </a:r>
          </a:p>
        </p:txBody>
      </p:sp>
      <p:sp>
        <p:nvSpPr>
          <p:cNvPr id="16" name="Oval 15"/>
          <p:cNvSpPr/>
          <p:nvPr/>
        </p:nvSpPr>
        <p:spPr>
          <a:xfrm>
            <a:off x="1508760" y="2500566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1508760" y="32686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305239"/>
            <a:ext cx="14630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14141"/>
                </a:solidFill>
                <a:latin typeface="Malgun Gothic"/>
              </a:defRPr>
            </a:pPr>
            <a:r>
              <a:rPr sz="1700"/>
              <a:t>공통 선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58935"/>
            <a:ext cx="5486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rPr sz="1100"/>
              <a:t>필요 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2463" y="3140646"/>
            <a:ext cx="594360" cy="210312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Malgun Gothic"/>
              </a:defRPr>
            </a:pPr>
            <a:endParaRPr sz="1100"/>
          </a:p>
        </p:txBody>
      </p:sp>
      <p:cxnSp>
        <p:nvCxnSpPr>
          <p:cNvPr id="21" name="Connector 20"/>
          <p:cNvCxnSpPr/>
          <p:nvPr/>
        </p:nvCxnSpPr>
        <p:spPr>
          <a:xfrm>
            <a:off x="1673352" y="3433254"/>
            <a:ext cx="0" cy="493776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73353" y="3433254"/>
            <a:ext cx="2039111" cy="0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06824" y="3433254"/>
            <a:ext cx="0" cy="493776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3352" y="3927030"/>
            <a:ext cx="2633472" cy="0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508760" y="413734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173919"/>
            <a:ext cx="14630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14141"/>
                </a:solidFill>
                <a:latin typeface="Malgun Gothic"/>
              </a:defRPr>
            </a:pPr>
            <a:r>
              <a:rPr sz="1700"/>
              <a:t>업무 선 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2463" y="4036758"/>
            <a:ext cx="594360" cy="210312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Malgun Gothic"/>
              </a:defRPr>
            </a:pPr>
            <a:endParaRPr sz="1100"/>
          </a:p>
        </p:txBody>
      </p:sp>
      <p:sp>
        <p:nvSpPr>
          <p:cNvPr id="28" name="TextBox 27"/>
          <p:cNvSpPr txBox="1"/>
          <p:nvPr/>
        </p:nvSpPr>
        <p:spPr>
          <a:xfrm>
            <a:off x="3794760" y="4055046"/>
            <a:ext cx="4572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rPr sz="1100"/>
              <a:t>필요 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73352" y="4301934"/>
            <a:ext cx="0" cy="402336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73353" y="4301934"/>
            <a:ext cx="2039111" cy="0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306824" y="4301934"/>
            <a:ext cx="0" cy="402336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73352" y="4704270"/>
            <a:ext cx="2633472" cy="0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600200" y="4841430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17320" y="4960302"/>
            <a:ext cx="1828800" cy="914400"/>
          </a:xfrm>
          <a:prstGeom prst="rect">
            <a:avLst/>
          </a:prstGeom>
          <a:solidFill>
            <a:srgbClr val="2C7B4F"/>
          </a:solidFill>
          <a:ln w="1270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업무 본 처리</a:t>
            </a:r>
            <a:br/>
            <a:r>
              <a:t>Controller</a:t>
            </a:r>
          </a:p>
        </p:txBody>
      </p:sp>
      <p:sp>
        <p:nvSpPr>
          <p:cNvPr id="35" name="Oval 34"/>
          <p:cNvSpPr/>
          <p:nvPr/>
        </p:nvSpPr>
        <p:spPr>
          <a:xfrm>
            <a:off x="4206240" y="4841430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4960302"/>
            <a:ext cx="1920240" cy="914400"/>
          </a:xfrm>
          <a:prstGeom prst="rect">
            <a:avLst/>
          </a:prstGeom>
          <a:solidFill>
            <a:srgbClr val="2C7B4F"/>
          </a:solidFill>
          <a:ln w="1270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Biz 로직</a:t>
            </a:r>
            <a:br/>
            <a:r>
              <a:t>Service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46120" y="5417502"/>
            <a:ext cx="822960" cy="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46120" y="5554662"/>
            <a:ext cx="822960" cy="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29000" y="5316918"/>
            <a:ext cx="5486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DTO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9512" y="5554663"/>
            <a:ext cx="3657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DAO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810695"/>
            <a:ext cx="3657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SQL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13248" y="5417502"/>
            <a:ext cx="0" cy="59436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413248" y="5783262"/>
            <a:ext cx="0" cy="50292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709160" y="5966142"/>
            <a:ext cx="914400" cy="5486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데이터베이스</a:t>
            </a:r>
          </a:p>
        </p:txBody>
      </p:sp>
      <p:sp>
        <p:nvSpPr>
          <p:cNvPr id="45" name="Oval 44"/>
          <p:cNvSpPr/>
          <p:nvPr/>
        </p:nvSpPr>
        <p:spPr>
          <a:xfrm>
            <a:off x="1508760" y="596614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6011863"/>
            <a:ext cx="14630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14141"/>
                </a:solidFill>
                <a:latin typeface="Malgun Gothic"/>
              </a:defRPr>
            </a:pPr>
            <a:r>
              <a:rPr sz="1700"/>
              <a:t>업무 후 처리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12463" y="5892990"/>
            <a:ext cx="594360" cy="210312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Malgun Gothic"/>
              </a:defRPr>
            </a:pPr>
            <a:endParaRPr sz="1100"/>
          </a:p>
        </p:txBody>
      </p:sp>
      <p:sp>
        <p:nvSpPr>
          <p:cNvPr id="48" name="TextBox 47"/>
          <p:cNvSpPr txBox="1"/>
          <p:nvPr/>
        </p:nvSpPr>
        <p:spPr>
          <a:xfrm>
            <a:off x="3794760" y="5911278"/>
            <a:ext cx="4572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rPr sz="1100"/>
              <a:t>필요 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673352" y="6176454"/>
            <a:ext cx="0" cy="329184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73352" y="6176454"/>
            <a:ext cx="2633472" cy="0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06824" y="6176454"/>
            <a:ext cx="0" cy="329184"/>
          </a:xfrm>
          <a:prstGeom prst="line">
            <a:avLst/>
          </a:prstGeom>
          <a:ln w="1397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508760" y="6304470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8840" y="6341047"/>
            <a:ext cx="14630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14141"/>
                </a:solidFill>
                <a:latin typeface="Malgun Gothic"/>
              </a:defRPr>
            </a:pPr>
            <a:r>
              <a:rPr sz="1700"/>
              <a:t>공통 후 처리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17320" y="6679374"/>
            <a:ext cx="49377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5" name="Rectangle 54"/>
          <p:cNvSpPr/>
          <p:nvPr/>
        </p:nvSpPr>
        <p:spPr>
          <a:xfrm>
            <a:off x="2011680" y="6734238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시스템 후 처리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676167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5C43"/>
                </a:solidFill>
                <a:latin typeface="Malgun Gothic"/>
              </a:defRPr>
            </a:pPr>
            <a:r>
              <a:t>NH Cloud Framework</a:t>
            </a:r>
          </a:p>
        </p:txBody>
      </p:sp>
      <p:sp>
        <p:nvSpPr>
          <p:cNvPr id="57" name="Oval 56"/>
          <p:cNvSpPr/>
          <p:nvPr/>
        </p:nvSpPr>
        <p:spPr>
          <a:xfrm>
            <a:off x="1508760" y="668851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17520" y="2921190"/>
            <a:ext cx="0" cy="329184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017520" y="3927030"/>
            <a:ext cx="0" cy="210312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017520" y="4704270"/>
            <a:ext cx="0" cy="256032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17520" y="5874702"/>
            <a:ext cx="0" cy="137160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17520" y="6505638"/>
            <a:ext cx="0" cy="173736"/>
          </a:xfrm>
          <a:prstGeom prst="line">
            <a:avLst/>
          </a:prstGeom>
          <a:ln w="1524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223760" y="2125662"/>
            <a:ext cx="46177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4" name="Oval 63"/>
          <p:cNvSpPr/>
          <p:nvPr/>
        </p:nvSpPr>
        <p:spPr>
          <a:xfrm>
            <a:off x="7406640" y="230854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2326830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시스템 선 처리 (범위: 어플리케이션 그룹)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8431" y="2555429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처리 범위: 어플리케이션 그룹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8431" y="2729165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시스템 자원 할당, 거래 통제, 입력 로그 처리</a:t>
            </a:r>
          </a:p>
        </p:txBody>
      </p:sp>
      <p:sp>
        <p:nvSpPr>
          <p:cNvPr id="68" name="Oval 67"/>
          <p:cNvSpPr/>
          <p:nvPr/>
        </p:nvSpPr>
        <p:spPr>
          <a:xfrm>
            <a:off x="7406640" y="2930333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2948621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공통 선 처리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8431" y="3177221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처리 범위: 어플리케이션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8431" y="3350957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공통 업무 담당자가 공통 영역 로직 (필요 시) 구현</a:t>
            </a:r>
          </a:p>
        </p:txBody>
      </p:sp>
      <p:sp>
        <p:nvSpPr>
          <p:cNvPr id="72" name="Oval 71"/>
          <p:cNvSpPr/>
          <p:nvPr/>
        </p:nvSpPr>
        <p:spPr>
          <a:xfrm>
            <a:off x="7406640" y="3552125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3570413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업무 선 처리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8431" y="3799013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처리 범위: 서비스 ID (Controller 내 서비스 메소드)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8431" y="3972749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개별 업무 담당자가 공통 로직 (필요 시) 구현</a:t>
            </a:r>
          </a:p>
        </p:txBody>
      </p:sp>
      <p:sp>
        <p:nvSpPr>
          <p:cNvPr id="76" name="Oval 75"/>
          <p:cNvSpPr/>
          <p:nvPr/>
        </p:nvSpPr>
        <p:spPr>
          <a:xfrm>
            <a:off x="7406640" y="4173917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4192205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업무 본 처리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8431" y="4420805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서비스ID: 컨트롤러 메소드 = 1:1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28431" y="4594541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거래 처리, 거래 메인 처리 흐름 제어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28431" y="4768278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처리를 위한 Biz 로직을 0~n개 호출</a:t>
            </a:r>
          </a:p>
        </p:txBody>
      </p:sp>
      <p:sp>
        <p:nvSpPr>
          <p:cNvPr id="81" name="Oval 80"/>
          <p:cNvSpPr/>
          <p:nvPr/>
        </p:nvSpPr>
        <p:spPr>
          <a:xfrm>
            <a:off x="7406640" y="4969446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4987734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Biz 로직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28431" y="5216334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처리를 위한 Biz 로직 구현체 (Service Class)</a:t>
            </a:r>
          </a:p>
        </p:txBody>
      </p:sp>
      <p:sp>
        <p:nvSpPr>
          <p:cNvPr id="84" name="Oval 83"/>
          <p:cNvSpPr/>
          <p:nvPr/>
        </p:nvSpPr>
        <p:spPr>
          <a:xfrm>
            <a:off x="7406640" y="541750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5435790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업무 후 처리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28431" y="5664390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처리 범위: 서비스 ID (Controller 내 서비스 메소드)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28431" y="5838127"/>
            <a:ext cx="3566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처리 수행 후 필수처리요건에 대한 검증 등을 수행</a:t>
            </a:r>
          </a:p>
        </p:txBody>
      </p:sp>
      <p:sp>
        <p:nvSpPr>
          <p:cNvPr id="88" name="Oval 87"/>
          <p:cNvSpPr/>
          <p:nvPr/>
        </p:nvSpPr>
        <p:spPr>
          <a:xfrm>
            <a:off x="7406640" y="6039294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0" y="605758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공통 후 처리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28431" y="6286182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처리 범위: 어플리케이션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28431" y="6459919"/>
            <a:ext cx="3566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처리 수행 후 필수처리요건에 대한 검증 등을 수행</a:t>
            </a:r>
          </a:p>
        </p:txBody>
      </p:sp>
      <p:sp>
        <p:nvSpPr>
          <p:cNvPr id="92" name="Oval 91"/>
          <p:cNvSpPr/>
          <p:nvPr/>
        </p:nvSpPr>
        <p:spPr>
          <a:xfrm>
            <a:off x="7406640" y="6661086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0" y="6679374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시스템 후 처리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28431" y="6907974"/>
            <a:ext cx="3566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처리 범위: 어플리케이션 그룹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28431" y="7081711"/>
            <a:ext cx="3566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Commit / Rollback, 출력 조립, 출력 로그, 시스템 자원 해제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- 124 -</a:t>
            </a:r>
          </a:p>
        </p:txBody>
      </p:sp>
    </p:spTree>
    <p:extLst>
      <p:ext uri="{BB962C8B-B14F-4D97-AF65-F5344CB8AC3E}">
        <p14:creationId xmlns:p14="http://schemas.microsoft.com/office/powerpoint/2010/main" val="118711043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[Backup] 선/후 처리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2761488" y="1458150"/>
            <a:ext cx="4590288" cy="5349240"/>
          </a:xfrm>
          <a:prstGeom prst="rect">
            <a:avLst/>
          </a:prstGeom>
          <a:solidFill>
            <a:srgbClr val="DCEFE4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어플리케이션 그룹 (대구분)</a:t>
            </a:r>
            <a:br/>
            <a:r>
              <a:t>(예: MP = 마케팅 플랫폼)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2427414"/>
            <a:ext cx="3803904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어플리케이션 (업무구분)</a:t>
            </a:r>
            <a:br/>
            <a:r>
              <a:t>(예. CM=캠페인)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3067494"/>
            <a:ext cx="219456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기능 (세부업무구분)</a:t>
            </a:r>
            <a:br>
              <a:rPr sz="1600"/>
            </a:br>
            <a:r>
              <a:rPr sz="1600"/>
              <a:t>(예. A 업무)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524694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5232" y="3524694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027614"/>
            <a:ext cx="777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4027614"/>
            <a:ext cx="777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4713414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DAO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13832" y="4713414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DAO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262054"/>
            <a:ext cx="1188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TB_MPCMA*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1366710"/>
            <a:ext cx="5623560" cy="5623560"/>
          </a:xfrm>
          <a:prstGeom prst="roundRect">
            <a:avLst/>
          </a:prstGeom>
          <a:noFill/>
          <a:ln w="2794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99232" y="2153094"/>
            <a:ext cx="4480560" cy="3858768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13048" y="2784030"/>
            <a:ext cx="2596896" cy="2834640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863022"/>
            <a:ext cx="10058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[마케팅플랫폼]</a:t>
            </a:r>
            <a:br/>
            <a:r>
              <a:t>시스템</a:t>
            </a:r>
            <a:br/>
            <a:r>
              <a:t>선/후처리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817302"/>
            <a:ext cx="9144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[캠페인]</a:t>
            </a:r>
            <a:br/>
            <a:r>
              <a:t>공통</a:t>
            </a:r>
            <a:br/>
            <a:r>
              <a:t>선/후처리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725862"/>
            <a:ext cx="54864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업무</a:t>
            </a:r>
            <a:br/>
            <a:r>
              <a:t>선/후처리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93808" y="1458150"/>
            <a:ext cx="2176272" cy="5349240"/>
          </a:xfrm>
          <a:prstGeom prst="rect">
            <a:avLst/>
          </a:prstGeom>
          <a:solidFill>
            <a:srgbClr val="DCEFE4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Malgun Gothic"/>
              </a:defRPr>
            </a:pPr>
            <a:r>
              <a:rPr sz="1700"/>
              <a:t>어플리케이션 그룹</a:t>
            </a:r>
            <a:br>
              <a:rPr sz="1700"/>
            </a:br>
            <a:r>
              <a:rPr sz="1700"/>
              <a:t>(예: BL = BI 포탈)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68128" y="2372551"/>
            <a:ext cx="1645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어플리케이션</a:t>
            </a:r>
            <a:br>
              <a:rPr sz="1600"/>
            </a:br>
            <a:r>
              <a:rPr sz="1600"/>
              <a:t>(예. CR = 신용실적)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9880" y="2948622"/>
            <a:ext cx="1051560" cy="2697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기능</a:t>
            </a:r>
            <a:br>
              <a:rPr sz="1400"/>
            </a:br>
            <a:r>
              <a:rPr sz="1400"/>
              <a:t>(예. E 업무)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80192" y="3405822"/>
            <a:ext cx="685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4201349"/>
            <a:ext cx="4754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26496" y="4841430"/>
            <a:ext cx="3840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DAO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0192" y="5417502"/>
            <a:ext cx="6858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TB_BLCRE*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366710"/>
            <a:ext cx="3319272" cy="5623560"/>
          </a:xfrm>
          <a:prstGeom prst="roundRect">
            <a:avLst/>
          </a:prstGeom>
          <a:noFill/>
          <a:ln w="2794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01200" y="2125662"/>
            <a:ext cx="2340864" cy="4251960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78440" y="2720022"/>
            <a:ext cx="1371600" cy="3154680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3863022"/>
            <a:ext cx="73152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[BI포탈]</a:t>
            </a:r>
            <a:br/>
            <a:r>
              <a:t>시스템</a:t>
            </a:r>
            <a:br/>
            <a:r>
              <a:t>선/후처리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71582"/>
            <a:ext cx="82296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[신용실적]</a:t>
            </a:r>
            <a:br/>
            <a:r>
              <a:t>공통</a:t>
            </a:r>
            <a:br/>
            <a:r>
              <a:t>선/후처리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3725862"/>
            <a:ext cx="50292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업무</a:t>
            </a:r>
            <a:br/>
            <a:r>
              <a:t>선/후처리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- 125 -</a:t>
            </a:r>
          </a:p>
        </p:txBody>
      </p:sp>
    </p:spTree>
    <p:extLst>
      <p:ext uri="{BB962C8B-B14F-4D97-AF65-F5344CB8AC3E}">
        <p14:creationId xmlns:p14="http://schemas.microsoft.com/office/powerpoint/2010/main" val="267280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호출 구조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256032" y="1458151"/>
            <a:ext cx="9829800" cy="3749039"/>
          </a:xfrm>
          <a:prstGeom prst="rect">
            <a:avLst/>
          </a:prstGeom>
          <a:solidFill>
            <a:srgbClr val="DCEFE4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Malgun Gothic"/>
              </a:defRPr>
            </a:pPr>
            <a:r>
              <a:rPr sz="1700"/>
              <a:t>어플리케이션 그룹 (대구분)</a:t>
            </a:r>
            <a:br>
              <a:rPr sz="1700"/>
            </a:br>
            <a:r>
              <a:rPr sz="1700"/>
              <a:t>(예: MP = 마케팅 플랫폼)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0" y="1458151"/>
            <a:ext cx="1627632" cy="3749039"/>
          </a:xfrm>
          <a:prstGeom prst="rect">
            <a:avLst/>
          </a:prstGeom>
          <a:solidFill>
            <a:srgbClr val="DCEFE4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어플리케이션 그룹</a:t>
            </a:r>
            <a:br>
              <a:rPr sz="1600"/>
            </a:br>
            <a:r>
              <a:rPr sz="1600"/>
              <a:t>(예: BL = BI 포탈)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851342"/>
            <a:ext cx="3794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어플리케이션 (업무구분)</a:t>
            </a:r>
            <a:br>
              <a:rPr sz="1400"/>
            </a:br>
            <a:r>
              <a:rPr sz="1400"/>
              <a:t>(예. CM=캠페인)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851342"/>
            <a:ext cx="1554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업무공통</a:t>
            </a:r>
            <a:br>
              <a:rPr sz="1300"/>
            </a:br>
            <a:r>
              <a:rPr sz="1300"/>
              <a:t>유틸리티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851342"/>
            <a:ext cx="15361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어플리케이션</a:t>
            </a:r>
            <a:br>
              <a:rPr sz="1300"/>
            </a:br>
            <a:r>
              <a:rPr sz="1300"/>
              <a:t>(예. CO=공통)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71231" y="1851342"/>
            <a:ext cx="2057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어플리케이션</a:t>
            </a:r>
            <a:br>
              <a:rPr sz="1300"/>
            </a:br>
            <a:r>
              <a:rPr sz="1300"/>
              <a:t>(예. MG=메시지)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69880" y="1851342"/>
            <a:ext cx="126187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어플리케이션</a:t>
            </a:r>
            <a:br>
              <a:rPr sz="1200"/>
            </a:br>
            <a:r>
              <a:rPr sz="1200"/>
              <a:t>(예. CR = 신용실적)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54262"/>
            <a:ext cx="1920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기능</a:t>
            </a:r>
            <a:br>
              <a:rPr sz="1300"/>
            </a:br>
            <a:r>
              <a:rPr sz="1300"/>
              <a:t>(예. A 업무)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354262"/>
            <a:ext cx="14173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기능</a:t>
            </a:r>
            <a:br>
              <a:rPr sz="1300"/>
            </a:br>
            <a:r>
              <a:rPr sz="1300"/>
              <a:t>(예. B 업무)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6592" y="2381693"/>
            <a:ext cx="713232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유틸리티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54262"/>
            <a:ext cx="1170432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기능</a:t>
            </a:r>
            <a:br>
              <a:rPr sz="1200"/>
            </a:br>
            <a:r>
              <a:rPr sz="1200"/>
              <a:t>(예. C 업무)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354262"/>
            <a:ext cx="160020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기능</a:t>
            </a:r>
            <a:br>
              <a:rPr sz="1200"/>
            </a:br>
            <a:r>
              <a:rPr sz="1200"/>
              <a:t>(예. D 업무)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354262"/>
            <a:ext cx="978408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기능</a:t>
            </a:r>
            <a:br>
              <a:rPr sz="1100"/>
            </a:br>
            <a:r>
              <a:rPr sz="1100"/>
              <a:t>(예. E 업무)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70173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3360101"/>
            <a:ext cx="9509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" y="3936174"/>
            <a:ext cx="8595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4375086"/>
            <a:ext cx="95097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TB_MPCMA*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16352" y="270173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80944" y="3360101"/>
            <a:ext cx="67665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6664" y="3936174"/>
            <a:ext cx="5852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80944" y="4375086"/>
            <a:ext cx="67665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TB_MPCMB*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8032" y="3012630"/>
            <a:ext cx="548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3752" y="3588702"/>
            <a:ext cx="457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DAO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4018470"/>
            <a:ext cx="5943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TB_MPCOC*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701734"/>
            <a:ext cx="777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9672" y="3360101"/>
            <a:ext cx="44805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3" y="3936174"/>
            <a:ext cx="3566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9672" y="4375086"/>
            <a:ext cx="44805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TB_MPCOC*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270173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1" y="3360101"/>
            <a:ext cx="53949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3" y="3936174"/>
            <a:ext cx="44805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48471" y="4375086"/>
            <a:ext cx="53949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TB_MPMGD*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16768" y="2701734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81360" y="3360101"/>
            <a:ext cx="32918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27081" y="3936174"/>
            <a:ext cx="23774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81360" y="4375086"/>
            <a:ext cx="329184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TB_BLCRE*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3172968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4882896" y="50974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8183879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10012680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353312" y="3040062"/>
            <a:ext cx="201168" cy="301752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54480" y="3040062"/>
            <a:ext cx="365760" cy="301752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234440" y="3661855"/>
            <a:ext cx="118872" cy="539495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20240" y="3661855"/>
            <a:ext cx="137160" cy="539495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46120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46120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02352" y="3286950"/>
            <a:ext cx="0" cy="301752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02352" y="3844735"/>
            <a:ext cx="0" cy="356615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766560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66560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613648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613648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045952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045952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920240" y="3286950"/>
            <a:ext cx="3182112" cy="54864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46120" y="3040062"/>
            <a:ext cx="3520440" cy="246888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613648" y="3040062"/>
            <a:ext cx="2432304" cy="246888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766560" y="3040062"/>
            <a:ext cx="1847088" cy="246888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395728" y="328695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356127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84448" y="3799014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96512" y="328695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70448" y="328695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4112" y="345154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4112" y="368014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280" y="418306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68128" y="326866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68128" y="349726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365271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42032" y="354298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20440" y="436594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4592" y="5508943"/>
            <a:ext cx="4572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호출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" y="5262054"/>
            <a:ext cx="10881360" cy="475488"/>
          </a:xfrm>
          <a:prstGeom prst="rect">
            <a:avLst/>
          </a:prstGeom>
          <a:solidFill>
            <a:srgbClr val="265C43"/>
          </a:solidFill>
          <a:ln w="1270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피호출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기능 내</a:t>
            </a:r>
          </a:p>
        </p:txBody>
      </p:sp>
      <p:sp>
        <p:nvSpPr>
          <p:cNvPr id="81" name="Oval 80"/>
          <p:cNvSpPr/>
          <p:nvPr/>
        </p:nvSpPr>
        <p:spPr>
          <a:xfrm>
            <a:off x="148132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4592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4884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5468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타 기능</a:t>
            </a:r>
          </a:p>
        </p:txBody>
      </p:sp>
      <p:sp>
        <p:nvSpPr>
          <p:cNvPr id="86" name="Oval 85"/>
          <p:cNvSpPr/>
          <p:nvPr/>
        </p:nvSpPr>
        <p:spPr>
          <a:xfrm>
            <a:off x="299008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5468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6052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업무 공통 유틸리티</a:t>
            </a:r>
          </a:p>
        </p:txBody>
      </p:sp>
      <p:sp>
        <p:nvSpPr>
          <p:cNvPr id="91" name="Oval 90"/>
          <p:cNvSpPr/>
          <p:nvPr/>
        </p:nvSpPr>
        <p:spPr>
          <a:xfrm>
            <a:off x="449884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6636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6928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7220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타 어플리케이션</a:t>
            </a:r>
          </a:p>
        </p:txBody>
      </p:sp>
      <p:sp>
        <p:nvSpPr>
          <p:cNvPr id="96" name="Oval 95"/>
          <p:cNvSpPr/>
          <p:nvPr/>
        </p:nvSpPr>
        <p:spPr>
          <a:xfrm>
            <a:off x="600760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7220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7512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7804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8096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타 어플리케이션 그룹</a:t>
            </a:r>
          </a:p>
        </p:txBody>
      </p:sp>
      <p:sp>
        <p:nvSpPr>
          <p:cNvPr id="101" name="Oval 100"/>
          <p:cNvSpPr/>
          <p:nvPr/>
        </p:nvSpPr>
        <p:spPr>
          <a:xfrm>
            <a:off x="751636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8096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8388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8680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2960" y="6423342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2960" y="6734238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2960" y="7045134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4592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09" name="TextBox 108"/>
          <p:cNvSpPr txBox="1"/>
          <p:nvPr/>
        </p:nvSpPr>
        <p:spPr>
          <a:xfrm>
            <a:off x="180136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4884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1" name="TextBox 110"/>
          <p:cNvSpPr txBox="1"/>
          <p:nvPr/>
        </p:nvSpPr>
        <p:spPr>
          <a:xfrm>
            <a:off x="230428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65176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3" name="TextBox 112"/>
          <p:cNvSpPr txBox="1"/>
          <p:nvPr/>
        </p:nvSpPr>
        <p:spPr>
          <a:xfrm>
            <a:off x="280720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15468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5" name="TextBox 114"/>
          <p:cNvSpPr txBox="1"/>
          <p:nvPr/>
        </p:nvSpPr>
        <p:spPr>
          <a:xfrm>
            <a:off x="331012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7" name="TextBox 116"/>
          <p:cNvSpPr txBox="1"/>
          <p:nvPr/>
        </p:nvSpPr>
        <p:spPr>
          <a:xfrm>
            <a:off x="381304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6052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9" name="TextBox 118"/>
          <p:cNvSpPr txBox="1"/>
          <p:nvPr/>
        </p:nvSpPr>
        <p:spPr>
          <a:xfrm>
            <a:off x="431596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1" name="TextBox 120"/>
          <p:cNvSpPr txBox="1"/>
          <p:nvPr/>
        </p:nvSpPr>
        <p:spPr>
          <a:xfrm>
            <a:off x="481888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16636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3" name="TextBox 122"/>
          <p:cNvSpPr txBox="1"/>
          <p:nvPr/>
        </p:nvSpPr>
        <p:spPr>
          <a:xfrm>
            <a:off x="532180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6928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5" name="TextBox 124"/>
          <p:cNvSpPr txBox="1"/>
          <p:nvPr/>
        </p:nvSpPr>
        <p:spPr>
          <a:xfrm>
            <a:off x="582472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7" name="TextBox 126"/>
          <p:cNvSpPr txBox="1"/>
          <p:nvPr/>
        </p:nvSpPr>
        <p:spPr>
          <a:xfrm>
            <a:off x="632764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7512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9" name="TextBox 128"/>
          <p:cNvSpPr txBox="1"/>
          <p:nvPr/>
        </p:nvSpPr>
        <p:spPr>
          <a:xfrm>
            <a:off x="683056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17804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1" name="TextBox 130"/>
          <p:cNvSpPr txBox="1"/>
          <p:nvPr/>
        </p:nvSpPr>
        <p:spPr>
          <a:xfrm>
            <a:off x="733348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8096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3" name="TextBox 132"/>
          <p:cNvSpPr txBox="1"/>
          <p:nvPr/>
        </p:nvSpPr>
        <p:spPr>
          <a:xfrm>
            <a:off x="783640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8388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5" name="TextBox 134"/>
          <p:cNvSpPr txBox="1"/>
          <p:nvPr/>
        </p:nvSpPr>
        <p:spPr>
          <a:xfrm>
            <a:off x="833932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68680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7" name="TextBox 136"/>
          <p:cNvSpPr txBox="1"/>
          <p:nvPr/>
        </p:nvSpPr>
        <p:spPr>
          <a:xfrm>
            <a:off x="884224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9" name="TextBox 138"/>
          <p:cNvSpPr txBox="1"/>
          <p:nvPr/>
        </p:nvSpPr>
        <p:spPr>
          <a:xfrm>
            <a:off x="180136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4884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1" name="TextBox 140"/>
          <p:cNvSpPr txBox="1"/>
          <p:nvPr/>
        </p:nvSpPr>
        <p:spPr>
          <a:xfrm>
            <a:off x="230428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65176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3" name="TextBox 142"/>
          <p:cNvSpPr txBox="1"/>
          <p:nvPr/>
        </p:nvSpPr>
        <p:spPr>
          <a:xfrm>
            <a:off x="2807208" y="6779958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15468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5" name="TextBox 144"/>
          <p:cNvSpPr txBox="1"/>
          <p:nvPr/>
        </p:nvSpPr>
        <p:spPr>
          <a:xfrm>
            <a:off x="331012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65760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7" name="TextBox 146"/>
          <p:cNvSpPr txBox="1"/>
          <p:nvPr/>
        </p:nvSpPr>
        <p:spPr>
          <a:xfrm>
            <a:off x="381304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16052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9" name="TextBox 148"/>
          <p:cNvSpPr txBox="1"/>
          <p:nvPr/>
        </p:nvSpPr>
        <p:spPr>
          <a:xfrm>
            <a:off x="431596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66344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1" name="TextBox 150"/>
          <p:cNvSpPr txBox="1"/>
          <p:nvPr/>
        </p:nvSpPr>
        <p:spPr>
          <a:xfrm>
            <a:off x="481888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16636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3" name="TextBox 152"/>
          <p:cNvSpPr txBox="1"/>
          <p:nvPr/>
        </p:nvSpPr>
        <p:spPr>
          <a:xfrm>
            <a:off x="532180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66928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5" name="TextBox 154"/>
          <p:cNvSpPr txBox="1"/>
          <p:nvPr/>
        </p:nvSpPr>
        <p:spPr>
          <a:xfrm>
            <a:off x="582472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7220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7" name="TextBox 156"/>
          <p:cNvSpPr txBox="1"/>
          <p:nvPr/>
        </p:nvSpPr>
        <p:spPr>
          <a:xfrm>
            <a:off x="632764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67512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9" name="TextBox 158"/>
          <p:cNvSpPr txBox="1"/>
          <p:nvPr/>
        </p:nvSpPr>
        <p:spPr>
          <a:xfrm>
            <a:off x="683056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17804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1" name="TextBox 160"/>
          <p:cNvSpPr txBox="1"/>
          <p:nvPr/>
        </p:nvSpPr>
        <p:spPr>
          <a:xfrm>
            <a:off x="733348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68096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3" name="TextBox 162"/>
          <p:cNvSpPr txBox="1"/>
          <p:nvPr/>
        </p:nvSpPr>
        <p:spPr>
          <a:xfrm>
            <a:off x="783640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18388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5" name="TextBox 164"/>
          <p:cNvSpPr txBox="1"/>
          <p:nvPr/>
        </p:nvSpPr>
        <p:spPr>
          <a:xfrm>
            <a:off x="833932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68680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7" name="TextBox 166"/>
          <p:cNvSpPr txBox="1"/>
          <p:nvPr/>
        </p:nvSpPr>
        <p:spPr>
          <a:xfrm>
            <a:off x="884224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64592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9" name="TextBox 168"/>
          <p:cNvSpPr txBox="1"/>
          <p:nvPr/>
        </p:nvSpPr>
        <p:spPr>
          <a:xfrm>
            <a:off x="180136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14884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1" name="TextBox 170"/>
          <p:cNvSpPr txBox="1"/>
          <p:nvPr/>
        </p:nvSpPr>
        <p:spPr>
          <a:xfrm>
            <a:off x="230428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65176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3" name="TextBox 172"/>
          <p:cNvSpPr txBox="1"/>
          <p:nvPr/>
        </p:nvSpPr>
        <p:spPr>
          <a:xfrm>
            <a:off x="280720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15468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5" name="TextBox 174"/>
          <p:cNvSpPr txBox="1"/>
          <p:nvPr/>
        </p:nvSpPr>
        <p:spPr>
          <a:xfrm>
            <a:off x="331012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65760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7" name="TextBox 176"/>
          <p:cNvSpPr txBox="1"/>
          <p:nvPr/>
        </p:nvSpPr>
        <p:spPr>
          <a:xfrm>
            <a:off x="381304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16052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9" name="TextBox 178"/>
          <p:cNvSpPr txBox="1"/>
          <p:nvPr/>
        </p:nvSpPr>
        <p:spPr>
          <a:xfrm>
            <a:off x="431596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66344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1" name="TextBox 180"/>
          <p:cNvSpPr txBox="1"/>
          <p:nvPr/>
        </p:nvSpPr>
        <p:spPr>
          <a:xfrm>
            <a:off x="481888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16636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3" name="TextBox 182"/>
          <p:cNvSpPr txBox="1"/>
          <p:nvPr/>
        </p:nvSpPr>
        <p:spPr>
          <a:xfrm>
            <a:off x="532180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66928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5" name="TextBox 184"/>
          <p:cNvSpPr txBox="1"/>
          <p:nvPr/>
        </p:nvSpPr>
        <p:spPr>
          <a:xfrm>
            <a:off x="582472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7220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7" name="TextBox 186"/>
          <p:cNvSpPr txBox="1"/>
          <p:nvPr/>
        </p:nvSpPr>
        <p:spPr>
          <a:xfrm>
            <a:off x="632764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67512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9" name="TextBox 188"/>
          <p:cNvSpPr txBox="1"/>
          <p:nvPr/>
        </p:nvSpPr>
        <p:spPr>
          <a:xfrm>
            <a:off x="683056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17804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1" name="TextBox 190"/>
          <p:cNvSpPr txBox="1"/>
          <p:nvPr/>
        </p:nvSpPr>
        <p:spPr>
          <a:xfrm>
            <a:off x="733348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68096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3" name="TextBox 192"/>
          <p:cNvSpPr txBox="1"/>
          <p:nvPr/>
        </p:nvSpPr>
        <p:spPr>
          <a:xfrm>
            <a:off x="783640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8388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5" name="TextBox 194"/>
          <p:cNvSpPr txBox="1"/>
          <p:nvPr/>
        </p:nvSpPr>
        <p:spPr>
          <a:xfrm>
            <a:off x="833932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68680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7" name="TextBox 196"/>
          <p:cNvSpPr txBox="1"/>
          <p:nvPr/>
        </p:nvSpPr>
        <p:spPr>
          <a:xfrm>
            <a:off x="884224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- 126 -</a:t>
            </a:r>
          </a:p>
        </p:txBody>
      </p:sp>
    </p:spTree>
    <p:extLst>
      <p:ext uri="{BB962C8B-B14F-4D97-AF65-F5344CB8AC3E}">
        <p14:creationId xmlns:p14="http://schemas.microsoft.com/office/powerpoint/2010/main" val="402941019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도메인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668462"/>
          <a:ext cx="11338560" cy="5571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업무 영역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개발 환경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운영 환경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미니 싱글뷰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ms.test.nacf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ms.prod.nacf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http://ms.prod.nacf/ms/{서비스코드}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마케팅 플랫폼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mp.test.nacf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mp.prod.nacf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http://mp.prod.nacf/ic/{서비스코드}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http://mp.prod.nacf/pc/{서비스코드}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http://mp.prod.nacf/bc/{서비스코드}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http://mp.prod.nacf/sa/{서비스코드}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http://mp.prod.nacf/pd/{서비스코드}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http://mp.prod.nacf/cm/{서비스코드}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http://mp.prod.nacf/eb/{서비스코드}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http://mp.prod.nacf/ss/{서비스코드}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http://mp.prod.nacf/cs/{서비스코드}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http://mp.prod.nacf/ct/{서비스코드}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http://mp.prod.nacf/mg/{서비스코드}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신용 실적 (BI포탈)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cr.test.nacf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cr.prod.nacf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http://cr.prod.nacf/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http://cr.prod.nacf/cr/{서비스코드}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BI 포탈 (업무 솔루션)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pt.test.nacf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pt.prod.nacf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http://pt.prod.nacf/{솔루션 경로}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Self-BI (업무 솔루션)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sb.test.nacf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sb.prod.nacf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http://sb.prod.nacf/{솔루션 경로}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OLAP (업무 솔루션)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oa.test.nacf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oa.prod.nacf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http://oa.prod.nacf/{솔루션 경로}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7472" y="6816534"/>
            <a:ext cx="5486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※ 도메인 정책: 농협 중앙회 - “nacf”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971982"/>
            <a:ext cx="60350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※ 도메인 정책 참고자료 : dns_gslb_신청_매뉴얼_v1.5_240312.hwp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- 127 -</a:t>
            </a:r>
          </a:p>
        </p:txBody>
      </p:sp>
    </p:spTree>
    <p:extLst>
      <p:ext uri="{BB962C8B-B14F-4D97-AF65-F5344CB8AC3E}">
        <p14:creationId xmlns:p14="http://schemas.microsoft.com/office/powerpoint/2010/main" val="158523577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22742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99981"/>
            <a:ext cx="713232" cy="4343400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" y="1668462"/>
            <a:ext cx="178308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미니 싱글뷰</a:t>
            </a:r>
            <a:br>
              <a:rPr sz="1600"/>
            </a:br>
            <a:r>
              <a:rPr sz="1600"/>
              <a:t>(통합업무시스템)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1" y="2262823"/>
            <a:ext cx="2057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http://ms.prod.nacf/ms/{서비스코드}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53412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33271" y="2720022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53412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24712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752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9222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65376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24712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87752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1" y="1668462"/>
            <a:ext cx="1874519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마케팅 플랫폼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1" y="2262823"/>
            <a:ext cx="2148839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http://mp.prod.nacf/ic/{서비스코드}</a:t>
            </a:r>
            <a:br>
              <a:rPr sz="1200"/>
            </a:br>
            <a:r>
              <a:rPr sz="1200"/>
              <a:t>http://mp.prod.nacf/pc/{서비스코드}</a:t>
            </a:r>
            <a:br>
              <a:rPr sz="1200"/>
            </a:br>
            <a:r>
              <a:rPr sz="1200"/>
              <a:t>http://mp.prod.nacf/bc/{서비스코드}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92140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26280" y="2720022"/>
            <a:ext cx="2331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92140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1772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8523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35838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17720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68462"/>
            <a:ext cx="169164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 포탈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262823"/>
            <a:ext cx="19659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http://cr.prod.nacf/cr/{서비스코드}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66860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092440" y="2720022"/>
            <a:ext cx="2148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66860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183879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6919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5139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92454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183879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4914582"/>
            <a:ext cx="1280160" cy="45720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 포탈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5417502"/>
            <a:ext cx="731520" cy="2743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패키지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5600383"/>
            <a:ext cx="19202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http://pt.prod.nacf/{패키지 URL}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4297680" y="5536374"/>
            <a:ext cx="1481328" cy="31089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743200" y="5874702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44368" y="6240462"/>
            <a:ext cx="123444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6240462"/>
            <a:ext cx="123444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520440" y="6743382"/>
            <a:ext cx="1124712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749040" y="6743382"/>
            <a:ext cx="1115569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944368" y="6926262"/>
            <a:ext cx="123444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WAS #1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4528" y="6926262"/>
            <a:ext cx="123444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WAS #2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600383"/>
            <a:ext cx="1737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http://oa.prod.nacf/{패키지 URL}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17920" y="5664390"/>
            <a:ext cx="594360" cy="18288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806440" y="5874702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16752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565392" y="6743382"/>
            <a:ext cx="1042416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693409" y="6743382"/>
            <a:ext cx="1033271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016752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WAS #1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05472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WAS #2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600383"/>
            <a:ext cx="2011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http://sb.prod.nacf/{패키지 URL}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0" y="5536374"/>
            <a:ext cx="2743200" cy="31089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686800" y="5874702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15400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20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436608" y="6743382"/>
            <a:ext cx="1060704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564624" y="6743382"/>
            <a:ext cx="1060704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8915400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WAS #1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04120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WAS #2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- 128 -</a:t>
            </a:r>
          </a:p>
        </p:txBody>
      </p:sp>
    </p:spTree>
    <p:extLst>
      <p:ext uri="{BB962C8B-B14F-4D97-AF65-F5344CB8AC3E}">
        <p14:creationId xmlns:p14="http://schemas.microsoft.com/office/powerpoint/2010/main" val="244980370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미니 싱글뷰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8462"/>
            <a:ext cx="182880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미니 싱글뷰</a:t>
            </a:r>
            <a:br>
              <a:rPr sz="1600"/>
            </a:br>
            <a:r>
              <a:rPr sz="1600"/>
              <a:t>(통합업무시스템)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28" y="2262823"/>
            <a:ext cx="21031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http://ms.prod.nacf/ms/{서비스코드}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13048" y="2720022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56048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904487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67528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1" y="3954462"/>
            <a:ext cx="1243583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64515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904487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41648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/ms.war (미니싱글뷰)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/ms.war (미니싱글뷰)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- 129 -</a:t>
            </a:r>
          </a:p>
        </p:txBody>
      </p:sp>
    </p:spTree>
    <p:extLst>
      <p:ext uri="{BB962C8B-B14F-4D97-AF65-F5344CB8AC3E}">
        <p14:creationId xmlns:p14="http://schemas.microsoft.com/office/powerpoint/2010/main" val="353673409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마케팅 플랫폼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1" y="1668462"/>
            <a:ext cx="1874519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마케팅 플랫폼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1" y="2262823"/>
            <a:ext cx="21488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cxnSp>
        <p:nvCxnSpPr>
          <p:cNvPr id="10" name="Connector 9"/>
          <p:cNvCxnSpPr/>
          <p:nvPr/>
        </p:nvCxnSpPr>
        <p:spPr>
          <a:xfrm>
            <a:off x="4549140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83280" y="2720022"/>
            <a:ext cx="2331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49140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7472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 dirty="0" err="1"/>
              <a:t>마케팅플랫폼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223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21538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74720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/ws.war (SSO 인증)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/ws.war (SSO 인증)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5024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/ic.war (통합고객)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5024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/ic.war (통합고객)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52529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/pc.war (개인고객)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52529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/pc.war (개인고객)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54815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/bc.war (기업고객)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54815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/bc.war (기업고객)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57101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/sa.war (상담 판매)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7101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/sa.war (상담 판매)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5938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/pd.war (통합상품)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5938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/pd.war (통합상품)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6167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/cm.war (캠페인)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6167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/cm.war (캠페인)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63959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/eb.war (EBM)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63959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/eb.war (EBM)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66245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/ss.war (영업지원)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66245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/ss.war (영업지원)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68531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/cs.war (CS)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68531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/cs.war (CS)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11880" y="7081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/ct.war (컨텐츠)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7081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/ct.war (컨텐츠)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7310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/mg.war (메시지)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7310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/mg.war (메시지)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2308542"/>
            <a:ext cx="1645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1915351"/>
            <a:ext cx="2286000" cy="4524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http://mp.prod.nacf/ws/{서비스코드}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http://mp.prod.nacf/ic/{서비스코드}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http://mp.prod.nacf/pc/{서비스코드}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http://mp.prod.nacf/bc/{서비스코드}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http://mp.prod.nacf/sa/{서비스코드}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http://mp.prod.nacf/pd/{서비스코드}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http://mp.prod.nacf/cm/{서비스코드}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http://mp.prod.nacf/eb/{서비스코드}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http://mp.prod.nacf/ss/{서비스코드}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http://mp.prod.nacf/cs/{서비스코드}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http://mp.prod.nacf/ct/{서비스코드}</a:t>
            </a:r>
          </a:p>
          <a:p>
            <a:pPr algn="l">
              <a:lnSpc>
                <a:spcPct val="100000"/>
              </a:lnSpc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http://mp.prod.nacf/mg/{서비스코드}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- 130 -</a:t>
            </a:r>
          </a:p>
        </p:txBody>
      </p:sp>
    </p:spTree>
    <p:extLst>
      <p:ext uri="{BB962C8B-B14F-4D97-AF65-F5344CB8AC3E}">
        <p14:creationId xmlns:p14="http://schemas.microsoft.com/office/powerpoint/2010/main" val="13839166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BI 포탈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668462"/>
            <a:ext cx="178308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 포탈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62823"/>
            <a:ext cx="2057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http://cr.prod.nacf/cr/{서비스코드}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97779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977639" y="2720022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97779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69079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3" y="3954462"/>
            <a:ext cx="1243583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809745" y="3954462"/>
            <a:ext cx="1243583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069079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/ws.war (SSO 인증)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79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/ws.war (SSO 인증)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5024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/cr.war (신용실적)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79" y="5024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/cr.war (신용실적)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- 131 -</a:t>
            </a:r>
          </a:p>
        </p:txBody>
      </p:sp>
    </p:spTree>
    <p:extLst>
      <p:ext uri="{BB962C8B-B14F-4D97-AF65-F5344CB8AC3E}">
        <p14:creationId xmlns:p14="http://schemas.microsoft.com/office/powerpoint/2010/main" val="404540283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업무 솔루션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513014"/>
            <a:ext cx="10515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BI 포탈</a:t>
            </a:r>
            <a:br/>
            <a:r>
              <a:t>(정보 단말)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1897062"/>
            <a:ext cx="1371600" cy="329184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BI포탈 패키지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463991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http://pt.prod.nacf/{패키지 URL}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2226246"/>
            <a:ext cx="0" cy="63093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97280" y="2857182"/>
            <a:ext cx="1773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728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28800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252728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BI포탈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288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BI포탈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897062"/>
            <a:ext cx="1371600" cy="329184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OLAP 패키지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463991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http://oa.prod.nacf/{패키지 URL}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60" y="2226246"/>
            <a:ext cx="0" cy="63093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07992" y="2857182"/>
            <a:ext cx="1773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66360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239512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663440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OLAP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OLAP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897062"/>
            <a:ext cx="1371600" cy="329184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Self-BI 패키지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463991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http://sb.prod.nacf/{패키지 URL}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0" y="2226246"/>
            <a:ext cx="0" cy="63093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891271" y="2857182"/>
            <a:ext cx="1773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49641" y="3954462"/>
            <a:ext cx="1024127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622793" y="3954462"/>
            <a:ext cx="1024127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046719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Self-BI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Self-BI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- 132 -</a:t>
            </a:r>
          </a:p>
        </p:txBody>
      </p:sp>
    </p:spTree>
    <p:extLst>
      <p:ext uri="{BB962C8B-B14F-4D97-AF65-F5344CB8AC3E}">
        <p14:creationId xmlns:p14="http://schemas.microsoft.com/office/powerpoint/2010/main" val="116397191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전문 표준화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164592" y="1394142"/>
            <a:ext cx="11612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Malgun Gothic"/>
              </a:defRPr>
            </a:pPr>
            <a:r>
              <a:rPr sz="2000"/>
              <a:t>차세대 정보계 업무 시스템은 표준전문을 기반으로 온라인 거래를 처리하며, 각 연계 시스템 간 거래에 동일하게 적용하고 업무 솔루션 패키지 UI는 예외로 개별 처리함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34222"/>
            <a:ext cx="768096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표준 전문 적용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354263"/>
            <a:ext cx="822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582862"/>
            <a:ext cx="1005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94342"/>
            <a:ext cx="713232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대내 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42982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통합</a:t>
            </a:r>
            <a:br>
              <a:rPr sz="1200"/>
            </a:br>
            <a:r>
              <a:rPr sz="1200"/>
              <a:t>업무 시스템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37342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 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13414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Package</a:t>
            </a:r>
            <a:br>
              <a:rPr sz="1200"/>
            </a:br>
            <a:r>
              <a:rPr sz="1200"/>
              <a:t>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417502"/>
            <a:ext cx="749808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대고객 채널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75286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비대면</a:t>
            </a:r>
            <a:br>
              <a:rPr sz="1200"/>
            </a:br>
            <a:r>
              <a:rPr sz="1200"/>
              <a:t>채널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582862"/>
            <a:ext cx="1051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 통합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3286950"/>
            <a:ext cx="6583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영업점</a:t>
            </a:r>
            <a:br>
              <a:rPr sz="1300"/>
            </a:br>
            <a:r>
              <a:rPr sz="1300"/>
              <a:t>MCA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5691822"/>
            <a:ext cx="685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MCI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업무 시스템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628582"/>
            <a:ext cx="2057400" cy="3291840"/>
          </a:xfrm>
          <a:prstGeom prst="rect">
            <a:avLst/>
          </a:prstGeom>
          <a:solidFill>
            <a:srgbClr val="DCEFE4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차세대 정보계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994342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82828"/>
                </a:solidFill>
                <a:latin typeface="Malgun Gothic"/>
              </a:defRPr>
            </a:pPr>
            <a:r>
              <a:rPr sz="1700"/>
              <a:t>마케팅 플랫폼</a:t>
            </a:r>
            <a:br>
              <a:rPr sz="1700"/>
            </a:br>
            <a:r>
              <a:rPr sz="1700"/>
              <a:t/>
            </a:r>
            <a:br>
              <a:rPr sz="1700"/>
            </a:br>
            <a:r>
              <a:rPr sz="1700"/>
              <a:t>온라인</a:t>
            </a:r>
            <a:br>
              <a:rPr sz="1700"/>
            </a:br>
            <a:r>
              <a:rPr sz="1700"/>
              <a:t>어플리케이션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457382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82828"/>
                </a:solidFill>
                <a:latin typeface="Malgun Gothic"/>
              </a:defRPr>
            </a:pPr>
            <a:r>
              <a:rPr sz="1700"/>
              <a:t>BI 포탈</a:t>
            </a:r>
            <a:br>
              <a:rPr sz="1700"/>
            </a:br>
            <a:r>
              <a:rPr sz="1700"/>
              <a:t/>
            </a:r>
            <a:br>
              <a:rPr sz="1700"/>
            </a:br>
            <a:r>
              <a:rPr sz="1700"/>
              <a:t>온라인</a:t>
            </a:r>
            <a:br>
              <a:rPr sz="1700"/>
            </a:br>
            <a:r>
              <a:rPr sz="1700"/>
              <a:t>어플리케이션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354262"/>
            <a:ext cx="914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대내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2582862"/>
            <a:ext cx="1005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3725862"/>
            <a:ext cx="457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API</a:t>
            </a:r>
            <a:br>
              <a:rPr sz="1500"/>
            </a:br>
            <a:r>
              <a:rPr sz="1500"/>
              <a:t>G/W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5188902"/>
            <a:ext cx="457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GSE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354262"/>
            <a:ext cx="914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연계</a:t>
            </a:r>
            <a:br>
              <a:rPr sz="1400"/>
            </a:br>
            <a:r>
              <a:rPr sz="1400"/>
              <a:t>업무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82862"/>
            <a:ext cx="1325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</a:t>
            </a:r>
            <a:br/>
            <a:r>
              <a:t>업무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6832" y="2948622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계정계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832" y="3332670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2" y="3716718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e 뱅킹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4100765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e 뱅킹</a:t>
            </a:r>
            <a:br>
              <a:rPr sz="1100"/>
            </a:br>
            <a:r>
              <a:rPr sz="1100"/>
              <a:t>정보계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6832" y="4484814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카드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56832" y="4868862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카드</a:t>
            </a:r>
            <a:br>
              <a:rPr sz="1100"/>
            </a:br>
            <a:r>
              <a:rPr sz="1100"/>
              <a:t>정보계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6832" y="5252910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은행(법인)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56832" y="5636958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경제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78992" y="3771582"/>
            <a:ext cx="521208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5568" y="3634422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FLAT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31720" y="3771582"/>
            <a:ext cx="82296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31720" y="3588702"/>
            <a:ext cx="548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51560" y="4338510"/>
            <a:ext cx="210312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38528" y="4183062"/>
            <a:ext cx="6400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51560" y="6176454"/>
            <a:ext cx="54864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86000" y="6176454"/>
            <a:ext cx="86868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304288" y="5966142"/>
            <a:ext cx="548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572000" y="4137342"/>
            <a:ext cx="86868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617720" y="3954462"/>
            <a:ext cx="548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897880" y="4137342"/>
            <a:ext cx="758952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61888" y="3954462"/>
            <a:ext cx="548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5897880" y="5600382"/>
            <a:ext cx="758952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61888" y="5435790"/>
            <a:ext cx="548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5435790"/>
            <a:ext cx="411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FLAT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2308542"/>
            <a:ext cx="1645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82828"/>
                </a:solidFill>
                <a:latin typeface="Malgun Gothic"/>
              </a:defRPr>
            </a:pPr>
            <a:r>
              <a:rPr sz="2000"/>
              <a:t>표준화 내용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20" y="2646870"/>
            <a:ext cx="3063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6" name="TextBox 55"/>
          <p:cNvSpPr txBox="1"/>
          <p:nvPr/>
        </p:nvSpPr>
        <p:spPr>
          <a:xfrm>
            <a:off x="8915400" y="2857183"/>
            <a:ext cx="2743200" cy="38164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차세대 정보계는 표준전문을 적용함</a:t>
            </a:r>
            <a:br>
              <a:rPr sz="1100"/>
            </a:br>
            <a:r>
              <a:rPr sz="1100"/>
              <a:t>(단, 업무솔루션 패키지 화면은 예외)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정보단말 거래</a:t>
            </a:r>
            <a:br>
              <a:rPr sz="1100"/>
            </a:br>
            <a:r>
              <a:rPr sz="1100"/>
              <a:t>✓ 표준 전문 기반 거래 처리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영업점 MCA 연계</a:t>
            </a:r>
            <a:br>
              <a:rPr sz="1100"/>
            </a:br>
            <a:r>
              <a:rPr sz="1100"/>
              <a:t>✓ 통합업무시스템 → 영업점MCA → 차세대 정보계 AP</a:t>
            </a:r>
            <a:br>
              <a:rPr sz="1100"/>
            </a:br>
            <a:r>
              <a:rPr sz="1100"/>
              <a:t>  (마케팅 플랫폼 싱글뷰 거래)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MCI 연계</a:t>
            </a:r>
            <a:br>
              <a:rPr sz="1100"/>
            </a:br>
            <a:r>
              <a:rPr sz="1100"/>
              <a:t>✓ 비대면 채널 → MCI → 차세대 정보계 AP</a:t>
            </a:r>
            <a:br>
              <a:rPr sz="1100"/>
            </a:br>
            <a:r>
              <a:rPr sz="1100"/>
              <a:t>  (영업점 방문 예약, 실시간 이용 내역 조회)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API G/W (CruzAPIM) 연계</a:t>
            </a:r>
            <a:br>
              <a:rPr sz="1100"/>
            </a:br>
            <a:r>
              <a:rPr sz="1100"/>
              <a:t>✓ 차세대 정보계 AP와 대내 업무 AP 간 IN-bound,</a:t>
            </a:r>
            <a:br>
              <a:rPr sz="1100"/>
            </a:br>
            <a:r>
              <a:rPr sz="1100"/>
              <a:t>  OUT-bound 연계 거래</a:t>
            </a:r>
            <a:br>
              <a:rPr sz="1100"/>
            </a:br>
            <a:r>
              <a:rPr sz="1100"/>
              <a:t>✓ API G/W 단독 연계 또는 API G/W ↔ EAI 경유 거래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GSE 연계</a:t>
            </a:r>
            <a:br>
              <a:rPr sz="1100"/>
            </a:br>
            <a:r>
              <a:rPr sz="1100"/>
              <a:t>✓ 은행 (법인) 클릭폰 업무 요청 거래 처리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- 133 -</a:t>
            </a:r>
          </a:p>
        </p:txBody>
      </p:sp>
    </p:spTree>
    <p:extLst>
      <p:ext uri="{BB962C8B-B14F-4D97-AF65-F5344CB8AC3E}">
        <p14:creationId xmlns:p14="http://schemas.microsoft.com/office/powerpoint/2010/main" val="268956272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GUID 관리 체계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164592" y="1394142"/>
            <a:ext cx="1161288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Malgun Gothic"/>
              </a:defRPr>
            </a:pPr>
            <a:r>
              <a:rPr sz="1900"/>
              <a:t>차세대 정보계 업무 시스템이 표준전문을 기반으로 온라인 거래 처리함으로써, GUID를 노드 간 진행 일련번호 증가 구현에 따라 End To End 거래 추적 기반을 구축함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34222"/>
            <a:ext cx="768096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GUID 적용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354263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54263"/>
            <a:ext cx="2011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차세대 정보계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대내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4262"/>
            <a:ext cx="13258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연계</a:t>
            </a:r>
            <a:br>
              <a:rPr sz="1400"/>
            </a:br>
            <a:r>
              <a:rPr sz="1400"/>
              <a:t>업무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582862"/>
            <a:ext cx="1005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582862"/>
            <a:ext cx="1051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 통합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628582"/>
            <a:ext cx="1920240" cy="3337560"/>
          </a:xfrm>
          <a:prstGeom prst="rect">
            <a:avLst/>
          </a:prstGeom>
          <a:solidFill>
            <a:srgbClr val="DCEFE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차세대 정보계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582862"/>
            <a:ext cx="1005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 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82862"/>
            <a:ext cx="1325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</a:t>
            </a:r>
            <a:br/>
            <a:r>
              <a:t>업무 시스템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4183062"/>
            <a:ext cx="5943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 단말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777422"/>
            <a:ext cx="5943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Package</a:t>
            </a:r>
            <a:br>
              <a:rPr sz="1200"/>
            </a:br>
            <a:r>
              <a:rPr sz="1200"/>
              <a:t>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3954462"/>
            <a:ext cx="365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API</a:t>
            </a:r>
            <a:br>
              <a:rPr sz="1400"/>
            </a:br>
            <a:r>
              <a:rPr sz="1400"/>
              <a:t>G/W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0040" y="3222942"/>
            <a:ext cx="7086600" cy="2971800"/>
          </a:xfrm>
          <a:prstGeom prst="rightArrow">
            <a:avLst/>
          </a:prstGeom>
          <a:solidFill>
            <a:srgbClr val="EBE5A7"/>
          </a:solidFill>
          <a:ln>
            <a:solidFill>
              <a:srgbClr val="CCC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1560" y="3314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1207007" y="3515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7007" y="3341813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314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2898648" y="3515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98648" y="3341813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314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4818888" y="3515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8888" y="3341813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457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6510528" y="4658549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0528" y="448481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555466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4727448" y="575583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7448" y="558209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600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3081528" y="5801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1528" y="562781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5600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1" name="Rectangle 40"/>
          <p:cNvSpPr/>
          <p:nvPr/>
        </p:nvSpPr>
        <p:spPr>
          <a:xfrm>
            <a:off x="1024127" y="5801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7" y="562781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308542"/>
            <a:ext cx="1645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82828"/>
                </a:solidFill>
                <a:latin typeface="Malgun Gothic"/>
              </a:defRPr>
            </a:pPr>
            <a:r>
              <a:rPr sz="2000"/>
              <a:t>표준화 내용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2646870"/>
            <a:ext cx="2880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9006840" y="2884615"/>
            <a:ext cx="2606040" cy="313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차세대 정보계는 온라인 거래 처리의 시스템 노드간 식별자를 표준전문 내 GUID를 적용하여 처리함</a:t>
            </a:r>
            <a:br>
              <a:rPr sz="1100"/>
            </a:br>
            <a:r>
              <a:rPr sz="1100"/>
              <a:t>(단, 업무솔루션 패키지 화면은 예외)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채널 시스템은 최초 거래 시작 시 표준전문에 GUID 항목을 규칙에 맞게 설정해서 거래를 요청함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정보계 단말 (WebTopSuit)과 업무 시스템 프레임워크 (NH Cloud Framework)는 표준전문의 GUID 생성 처리 규칙에 따라 처리를 구현함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노드를 경유할 때 표준전문 내 GUID의 진행일련번호의 식별자(“진행상황”)를 +1 증가시켜 다음 노드에 전달함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각 시스템별로 기록된 표준전문 로그에서 “원거래글로벌ID” 항목을 거래의 유일한 식별자로 조회함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- 134 -</a:t>
            </a:r>
          </a:p>
        </p:txBody>
      </p:sp>
    </p:spTree>
    <p:extLst>
      <p:ext uri="{BB962C8B-B14F-4D97-AF65-F5344CB8AC3E}">
        <p14:creationId xmlns:p14="http://schemas.microsoft.com/office/powerpoint/2010/main" val="180416127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캐릭터 셋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164592" y="1394142"/>
            <a:ext cx="11612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Malgun Gothic"/>
              </a:defRPr>
            </a:pPr>
            <a:r>
              <a:rPr sz="2000"/>
              <a:t>차세대 정보계 시스템의 캐릭터 셋은 채널과 업무 시스템은 “UTF-8”, ADW와 RDW 데이터 베이스를 “MS949”를 기준으로 정의함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34222"/>
            <a:ext cx="768096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캐릭터 셋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91422"/>
            <a:ext cx="1828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012630"/>
            <a:ext cx="1225296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정보 단말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3680142"/>
            <a:ext cx="777240" cy="384048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713414"/>
            <a:ext cx="1225296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Package</a:t>
            </a:r>
            <a:br>
              <a:rPr sz="1600"/>
            </a:br>
            <a:r>
              <a:rPr sz="1600"/>
              <a:t>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5390070"/>
            <a:ext cx="777240" cy="384048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491422"/>
            <a:ext cx="22402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차세대 정보계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012630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 플랫폼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3469830"/>
            <a:ext cx="822960" cy="36576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4137342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4594542"/>
            <a:ext cx="822960" cy="36576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5234622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업무 솔루션</a:t>
            </a:r>
            <a:br>
              <a:rPr sz="1400"/>
            </a:br>
            <a:r>
              <a:rPr sz="1400"/>
              <a:t>(BI 포탈, Self-BI,</a:t>
            </a:r>
            <a:br>
              <a:rPr sz="1400"/>
            </a:br>
            <a:r>
              <a:rPr sz="1400"/>
              <a:t>OLAP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5737542"/>
            <a:ext cx="822960" cy="32004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765742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ADW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524694"/>
            <a:ext cx="868680" cy="384048"/>
          </a:xfrm>
          <a:prstGeom prst="rect">
            <a:avLst/>
          </a:prstGeom>
          <a:solidFill>
            <a:srgbClr val="2B66D7"/>
          </a:solidFill>
          <a:ln w="12700"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MS949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777422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RDW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5536374"/>
            <a:ext cx="868680" cy="384048"/>
          </a:xfrm>
          <a:prstGeom prst="rect">
            <a:avLst/>
          </a:prstGeom>
          <a:solidFill>
            <a:srgbClr val="2B66D7"/>
          </a:solidFill>
          <a:ln w="12700"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MS949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308542"/>
            <a:ext cx="1645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82828"/>
                </a:solidFill>
                <a:latin typeface="Malgun Gothic"/>
              </a:defRPr>
            </a:pPr>
            <a:r>
              <a:rPr sz="2000"/>
              <a:t>표준화 내용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2646870"/>
            <a:ext cx="2880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9006840" y="2884615"/>
            <a:ext cx="2606040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캐릭터 셋의 정의</a:t>
            </a:r>
            <a:br>
              <a:rPr sz="1100"/>
            </a:br>
            <a:r>
              <a:rPr sz="1100"/>
              <a:t>✓ 차세대 정보계 채널 시스템 캐릭터 셋은 “UTF-8”을 기준으로 함</a:t>
            </a:r>
            <a:br>
              <a:rPr sz="1100"/>
            </a:br>
            <a:r>
              <a:rPr sz="1100"/>
              <a:t>✓ 차세대 정보계 업무 시스템 캐릭터 셋은 “UTF-8”을 기준으로 함</a:t>
            </a:r>
            <a:br>
              <a:rPr sz="1100"/>
            </a:br>
            <a:r>
              <a:rPr sz="1100"/>
              <a:t>✓ ADW, RDW 데이터 베이스 캐릭터 셋은 “MS949”를 기준으로 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데이터 베이스 연계 시 데이터 베이스와 연계하는 시스템에서 데이터 베이스 캐릭터 셋(MS949)에 맞춰 변환 처리를 수행함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API G/W 또는 GSE와 연계하는 경우, 전사 인터페이스 기준에 따라 캐릭터 셋 처리함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- 135 -</a:t>
            </a:r>
          </a:p>
        </p:txBody>
      </p:sp>
    </p:spTree>
    <p:extLst>
      <p:ext uri="{BB962C8B-B14F-4D97-AF65-F5344CB8AC3E}">
        <p14:creationId xmlns:p14="http://schemas.microsoft.com/office/powerpoint/2010/main" val="266761005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" y="635191"/>
            <a:ext cx="1371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82828"/>
                </a:solidFill>
                <a:latin typeface="Malgun Gothic"/>
              </a:defRPr>
            </a:pPr>
            <a:r>
              <a:rPr sz="3200"/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3076638"/>
            <a:ext cx="6016752" cy="393192"/>
          </a:xfrm>
          <a:prstGeom prst="rect">
            <a:avLst/>
          </a:prstGeom>
          <a:solidFill>
            <a:srgbClr val="DCEFE4"/>
          </a:solidFill>
          <a:ln>
            <a:solidFill>
              <a:srgbClr val="DC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005840" y="1531302"/>
            <a:ext cx="43891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7. 런타임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15350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7.1 업무 처리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17102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7.2 단말 거래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8854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7.3 미니 싱글뷰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20606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7.4 UMS 고객 통지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2358"/>
            <a:ext cx="43891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82828"/>
                </a:solidFill>
                <a:latin typeface="Malgun Gothic"/>
              </a:defRPr>
            </a:pPr>
            <a:r>
              <a:rPr sz="2500"/>
              <a:t>8. 아키텍처 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06406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8.1 어플리케이션 계층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08158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8.2 전문 표준화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09910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8.3 GUID 관리 체계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11662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8.4 캐릭터 셋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13414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8.5 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15166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8.6 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16918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8.7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18670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8.8 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20422"/>
            <a:ext cx="4389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8.9 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531302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9. 아키텍처 구성 요소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15350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9.1 단말 프레임워크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17102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9.2 온라인 프레임워크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518854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9.3 배치 프레임워크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20606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10. 업무 솔루션 아키텍처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204654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10.1 SELF-BI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506406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10.2 OLAP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808158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10.3 EBM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109910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10.4 데이터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411662"/>
            <a:ext cx="46634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282828"/>
                </a:solidFill>
                <a:latin typeface="Malgun Gothic"/>
              </a:defRPr>
            </a:pPr>
            <a:r>
              <a:rPr sz="2500"/>
              <a:t>11. 기타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795710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11.1 시스템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097462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11.2 시스템 가용성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399214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11.3 시스템 확장성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700966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11.4 DR 구성 (센터 간 가용성)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6002718"/>
            <a:ext cx="4663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11.5 백업 구성</a:t>
            </a:r>
          </a:p>
        </p:txBody>
      </p:sp>
    </p:spTree>
    <p:extLst>
      <p:ext uri="{BB962C8B-B14F-4D97-AF65-F5344CB8AC3E}">
        <p14:creationId xmlns:p14="http://schemas.microsoft.com/office/powerpoint/2010/main" val="204548490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정보 단말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73152" y="1394142"/>
            <a:ext cx="11841480" cy="640080"/>
          </a:xfrm>
          <a:prstGeom prst="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1458150"/>
            <a:ext cx="73152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프로젝트 명 : WebTop_NSIGHT</a:t>
            </a:r>
          </a:p>
          <a:p>
            <a:pPr algn="l">
              <a:lnSpc>
                <a:spcPct val="100000"/>
              </a:lnSpc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프로젝트 위치 : C:\WEBTOP\workspace\WebTop_NSIGHT</a:t>
            </a:r>
          </a:p>
          <a:p>
            <a:pPr algn="l">
              <a:lnSpc>
                <a:spcPct val="100000"/>
              </a:lnSpc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Web Root 경로 : WebTop_NSIGHT/src/main/webapp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6282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Web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454846"/>
            <a:ext cx="36576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31720" y="2454846"/>
            <a:ext cx="0" cy="3328416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31720" y="2244534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_wpack_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35391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화면 xml을 빌드한 js 파일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10293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1" y="2747454"/>
            <a:ext cx="685799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663440" y="2601150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gcc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582863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기본 공통 함수 xml 파일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921190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udc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902903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기본 공통 UDC xml 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241230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css</a:t>
            </a:r>
            <a:br>
              <a:rPr sz="1200"/>
            </a:br>
            <a:r>
              <a:rPr sz="1200"/>
              <a:t>images</a:t>
            </a:r>
            <a:br>
              <a:rPr sz="1200"/>
            </a:br>
            <a:r>
              <a:rPr sz="1200"/>
              <a:t>font</a:t>
            </a:r>
            <a:br>
              <a:rPr sz="1200"/>
            </a:br>
            <a:r>
              <a:rPr sz="1200"/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60103"/>
            <a:ext cx="2377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웹 화면에 사용하는</a:t>
            </a:r>
            <a:br>
              <a:rPr sz="1200"/>
            </a:br>
            <a:r>
              <a:rPr sz="1200"/>
              <a:t>기본 공통 css, 이미지, font 등 리소스 파일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61488" y="2884614"/>
            <a:ext cx="0" cy="649224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61488" y="3533838"/>
            <a:ext cx="1792224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49039" y="2747454"/>
            <a:ext cx="0" cy="786384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87168" y="4201349"/>
            <a:ext cx="11521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websquare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201350"/>
            <a:ext cx="2926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웹스퀘어 엔진에서 사용하는 리소스 및 설정 파일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4594542"/>
            <a:ext cx="115214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webTop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4740846"/>
            <a:ext cx="155448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39312" y="4740846"/>
            <a:ext cx="658368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297680" y="4594542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4608" y="4731702"/>
            <a:ext cx="621792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486400" y="4576253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gcc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4567111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정보단말 공통 함수 xml 파일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4887150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udc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878007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정보단말 공통 UDC xml 파일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2392" y="5198046"/>
            <a:ext cx="7498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css</a:t>
            </a:r>
            <a:br>
              <a:rPr sz="1100"/>
            </a:br>
            <a:r>
              <a:rPr sz="1100"/>
              <a:t>images</a:t>
            </a:r>
            <a:br>
              <a:rPr sz="1100"/>
            </a:br>
            <a:r>
              <a:rPr sz="1100"/>
              <a:t>font</a:t>
            </a:r>
            <a:br>
              <a:rPr sz="1100"/>
            </a:br>
            <a:r>
              <a:rPr sz="1100"/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298631"/>
            <a:ext cx="22860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웹 화면에 사용하는</a:t>
            </a:r>
            <a:br>
              <a:rPr sz="1200"/>
            </a:br>
            <a:r>
              <a:rPr sz="1200"/>
              <a:t>정보단말 css, 이미지, font 등 리소스 파일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0" y="4868862"/>
            <a:ext cx="0" cy="141732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5481510"/>
            <a:ext cx="841248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617720" y="5847270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layout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847271"/>
            <a:ext cx="2286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정보단말 layout 화면 xml 파일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6176454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screen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158167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업무 구분에 따른 화면 xml 파일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83480" y="6450774"/>
            <a:ext cx="0" cy="310896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217920" y="6331902"/>
            <a:ext cx="548640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6679374"/>
            <a:ext cx="548640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BI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66560" y="6459918"/>
            <a:ext cx="50292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66560" y="6807390"/>
            <a:ext cx="50292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269480" y="633190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6679374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6331902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6679374"/>
            <a:ext cx="502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6331902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mpcoa0000M0.xml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6679374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bicra0000M0.xml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0" y="6459918"/>
            <a:ext cx="77724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72400" y="6807390"/>
            <a:ext cx="77724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- 122 -</a:t>
            </a:r>
          </a:p>
        </p:txBody>
      </p:sp>
    </p:spTree>
    <p:extLst>
      <p:ext uri="{BB962C8B-B14F-4D97-AF65-F5344CB8AC3E}">
        <p14:creationId xmlns:p14="http://schemas.microsoft.com/office/powerpoint/2010/main" val="179417996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온라인 프레임워크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256032" y="1531302"/>
            <a:ext cx="86868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1531302"/>
            <a:ext cx="146304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어플리케이션 그룹</a:t>
            </a:r>
            <a:br>
              <a:rPr sz="1400"/>
            </a:br>
            <a:r>
              <a:rPr sz="1400"/>
              <a:t>(대구분)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31302"/>
            <a:ext cx="132588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어플리케이션</a:t>
            </a:r>
            <a:br>
              <a:rPr sz="1400"/>
            </a:br>
            <a:r>
              <a:rPr sz="1400"/>
              <a:t>(업무 구분)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5424" y="1531302"/>
            <a:ext cx="1508760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기능</a:t>
            </a:r>
            <a:br>
              <a:rPr sz="1400"/>
            </a:br>
            <a:r>
              <a:rPr sz="1400"/>
              <a:t>(세부 업무 구분)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31302"/>
            <a:ext cx="5468112" cy="420624"/>
          </a:xfrm>
          <a:prstGeom prst="round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업무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98230"/>
            <a:ext cx="6583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nhnis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" y="2354262"/>
            <a:ext cx="0" cy="246888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691640" y="2308542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mp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" y="2427414"/>
            <a:ext cx="1133856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520440" y="2537142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58568" y="2436557"/>
            <a:ext cx="1261872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31336" y="2793174"/>
            <a:ext cx="0" cy="3035808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20640" y="2747454"/>
            <a:ext cx="47548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2232" y="2665158"/>
            <a:ext cx="978408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554480" y="4960302"/>
            <a:ext cx="914400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resource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" y="5088318"/>
            <a:ext cx="996696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920240" y="5390070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mp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5216334"/>
            <a:ext cx="0" cy="173736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456432" y="5673534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co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87168" y="5518086"/>
            <a:ext cx="969264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544568" y="5966142"/>
            <a:ext cx="47548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67328" y="5801550"/>
            <a:ext cx="777240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40680" y="584727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mpcoa0001-</a:t>
            </a:r>
            <a:br>
              <a:rPr sz="1100"/>
            </a:br>
            <a:r>
              <a:rPr sz="1100"/>
              <a:t>ORA.xml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0056" y="6094158"/>
            <a:ext cx="420624" cy="0"/>
          </a:xfrm>
          <a:prstGeom prst="line">
            <a:avLst/>
          </a:prstGeom>
          <a:ln w="12700">
            <a:solidFill>
              <a:srgbClr val="A0A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08192" y="2537143"/>
            <a:ext cx="27432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nhnis.mp.co.a.controller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793174"/>
            <a:ext cx="868680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82975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mpcoaController.java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3268662"/>
            <a:ext cx="2743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524694"/>
            <a:ext cx="749808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1192" y="356127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mpcoa0001Service.java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4000183"/>
            <a:ext cx="2286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nhnis.mp.co.a.dao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4256214"/>
            <a:ext cx="594360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1192" y="4237925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mpcoa0001DAO.java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51192" y="447567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mpcoa0001DAO.java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4731702"/>
            <a:ext cx="2286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  <a:latin typeface="Malgun Gothic"/>
              </a:defRPr>
            </a:pPr>
            <a:r>
              <a:rPr sz="1300"/>
              <a:t>package nhnis.mp.co.a.dto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4987734"/>
            <a:ext cx="548640" cy="27432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dto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4969446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mpcoa0001SODTOin.java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51192" y="5207190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mpcoa0001SODTOout.java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51192" y="5444934"/>
            <a:ext cx="20116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mpcoa0001SODTOio.java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2189670"/>
            <a:ext cx="2514600" cy="96012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37192" y="2308543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2509710"/>
            <a:ext cx="224028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서비스ID = Controller Class Method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본 처리에 해당하는 거래 처리 흐름</a:t>
            </a:r>
            <a:br>
              <a:rPr sz="1100"/>
            </a:br>
            <a:r>
              <a:rPr sz="1100"/>
              <a:t>  제어 업무 구현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Service Method 호출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3222942"/>
            <a:ext cx="2514600" cy="91440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37192" y="3341815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3524695"/>
            <a:ext cx="224028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 ID = Service Class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업무 처리를 위한 Biz 로직 구현체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dto, dao 객체를 사용해서 로직 처리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18320" y="4228782"/>
            <a:ext cx="2514600" cy="100584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37192" y="4347654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DAO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4530534"/>
            <a:ext cx="224028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 ID = DAO Class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DB Access (C/R/U/D) 로직 구현체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SQL ID를 호출해서 OR Mapper를 통해</a:t>
            </a:r>
            <a:br>
              <a:rPr sz="1100"/>
            </a:br>
            <a:r>
              <a:rPr sz="1100"/>
              <a:t>  DB Data Access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5326062"/>
            <a:ext cx="2514600" cy="1051560"/>
          </a:xfrm>
          <a:prstGeom prst="roundRect">
            <a:avLst/>
          </a:prstGeom>
          <a:noFill/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37192" y="5444935"/>
            <a:ext cx="1097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DTO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5627815"/>
            <a:ext cx="224028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서비스의 입력과 출력 값을 처리할 데이터 객체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• 입력과 출력 또는 입출력이 동일한 데이터</a:t>
            </a:r>
            <a:br>
              <a:rPr sz="1100"/>
            </a:br>
            <a:r>
              <a:rPr sz="1100"/>
              <a:t>  세트를 처리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- 123 -</a:t>
            </a:r>
          </a:p>
        </p:txBody>
      </p:sp>
    </p:spTree>
    <p:extLst>
      <p:ext uri="{BB962C8B-B14F-4D97-AF65-F5344CB8AC3E}">
        <p14:creationId xmlns:p14="http://schemas.microsoft.com/office/powerpoint/2010/main" val="100791147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671766"/>
            <a:ext cx="68580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42424"/>
                </a:solidFill>
                <a:latin typeface="Malgun Gothic"/>
              </a:defRPr>
            </a:pPr>
            <a:r>
              <a:rPr sz="2600"/>
              <a:t>거래 처리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5DB4"/>
          </a:solidFill>
          <a:ln>
            <a:solidFill>
              <a:srgbClr val="2B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375136" cy="45720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" name="Rectangle 4"/>
          <p:cNvSpPr/>
          <p:nvPr/>
        </p:nvSpPr>
        <p:spPr>
          <a:xfrm>
            <a:off x="384048" y="1604454"/>
            <a:ext cx="5806440" cy="384048"/>
          </a:xfrm>
          <a:prstGeom prst="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거래 처리 구조도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308542"/>
            <a:ext cx="594360" cy="4572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defRPr sz="1300" b="0">
                <a:solidFill>
                  <a:srgbClr val="242424"/>
                </a:solidFill>
                <a:latin typeface="Malgun Gothic"/>
              </a:defRPr>
            </a:pPr>
            <a:r>
              <a:rPr sz="1300"/>
              <a:t>거래</a:t>
            </a:r>
            <a:br>
              <a:rPr sz="1300"/>
            </a:br>
            <a:r>
              <a:rPr sz="1300"/>
              <a:t>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121590"/>
            <a:ext cx="594360" cy="4572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defRPr sz="1300" b="0">
                <a:solidFill>
                  <a:srgbClr val="242424"/>
                </a:solidFill>
                <a:latin typeface="Malgun Gothic"/>
              </a:defRPr>
            </a:pPr>
            <a:r>
              <a:rPr sz="1300"/>
              <a:t>거래</a:t>
            </a:r>
            <a:br>
              <a:rPr sz="1300"/>
            </a:br>
            <a:r>
              <a:rPr sz="1300"/>
              <a:t>응답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2399981"/>
            <a:ext cx="448056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9" name="Rectangle 8"/>
          <p:cNvSpPr/>
          <p:nvPr/>
        </p:nvSpPr>
        <p:spPr>
          <a:xfrm>
            <a:off x="2075688" y="2473133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500" b="1">
                <a:solidFill>
                  <a:srgbClr val="242424"/>
                </a:solidFill>
                <a:latin typeface="Malgun Gothic"/>
              </a:defRPr>
            </a:pPr>
            <a:r>
              <a:rPr sz="1500"/>
              <a:t>시스템 선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454845"/>
            <a:ext cx="1188720" cy="36576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600" b="1">
                <a:solidFill>
                  <a:srgbClr val="2C7B4F"/>
                </a:solidFill>
                <a:latin typeface="Malgun Gothic"/>
              </a:defRPr>
            </a:pPr>
            <a:r>
              <a:rPr sz="1600"/>
              <a:t>NH Cloud</a:t>
            </a:r>
            <a:br>
              <a:rPr sz="1600"/>
            </a:br>
            <a:r>
              <a:rPr sz="1600"/>
              <a:t>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322294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2048256" y="3369246"/>
            <a:ext cx="146304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1400" b="0">
                <a:solidFill>
                  <a:srgbClr val="242424"/>
                </a:solidFill>
                <a:latin typeface="Malgun Gothic"/>
              </a:defRPr>
            </a:pPr>
            <a:r>
              <a:rPr sz="1400"/>
              <a:t>공통 선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3048" y="3369246"/>
            <a:ext cx="502920" cy="20116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필요</a:t>
            </a:r>
          </a:p>
        </p:txBody>
      </p:sp>
      <p:sp>
        <p:nvSpPr>
          <p:cNvPr id="14" name="Oval 13"/>
          <p:cNvSpPr/>
          <p:nvPr/>
        </p:nvSpPr>
        <p:spPr>
          <a:xfrm>
            <a:off x="1463040" y="3332670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4208" y="4018470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" name="TextBox 15"/>
          <p:cNvSpPr txBox="1"/>
          <p:nvPr/>
        </p:nvSpPr>
        <p:spPr>
          <a:xfrm>
            <a:off x="2048256" y="4164774"/>
            <a:ext cx="146304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1400" b="0">
                <a:solidFill>
                  <a:srgbClr val="242424"/>
                </a:solidFill>
                <a:latin typeface="Malgun Gothic"/>
              </a:defRPr>
            </a:pPr>
            <a:r>
              <a:rPr sz="1400"/>
              <a:t>업무 선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3048" y="4164774"/>
            <a:ext cx="502920" cy="20116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필요</a:t>
            </a:r>
          </a:p>
        </p:txBody>
      </p:sp>
      <p:sp>
        <p:nvSpPr>
          <p:cNvPr id="18" name="Oval 17"/>
          <p:cNvSpPr/>
          <p:nvPr/>
        </p:nvSpPr>
        <p:spPr>
          <a:xfrm>
            <a:off x="1463040" y="4128198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4777422"/>
            <a:ext cx="1828800" cy="868680"/>
          </a:xfrm>
          <a:prstGeom prst="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업무 본 처리</a:t>
            </a:r>
            <a:br>
              <a:rPr sz="1600"/>
            </a:br>
            <a:r>
              <a:rPr sz="1600"/>
              <a:t>Controller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3088" y="4777422"/>
            <a:ext cx="1920240" cy="868680"/>
          </a:xfrm>
          <a:prstGeom prst="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Biz 로직</a:t>
            </a:r>
            <a:br>
              <a:rPr sz="1600"/>
            </a:br>
            <a:r>
              <a:rPr sz="1600"/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124894"/>
            <a:ext cx="502920" cy="201168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r>
              <a:rPr sz="1100"/>
              <a:t>DTO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5207190"/>
            <a:ext cx="822960" cy="0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481328" y="4685982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3995928" y="4685982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719254"/>
            <a:ext cx="548640" cy="347472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r>
              <a:rPr sz="1100"/>
              <a:t>DAO</a:t>
            </a:r>
            <a:br>
              <a:rPr sz="1100"/>
            </a:br>
            <a:r>
              <a:rPr sz="1100"/>
              <a:t>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7448" y="6176454"/>
            <a:ext cx="100584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Malgun Gothic"/>
              </a:defRPr>
            </a:pPr>
            <a:r>
              <a:rPr sz="1200"/>
              <a:t>데이터</a:t>
            </a:r>
            <a:br>
              <a:rPr sz="1200"/>
            </a:br>
            <a:r>
              <a:rPr sz="1200"/>
              <a:t>베이스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93208" y="5646102"/>
            <a:ext cx="0" cy="530352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664208" y="5755830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29" name="TextBox 28"/>
          <p:cNvSpPr txBox="1"/>
          <p:nvPr/>
        </p:nvSpPr>
        <p:spPr>
          <a:xfrm>
            <a:off x="2194560" y="5819838"/>
            <a:ext cx="1371600" cy="164592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300" b="0">
                <a:solidFill>
                  <a:srgbClr val="242424"/>
                </a:solidFill>
                <a:latin typeface="Malgun Gothic"/>
              </a:defRPr>
            </a:pPr>
            <a:r>
              <a:rPr sz="1300"/>
              <a:t>업무 후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13048" y="5828982"/>
            <a:ext cx="502920" cy="16459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rPr sz="800"/>
              <a:t>필요</a:t>
            </a:r>
          </a:p>
        </p:txBody>
      </p:sp>
      <p:sp>
        <p:nvSpPr>
          <p:cNvPr id="31" name="Oval 30"/>
          <p:cNvSpPr/>
          <p:nvPr/>
        </p:nvSpPr>
        <p:spPr>
          <a:xfrm>
            <a:off x="1463040" y="5792406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64208" y="6176454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2194560" y="6240462"/>
            <a:ext cx="1371600" cy="164592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300" b="0">
                <a:solidFill>
                  <a:srgbClr val="242424"/>
                </a:solidFill>
                <a:latin typeface="Malgun Gothic"/>
              </a:defRPr>
            </a:pPr>
            <a:r>
              <a:rPr sz="1300"/>
              <a:t>공통 후 처리</a:t>
            </a:r>
          </a:p>
        </p:txBody>
      </p:sp>
      <p:sp>
        <p:nvSpPr>
          <p:cNvPr id="34" name="Oval 33"/>
          <p:cNvSpPr/>
          <p:nvPr/>
        </p:nvSpPr>
        <p:spPr>
          <a:xfrm>
            <a:off x="1463040" y="6213030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89888" y="6697662"/>
            <a:ext cx="4480560" cy="393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36" name="Rectangle 35"/>
          <p:cNvSpPr/>
          <p:nvPr/>
        </p:nvSpPr>
        <p:spPr>
          <a:xfrm>
            <a:off x="2075688" y="6743382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400" b="1">
                <a:solidFill>
                  <a:srgbClr val="242424"/>
                </a:solidFill>
                <a:latin typeface="Malgun Gothic"/>
              </a:defRPr>
            </a:pPr>
            <a:r>
              <a:rPr sz="1400"/>
              <a:t>시스템 후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6706806"/>
            <a:ext cx="1234440" cy="347472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500" b="1">
                <a:solidFill>
                  <a:srgbClr val="2C7B4F"/>
                </a:solidFill>
                <a:latin typeface="Malgun Gothic"/>
              </a:defRPr>
            </a:pPr>
            <a:r>
              <a:rPr sz="1500"/>
              <a:t>NH Cloud</a:t>
            </a:r>
            <a:br>
              <a:rPr sz="1500"/>
            </a:br>
            <a:r>
              <a:rPr sz="1500"/>
              <a:t>Framework</a:t>
            </a:r>
          </a:p>
        </p:txBody>
      </p:sp>
      <p:sp>
        <p:nvSpPr>
          <p:cNvPr id="38" name="Oval 37"/>
          <p:cNvSpPr/>
          <p:nvPr/>
        </p:nvSpPr>
        <p:spPr>
          <a:xfrm>
            <a:off x="1463040" y="6725094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18688" y="2857182"/>
            <a:ext cx="0" cy="365761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18688" y="3725862"/>
            <a:ext cx="0" cy="292608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395728" y="4338510"/>
            <a:ext cx="822960" cy="438912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95728" y="5646102"/>
            <a:ext cx="0" cy="109728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6075870"/>
            <a:ext cx="0" cy="100584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95728" y="6496494"/>
            <a:ext cx="0" cy="201168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79792" y="1604454"/>
            <a:ext cx="2834640" cy="347472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2200" b="1">
                <a:solidFill>
                  <a:srgbClr val="242424"/>
                </a:solidFill>
                <a:latin typeface="Malgun Gothic"/>
              </a:defRPr>
            </a:pPr>
            <a:r>
              <a:rPr sz="2200"/>
              <a:t>주요 처리 내용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78040" y="1988502"/>
            <a:ext cx="4389120" cy="0"/>
          </a:xfrm>
          <a:prstGeom prst="line">
            <a:avLst/>
          </a:prstGeom>
          <a:ln w="2286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132320" y="2189670"/>
            <a:ext cx="44348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8" name="Oval 47"/>
          <p:cNvSpPr/>
          <p:nvPr/>
        </p:nvSpPr>
        <p:spPr>
          <a:xfrm>
            <a:off x="7315200" y="2335974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2354262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시스템 선 처리 (범위: 어플리케이션 그룹)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2592005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처리 범위: 어플리케이션 그룹</a:t>
            </a:r>
            <a:br>
              <a:rPr sz="860"/>
            </a:br>
            <a:r>
              <a:rPr sz="860"/>
              <a:t>• 시스템 자원 할당, 거래 통제, 입력 로그 처리</a:t>
            </a:r>
          </a:p>
        </p:txBody>
      </p:sp>
      <p:sp>
        <p:nvSpPr>
          <p:cNvPr id="51" name="Oval 50"/>
          <p:cNvSpPr/>
          <p:nvPr/>
        </p:nvSpPr>
        <p:spPr>
          <a:xfrm>
            <a:off x="7315200" y="2902902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4112" y="2921190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공통 선 처리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8" y="3158934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처리 범위: 어플리케이션</a:t>
            </a:r>
            <a:br>
              <a:rPr sz="860"/>
            </a:br>
            <a:r>
              <a:rPr sz="860"/>
              <a:t>• 공통 업무 담당자가 공통 영역 로직 구현</a:t>
            </a:r>
          </a:p>
        </p:txBody>
      </p:sp>
      <p:sp>
        <p:nvSpPr>
          <p:cNvPr id="54" name="Oval 53"/>
          <p:cNvSpPr/>
          <p:nvPr/>
        </p:nvSpPr>
        <p:spPr>
          <a:xfrm>
            <a:off x="7315200" y="3469830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4112" y="3488118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업무 선 처리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73568" y="3725862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처리 범위: 서비스 ID (Controller 내 서비스 메서드)</a:t>
            </a:r>
            <a:br>
              <a:rPr sz="860"/>
            </a:br>
            <a:r>
              <a:rPr sz="860"/>
              <a:t>• 개별 업무 담당자가 공통 로직(필요 시) 구현</a:t>
            </a:r>
          </a:p>
        </p:txBody>
      </p:sp>
      <p:sp>
        <p:nvSpPr>
          <p:cNvPr id="57" name="Oval 56"/>
          <p:cNvSpPr/>
          <p:nvPr/>
        </p:nvSpPr>
        <p:spPr>
          <a:xfrm>
            <a:off x="7315200" y="4036758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4112" y="4055046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업무 본 처리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8" y="4292790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서비스ID: 컨트롤러 메소드 = 1:1</a:t>
            </a:r>
            <a:br>
              <a:rPr sz="860"/>
            </a:br>
            <a:r>
              <a:rPr sz="860"/>
              <a:t>• 업무 거래 처리, 거래 메인 처리 흐름 제어</a:t>
            </a:r>
            <a:br>
              <a:rPr sz="860"/>
            </a:br>
            <a:r>
              <a:rPr sz="860"/>
              <a:t>• 업무 처리를 위한 Biz 로직을 0~n개 호출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0" y="4603686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4112" y="4621973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Biz 로직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73568" y="4859718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업무 처리를 위한 Biz 로직 구현체(Service Class)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0" y="5170614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4112" y="5188902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업무 후 처리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73568" y="5426646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처리 범위: 서비스 ID (Controller 내 서비스 메서드)</a:t>
            </a:r>
            <a:br>
              <a:rPr sz="860"/>
            </a:br>
            <a:r>
              <a:rPr sz="860"/>
              <a:t>• 업무 처리 수행 후 필수처리요건에 대한 검증 등을 수행</a:t>
            </a:r>
          </a:p>
        </p:txBody>
      </p:sp>
      <p:sp>
        <p:nvSpPr>
          <p:cNvPr id="66" name="Oval 65"/>
          <p:cNvSpPr/>
          <p:nvPr/>
        </p:nvSpPr>
        <p:spPr>
          <a:xfrm>
            <a:off x="7315200" y="5737542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4112" y="5755830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공통 후 처리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73568" y="5993574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처리 범위: 어플리케이션</a:t>
            </a:r>
            <a:br>
              <a:rPr sz="860"/>
            </a:br>
            <a:r>
              <a:rPr sz="860"/>
              <a:t>• 업무 처리 수행 후 필수처리요건에 대한 검증 등을 수행</a:t>
            </a:r>
          </a:p>
        </p:txBody>
      </p:sp>
      <p:sp>
        <p:nvSpPr>
          <p:cNvPr id="69" name="Oval 68"/>
          <p:cNvSpPr/>
          <p:nvPr/>
        </p:nvSpPr>
        <p:spPr>
          <a:xfrm>
            <a:off x="7315200" y="6304470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4112" y="6322758"/>
            <a:ext cx="347472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시스템 후 처리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73568" y="6560502"/>
            <a:ext cx="333756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defRPr sz="860" b="0">
                <a:solidFill>
                  <a:srgbClr val="242424"/>
                </a:solidFill>
                <a:latin typeface="Malgun Gothic"/>
              </a:defRPr>
            </a:pPr>
            <a:r>
              <a:rPr sz="860"/>
              <a:t>• 처리 범위: 어플리케이션 그룹</a:t>
            </a:r>
            <a:br>
              <a:rPr sz="860"/>
            </a:br>
            <a:r>
              <a:rPr sz="860"/>
              <a:t>• Commit/Rollback, 출력 조립, 출력 로그, 시스템 자원 해제</a:t>
            </a:r>
          </a:p>
        </p:txBody>
      </p:sp>
    </p:spTree>
    <p:extLst>
      <p:ext uri="{BB962C8B-B14F-4D97-AF65-F5344CB8AC3E}">
        <p14:creationId xmlns:p14="http://schemas.microsoft.com/office/powerpoint/2010/main" val="19451053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[Backup] 선/후 처리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2761488" y="1458150"/>
            <a:ext cx="4590288" cy="5349240"/>
          </a:xfrm>
          <a:prstGeom prst="rect">
            <a:avLst/>
          </a:prstGeom>
          <a:solidFill>
            <a:srgbClr val="DCEFE4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어플리케이션 그룹 (대구분)</a:t>
            </a:r>
            <a:br/>
            <a:r>
              <a:t>(예: MP = 마케팅 플랫폼)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2427414"/>
            <a:ext cx="3803904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어플리케이션 (업무구분)</a:t>
            </a:r>
            <a:br/>
            <a:r>
              <a:t>(예. CM=캠페인)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3067494"/>
            <a:ext cx="219456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기능 (세부업무구분)</a:t>
            </a:r>
            <a:br>
              <a:rPr sz="1600"/>
            </a:br>
            <a:r>
              <a:rPr sz="1600"/>
              <a:t>(예. A 업무)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524694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5232" y="3524694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027614"/>
            <a:ext cx="777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4027614"/>
            <a:ext cx="777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4713414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DAO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13832" y="4713414"/>
            <a:ext cx="640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DAO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262054"/>
            <a:ext cx="11887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TB_MPCMA*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1366710"/>
            <a:ext cx="5623560" cy="5623560"/>
          </a:xfrm>
          <a:prstGeom prst="roundRect">
            <a:avLst/>
          </a:prstGeom>
          <a:noFill/>
          <a:ln w="2794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99232" y="2153094"/>
            <a:ext cx="4480560" cy="3858768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13048" y="2784030"/>
            <a:ext cx="2596896" cy="2834640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863022"/>
            <a:ext cx="10058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[마케팅플랫폼]</a:t>
            </a:r>
            <a:br/>
            <a:r>
              <a:t>시스템</a:t>
            </a:r>
            <a:br/>
            <a:r>
              <a:t>선/후처리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817302"/>
            <a:ext cx="9144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[캠페인]</a:t>
            </a:r>
            <a:br/>
            <a:r>
              <a:t>공통</a:t>
            </a:r>
            <a:br/>
            <a:r>
              <a:t>선/후처리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725862"/>
            <a:ext cx="54864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업무</a:t>
            </a:r>
            <a:br/>
            <a:r>
              <a:t>선/후처리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93808" y="1458150"/>
            <a:ext cx="2176272" cy="5349240"/>
          </a:xfrm>
          <a:prstGeom prst="rect">
            <a:avLst/>
          </a:prstGeom>
          <a:solidFill>
            <a:srgbClr val="DCEFE4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Malgun Gothic"/>
              </a:defRPr>
            </a:pPr>
            <a:r>
              <a:rPr sz="1700"/>
              <a:t>어플리케이션 그룹</a:t>
            </a:r>
            <a:br>
              <a:rPr sz="1700"/>
            </a:br>
            <a:r>
              <a:rPr sz="1700"/>
              <a:t>(예: BL = BI 포탈)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68128" y="2372551"/>
            <a:ext cx="1645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어플리케이션</a:t>
            </a:r>
            <a:br>
              <a:rPr sz="1600"/>
            </a:br>
            <a:r>
              <a:rPr sz="1600"/>
              <a:t>(예. CR = 신용실적)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9880" y="2948622"/>
            <a:ext cx="1051560" cy="2697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기능</a:t>
            </a:r>
            <a:br>
              <a:rPr sz="1400"/>
            </a:br>
            <a:r>
              <a:rPr sz="1400"/>
              <a:t>(예. E 업무)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80192" y="3405822"/>
            <a:ext cx="685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1632" y="4201349"/>
            <a:ext cx="4754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26496" y="4841430"/>
            <a:ext cx="3840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DAO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0192" y="5417502"/>
            <a:ext cx="6858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TB_BLCRE*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366710"/>
            <a:ext cx="3319272" cy="5623560"/>
          </a:xfrm>
          <a:prstGeom prst="roundRect">
            <a:avLst/>
          </a:prstGeom>
          <a:noFill/>
          <a:ln w="2794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01200" y="2125662"/>
            <a:ext cx="2340864" cy="4251960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78440" y="2720022"/>
            <a:ext cx="1371600" cy="3154680"/>
          </a:xfrm>
          <a:prstGeom prst="roundRect">
            <a:avLst/>
          </a:prstGeom>
          <a:noFill/>
          <a:ln w="2540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3863022"/>
            <a:ext cx="73152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[BI포탈]</a:t>
            </a:r>
            <a:br/>
            <a:r>
              <a:t>시스템</a:t>
            </a:r>
            <a:br/>
            <a:r>
              <a:t>선/후처리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71582"/>
            <a:ext cx="82296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[신용실적]</a:t>
            </a:r>
            <a:br/>
            <a:r>
              <a:t>공통</a:t>
            </a:r>
            <a:br/>
            <a:r>
              <a:t>선/후처리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3725862"/>
            <a:ext cx="50292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업무</a:t>
            </a:r>
            <a:br/>
            <a:r>
              <a:t>선/후처리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- 125 -</a:t>
            </a:r>
          </a:p>
        </p:txBody>
      </p:sp>
    </p:spTree>
    <p:extLst>
      <p:ext uri="{BB962C8B-B14F-4D97-AF65-F5344CB8AC3E}">
        <p14:creationId xmlns:p14="http://schemas.microsoft.com/office/powerpoint/2010/main" val="268181641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호출 구조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256032" y="1458151"/>
            <a:ext cx="9829800" cy="3749039"/>
          </a:xfrm>
          <a:prstGeom prst="rect">
            <a:avLst/>
          </a:prstGeom>
          <a:solidFill>
            <a:srgbClr val="DCEFE4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Malgun Gothic"/>
              </a:defRPr>
            </a:pPr>
            <a:r>
              <a:rPr sz="1700"/>
              <a:t>어플리케이션 그룹 (대구분)</a:t>
            </a:r>
            <a:br>
              <a:rPr sz="1700"/>
            </a:br>
            <a:r>
              <a:rPr sz="1700"/>
              <a:t>(예: MP = 마케팅 플랫폼)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0" y="1458151"/>
            <a:ext cx="1627632" cy="3749039"/>
          </a:xfrm>
          <a:prstGeom prst="rect">
            <a:avLst/>
          </a:prstGeom>
          <a:solidFill>
            <a:srgbClr val="DCEFE4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어플리케이션 그룹</a:t>
            </a:r>
            <a:br>
              <a:rPr sz="1600"/>
            </a:br>
            <a:r>
              <a:rPr sz="1600"/>
              <a:t>(예: BL = BI 포탈)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851342"/>
            <a:ext cx="3794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어플리케이션 (업무구분)</a:t>
            </a:r>
            <a:br>
              <a:rPr sz="1400"/>
            </a:br>
            <a:r>
              <a:rPr sz="1400"/>
              <a:t>(예. CM=캠페인)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851342"/>
            <a:ext cx="1554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업무공통</a:t>
            </a:r>
            <a:br>
              <a:rPr sz="1300"/>
            </a:br>
            <a:r>
              <a:rPr sz="1300"/>
              <a:t>유틸리티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851342"/>
            <a:ext cx="15361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어플리케이션</a:t>
            </a:r>
            <a:br>
              <a:rPr sz="1300"/>
            </a:br>
            <a:r>
              <a:rPr sz="1300"/>
              <a:t>(예. CO=공통)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71231" y="1851342"/>
            <a:ext cx="2057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어플리케이션</a:t>
            </a:r>
            <a:br>
              <a:rPr sz="1300"/>
            </a:br>
            <a:r>
              <a:rPr sz="1300"/>
              <a:t>(예. MG=메시지)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69880" y="1851342"/>
            <a:ext cx="126187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어플리케이션</a:t>
            </a:r>
            <a:br>
              <a:rPr sz="1200"/>
            </a:br>
            <a:r>
              <a:rPr sz="1200"/>
              <a:t>(예. CR = 신용실적)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54262"/>
            <a:ext cx="1920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기능</a:t>
            </a:r>
            <a:br>
              <a:rPr sz="1300"/>
            </a:br>
            <a:r>
              <a:rPr sz="1300"/>
              <a:t>(예. A 업무)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354262"/>
            <a:ext cx="14173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기능</a:t>
            </a:r>
            <a:br>
              <a:rPr sz="1300"/>
            </a:br>
            <a:r>
              <a:rPr sz="1300"/>
              <a:t>(예. B 업무)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6592" y="2381693"/>
            <a:ext cx="713232" cy="1965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유틸리티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54262"/>
            <a:ext cx="1170432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기능</a:t>
            </a:r>
            <a:br>
              <a:rPr sz="1200"/>
            </a:br>
            <a:r>
              <a:rPr sz="1200"/>
              <a:t>(예. C 업무)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354262"/>
            <a:ext cx="160020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기능</a:t>
            </a:r>
            <a:br>
              <a:rPr sz="1200"/>
            </a:br>
            <a:r>
              <a:rPr sz="1200"/>
              <a:t>(예. D 업무)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354262"/>
            <a:ext cx="978408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기능</a:t>
            </a:r>
            <a:br>
              <a:rPr sz="1100"/>
            </a:br>
            <a:r>
              <a:rPr sz="1100"/>
              <a:t>(예. E 업무)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70173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3360101"/>
            <a:ext cx="9509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" y="3936174"/>
            <a:ext cx="8595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4375086"/>
            <a:ext cx="95097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TB_MPCMA*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16352" y="270173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80944" y="3360101"/>
            <a:ext cx="67665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6664" y="3936174"/>
            <a:ext cx="5852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80944" y="4375086"/>
            <a:ext cx="67665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TB_MPCMB*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8032" y="3012630"/>
            <a:ext cx="548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3752" y="3588702"/>
            <a:ext cx="457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DAO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4018470"/>
            <a:ext cx="5943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TB_MPCOC*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701734"/>
            <a:ext cx="777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9672" y="3360101"/>
            <a:ext cx="44805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3" y="3936174"/>
            <a:ext cx="3566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9672" y="4375086"/>
            <a:ext cx="44805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TB_MPCOC*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270173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1" y="3360101"/>
            <a:ext cx="53949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3" y="3936174"/>
            <a:ext cx="44805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48471" y="4375086"/>
            <a:ext cx="53949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TB_MPMGD*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16768" y="2701734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Controller</a:t>
            </a:r>
            <a:br>
              <a:rPr sz="1100"/>
            </a:br>
            <a:r>
              <a:rPr sz="1100"/>
              <a:t>.method()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81360" y="3360101"/>
            <a:ext cx="32918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27081" y="3936174"/>
            <a:ext cx="23774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81360" y="4375086"/>
            <a:ext cx="329184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TB_BLCRE*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3172968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4882896" y="50974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8183879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10012680" y="2354262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353312" y="3040062"/>
            <a:ext cx="201168" cy="301752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54480" y="3040062"/>
            <a:ext cx="365760" cy="301752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234440" y="3661855"/>
            <a:ext cx="118872" cy="539495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20240" y="3661855"/>
            <a:ext cx="137160" cy="539495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46120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46120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02352" y="3286950"/>
            <a:ext cx="0" cy="301752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02352" y="3844735"/>
            <a:ext cx="0" cy="356615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766560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66560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613648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613648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045952" y="3040062"/>
            <a:ext cx="0" cy="338328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045952" y="3698431"/>
            <a:ext cx="0" cy="502919"/>
          </a:xfrm>
          <a:prstGeom prst="line">
            <a:avLst/>
          </a:prstGeom>
          <a:ln w="1778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920240" y="3286950"/>
            <a:ext cx="3182112" cy="54864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46120" y="3040062"/>
            <a:ext cx="3520440" cy="246888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613648" y="3040062"/>
            <a:ext cx="2432304" cy="246888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766560" y="3040062"/>
            <a:ext cx="1847088" cy="246888"/>
          </a:xfrm>
          <a:prstGeom prst="line">
            <a:avLst/>
          </a:prstGeom>
          <a:ln w="1905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395728" y="328695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356127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84448" y="3799014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96512" y="328695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70448" y="328695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4112" y="345154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4112" y="368014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280" y="418306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68128" y="326866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68128" y="349726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3652710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42032" y="354298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20440" y="4365942"/>
            <a:ext cx="182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4592" y="5508943"/>
            <a:ext cx="4572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호출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" y="5262054"/>
            <a:ext cx="10881360" cy="475488"/>
          </a:xfrm>
          <a:prstGeom prst="rect">
            <a:avLst/>
          </a:prstGeom>
          <a:solidFill>
            <a:srgbClr val="265C43"/>
          </a:solidFill>
          <a:ln w="1270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피호출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기능 내</a:t>
            </a:r>
          </a:p>
        </p:txBody>
      </p:sp>
      <p:sp>
        <p:nvSpPr>
          <p:cNvPr id="81" name="Oval 80"/>
          <p:cNvSpPr/>
          <p:nvPr/>
        </p:nvSpPr>
        <p:spPr>
          <a:xfrm>
            <a:off x="148132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4592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4884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5468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타 기능</a:t>
            </a:r>
          </a:p>
        </p:txBody>
      </p:sp>
      <p:sp>
        <p:nvSpPr>
          <p:cNvPr id="86" name="Oval 85"/>
          <p:cNvSpPr/>
          <p:nvPr/>
        </p:nvSpPr>
        <p:spPr>
          <a:xfrm>
            <a:off x="299008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5468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6052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업무 공통 유틸리티</a:t>
            </a:r>
          </a:p>
        </p:txBody>
      </p:sp>
      <p:sp>
        <p:nvSpPr>
          <p:cNvPr id="91" name="Oval 90"/>
          <p:cNvSpPr/>
          <p:nvPr/>
        </p:nvSpPr>
        <p:spPr>
          <a:xfrm>
            <a:off x="449884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6636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6928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7220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타 어플리케이션</a:t>
            </a:r>
          </a:p>
        </p:txBody>
      </p:sp>
      <p:sp>
        <p:nvSpPr>
          <p:cNvPr id="96" name="Oval 95"/>
          <p:cNvSpPr/>
          <p:nvPr/>
        </p:nvSpPr>
        <p:spPr>
          <a:xfrm>
            <a:off x="600760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7220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7512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7804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80960" y="5737542"/>
            <a:ext cx="1508760" cy="429768"/>
          </a:xfrm>
          <a:prstGeom prst="rect">
            <a:avLst/>
          </a:prstGeom>
          <a:solidFill>
            <a:srgbClr val="2C7B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타 어플리케이션 그룹</a:t>
            </a:r>
          </a:p>
        </p:txBody>
      </p:sp>
      <p:sp>
        <p:nvSpPr>
          <p:cNvPr id="101" name="Oval 100"/>
          <p:cNvSpPr/>
          <p:nvPr/>
        </p:nvSpPr>
        <p:spPr>
          <a:xfrm>
            <a:off x="7516368" y="5591238"/>
            <a:ext cx="310896" cy="310896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8096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Controller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8388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86800" y="6167310"/>
            <a:ext cx="5029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DAO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2960" y="6423342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2960" y="6734238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2960" y="7045134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4592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09" name="TextBox 108"/>
          <p:cNvSpPr txBox="1"/>
          <p:nvPr/>
        </p:nvSpPr>
        <p:spPr>
          <a:xfrm>
            <a:off x="180136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4884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1" name="TextBox 110"/>
          <p:cNvSpPr txBox="1"/>
          <p:nvPr/>
        </p:nvSpPr>
        <p:spPr>
          <a:xfrm>
            <a:off x="230428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65176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3" name="TextBox 112"/>
          <p:cNvSpPr txBox="1"/>
          <p:nvPr/>
        </p:nvSpPr>
        <p:spPr>
          <a:xfrm>
            <a:off x="280720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15468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5" name="TextBox 114"/>
          <p:cNvSpPr txBox="1"/>
          <p:nvPr/>
        </p:nvSpPr>
        <p:spPr>
          <a:xfrm>
            <a:off x="331012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7" name="TextBox 116"/>
          <p:cNvSpPr txBox="1"/>
          <p:nvPr/>
        </p:nvSpPr>
        <p:spPr>
          <a:xfrm>
            <a:off x="381304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6052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19" name="TextBox 118"/>
          <p:cNvSpPr txBox="1"/>
          <p:nvPr/>
        </p:nvSpPr>
        <p:spPr>
          <a:xfrm>
            <a:off x="431596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1" name="TextBox 120"/>
          <p:cNvSpPr txBox="1"/>
          <p:nvPr/>
        </p:nvSpPr>
        <p:spPr>
          <a:xfrm>
            <a:off x="481888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16636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3" name="TextBox 122"/>
          <p:cNvSpPr txBox="1"/>
          <p:nvPr/>
        </p:nvSpPr>
        <p:spPr>
          <a:xfrm>
            <a:off x="532180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6928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5" name="TextBox 124"/>
          <p:cNvSpPr txBox="1"/>
          <p:nvPr/>
        </p:nvSpPr>
        <p:spPr>
          <a:xfrm>
            <a:off x="582472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7" name="TextBox 126"/>
          <p:cNvSpPr txBox="1"/>
          <p:nvPr/>
        </p:nvSpPr>
        <p:spPr>
          <a:xfrm>
            <a:off x="632764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7512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9" name="TextBox 128"/>
          <p:cNvSpPr txBox="1"/>
          <p:nvPr/>
        </p:nvSpPr>
        <p:spPr>
          <a:xfrm>
            <a:off x="683056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17804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1" name="TextBox 130"/>
          <p:cNvSpPr txBox="1"/>
          <p:nvPr/>
        </p:nvSpPr>
        <p:spPr>
          <a:xfrm>
            <a:off x="733348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8096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3" name="TextBox 132"/>
          <p:cNvSpPr txBox="1"/>
          <p:nvPr/>
        </p:nvSpPr>
        <p:spPr>
          <a:xfrm>
            <a:off x="7836408" y="6469062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8388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5" name="TextBox 134"/>
          <p:cNvSpPr txBox="1"/>
          <p:nvPr/>
        </p:nvSpPr>
        <p:spPr>
          <a:xfrm>
            <a:off x="833932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686800" y="6423342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7" name="TextBox 136"/>
          <p:cNvSpPr txBox="1"/>
          <p:nvPr/>
        </p:nvSpPr>
        <p:spPr>
          <a:xfrm>
            <a:off x="8842248" y="6469063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39" name="TextBox 138"/>
          <p:cNvSpPr txBox="1"/>
          <p:nvPr/>
        </p:nvSpPr>
        <p:spPr>
          <a:xfrm>
            <a:off x="180136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4884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1" name="TextBox 140"/>
          <p:cNvSpPr txBox="1"/>
          <p:nvPr/>
        </p:nvSpPr>
        <p:spPr>
          <a:xfrm>
            <a:off x="230428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65176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3" name="TextBox 142"/>
          <p:cNvSpPr txBox="1"/>
          <p:nvPr/>
        </p:nvSpPr>
        <p:spPr>
          <a:xfrm>
            <a:off x="2807208" y="6779958"/>
            <a:ext cx="182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B66D7"/>
                </a:solidFill>
                <a:latin typeface="Malgun Gothic"/>
              </a:defRPr>
            </a:pPr>
            <a:r>
              <a:rPr sz="1600"/>
              <a:t>○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15468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5" name="TextBox 144"/>
          <p:cNvSpPr txBox="1"/>
          <p:nvPr/>
        </p:nvSpPr>
        <p:spPr>
          <a:xfrm>
            <a:off x="331012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65760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7" name="TextBox 146"/>
          <p:cNvSpPr txBox="1"/>
          <p:nvPr/>
        </p:nvSpPr>
        <p:spPr>
          <a:xfrm>
            <a:off x="381304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16052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9" name="TextBox 148"/>
          <p:cNvSpPr txBox="1"/>
          <p:nvPr/>
        </p:nvSpPr>
        <p:spPr>
          <a:xfrm>
            <a:off x="431596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66344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1" name="TextBox 150"/>
          <p:cNvSpPr txBox="1"/>
          <p:nvPr/>
        </p:nvSpPr>
        <p:spPr>
          <a:xfrm>
            <a:off x="481888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16636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3" name="TextBox 152"/>
          <p:cNvSpPr txBox="1"/>
          <p:nvPr/>
        </p:nvSpPr>
        <p:spPr>
          <a:xfrm>
            <a:off x="532180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66928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5" name="TextBox 154"/>
          <p:cNvSpPr txBox="1"/>
          <p:nvPr/>
        </p:nvSpPr>
        <p:spPr>
          <a:xfrm>
            <a:off x="582472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7220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7" name="TextBox 156"/>
          <p:cNvSpPr txBox="1"/>
          <p:nvPr/>
        </p:nvSpPr>
        <p:spPr>
          <a:xfrm>
            <a:off x="632764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67512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59" name="TextBox 158"/>
          <p:cNvSpPr txBox="1"/>
          <p:nvPr/>
        </p:nvSpPr>
        <p:spPr>
          <a:xfrm>
            <a:off x="683056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17804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1" name="TextBox 160"/>
          <p:cNvSpPr txBox="1"/>
          <p:nvPr/>
        </p:nvSpPr>
        <p:spPr>
          <a:xfrm>
            <a:off x="733348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68096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3" name="TextBox 162"/>
          <p:cNvSpPr txBox="1"/>
          <p:nvPr/>
        </p:nvSpPr>
        <p:spPr>
          <a:xfrm>
            <a:off x="783640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18388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5" name="TextBox 164"/>
          <p:cNvSpPr txBox="1"/>
          <p:nvPr/>
        </p:nvSpPr>
        <p:spPr>
          <a:xfrm>
            <a:off x="833932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686800" y="6734238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7" name="TextBox 166"/>
          <p:cNvSpPr txBox="1"/>
          <p:nvPr/>
        </p:nvSpPr>
        <p:spPr>
          <a:xfrm>
            <a:off x="8842248" y="6779959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64592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9" name="TextBox 168"/>
          <p:cNvSpPr txBox="1"/>
          <p:nvPr/>
        </p:nvSpPr>
        <p:spPr>
          <a:xfrm>
            <a:off x="180136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14884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1" name="TextBox 170"/>
          <p:cNvSpPr txBox="1"/>
          <p:nvPr/>
        </p:nvSpPr>
        <p:spPr>
          <a:xfrm>
            <a:off x="230428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65176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3" name="TextBox 172"/>
          <p:cNvSpPr txBox="1"/>
          <p:nvPr/>
        </p:nvSpPr>
        <p:spPr>
          <a:xfrm>
            <a:off x="280720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15468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5" name="TextBox 174"/>
          <p:cNvSpPr txBox="1"/>
          <p:nvPr/>
        </p:nvSpPr>
        <p:spPr>
          <a:xfrm>
            <a:off x="331012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65760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7" name="TextBox 176"/>
          <p:cNvSpPr txBox="1"/>
          <p:nvPr/>
        </p:nvSpPr>
        <p:spPr>
          <a:xfrm>
            <a:off x="381304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16052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79" name="TextBox 178"/>
          <p:cNvSpPr txBox="1"/>
          <p:nvPr/>
        </p:nvSpPr>
        <p:spPr>
          <a:xfrm>
            <a:off x="431596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66344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1" name="TextBox 180"/>
          <p:cNvSpPr txBox="1"/>
          <p:nvPr/>
        </p:nvSpPr>
        <p:spPr>
          <a:xfrm>
            <a:off x="481888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16636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3" name="TextBox 182"/>
          <p:cNvSpPr txBox="1"/>
          <p:nvPr/>
        </p:nvSpPr>
        <p:spPr>
          <a:xfrm>
            <a:off x="532180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66928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5" name="TextBox 184"/>
          <p:cNvSpPr txBox="1"/>
          <p:nvPr/>
        </p:nvSpPr>
        <p:spPr>
          <a:xfrm>
            <a:off x="582472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7220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7" name="TextBox 186"/>
          <p:cNvSpPr txBox="1"/>
          <p:nvPr/>
        </p:nvSpPr>
        <p:spPr>
          <a:xfrm>
            <a:off x="632764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67512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9" name="TextBox 188"/>
          <p:cNvSpPr txBox="1"/>
          <p:nvPr/>
        </p:nvSpPr>
        <p:spPr>
          <a:xfrm>
            <a:off x="683056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17804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1" name="TextBox 190"/>
          <p:cNvSpPr txBox="1"/>
          <p:nvPr/>
        </p:nvSpPr>
        <p:spPr>
          <a:xfrm>
            <a:off x="733348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68096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3" name="TextBox 192"/>
          <p:cNvSpPr txBox="1"/>
          <p:nvPr/>
        </p:nvSpPr>
        <p:spPr>
          <a:xfrm>
            <a:off x="783640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8388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5" name="TextBox 194"/>
          <p:cNvSpPr txBox="1"/>
          <p:nvPr/>
        </p:nvSpPr>
        <p:spPr>
          <a:xfrm>
            <a:off x="833932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686800" y="7045134"/>
            <a:ext cx="502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endParaRPr sz="1100"/>
          </a:p>
        </p:txBody>
      </p:sp>
      <p:sp>
        <p:nvSpPr>
          <p:cNvPr id="197" name="TextBox 196"/>
          <p:cNvSpPr txBox="1"/>
          <p:nvPr/>
        </p:nvSpPr>
        <p:spPr>
          <a:xfrm>
            <a:off x="8842248" y="7090855"/>
            <a:ext cx="182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2828"/>
                </a:solidFill>
                <a:latin typeface="Malgun Gothic"/>
              </a:defRPr>
            </a:pPr>
            <a:r>
              <a:rPr sz="1500"/>
              <a:t>×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- 126 -</a:t>
            </a:r>
          </a:p>
        </p:txBody>
      </p:sp>
    </p:spTree>
    <p:extLst>
      <p:ext uri="{BB962C8B-B14F-4D97-AF65-F5344CB8AC3E}">
        <p14:creationId xmlns:p14="http://schemas.microsoft.com/office/powerpoint/2010/main" val="424924807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도메인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668462"/>
          <a:ext cx="11338560" cy="5571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업무 영역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개발 환경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운영 환경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65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미니 싱글뷰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ms.test.nacf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ms.prod.nacf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http://ms.prod.nacf/ms/{서비스코드}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마케팅 플랫폼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mp.test.nacf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mp.prod.nacf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http://mp.prod.nacf/ic/{서비스코드}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http://mp.prod.nacf/pc/{서비스코드}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http://mp.prod.nacf/bc/{서비스코드}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http://mp.prod.nacf/sa/{서비스코드}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http://mp.prod.nacf/pd/{서비스코드}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http://mp.prod.nacf/cm/{서비스코드}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http://mp.prod.nacf/eb/{서비스코드}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http://mp.prod.nacf/ss/{서비스코드}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http://mp.prod.nacf/cs/{서비스코드}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http://mp.prod.nacf/ct/{서비스코드}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http://mp.prod.nacf/mg/{서비스코드}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신용 실적 (BI포탈)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cr.test.nacf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cr.prod.nacf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http://cr.prod.nacf/</a:t>
                      </a:r>
                    </a:p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http://cr.prod.nacf/cr/{서비스코드}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BI 포탈 (업무 솔루션)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pt.test.nacf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pt.prod.nacf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http://pt.prod.nacf/{솔루션 경로}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Self-BI (업무 솔루션)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sb.test.nacf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sb.prod.nacf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http://sb.prod.nacf/{솔루션 경로}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Malgun Gothic"/>
                        </a:defRPr>
                      </a:pPr>
                      <a:r>
                        <a:t>OLAP (업무 솔루션)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oa.test.nacf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CD5C44"/>
                          </a:solidFill>
                          <a:latin typeface="Malgun Gothic"/>
                        </a:defRPr>
                      </a:pPr>
                      <a:r>
                        <a:t>oa.prod.nacf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• http://oa.prod.nacf/{솔루션 경로}</a:t>
                      </a:r>
                    </a:p>
                  </a:txBody>
                  <a:tcPr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7472" y="6816534"/>
            <a:ext cx="5486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※ 도메인 정책: 농협 중앙회 - “nacf”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971982"/>
            <a:ext cx="60350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※ 도메인 정책 참고자료 : dns_gslb_신청_매뉴얼_v1.5_240312.hwp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- 127 -</a:t>
            </a:r>
          </a:p>
        </p:txBody>
      </p:sp>
    </p:spTree>
    <p:extLst>
      <p:ext uri="{BB962C8B-B14F-4D97-AF65-F5344CB8AC3E}">
        <p14:creationId xmlns:p14="http://schemas.microsoft.com/office/powerpoint/2010/main" val="86292661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22742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99981"/>
            <a:ext cx="713232" cy="4343400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" y="1668462"/>
            <a:ext cx="178308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미니 싱글뷰</a:t>
            </a:r>
            <a:br>
              <a:rPr sz="1600"/>
            </a:br>
            <a:r>
              <a:rPr sz="1600"/>
              <a:t>(통합업무시스템)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1" y="2262823"/>
            <a:ext cx="2057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http://ms.prod.nacf/ms/{서비스코드}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53412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33271" y="2720022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53412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24712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752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9222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65376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24712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87752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1" y="1668462"/>
            <a:ext cx="1874519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마케팅 플랫폼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1" y="2262823"/>
            <a:ext cx="2148839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http://mp.prod.nacf/ic/{서비스코드}</a:t>
            </a:r>
            <a:br>
              <a:rPr sz="1200"/>
            </a:br>
            <a:r>
              <a:rPr sz="1200"/>
              <a:t>http://mp.prod.nacf/pc/{서비스코드}</a:t>
            </a:r>
            <a:br>
              <a:rPr sz="1200"/>
            </a:br>
            <a:r>
              <a:rPr sz="1200"/>
              <a:t>http://mp.prod.nacf/bc/{서비스코드}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92140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26280" y="2720022"/>
            <a:ext cx="2331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92140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1772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8523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35838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17720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마케팅플랫폼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668462"/>
            <a:ext cx="169164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 포탈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262823"/>
            <a:ext cx="19659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http://cr.prod.nacf/cr/{서비스코드}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66860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092440" y="2720022"/>
            <a:ext cx="2148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66860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183879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6919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5139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924544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183879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441166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4914582"/>
            <a:ext cx="1280160" cy="45720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 포탈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5417502"/>
            <a:ext cx="731520" cy="2743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패키지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0672" y="5600383"/>
            <a:ext cx="19202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http://pt.prod.nacf/{패키지 URL}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4297680" y="5536374"/>
            <a:ext cx="1481328" cy="31089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743200" y="5874702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44368" y="6240462"/>
            <a:ext cx="123444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6240462"/>
            <a:ext cx="123444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520440" y="6743382"/>
            <a:ext cx="1124712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749040" y="6743382"/>
            <a:ext cx="1115569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944368" y="6926262"/>
            <a:ext cx="123444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WAS #1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4528" y="6926262"/>
            <a:ext cx="123444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WAS #2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600383"/>
            <a:ext cx="1737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http://oa.prod.nacf/{패키지 URL}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17920" y="5664390"/>
            <a:ext cx="594360" cy="18288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806440" y="5874702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16752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565392" y="6743382"/>
            <a:ext cx="1042416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693409" y="6743382"/>
            <a:ext cx="1033271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016752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WAS #1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05472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WAS #2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600383"/>
            <a:ext cx="2011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http://sb.prod.nacf/{패키지 URL}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0" y="5536374"/>
            <a:ext cx="2743200" cy="31089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686800" y="5874702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15400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20" y="6240462"/>
            <a:ext cx="1143000" cy="5029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436608" y="6743382"/>
            <a:ext cx="1060704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564624" y="6743382"/>
            <a:ext cx="1060704" cy="201168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8915400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WAS #1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04120" y="6926262"/>
            <a:ext cx="1143000" cy="384048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WAS #2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- 128 -</a:t>
            </a:r>
          </a:p>
        </p:txBody>
      </p:sp>
    </p:spTree>
    <p:extLst>
      <p:ext uri="{BB962C8B-B14F-4D97-AF65-F5344CB8AC3E}">
        <p14:creationId xmlns:p14="http://schemas.microsoft.com/office/powerpoint/2010/main" val="345896283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미니 싱글뷰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8462"/>
            <a:ext cx="182880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미니 싱글뷰</a:t>
            </a:r>
            <a:br>
              <a:rPr sz="1600"/>
            </a:br>
            <a:r>
              <a:rPr sz="1600"/>
              <a:t>(통합업무시스템)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28" y="2262823"/>
            <a:ext cx="21031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http://ms.prod.nacf/ms/{서비스코드}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13048" y="2720022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56048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904487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67528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1" y="3954462"/>
            <a:ext cx="1243583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645152" y="3954462"/>
            <a:ext cx="1243584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904487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미니싱글뷰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41648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/ms.war (미니싱글뷰)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/ms.war (미니싱글뷰)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- 129 -</a:t>
            </a:r>
          </a:p>
        </p:txBody>
      </p:sp>
    </p:spTree>
    <p:extLst>
      <p:ext uri="{BB962C8B-B14F-4D97-AF65-F5344CB8AC3E}">
        <p14:creationId xmlns:p14="http://schemas.microsoft.com/office/powerpoint/2010/main" val="4779925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671766"/>
            <a:ext cx="68580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42424"/>
                </a:solidFill>
                <a:latin typeface="Malgun Gothic"/>
              </a:defRPr>
            </a:pPr>
            <a:r>
              <a:rPr sz="2600"/>
              <a:t>마케팅 플랫폼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5DB4"/>
          </a:solidFill>
          <a:ln>
            <a:solidFill>
              <a:srgbClr val="2B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375136" cy="45720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" name="Rectangle 4"/>
          <p:cNvSpPr/>
          <p:nvPr/>
        </p:nvSpPr>
        <p:spPr>
          <a:xfrm>
            <a:off x="201168" y="1513014"/>
            <a:ext cx="658368" cy="603504"/>
          </a:xfrm>
          <a:prstGeom prst="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ctr">
              <a:defRPr sz="1300" b="0">
                <a:solidFill>
                  <a:srgbClr val="FFFFFF"/>
                </a:solidFill>
                <a:latin typeface="Malgun Gothic"/>
              </a:defRPr>
            </a:pPr>
            <a:r>
              <a:rPr sz="1300"/>
              <a:t>사용자</a:t>
            </a:r>
            <a:br>
              <a:rPr sz="1300"/>
            </a:br>
            <a:r>
              <a:rPr sz="1300"/>
              <a:t>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2335974"/>
            <a:ext cx="658368" cy="4526280"/>
          </a:xfrm>
          <a:prstGeom prst="rect">
            <a:avLst/>
          </a:prstGeom>
          <a:solidFill>
            <a:srgbClr val="2C7B4F"/>
          </a:solidFill>
          <a:ln w="1270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내부망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604454"/>
            <a:ext cx="1783080" cy="53035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마케팅 플랫폼</a:t>
            </a:r>
            <a:br>
              <a:rPr sz="1400"/>
            </a:br>
            <a:r>
              <a:rPr sz="1400"/>
              <a:t>(정보 단말)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2244534"/>
            <a:ext cx="1463040" cy="201168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http://mp.prod.nacf/{서비스코드}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582862"/>
            <a:ext cx="3063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242424"/>
                </a:solidFill>
                <a:latin typeface="Malgun Gothic"/>
              </a:defRPr>
            </a:pPr>
            <a:r>
              <a:rPr sz="1400"/>
              <a:t>내부망 L4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38928" y="2134806"/>
            <a:ext cx="0" cy="448056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160520" y="2930334"/>
            <a:ext cx="978408" cy="384048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38928" y="2930334"/>
            <a:ext cx="1033272" cy="384048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154680" y="3314382"/>
            <a:ext cx="1554480" cy="475488"/>
          </a:xfrm>
          <a:prstGeom prst="rect">
            <a:avLst/>
          </a:prstGeom>
          <a:solidFill>
            <a:srgbClr val="E1F1E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Malgun Gothic"/>
              </a:defRPr>
            </a:pPr>
            <a:r>
              <a:rPr sz="1200"/>
              <a:t>마케팅플랫폼</a:t>
            </a:r>
            <a:br>
              <a:rPr sz="1200"/>
            </a:br>
            <a:r>
              <a:rPr sz="12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314382"/>
            <a:ext cx="1554480" cy="475488"/>
          </a:xfrm>
          <a:prstGeom prst="rect">
            <a:avLst/>
          </a:prstGeom>
          <a:solidFill>
            <a:srgbClr val="E1F1E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Malgun Gothic"/>
              </a:defRPr>
            </a:pPr>
            <a:r>
              <a:rPr sz="1200"/>
              <a:t>마케팅플랫폼</a:t>
            </a:r>
            <a:br>
              <a:rPr sz="1200"/>
            </a:br>
            <a:r>
              <a:rPr sz="1200"/>
              <a:t>WEB #2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1" y="4320222"/>
            <a:ext cx="1874519" cy="2423160"/>
          </a:xfrm>
          <a:prstGeom prst="rect">
            <a:avLst/>
          </a:prstGeom>
          <a:solidFill>
            <a:srgbClr val="E1F1E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Malgun Gothic"/>
              </a:defRPr>
            </a:pPr>
            <a:r>
              <a:rPr sz="1200"/>
              <a:t>마케팅플랫폼</a:t>
            </a:r>
            <a:br>
              <a:rPr sz="1200"/>
            </a:br>
            <a:r>
              <a:rPr sz="1200"/>
              <a:t>WAS #1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6392" y="4823142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/ws.war (SSO 인증)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6392" y="4978590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/ic.war (통합고객)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6392" y="5134038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/pc.war (개인고객)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6392" y="5289486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/bc.war (기업고객)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6392" y="5444934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/sa.war (상담 판매)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6392" y="5600382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/pd.war (통합상품)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6392" y="5755830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/cm.war (캠페인)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2" y="5911278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/eb.war (EBM)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36392" y="6066726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/ss.war (영업지원)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36392" y="6222174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/cs.war (CS)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36392" y="6377622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/ct.war (컨텐츠)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36392" y="6533070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/mg.war (메시지)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1" y="4320222"/>
            <a:ext cx="1874519" cy="2423160"/>
          </a:xfrm>
          <a:prstGeom prst="rect">
            <a:avLst/>
          </a:prstGeom>
          <a:solidFill>
            <a:srgbClr val="E1F1E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200" b="1">
                <a:solidFill>
                  <a:srgbClr val="242424"/>
                </a:solidFill>
                <a:latin typeface="Malgun Gothic"/>
              </a:defRPr>
            </a:pPr>
            <a:r>
              <a:rPr sz="1200"/>
              <a:t>마케팅플랫폼</a:t>
            </a:r>
            <a:br>
              <a:rPr sz="1200"/>
            </a:br>
            <a:r>
              <a:rPr sz="1200"/>
              <a:t>WAS #2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823142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/ws.war (SSO 인증)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96712" y="4978590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/ic.war (통합고객)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96712" y="5134038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/pc.war (개인고객)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6712" y="5289486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/bc.war (기업고객)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5444934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/sa.war (상담 판매)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5600382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/pd.war (통합상품)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712" y="5755830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/cm.war (캠페인)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96712" y="5911278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/eb.war (EBM)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96712" y="6066726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/ss.war (영업지원)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96712" y="6222174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/cs.war (CS)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6377622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/ct.war (컨텐츠)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96712" y="6533070"/>
            <a:ext cx="15544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/mg.war (메시지)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931920" y="3789870"/>
            <a:ext cx="1920240" cy="530352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526280" y="3789870"/>
            <a:ext cx="1920240" cy="530352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458200" y="1942782"/>
            <a:ext cx="3246120" cy="470916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4" name="TextBox 43"/>
          <p:cNvSpPr txBox="1"/>
          <p:nvPr/>
        </p:nvSpPr>
        <p:spPr>
          <a:xfrm>
            <a:off x="8641080" y="2125662"/>
            <a:ext cx="2834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http://mp.prod.nacf/ws/{서비스코드}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http://mp.prod.nacf/ic/{서비스코드}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http://mp.prod.nacf/pc/{서비스코드}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http://mp.prod.nacf/bc/{서비스코드}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http://mp.prod.nacf/sa/{서비스코드}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http://mp.prod.nacf/pd/{서비스코드}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http://mp.prod.nacf/cm/{서비스코드}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http://mp.prod.nacf/eb/{서비스코드}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http://mp.prod.nacf/ss/{서비스코드}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http://mp.prod.nacf/cs/{서비스코드}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http://mp.prod.nacf/ct/{서비스코드}</a:t>
            </a:r>
          </a:p>
          <a:p>
            <a:pPr>
              <a:defRPr sz="1019">
                <a:solidFill>
                  <a:srgbClr val="242424"/>
                </a:solidFill>
                <a:latin typeface="Malgun Gothic"/>
              </a:defRPr>
            </a:pPr>
            <a:r>
              <a:rPr sz="1019"/>
              <a:t>• http://mp.prod.nacf/mg/{서비스코드}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6240462"/>
            <a:ext cx="2926080" cy="219456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000" b="1">
                <a:solidFill>
                  <a:srgbClr val="2C7B4F"/>
                </a:solidFill>
                <a:latin typeface="Malgun Gothic"/>
              </a:defRPr>
            </a:pPr>
            <a:r>
              <a:rPr sz="1000"/>
              <a:t>동일 WAR 구성을 WEB/WAS #1, #2에 배치하여 Active-Active 처리</a:t>
            </a:r>
          </a:p>
        </p:txBody>
      </p:sp>
    </p:spTree>
    <p:extLst>
      <p:ext uri="{BB962C8B-B14F-4D97-AF65-F5344CB8AC3E}">
        <p14:creationId xmlns:p14="http://schemas.microsoft.com/office/powerpoint/2010/main" val="13402828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BI 포탈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668462"/>
            <a:ext cx="1783080" cy="50292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BI 포탈</a:t>
            </a:r>
            <a:br>
              <a:rPr sz="1600"/>
            </a:br>
            <a:r>
              <a:rPr sz="1600"/>
              <a:t>(정보 단말)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62823"/>
            <a:ext cx="2057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http://cr.prod.nacf/cr/{서비스코드}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97779" y="2171382"/>
            <a:ext cx="0" cy="54864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977639" y="2720022"/>
            <a:ext cx="2240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내부망 L4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97779" y="30400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69079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3314382"/>
            <a:ext cx="1325880" cy="64008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3" y="3954462"/>
            <a:ext cx="1243583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809745" y="3954462"/>
            <a:ext cx="1243583" cy="457200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069079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4411662"/>
            <a:ext cx="1325880" cy="141732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/ws.war (SSO 인증)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79" y="47957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/ws.war (SSO 인증)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5024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/cr.war (신용실적)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79" y="5024310"/>
            <a:ext cx="10515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/cr.war (신용실적)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- 131 -</a:t>
            </a:r>
          </a:p>
        </p:txBody>
      </p:sp>
    </p:spTree>
    <p:extLst>
      <p:ext uri="{BB962C8B-B14F-4D97-AF65-F5344CB8AC3E}">
        <p14:creationId xmlns:p14="http://schemas.microsoft.com/office/powerpoint/2010/main" val="24083614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5"/>
            <a:ext cx="4206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업무 솔루션 거래 처리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ounded Rectangle 5"/>
          <p:cNvSpPr/>
          <p:nvPr/>
        </p:nvSpPr>
        <p:spPr>
          <a:xfrm>
            <a:off x="146304" y="1604454"/>
            <a:ext cx="713232" cy="603504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rPr sz="1600"/>
              <a:t>사용자</a:t>
            </a:r>
            <a:br>
              <a:rPr sz="1600"/>
            </a:br>
            <a:r>
              <a:rPr sz="1600"/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" y="2381693"/>
            <a:ext cx="713232" cy="4379976"/>
          </a:xfrm>
          <a:prstGeom prst="roundRect">
            <a:avLst/>
          </a:prstGeom>
          <a:solidFill>
            <a:srgbClr val="2C7B4F"/>
          </a:solidFill>
          <a:ln w="6350"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내부망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513014"/>
            <a:ext cx="105156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BI 포탈</a:t>
            </a:r>
            <a:br/>
            <a:r>
              <a:t>(정보 단말)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1897062"/>
            <a:ext cx="1371600" cy="329184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BI포탈 패키지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463991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http://pt.prod.nacf/{패키지 URL}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2226246"/>
            <a:ext cx="0" cy="63093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97280" y="2857182"/>
            <a:ext cx="1773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728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BI포탈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28800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252728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BI포탈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4288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BI포탈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897062"/>
            <a:ext cx="1371600" cy="329184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OLAP 패키지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463991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http://oa.prod.nacf/{패키지 URL}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60" y="2226246"/>
            <a:ext cx="0" cy="63093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07992" y="2857182"/>
            <a:ext cx="1773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OLAP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66360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239512" y="3954462"/>
            <a:ext cx="1024128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663440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OLAP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OLAP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897062"/>
            <a:ext cx="1371600" cy="329184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rPr sz="1500"/>
              <a:t>Self-BI 패키지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463991"/>
            <a:ext cx="1554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http://sb.prod.nacf/{패키지 URL}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0" y="2226246"/>
            <a:ext cx="0" cy="630936"/>
          </a:xfrm>
          <a:prstGeom prst="line">
            <a:avLst/>
          </a:prstGeom>
          <a:ln w="1270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891271" y="2857182"/>
            <a:ext cx="17739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내부망 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360102"/>
            <a:ext cx="1005840" cy="594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Self-BI</a:t>
            </a:r>
            <a:br>
              <a:rPr sz="1400"/>
            </a:br>
            <a:r>
              <a:rPr sz="1400"/>
              <a:t>WEB #2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49641" y="3954462"/>
            <a:ext cx="1024127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622793" y="3954462"/>
            <a:ext cx="1024127" cy="228600"/>
          </a:xfrm>
          <a:prstGeom prst="line">
            <a:avLst/>
          </a:prstGeom>
          <a:ln w="101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046719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Self-BI</a:t>
            </a:r>
            <a:br>
              <a:rPr sz="1600"/>
            </a:br>
            <a:r>
              <a:rPr sz="1600"/>
              <a:t>WAS #1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4183062"/>
            <a:ext cx="1005840" cy="1737360"/>
          </a:xfrm>
          <a:prstGeom prst="rect">
            <a:avLst/>
          </a:prstGeom>
          <a:solidFill>
            <a:srgbClr val="EAF6F0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Self-BI</a:t>
            </a:r>
            <a:br>
              <a:rPr sz="1600"/>
            </a:br>
            <a:r>
              <a:rPr sz="1600"/>
              <a:t>WAS #2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- 132 -</a:t>
            </a:r>
          </a:p>
        </p:txBody>
      </p:sp>
    </p:spTree>
    <p:extLst>
      <p:ext uri="{BB962C8B-B14F-4D97-AF65-F5344CB8AC3E}">
        <p14:creationId xmlns:p14="http://schemas.microsoft.com/office/powerpoint/2010/main" val="278678986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전문 표준화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164592" y="1394142"/>
            <a:ext cx="11612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Malgun Gothic"/>
              </a:defRPr>
            </a:pPr>
            <a:r>
              <a:rPr sz="2000"/>
              <a:t>차세대 정보계 업무 시스템은 표준전문을 기반으로 온라인 거래를 처리하며, 각 연계 시스템 간 거래에 동일하게 적용하고 업무 솔루션 패키지 UI는 예외로 개별 처리함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34222"/>
            <a:ext cx="768096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표준 전문 적용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354263"/>
            <a:ext cx="822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582862"/>
            <a:ext cx="1005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94342"/>
            <a:ext cx="713232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대내 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42982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통합</a:t>
            </a:r>
            <a:br>
              <a:rPr sz="1200"/>
            </a:br>
            <a:r>
              <a:rPr sz="1200"/>
              <a:t>업무 시스템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37342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 단말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13414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Package</a:t>
            </a:r>
            <a:br>
              <a:rPr sz="1200"/>
            </a:br>
            <a:r>
              <a:rPr sz="1200"/>
              <a:t>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417502"/>
            <a:ext cx="749808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대고객 채널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75286"/>
            <a:ext cx="5669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비대면</a:t>
            </a:r>
            <a:br>
              <a:rPr sz="1200"/>
            </a:br>
            <a:r>
              <a:rPr sz="1200"/>
              <a:t>채널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582862"/>
            <a:ext cx="1051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 통합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3286950"/>
            <a:ext cx="6583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82828"/>
                </a:solidFill>
                <a:latin typeface="Malgun Gothic"/>
              </a:defRPr>
            </a:pPr>
            <a:r>
              <a:rPr sz="1300"/>
              <a:t>영업점</a:t>
            </a:r>
            <a:br>
              <a:rPr sz="1300"/>
            </a:br>
            <a:r>
              <a:rPr sz="1300"/>
              <a:t>MCA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5691822"/>
            <a:ext cx="685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MCI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업무 시스템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628582"/>
            <a:ext cx="2057400" cy="3291840"/>
          </a:xfrm>
          <a:prstGeom prst="rect">
            <a:avLst/>
          </a:prstGeom>
          <a:solidFill>
            <a:srgbClr val="DCEFE4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차세대 정보계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994342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82828"/>
                </a:solidFill>
                <a:latin typeface="Malgun Gothic"/>
              </a:defRPr>
            </a:pPr>
            <a:r>
              <a:rPr sz="1700"/>
              <a:t>마케팅 플랫폼</a:t>
            </a:r>
            <a:br>
              <a:rPr sz="1700"/>
            </a:br>
            <a:r>
              <a:rPr sz="1700"/>
              <a:t/>
            </a:r>
            <a:br>
              <a:rPr sz="1700"/>
            </a:br>
            <a:r>
              <a:rPr sz="1700"/>
              <a:t>온라인</a:t>
            </a:r>
            <a:br>
              <a:rPr sz="1700"/>
            </a:br>
            <a:r>
              <a:rPr sz="1700"/>
              <a:t>어플리케이션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457382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0">
                <a:solidFill>
                  <a:srgbClr val="282828"/>
                </a:solidFill>
                <a:latin typeface="Malgun Gothic"/>
              </a:defRPr>
            </a:pPr>
            <a:r>
              <a:rPr sz="1700"/>
              <a:t>BI 포탈</a:t>
            </a:r>
            <a:br>
              <a:rPr sz="1700"/>
            </a:br>
            <a:r>
              <a:rPr sz="1700"/>
              <a:t/>
            </a:r>
            <a:br>
              <a:rPr sz="1700"/>
            </a:br>
            <a:r>
              <a:rPr sz="1700"/>
              <a:t>온라인</a:t>
            </a:r>
            <a:br>
              <a:rPr sz="1700"/>
            </a:br>
            <a:r>
              <a:rPr sz="1700"/>
              <a:t>어플리케이션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354262"/>
            <a:ext cx="914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대내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2582862"/>
            <a:ext cx="1005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3725862"/>
            <a:ext cx="457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API</a:t>
            </a:r>
            <a:br>
              <a:rPr sz="1500"/>
            </a:br>
            <a:r>
              <a:rPr sz="1500"/>
              <a:t>G/W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5188902"/>
            <a:ext cx="457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828"/>
                </a:solidFill>
                <a:latin typeface="Malgun Gothic"/>
              </a:defRPr>
            </a:pPr>
            <a:r>
              <a:rPr sz="1500"/>
              <a:t>GSE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354262"/>
            <a:ext cx="914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연계</a:t>
            </a:r>
            <a:br>
              <a:rPr sz="1400"/>
            </a:br>
            <a:r>
              <a:rPr sz="1400"/>
              <a:t>업무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82862"/>
            <a:ext cx="1325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</a:t>
            </a:r>
            <a:br/>
            <a:r>
              <a:t>업무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6832" y="2948622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계정계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832" y="3332670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2" y="3716718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e 뱅킹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4100765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e 뱅킹</a:t>
            </a:r>
            <a:br>
              <a:rPr sz="1100"/>
            </a:br>
            <a:r>
              <a:rPr sz="1100"/>
              <a:t>정보계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6832" y="4484814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카드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56832" y="4868862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카드</a:t>
            </a:r>
            <a:br>
              <a:rPr sz="1100"/>
            </a:br>
            <a:r>
              <a:rPr sz="1100"/>
              <a:t>정보계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6832" y="5252910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은행(법인)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56832" y="5636958"/>
            <a:ext cx="8046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경제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78992" y="3771582"/>
            <a:ext cx="521208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5568" y="3634422"/>
            <a:ext cx="502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FLAT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31720" y="3771582"/>
            <a:ext cx="82296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31720" y="3588702"/>
            <a:ext cx="548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51560" y="4338510"/>
            <a:ext cx="210312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38528" y="4183062"/>
            <a:ext cx="6400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51560" y="6176454"/>
            <a:ext cx="54864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86000" y="6176454"/>
            <a:ext cx="86868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304288" y="5966142"/>
            <a:ext cx="548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572000" y="4137342"/>
            <a:ext cx="868680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617720" y="3954462"/>
            <a:ext cx="548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  <a:br>
              <a:rPr sz="1000"/>
            </a:br>
            <a:r>
              <a:rPr sz="1000"/>
              <a:t>json/http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897880" y="4137342"/>
            <a:ext cx="758952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61888" y="3954462"/>
            <a:ext cx="548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5897880" y="5600382"/>
            <a:ext cx="758952" cy="0"/>
          </a:xfrm>
          <a:prstGeom prst="line">
            <a:avLst/>
          </a:prstGeom>
          <a:ln w="2286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61888" y="5435790"/>
            <a:ext cx="548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표준전문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5435790"/>
            <a:ext cx="411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FLAT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2308542"/>
            <a:ext cx="1645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82828"/>
                </a:solidFill>
                <a:latin typeface="Malgun Gothic"/>
              </a:defRPr>
            </a:pPr>
            <a:r>
              <a:rPr sz="2000"/>
              <a:t>표준화 내용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20" y="2646870"/>
            <a:ext cx="3063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6" name="TextBox 55"/>
          <p:cNvSpPr txBox="1"/>
          <p:nvPr/>
        </p:nvSpPr>
        <p:spPr>
          <a:xfrm>
            <a:off x="8915400" y="2857183"/>
            <a:ext cx="2743200" cy="38164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차세대 정보계는 표준전문을 적용함</a:t>
            </a:r>
            <a:br>
              <a:rPr sz="1100"/>
            </a:br>
            <a:r>
              <a:rPr sz="1100"/>
              <a:t>(단, 업무솔루션 패키지 화면은 예외)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정보단말 거래</a:t>
            </a:r>
            <a:br>
              <a:rPr sz="1100"/>
            </a:br>
            <a:r>
              <a:rPr sz="1100"/>
              <a:t>✓ 표준 전문 기반 거래 처리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영업점 MCA 연계</a:t>
            </a:r>
            <a:br>
              <a:rPr sz="1100"/>
            </a:br>
            <a:r>
              <a:rPr sz="1100"/>
              <a:t>✓ 통합업무시스템 → 영업점MCA → 차세대 정보계 AP</a:t>
            </a:r>
            <a:br>
              <a:rPr sz="1100"/>
            </a:br>
            <a:r>
              <a:rPr sz="1100"/>
              <a:t>  (마케팅 플랫폼 싱글뷰 거래)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MCI 연계</a:t>
            </a:r>
            <a:br>
              <a:rPr sz="1100"/>
            </a:br>
            <a:r>
              <a:rPr sz="1100"/>
              <a:t>✓ 비대면 채널 → MCI → 차세대 정보계 AP</a:t>
            </a:r>
            <a:br>
              <a:rPr sz="1100"/>
            </a:br>
            <a:r>
              <a:rPr sz="1100"/>
              <a:t>  (영업점 방문 예약, 실시간 이용 내역 조회)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API G/W (CruzAPIM) 연계</a:t>
            </a:r>
            <a:br>
              <a:rPr sz="1100"/>
            </a:br>
            <a:r>
              <a:rPr sz="1100"/>
              <a:t>✓ 차세대 정보계 AP와 대내 업무 AP 간 IN-bound,</a:t>
            </a:r>
            <a:br>
              <a:rPr sz="1100"/>
            </a:br>
            <a:r>
              <a:rPr sz="1100"/>
              <a:t>  OUT-bound 연계 거래</a:t>
            </a:r>
            <a:br>
              <a:rPr sz="1100"/>
            </a:br>
            <a:r>
              <a:rPr sz="1100"/>
              <a:t>✓ API G/W 단독 연계 또는 API G/W ↔ EAI 경유 거래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GSE 연계</a:t>
            </a:r>
            <a:br>
              <a:rPr sz="1100"/>
            </a:br>
            <a:r>
              <a:rPr sz="1100"/>
              <a:t>✓ 은행 (법인) 클릭폰 업무 요청 거래 처리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- 133 -</a:t>
            </a:r>
          </a:p>
        </p:txBody>
      </p:sp>
    </p:spTree>
    <p:extLst>
      <p:ext uri="{BB962C8B-B14F-4D97-AF65-F5344CB8AC3E}">
        <p14:creationId xmlns:p14="http://schemas.microsoft.com/office/powerpoint/2010/main" val="236274589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GUID 관리 체계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164592" y="1394142"/>
            <a:ext cx="1161288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Malgun Gothic"/>
              </a:defRPr>
            </a:pPr>
            <a:r>
              <a:rPr sz="1900"/>
              <a:t>차세대 정보계 업무 시스템이 표준전문을 기반으로 온라인 거래 처리함으로써, GUID를 노드 간 진행 일련번호 증가 구현에 따라 End To End 거래 추적 기반을 구축함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34222"/>
            <a:ext cx="768096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GUID 적용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354263"/>
            <a:ext cx="1188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채널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54263"/>
            <a:ext cx="2011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차세대 정보계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354262"/>
            <a:ext cx="1097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대내</a:t>
            </a:r>
            <a:br>
              <a:rPr sz="1400"/>
            </a:br>
            <a:r>
              <a:rPr sz="1400"/>
              <a:t>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4262"/>
            <a:ext cx="13258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연계</a:t>
            </a:r>
            <a:br>
              <a:rPr sz="1400"/>
            </a:br>
            <a:r>
              <a:rPr sz="1400"/>
              <a:t>업무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582862"/>
            <a:ext cx="1005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582862"/>
            <a:ext cx="1051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 통합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628582"/>
            <a:ext cx="1920240" cy="3337560"/>
          </a:xfrm>
          <a:prstGeom prst="rect">
            <a:avLst/>
          </a:prstGeom>
          <a:solidFill>
            <a:srgbClr val="DCEFE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차세대 정보계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582862"/>
            <a:ext cx="1005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 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82862"/>
            <a:ext cx="1325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대내</a:t>
            </a:r>
            <a:br/>
            <a:r>
              <a:t>업무 시스템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4183062"/>
            <a:ext cx="5943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정보 단말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777422"/>
            <a:ext cx="5943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Package</a:t>
            </a:r>
            <a:br>
              <a:rPr sz="1200"/>
            </a:br>
            <a:r>
              <a:rPr sz="1200"/>
              <a:t>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3954462"/>
            <a:ext cx="365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API</a:t>
            </a:r>
            <a:br>
              <a:rPr sz="1400"/>
            </a:br>
            <a:r>
              <a:rPr sz="1400"/>
              <a:t>G/W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0040" y="3222942"/>
            <a:ext cx="7086600" cy="2971800"/>
          </a:xfrm>
          <a:prstGeom prst="rightArrow">
            <a:avLst/>
          </a:prstGeom>
          <a:solidFill>
            <a:srgbClr val="EBE5A7"/>
          </a:solidFill>
          <a:ln>
            <a:solidFill>
              <a:srgbClr val="CCC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1560" y="3314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1207007" y="3515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7007" y="3341813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314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2898648" y="3515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98648" y="3341813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314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4818888" y="3515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8888" y="3341813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457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6510528" y="4658549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0528" y="448481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555466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4727448" y="575583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7448" y="558209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600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3081528" y="5801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1528" y="562781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5600382"/>
            <a:ext cx="1024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1" name="Rectangle 40"/>
          <p:cNvSpPr/>
          <p:nvPr/>
        </p:nvSpPr>
        <p:spPr>
          <a:xfrm>
            <a:off x="1024127" y="5801550"/>
            <a:ext cx="713232" cy="256032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r>
              <a:rPr sz="1000"/>
              <a:t>GUID</a:t>
            </a:r>
            <a:br>
              <a:rPr sz="1000"/>
            </a:br>
            <a:r>
              <a:rPr sz="1000"/>
              <a:t>진행번호: 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7" y="5627814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표준전문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308542"/>
            <a:ext cx="1645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82828"/>
                </a:solidFill>
                <a:latin typeface="Malgun Gothic"/>
              </a:defRPr>
            </a:pPr>
            <a:r>
              <a:rPr sz="2000"/>
              <a:t>표준화 내용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2646870"/>
            <a:ext cx="2880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9006840" y="2884615"/>
            <a:ext cx="2606040" cy="313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차세대 정보계는 온라인 거래 처리의 시스템 노드간 식별자를 표준전문 내 GUID를 적용하여 처리함</a:t>
            </a:r>
            <a:br>
              <a:rPr sz="1100"/>
            </a:br>
            <a:r>
              <a:rPr sz="1100"/>
              <a:t>(단, 업무솔루션 패키지 화면은 예외)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채널 시스템은 최초 거래 시작 시 표준전문에 GUID 항목을 규칙에 맞게 설정해서 거래를 요청함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정보계 단말 (WebTopSuit)과 업무 시스템 프레임워크 (NH Cloud Framework)는 표준전문의 GUID 생성 처리 규칙에 따라 처리를 구현함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노드를 경유할 때 표준전문 내 GUID의 진행일련번호의 식별자(“진행상황”)를 +1 증가시켜 다음 노드에 전달함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각 시스템별로 기록된 표준전문 로그에서 “원거래글로벌ID” 항목을 거래의 유일한 식별자로 조회함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- 134 -</a:t>
            </a:r>
          </a:p>
        </p:txBody>
      </p:sp>
    </p:spTree>
    <p:extLst>
      <p:ext uri="{BB962C8B-B14F-4D97-AF65-F5344CB8AC3E}">
        <p14:creationId xmlns:p14="http://schemas.microsoft.com/office/powerpoint/2010/main" val="25953701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598614"/>
            <a:ext cx="4206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82828"/>
                </a:solidFill>
                <a:latin typeface="Malgun Gothic"/>
              </a:defRPr>
            </a:pPr>
            <a:r>
              <a:rPr sz="2800"/>
              <a:t>캐릭터 셋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1262"/>
            <a:ext cx="804672" cy="27432"/>
          </a:xfrm>
          <a:prstGeom prst="rect">
            <a:avLst/>
          </a:prstGeom>
          <a:solidFill>
            <a:srgbClr val="335999"/>
          </a:solidFill>
          <a:ln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804672" y="1211262"/>
            <a:ext cx="301752" cy="27432"/>
          </a:xfrm>
          <a:prstGeom prst="rect">
            <a:avLst/>
          </a:prstGeom>
          <a:solidFill>
            <a:srgbClr val="A2BA45"/>
          </a:solidFill>
          <a:ln>
            <a:solidFill>
              <a:srgbClr val="A2B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1106424" y="1211262"/>
            <a:ext cx="11064240" cy="27432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164592" y="1394142"/>
            <a:ext cx="116128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Malgun Gothic"/>
              </a:defRPr>
            </a:pPr>
            <a:r>
              <a:rPr sz="2000"/>
              <a:t>차세대 정보계 시스템의 캐릭터 셋은 채널과 업무 시스템은 “UTF-8”, ADW와 RDW 데이터 베이스를 “MS949”를 기준으로 정의함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34222"/>
            <a:ext cx="7680960" cy="365760"/>
          </a:xfrm>
          <a:prstGeom prst="rect">
            <a:avLst/>
          </a:prstGeom>
          <a:solidFill>
            <a:srgbClr val="265C43"/>
          </a:solidFill>
          <a:ln w="6350">
            <a:solidFill>
              <a:srgbClr val="26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rPr sz="1700"/>
              <a:t>캐릭터 셋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91422"/>
            <a:ext cx="1828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012630"/>
            <a:ext cx="1225296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정보 단말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3680142"/>
            <a:ext cx="777240" cy="384048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713414"/>
            <a:ext cx="1225296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Package</a:t>
            </a:r>
            <a:br>
              <a:rPr sz="1600"/>
            </a:br>
            <a:r>
              <a:rPr sz="1600"/>
              <a:t>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5390070"/>
            <a:ext cx="777240" cy="384048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491422"/>
            <a:ext cx="22402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차세대 정보계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012630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마케팅 플랫폼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3469830"/>
            <a:ext cx="822960" cy="36576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4137342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신용실적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4594542"/>
            <a:ext cx="822960" cy="36576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5234622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82828"/>
                </a:solidFill>
                <a:latin typeface="Malgun Gothic"/>
              </a:defRPr>
            </a:pPr>
            <a:r>
              <a:rPr sz="1400"/>
              <a:t>업무 솔루션</a:t>
            </a:r>
            <a:br>
              <a:rPr sz="1400"/>
            </a:br>
            <a:r>
              <a:rPr sz="1400"/>
              <a:t>(BI 포탈, Self-BI,</a:t>
            </a:r>
            <a:br>
              <a:rPr sz="1400"/>
            </a:br>
            <a:r>
              <a:rPr sz="1400"/>
              <a:t>OLAP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5737542"/>
            <a:ext cx="822960" cy="320040"/>
          </a:xfrm>
          <a:prstGeom prst="rect">
            <a:avLst/>
          </a:prstGeom>
          <a:solidFill>
            <a:srgbClr val="E7AB2C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UTF-8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765742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ADW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524694"/>
            <a:ext cx="868680" cy="384048"/>
          </a:xfrm>
          <a:prstGeom prst="rect">
            <a:avLst/>
          </a:prstGeom>
          <a:solidFill>
            <a:srgbClr val="2B66D7"/>
          </a:solidFill>
          <a:ln w="12700"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MS949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777422"/>
            <a:ext cx="1828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RDW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5536374"/>
            <a:ext cx="868680" cy="384048"/>
          </a:xfrm>
          <a:prstGeom prst="rect">
            <a:avLst/>
          </a:prstGeom>
          <a:solidFill>
            <a:srgbClr val="2B66D7"/>
          </a:solidFill>
          <a:ln w="12700">
            <a:solidFill>
              <a:srgbClr val="335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MS949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308542"/>
            <a:ext cx="16459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82828"/>
                </a:solidFill>
                <a:latin typeface="Malgun Gothic"/>
              </a:defRPr>
            </a:pPr>
            <a:r>
              <a:rPr sz="2000"/>
              <a:t>표준화 내용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2646870"/>
            <a:ext cx="2880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9006840" y="2884615"/>
            <a:ext cx="2606040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캐릭터 셋의 정의</a:t>
            </a:r>
            <a:br>
              <a:rPr sz="1100"/>
            </a:br>
            <a:r>
              <a:rPr sz="1100"/>
              <a:t>✓ 차세대 정보계 채널 시스템 캐릭터 셋은 “UTF-8”을 기준으로 함</a:t>
            </a:r>
            <a:br>
              <a:rPr sz="1100"/>
            </a:br>
            <a:r>
              <a:rPr sz="1100"/>
              <a:t>✓ 차세대 정보계 업무 시스템 캐릭터 셋은 “UTF-8”을 기준으로 함</a:t>
            </a:r>
            <a:br>
              <a:rPr sz="1100"/>
            </a:br>
            <a:r>
              <a:rPr sz="1100"/>
              <a:t>✓ ADW, RDW 데이터 베이스 캐릭터 셋은 “MS949”를 기준으로 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데이터 베이스 연계 시 데이터 베이스와 연계하는 시스템에서 데이터 베이스 캐릭터 셋(MS949)에 맞춰 변환 처리를 수행함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API G/W 또는 GSE와 연계하는 경우, 전사 인터페이스 기준에 따라 캐릭터 셋 처리함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6953695"/>
            <a:ext cx="457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14141"/>
                </a:solidFill>
                <a:latin typeface="Malgun Gothic"/>
              </a:defRPr>
            </a:pPr>
            <a:r>
              <a:rPr sz="900"/>
              <a:t>- 135 -</a:t>
            </a:r>
          </a:p>
        </p:txBody>
      </p:sp>
    </p:spTree>
    <p:extLst>
      <p:ext uri="{BB962C8B-B14F-4D97-AF65-F5344CB8AC3E}">
        <p14:creationId xmlns:p14="http://schemas.microsoft.com/office/powerpoint/2010/main" val="215926366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458150"/>
            <a:ext cx="4114800" cy="310896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2200" b="0">
                <a:solidFill>
                  <a:srgbClr val="282828"/>
                </a:solidFill>
                <a:latin typeface="Malgun Gothic"/>
              </a:defRPr>
            </a:pPr>
            <a:r>
              <a:rPr sz="2200"/>
              <a:t>7. 런타임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42198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7.1 업무 처리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4806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7.2 단말 거래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27414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7.3 미니 싱글뷰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20022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600" b="0">
                <a:solidFill>
                  <a:srgbClr val="282828"/>
                </a:solidFill>
                <a:latin typeface="Malgun Gothic"/>
              </a:defRPr>
            </a:pPr>
            <a:r>
              <a:rPr sz="1600"/>
              <a:t>7.4 UMS 고객 통지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012630"/>
            <a:ext cx="4800600" cy="347472"/>
          </a:xfrm>
          <a:prstGeom prst="rect">
            <a:avLst/>
          </a:prstGeom>
          <a:solidFill>
            <a:srgbClr val="DCEFE4"/>
          </a:solidFill>
          <a:ln>
            <a:solidFill>
              <a:srgbClr val="DC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749808" y="3104070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8. 아키텍처 표준화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24694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8.1 어플리케이션 계층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817302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8.2 전문 표준화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09910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8.3 GUID 관리 체계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02518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8.4 캐릭터 셋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31702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8.5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024310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8.6 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316918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8.7 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09526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8.8 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902134"/>
            <a:ext cx="46634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8.9 XX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458150"/>
            <a:ext cx="5266944" cy="347472"/>
          </a:xfrm>
          <a:prstGeom prst="rect">
            <a:avLst/>
          </a:prstGeom>
          <a:solidFill>
            <a:srgbClr val="DCEFE4"/>
          </a:solidFill>
          <a:ln>
            <a:solidFill>
              <a:srgbClr val="DC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6382512" y="1476438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9. 아키텍처 구성 요소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915350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9.1 단말 프레임워크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207958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9.2 온라인 프레임워크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500566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9.3 배치 프레임워크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939478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10. 업무 솔루션 아키텍처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360102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10.1 SELF-BI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652710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10.2 OLAP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945318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10.3 EBM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37925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10.4 데이터 흐름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621974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11. 기타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060886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11.1 시스템 모니터링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353494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11.2 시스템 가용성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646102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11.3 시스템 확장성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938710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11.4 DR 구성 (센터 간 가용성)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6231318"/>
            <a:ext cx="50292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11.5 백업 구성</a:t>
            </a:r>
          </a:p>
        </p:txBody>
      </p:sp>
    </p:spTree>
    <p:extLst>
      <p:ext uri="{BB962C8B-B14F-4D97-AF65-F5344CB8AC3E}">
        <p14:creationId xmlns:p14="http://schemas.microsoft.com/office/powerpoint/2010/main" val="23116054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단말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580326"/>
            <a:ext cx="1371600" cy="20116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9.1 단말 프레임워크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17720" y="3451542"/>
            <a:ext cx="2651760" cy="914400"/>
          </a:xfrm>
          <a:prstGeom prst="rect">
            <a:avLst/>
          </a:prstGeom>
          <a:solidFill>
            <a:srgbClr val="FBFADC"/>
          </a:solidFill>
          <a:ln w="25400">
            <a:solidFill>
              <a:srgbClr val="CD5C4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000" b="0">
                <a:solidFill>
                  <a:srgbClr val="CD5C44"/>
                </a:solidFill>
                <a:latin typeface="Malgun Gothic"/>
              </a:defRPr>
            </a:pPr>
            <a:r>
              <a:rPr sz="3000"/>
              <a:t>New !</a:t>
            </a:r>
          </a:p>
        </p:txBody>
      </p:sp>
    </p:spTree>
    <p:extLst>
      <p:ext uri="{BB962C8B-B14F-4D97-AF65-F5344CB8AC3E}">
        <p14:creationId xmlns:p14="http://schemas.microsoft.com/office/powerpoint/2010/main" val="356000757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671766"/>
            <a:ext cx="68580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42424"/>
                </a:solidFill>
                <a:latin typeface="Malgun Gothic"/>
              </a:defRPr>
            </a:pPr>
            <a:r>
              <a:rPr sz="2600"/>
              <a:t>온라인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616902"/>
            <a:ext cx="2468880" cy="2286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r">
              <a:defRPr sz="1000" b="0">
                <a:solidFill>
                  <a:srgbClr val="242424"/>
                </a:solidFill>
                <a:latin typeface="Malgun Gothic"/>
              </a:defRPr>
            </a:pPr>
            <a:r>
              <a:rPr sz="1000"/>
              <a:t>9.2 온라인 프레임워크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5DB4"/>
          </a:solidFill>
          <a:ln>
            <a:solidFill>
              <a:srgbClr val="2B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" name="Rectangle 4"/>
          <p:cNvSpPr/>
          <p:nvPr/>
        </p:nvSpPr>
        <p:spPr>
          <a:xfrm>
            <a:off x="777241" y="1183830"/>
            <a:ext cx="11412455" cy="45720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6" name="Rectangle 5"/>
          <p:cNvSpPr/>
          <p:nvPr/>
        </p:nvSpPr>
        <p:spPr>
          <a:xfrm>
            <a:off x="1417320" y="1394142"/>
            <a:ext cx="81381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7" name="TextBox 6"/>
          <p:cNvSpPr txBox="1"/>
          <p:nvPr/>
        </p:nvSpPr>
        <p:spPr>
          <a:xfrm>
            <a:off x="3886200" y="1467294"/>
            <a:ext cx="310896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ctr">
              <a:defRPr sz="1800" b="1">
                <a:solidFill>
                  <a:srgbClr val="242424"/>
                </a:solidFill>
                <a:latin typeface="Malgun Gothic"/>
              </a:defRPr>
            </a:pPr>
            <a:r>
              <a:t>NH Cloud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13014"/>
            <a:ext cx="868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9" name="Rectangle 8"/>
          <p:cNvSpPr/>
          <p:nvPr/>
        </p:nvSpPr>
        <p:spPr>
          <a:xfrm>
            <a:off x="182880" y="1513014"/>
            <a:ext cx="86868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3360102"/>
            <a:ext cx="54864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Malgun Gothic"/>
              </a:defRPr>
            </a:pPr>
            <a:r>
              <a:rPr sz="1200"/>
              <a:t>진행</a:t>
            </a:r>
            <a:br>
              <a:rPr sz="1200"/>
            </a:br>
            <a:r>
              <a:rPr sz="1200"/>
              <a:t>단말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1851342"/>
            <a:ext cx="1234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2" name="Rectangle 11"/>
          <p:cNvSpPr/>
          <p:nvPr/>
        </p:nvSpPr>
        <p:spPr>
          <a:xfrm>
            <a:off x="1691640" y="1851342"/>
            <a:ext cx="1234440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851342"/>
            <a:ext cx="1143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4" name="Rectangle 13"/>
          <p:cNvSpPr/>
          <p:nvPr/>
        </p:nvSpPr>
        <p:spPr>
          <a:xfrm>
            <a:off x="3063240" y="1851342"/>
            <a:ext cx="1143000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FWK LIB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851342"/>
            <a:ext cx="1143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6" name="Rectangle 15"/>
          <p:cNvSpPr/>
          <p:nvPr/>
        </p:nvSpPr>
        <p:spPr>
          <a:xfrm>
            <a:off x="4343400" y="1851342"/>
            <a:ext cx="1143000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1851342"/>
            <a:ext cx="1325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" name="Rectangle 17"/>
          <p:cNvSpPr/>
          <p:nvPr/>
        </p:nvSpPr>
        <p:spPr>
          <a:xfrm>
            <a:off x="5650992" y="1851342"/>
            <a:ext cx="1325880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4032" y="1851342"/>
            <a:ext cx="1417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20" name="Rectangle 19"/>
          <p:cNvSpPr/>
          <p:nvPr/>
        </p:nvSpPr>
        <p:spPr>
          <a:xfrm>
            <a:off x="7114032" y="1851342"/>
            <a:ext cx="1417320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DAO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10512" y="2143950"/>
            <a:ext cx="987552" cy="155448"/>
          </a:xfrm>
          <a:prstGeom prst="rect">
            <a:avLst/>
          </a:prstGeom>
          <a:solidFill>
            <a:srgbClr val="F8F3C3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Nhins (업무)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0512" y="2354262"/>
            <a:ext cx="987552" cy="15544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NhFile (파일)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10512" y="2564574"/>
            <a:ext cx="987552" cy="15544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NhRD (레포트)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10512" y="2774886"/>
            <a:ext cx="987552" cy="15544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NhInbound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10512" y="2985198"/>
            <a:ext cx="987552" cy="15544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NhSSO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10512" y="3195510"/>
            <a:ext cx="987552" cy="15544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Nh (Default)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2244534"/>
            <a:ext cx="749808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시스템 선</a:t>
            </a:r>
            <a:br>
              <a:rPr sz="900"/>
            </a:br>
            <a:r>
              <a:rPr sz="900"/>
              <a:t>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2674301"/>
            <a:ext cx="749808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시스템 후</a:t>
            </a:r>
            <a:br>
              <a:rPr sz="900"/>
            </a:br>
            <a:r>
              <a:rPr sz="900"/>
              <a:t>처리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244534"/>
            <a:ext cx="749808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업무 선</a:t>
            </a:r>
            <a:br>
              <a:rPr sz="900"/>
            </a:br>
            <a:r>
              <a:rPr sz="900"/>
              <a:t>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0288" y="2674301"/>
            <a:ext cx="749808" cy="29260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업무 후</a:t>
            </a:r>
            <a:br>
              <a:rPr sz="900"/>
            </a:br>
            <a:r>
              <a:rPr sz="900"/>
              <a:t>처리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2171382"/>
            <a:ext cx="713232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880" b="0">
                <a:solidFill>
                  <a:srgbClr val="242424"/>
                </a:solidFill>
                <a:latin typeface="Malgun Gothic"/>
              </a:defRPr>
            </a:pPr>
            <a:r>
              <a:rPr sz="880"/>
              <a:t>Service</a:t>
            </a:r>
            <a:br>
              <a:rPr sz="880"/>
            </a:br>
            <a:r>
              <a:rPr sz="880"/>
              <a:t>(Biz)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2646870"/>
            <a:ext cx="9144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33" name="Rectangle 32"/>
          <p:cNvSpPr/>
          <p:nvPr/>
        </p:nvSpPr>
        <p:spPr>
          <a:xfrm>
            <a:off x="5852160" y="2646870"/>
            <a:ext cx="914400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8" y="2948622"/>
            <a:ext cx="530352" cy="128016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0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getter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3113214"/>
            <a:ext cx="530352" cy="128016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0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setter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8352" y="2189670"/>
            <a:ext cx="932688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Data 변환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2491422"/>
            <a:ext cx="932688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Mapper 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6912" y="2784030"/>
            <a:ext cx="11155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39" name="Rectangle 38"/>
          <p:cNvSpPr/>
          <p:nvPr/>
        </p:nvSpPr>
        <p:spPr>
          <a:xfrm>
            <a:off x="7296912" y="2784030"/>
            <a:ext cx="1115568" cy="256032"/>
          </a:xfrm>
          <a:prstGeom prst="rect">
            <a:avLst/>
          </a:prstGeom>
          <a:solidFill>
            <a:srgbClr val="2156A6"/>
          </a:solidFill>
          <a:ln w="12700">
            <a:solidFill>
              <a:srgbClr val="21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O-R Mapper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3058350"/>
            <a:ext cx="822960" cy="1188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Query Mapping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3213798"/>
            <a:ext cx="822960" cy="1188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Query Execute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91641" y="3771582"/>
            <a:ext cx="39776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3" name="Rectangle 42"/>
          <p:cNvSpPr/>
          <p:nvPr/>
        </p:nvSpPr>
        <p:spPr>
          <a:xfrm>
            <a:off x="1691641" y="3771582"/>
            <a:ext cx="397763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Config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47088" y="40641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application.yml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90088" y="40641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manifest.yml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33087" y="40641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gradle build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47088" y="42927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log4j2.xml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90088" y="42927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업무 config.yml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33087" y="42927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배포.sh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47088" y="4521390"/>
            <a:ext cx="969264" cy="146304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메시지.yml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91641" y="4493958"/>
            <a:ext cx="3977639" cy="21031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동적 Config Handler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33872" y="3771582"/>
            <a:ext cx="29077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3" name="Rectangle 52"/>
          <p:cNvSpPr/>
          <p:nvPr/>
        </p:nvSpPr>
        <p:spPr>
          <a:xfrm>
            <a:off x="5833872" y="3771582"/>
            <a:ext cx="2907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Library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036758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NH 공통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036758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MIDAS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26679" y="4036758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DTO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4228782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XDataSet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4228782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Spring Boot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26679" y="4228782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File Handle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4420806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Log4j2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4420806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Utility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79" y="4420806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SSO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4612830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모니터링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4612830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암호화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4612830"/>
            <a:ext cx="731520" cy="137160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7500" lnSpcReduction="20000"/>
          </a:bodyPr>
          <a:lstStyle/>
          <a:p>
            <a:pPr algn="ctr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coverage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29800" y="1458150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67" name="Rectangle 66"/>
          <p:cNvSpPr/>
          <p:nvPr/>
        </p:nvSpPr>
        <p:spPr>
          <a:xfrm>
            <a:off x="9829800" y="1458150"/>
            <a:ext cx="160020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Database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3808" y="2244534"/>
            <a:ext cx="14813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0">
                <a:solidFill>
                  <a:srgbClr val="242424"/>
                </a:solidFill>
                <a:latin typeface="Malgun Gothic"/>
              </a:defRPr>
            </a:pPr>
            <a:r>
              <a:rPr sz="1400"/>
              <a:t>FOS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93808" y="2756598"/>
            <a:ext cx="14813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r>
              <a:rPr sz="1100"/>
              <a:t>API G/W</a:t>
            </a:r>
            <a:br>
              <a:rPr sz="1100"/>
            </a:br>
            <a:r>
              <a:rPr sz="1100"/>
              <a:t>(Cruz APIM)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02368" y="3835590"/>
            <a:ext cx="1691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71" name="Rectangle 70"/>
          <p:cNvSpPr/>
          <p:nvPr/>
        </p:nvSpPr>
        <p:spPr>
          <a:xfrm>
            <a:off x="9802368" y="3835590"/>
            <a:ext cx="1691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CI/CD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68128" y="4201349"/>
            <a:ext cx="960120" cy="566928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ctr">
              <a:defRPr sz="1300" b="1">
                <a:solidFill>
                  <a:srgbClr val="242424"/>
                </a:solidFill>
                <a:latin typeface="Malgun Gothic"/>
              </a:defRPr>
            </a:pPr>
            <a:r>
              <a:rPr sz="1300"/>
              <a:t>Jenkins</a:t>
            </a:r>
            <a:br>
              <a:rPr sz="1300"/>
            </a:br>
            <a:r>
              <a:rPr sz="1300"/>
              <a:t>GitLab</a:t>
            </a:r>
            <a:br>
              <a:rPr sz="1300"/>
            </a:br>
            <a:r>
              <a:rPr sz="1300"/>
              <a:t>NEXUS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4592" y="5417502"/>
            <a:ext cx="822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74" name="Rectangle 73"/>
          <p:cNvSpPr/>
          <p:nvPr/>
        </p:nvSpPr>
        <p:spPr>
          <a:xfrm>
            <a:off x="164592" y="5417502"/>
            <a:ext cx="82296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관리자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34440" y="5326062"/>
            <a:ext cx="2148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76" name="Rectangle 75"/>
          <p:cNvSpPr/>
          <p:nvPr/>
        </p:nvSpPr>
        <p:spPr>
          <a:xfrm>
            <a:off x="1234440" y="5326062"/>
            <a:ext cx="2148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Master Solution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63040" y="5966142"/>
            <a:ext cx="484632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Admin</a:t>
            </a:r>
            <a:br>
              <a:rPr sz="850"/>
            </a:br>
            <a:r>
              <a:rPr sz="850"/>
              <a:t>(관리 UI)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84832" y="5966142"/>
            <a:ext cx="484632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10000"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Master</a:t>
            </a:r>
            <a:br>
              <a:rPr sz="850"/>
            </a:br>
            <a:r>
              <a:rPr sz="850"/>
              <a:t>(서버)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6624" y="5966142"/>
            <a:ext cx="484632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850" b="0">
                <a:solidFill>
                  <a:srgbClr val="242424"/>
                </a:solidFill>
                <a:latin typeface="Malgun Gothic"/>
              </a:defRPr>
            </a:pPr>
            <a:r>
              <a:rPr sz="850"/>
              <a:t>DB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5207190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81" name="Rectangle 80"/>
          <p:cNvSpPr/>
          <p:nvPr/>
        </p:nvSpPr>
        <p:spPr>
          <a:xfrm>
            <a:off x="3794760" y="5207190"/>
            <a:ext cx="5440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개발툴 (STS IDE)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51960" y="5527230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NH Cloud Framework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70832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Controller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AOP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38928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Service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22976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DAO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07024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DTO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91072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Mapper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75120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O-R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59168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Config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43216" y="5847270"/>
            <a:ext cx="310896" cy="201168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680" b="0">
                <a:solidFill>
                  <a:srgbClr val="242424"/>
                </a:solidFill>
                <a:latin typeface="Malgun Gothic"/>
              </a:defRPr>
            </a:pPr>
            <a:r>
              <a:rPr sz="680"/>
              <a:t>Library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02368" y="5417502"/>
            <a:ext cx="1691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93" name="Rectangle 92"/>
          <p:cNvSpPr/>
          <p:nvPr/>
        </p:nvSpPr>
        <p:spPr>
          <a:xfrm>
            <a:off x="9802368" y="5417502"/>
            <a:ext cx="1691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Plug-In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12680" y="5664390"/>
            <a:ext cx="1280160" cy="1188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>
              <a:defRPr sz="650" b="0">
                <a:solidFill>
                  <a:srgbClr val="242424"/>
                </a:solidFill>
                <a:latin typeface="Malgun Gothic"/>
              </a:defRPr>
            </a:pPr>
            <a:r>
              <a:rPr sz="650"/>
              <a:t>DTO Plug-In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12680" y="5838126"/>
            <a:ext cx="1280160" cy="1188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>
              <a:defRPr sz="650" b="0">
                <a:solidFill>
                  <a:srgbClr val="242424"/>
                </a:solidFill>
                <a:latin typeface="Malgun Gothic"/>
              </a:defRPr>
            </a:pPr>
            <a:r>
              <a:rPr sz="650"/>
              <a:t>GIT Plug-In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12680" y="6011862"/>
            <a:ext cx="1280160" cy="11887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>
              <a:defRPr sz="650" b="0">
                <a:solidFill>
                  <a:srgbClr val="242424"/>
                </a:solidFill>
                <a:latin typeface="Malgun Gothic"/>
              </a:defRPr>
            </a:pPr>
            <a:r>
              <a:rPr sz="650"/>
              <a:t>BOOT Dashboard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51560" y="3177222"/>
            <a:ext cx="365760" cy="0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741664" y="4274501"/>
            <a:ext cx="1152144" cy="0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834640" y="5883846"/>
            <a:ext cx="960120" cy="0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229600" y="4411662"/>
            <a:ext cx="1572768" cy="1417320"/>
          </a:xfrm>
          <a:prstGeom prst="line">
            <a:avLst/>
          </a:prstGeom>
          <a:ln w="1524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69324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단말 - Application Framework 연계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48422"/>
            <a:ext cx="5943600" cy="274320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UI F/W(xFrame) (↔) 클라우드 프레임워크(Nhins Controller) 연계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42782"/>
            <a:ext cx="23317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320040" y="194278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UI F/W(xFrame)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8542"/>
            <a:ext cx="1920240" cy="347472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xDataSet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674302"/>
            <a:ext cx="18288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XDATASETS : {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header: { version : VERSION_1,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screennno : /POC/aa }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datasets : { id, row_info_arr,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column_info_arr, column_name_arr }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31702"/>
            <a:ext cx="1463040" cy="411480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62054"/>
            <a:ext cx="1463040" cy="411480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sz="1300"/>
              <a:t>PT(Presentation Tier)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942782"/>
            <a:ext cx="5989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Malgun Gothic"/>
              </a:defRPr>
            </a:pPr>
            <a:r>
              <a:t>BT(Business Tier)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244534"/>
            <a:ext cx="30906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3154680" y="2244534"/>
            <a:ext cx="3090672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NHINS Controller(UI F/W 연계)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27414"/>
            <a:ext cx="1554480" cy="146304"/>
          </a:xfrm>
          <a:prstGeom prst="rect">
            <a:avLst/>
          </a:prstGeom>
          <a:noFill/>
        </p:spPr>
        <p:txBody>
          <a:bodyPr wrap="square" anchor="t">
            <a:normAutofit fontScale="40000" lnSpcReduction="20000"/>
          </a:bodyPr>
          <a:lstStyle/>
          <a:p>
            <a:pPr algn="l">
              <a:defRPr sz="1000" b="1">
                <a:solidFill>
                  <a:srgbClr val="CD5C44"/>
                </a:solidFill>
                <a:latin typeface="Malgun Gothic"/>
              </a:defRPr>
            </a:pPr>
            <a:r>
              <a:rPr sz="1000"/>
              <a:t>http://~~~/ins/{ServiceId}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665158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서비스 ID 인식</a:t>
            </a:r>
          </a:p>
        </p:txBody>
      </p:sp>
      <p:sp>
        <p:nvSpPr>
          <p:cNvPr id="17" name="Oval 16"/>
          <p:cNvSpPr/>
          <p:nvPr/>
        </p:nvSpPr>
        <p:spPr>
          <a:xfrm>
            <a:off x="3300984" y="26285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067494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입력전문변환, 셋팅</a:t>
            </a:r>
            <a:br>
              <a:rPr sz="1000"/>
            </a:br>
            <a:r>
              <a:rPr sz="1000"/>
              <a:t>(xDataSet → Map)</a:t>
            </a:r>
          </a:p>
        </p:txBody>
      </p:sp>
      <p:sp>
        <p:nvSpPr>
          <p:cNvPr id="19" name="Oval 18"/>
          <p:cNvSpPr/>
          <p:nvPr/>
        </p:nvSpPr>
        <p:spPr>
          <a:xfrm>
            <a:off x="3300984" y="3030918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469830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Service Context에 Map 저장</a:t>
            </a:r>
          </a:p>
        </p:txBody>
      </p:sp>
      <p:sp>
        <p:nvSpPr>
          <p:cNvPr id="21" name="Oval 20"/>
          <p:cNvSpPr/>
          <p:nvPr/>
        </p:nvSpPr>
        <p:spPr>
          <a:xfrm>
            <a:off x="3300984" y="343325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872166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시스템 선처리/거래제어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665158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서비스 호출</a:t>
            </a:r>
          </a:p>
        </p:txBody>
      </p:sp>
      <p:sp>
        <p:nvSpPr>
          <p:cNvPr id="24" name="Oval 23"/>
          <p:cNvSpPr/>
          <p:nvPr/>
        </p:nvSpPr>
        <p:spPr>
          <a:xfrm>
            <a:off x="4809744" y="26285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067494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시스템 후처리(Exception 처리)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469830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출력전문 변환</a:t>
            </a:r>
            <a:br>
              <a:rPr sz="1000"/>
            </a:br>
            <a:r>
              <a:rPr sz="1000"/>
              <a:t>(Map → xDataSet)</a:t>
            </a:r>
          </a:p>
        </p:txBody>
      </p:sp>
      <p:sp>
        <p:nvSpPr>
          <p:cNvPr id="27" name="Oval 26"/>
          <p:cNvSpPr/>
          <p:nvPr/>
        </p:nvSpPr>
        <p:spPr>
          <a:xfrm>
            <a:off x="4809744" y="343325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872166"/>
            <a:ext cx="1234440" cy="29260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전문 Return</a:t>
            </a:r>
            <a:br>
              <a:rPr sz="1000"/>
            </a:br>
            <a:r>
              <a:rPr sz="1000"/>
              <a:t>(XDataSet)</a:t>
            </a:r>
          </a:p>
        </p:txBody>
      </p:sp>
      <p:sp>
        <p:nvSpPr>
          <p:cNvPr id="29" name="Oval 28"/>
          <p:cNvSpPr/>
          <p:nvPr/>
        </p:nvSpPr>
        <p:spPr>
          <a:xfrm>
            <a:off x="4809744" y="383559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4951158"/>
            <a:ext cx="3090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3154680" y="4951158"/>
            <a:ext cx="3090672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NB Spring 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124894"/>
            <a:ext cx="1463040" cy="146304"/>
          </a:xfrm>
          <a:prstGeom prst="rect">
            <a:avLst/>
          </a:prstGeom>
          <a:noFill/>
        </p:spPr>
        <p:txBody>
          <a:bodyPr wrap="square" anchor="t">
            <a:normAutofit fontScale="40000" lnSpcReduction="20000"/>
          </a:bodyPr>
          <a:lstStyle/>
          <a:p>
            <a:pPr algn="l">
              <a:defRPr sz="1000" b="1">
                <a:solidFill>
                  <a:srgbClr val="CD5C44"/>
                </a:solidFill>
                <a:latin typeface="Malgun Gothic"/>
              </a:defRPr>
            </a:pPr>
            <a:r>
              <a:rPr sz="1000"/>
              <a:t>http://~~~/nb/{ServiceId}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525467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서비스 ID 인식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744923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전문 UnMarshal(Json → DTO)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964379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시스템 선처리/거래제어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1728" y="525467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서비스 호출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1728" y="744923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시스템 후처리(Exception 처리)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1728" y="964379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전문 UnMarshal(DTO → Json)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81728" y="525467"/>
            <a:ext cx="114300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전문 Return</a:t>
            </a:r>
            <a:br>
              <a:rPr sz="800"/>
            </a:br>
            <a:r>
              <a:rPr sz="800"/>
              <a:t>(Json)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207959"/>
            <a:ext cx="2194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1" name="Rectangle 40"/>
          <p:cNvSpPr/>
          <p:nvPr/>
        </p:nvSpPr>
        <p:spPr>
          <a:xfrm>
            <a:off x="6400800" y="2207958"/>
            <a:ext cx="21945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2518854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3" name="Rectangle 42"/>
          <p:cNvSpPr/>
          <p:nvPr/>
        </p:nvSpPr>
        <p:spPr>
          <a:xfrm>
            <a:off x="6629400" y="2518854"/>
            <a:ext cx="178308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Biz Logic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2829750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Service Context 안에 있는</a:t>
            </a:r>
            <a:br>
              <a:rPr sz="900"/>
            </a:br>
            <a:r>
              <a:rPr sz="900"/>
              <a:t>Map 가져오기</a:t>
            </a:r>
          </a:p>
        </p:txBody>
      </p:sp>
      <p:sp>
        <p:nvSpPr>
          <p:cNvPr id="45" name="Oval 44"/>
          <p:cNvSpPr/>
          <p:nvPr/>
        </p:nvSpPr>
        <p:spPr>
          <a:xfrm>
            <a:off x="6693408" y="274745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3250374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Map → DTO Mapping</a:t>
            </a:r>
            <a:br>
              <a:rPr sz="800"/>
            </a:br>
            <a:r>
              <a:rPr sz="800"/>
              <a:t>(각 Column 별로 DTO 생성)</a:t>
            </a:r>
          </a:p>
        </p:txBody>
      </p:sp>
      <p:sp>
        <p:nvSpPr>
          <p:cNvPr id="47" name="Oval 46"/>
          <p:cNvSpPr/>
          <p:nvPr/>
        </p:nvSpPr>
        <p:spPr>
          <a:xfrm>
            <a:off x="6693408" y="317722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3670998"/>
            <a:ext cx="12344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표준전문 생성</a:t>
            </a:r>
            <a:br>
              <a:rPr sz="800"/>
            </a:br>
            <a:r>
              <a:rPr sz="800"/>
              <a:t>(CtoC 통신, EAI 연계 필요시)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3945318"/>
            <a:ext cx="12344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MIDAS 연계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3908742"/>
            <a:ext cx="365760" cy="1828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Json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2399981"/>
            <a:ext cx="278892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52" name="TextBox 51"/>
          <p:cNvSpPr txBox="1"/>
          <p:nvPr/>
        </p:nvSpPr>
        <p:spPr>
          <a:xfrm>
            <a:off x="9189720" y="2491423"/>
            <a:ext cx="2468880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xFrame에서 Nhins Controller로 xDataSet 전달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서비스 ID 인식시 URI 패턴으로 NHINS Controller 호출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입력전문변환(xDataSet → Map)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변환한 Map을 Service Context에 저장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서비스 호출 시 Input DTO는 Dummy 값으로 전달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6. Service Context에 있는 Map을 가져옴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7. Map에 있는 각 컬럼과 DTO를 Mapping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8. Map Return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9. Map → xDataSet으로 변환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10. xDataSet을 xFrame으로 Return</a:t>
            </a:r>
          </a:p>
        </p:txBody>
      </p:sp>
      <p:sp>
        <p:nvSpPr>
          <p:cNvPr id="53" name="Oval 52"/>
          <p:cNvSpPr/>
          <p:nvPr/>
        </p:nvSpPr>
        <p:spPr>
          <a:xfrm>
            <a:off x="2468880" y="28571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651760" y="2994342"/>
            <a:ext cx="502920" cy="0"/>
          </a:xfrm>
          <a:prstGeom prst="line">
            <a:avLst/>
          </a:prstGeom>
          <a:ln w="2540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245352" y="2994342"/>
            <a:ext cx="356616" cy="0"/>
          </a:xfrm>
          <a:prstGeom prst="line">
            <a:avLst/>
          </a:prstGeom>
          <a:ln w="2540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183879" y="35887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2828"/>
                </a:solidFill>
                <a:latin typeface="Malgun Gothic"/>
              </a:defRPr>
            </a:pPr>
            <a:r>
              <a:rPr sz="1100"/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7616" y="3561270"/>
            <a:ext cx="365760" cy="274320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000" b="0">
                <a:solidFill>
                  <a:srgbClr val="CD5C44"/>
                </a:solidFill>
                <a:latin typeface="Malgun Gothic"/>
              </a:defRPr>
            </a:pPr>
            <a:r>
              <a:rPr sz="1000"/>
              <a:t>Map</a:t>
            </a:r>
            <a:br>
              <a:rPr sz="1000"/>
            </a:br>
            <a:r>
              <a:rPr sz="100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84169680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File Upload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348422"/>
            <a:ext cx="8686800" cy="310896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UI F/W(xFrame) (↔) 클라우드 프레임워크(Nhins Controller) 연계간 File Upload 요청을 수행하는</a:t>
            </a:r>
            <a:br/>
            <a:r>
              <a:t>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42782"/>
            <a:ext cx="1737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365760" y="1942782"/>
            <a:ext cx="17373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UI F/W(xFrame)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82862"/>
            <a:ext cx="914400" cy="32004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파일 Upload 요청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3325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433254"/>
            <a:ext cx="91440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파일 및 데이터 전달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897062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2240280" y="1897062"/>
            <a:ext cx="566928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9" y="2153094"/>
            <a:ext cx="2084831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2487169" y="2153094"/>
            <a:ext cx="2084831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NhFileController(Upload)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72550"/>
            <a:ext cx="1463040" cy="137160"/>
          </a:xfrm>
          <a:prstGeom prst="rect">
            <a:avLst/>
          </a:prstGeom>
          <a:noFill/>
        </p:spPr>
        <p:txBody>
          <a:bodyPr wrap="square" anchor="t">
            <a:normAutofit fontScale="32500" lnSpcReduction="20000"/>
          </a:bodyPr>
          <a:lstStyle/>
          <a:p>
            <a:pPr algn="l">
              <a:defRPr sz="1000" b="1">
                <a:solidFill>
                  <a:srgbClr val="CD5C44"/>
                </a:solidFill>
                <a:latin typeface="Malgun Gothic"/>
              </a:defRPr>
            </a:pPr>
            <a:r>
              <a:rPr sz="1000"/>
              <a:t>http://~~~/upload/{serviceId}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61029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서비스 ID 인식</a:t>
            </a:r>
          </a:p>
        </p:txBody>
      </p:sp>
      <p:sp>
        <p:nvSpPr>
          <p:cNvPr id="17" name="Oval 16"/>
          <p:cNvSpPr/>
          <p:nvPr/>
        </p:nvSpPr>
        <p:spPr>
          <a:xfrm>
            <a:off x="2542032" y="256457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18" name="Rectangle 17"/>
          <p:cNvSpPr/>
          <p:nvPr/>
        </p:nvSpPr>
        <p:spPr>
          <a:xfrm>
            <a:off x="2697480" y="302177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선처리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43325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후처리</a:t>
            </a:r>
          </a:p>
        </p:txBody>
      </p:sp>
      <p:sp>
        <p:nvSpPr>
          <p:cNvPr id="20" name="Oval 19"/>
          <p:cNvSpPr/>
          <p:nvPr/>
        </p:nvSpPr>
        <p:spPr>
          <a:xfrm>
            <a:off x="2542032" y="33875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21" name="Rectangle 20"/>
          <p:cNvSpPr/>
          <p:nvPr/>
        </p:nvSpPr>
        <p:spPr>
          <a:xfrm>
            <a:off x="2697480" y="384473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Return</a:t>
            </a:r>
          </a:p>
        </p:txBody>
      </p:sp>
      <p:sp>
        <p:nvSpPr>
          <p:cNvPr id="22" name="Oval 21"/>
          <p:cNvSpPr/>
          <p:nvPr/>
        </p:nvSpPr>
        <p:spPr>
          <a:xfrm>
            <a:off x="2542032" y="379901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23" name="Rectangle 22"/>
          <p:cNvSpPr/>
          <p:nvPr/>
        </p:nvSpPr>
        <p:spPr>
          <a:xfrm>
            <a:off x="4526280" y="2153094"/>
            <a:ext cx="1417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4526280" y="2153094"/>
            <a:ext cx="14173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6592" y="2445702"/>
            <a:ext cx="98755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HTTP Request</a:t>
            </a:r>
            <a:br>
              <a:rPr sz="1000"/>
            </a:br>
            <a:r>
              <a:rPr sz="1000"/>
              <a:t>(Multipart, Body)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829750"/>
            <a:ext cx="98755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Map</a:t>
            </a:r>
            <a:br>
              <a:rPr sz="1000"/>
            </a:br>
            <a:r>
              <a:rPr sz="1000"/>
              <a:t>(List, Body)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3213798"/>
            <a:ext cx="98755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서비스 호출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153094"/>
            <a:ext cx="1417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6144768" y="2153094"/>
            <a:ext cx="14173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463990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Map</a:t>
            </a:r>
            <a:br>
              <a:rPr sz="1000"/>
            </a:br>
            <a:r>
              <a:rPr sz="1000"/>
              <a:t>(List, Body)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84614"/>
            <a:ext cx="8961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File 1</a:t>
            </a:r>
          </a:p>
        </p:txBody>
      </p:sp>
      <p:sp>
        <p:nvSpPr>
          <p:cNvPr id="32" name="Oval 31"/>
          <p:cNvSpPr/>
          <p:nvPr/>
        </p:nvSpPr>
        <p:spPr>
          <a:xfrm>
            <a:off x="6236208" y="278403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6400800" y="3140646"/>
            <a:ext cx="8961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File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96678"/>
            <a:ext cx="8961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File {...n}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52710"/>
            <a:ext cx="8961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Body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1988502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7" name="Rectangle 36"/>
          <p:cNvSpPr/>
          <p:nvPr/>
        </p:nvSpPr>
        <p:spPr>
          <a:xfrm>
            <a:off x="8183879" y="1988502"/>
            <a:ext cx="16002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Object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354262"/>
            <a:ext cx="640080" cy="320040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File 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3250374"/>
            <a:ext cx="1600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0" name="Rectangle 39"/>
          <p:cNvSpPr/>
          <p:nvPr/>
        </p:nvSpPr>
        <p:spPr>
          <a:xfrm>
            <a:off x="8183879" y="3250374"/>
            <a:ext cx="16002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DataBase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320222"/>
            <a:ext cx="9418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475488" y="4576255"/>
            <a:ext cx="921715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UI에서 파일 Upload를 요청합니다.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NhFileController에서 서비스 ID 인식, 시스템 선처리를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 (서비스 ID는 http://~~~/upload/{ServiceId} 형태로 요청합니다.)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요청받은 파일은 HTTP Request Multipart로 담겨있으며 List형태로 변환하여 요청 Body값과 같이 Map에 담습니다.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Service 영역에서는 NhFileController로부터 전달받은 Map에서 파일과 Body부를 꺼냅니다.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FOS에 PUT 하거나 Body 부에 대한 DB 작업을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6. Service 영역에 대한 수행이 완료되면 NhFileController에서 시스템 후처리를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7. UI에 결과 Return시 Upload 성공 / 실패 여부를 String으로 전달합니다.</a:t>
            </a:r>
          </a:p>
        </p:txBody>
      </p:sp>
      <p:sp>
        <p:nvSpPr>
          <p:cNvPr id="43" name="Oval 42"/>
          <p:cNvSpPr/>
          <p:nvPr/>
        </p:nvSpPr>
        <p:spPr>
          <a:xfrm>
            <a:off x="2542032" y="2527998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2542032" y="334181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2542032" y="375329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46" name="Oval 45"/>
          <p:cNvSpPr/>
          <p:nvPr/>
        </p:nvSpPr>
        <p:spPr>
          <a:xfrm>
            <a:off x="4526280" y="282975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699870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File Download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348422"/>
            <a:ext cx="8686800" cy="310896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UI F/W(xFrame) (↔) 클라우드 프레임워크(Nhins Controller) 연계간 File Download 요청을 수행하</a:t>
            </a:r>
            <a:br/>
            <a:r>
              <a:t>는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42782"/>
            <a:ext cx="1737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365760" y="1942782"/>
            <a:ext cx="17373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UI F/W(xFrame)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82862"/>
            <a:ext cx="914400" cy="32004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파일 Download 요청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3325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433254"/>
            <a:ext cx="914400" cy="228600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Download 파일</a:t>
            </a:r>
            <a:br>
              <a:rPr sz="1000"/>
            </a:br>
            <a:r>
              <a:rPr sz="1000"/>
              <a:t>Map 형태 전달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897062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2240280" y="1897062"/>
            <a:ext cx="566928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9" y="2153094"/>
            <a:ext cx="2084831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2487169" y="2153094"/>
            <a:ext cx="2084831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NhFileController(Download)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72550"/>
            <a:ext cx="1463040" cy="137160"/>
          </a:xfrm>
          <a:prstGeom prst="rect">
            <a:avLst/>
          </a:prstGeom>
          <a:noFill/>
        </p:spPr>
        <p:txBody>
          <a:bodyPr wrap="square" anchor="t">
            <a:normAutofit fontScale="32500" lnSpcReduction="20000"/>
          </a:bodyPr>
          <a:lstStyle/>
          <a:p>
            <a:pPr algn="l">
              <a:defRPr sz="1000" b="1">
                <a:solidFill>
                  <a:srgbClr val="CD5C44"/>
                </a:solidFill>
                <a:latin typeface="Malgun Gothic"/>
              </a:defRPr>
            </a:pPr>
            <a:r>
              <a:rPr sz="1000"/>
              <a:t>http://~~~/download/{serviceId}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61029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서비스 ID 인식</a:t>
            </a:r>
          </a:p>
        </p:txBody>
      </p:sp>
      <p:sp>
        <p:nvSpPr>
          <p:cNvPr id="17" name="Oval 16"/>
          <p:cNvSpPr/>
          <p:nvPr/>
        </p:nvSpPr>
        <p:spPr>
          <a:xfrm>
            <a:off x="2542032" y="256457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18" name="Rectangle 17"/>
          <p:cNvSpPr/>
          <p:nvPr/>
        </p:nvSpPr>
        <p:spPr>
          <a:xfrm>
            <a:off x="2697480" y="302177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선처리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43325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후처리</a:t>
            </a:r>
          </a:p>
        </p:txBody>
      </p:sp>
      <p:sp>
        <p:nvSpPr>
          <p:cNvPr id="20" name="Oval 19"/>
          <p:cNvSpPr/>
          <p:nvPr/>
        </p:nvSpPr>
        <p:spPr>
          <a:xfrm>
            <a:off x="2542032" y="33875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21" name="Rectangle 20"/>
          <p:cNvSpPr/>
          <p:nvPr/>
        </p:nvSpPr>
        <p:spPr>
          <a:xfrm>
            <a:off x="2697480" y="3844733"/>
            <a:ext cx="14173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Return</a:t>
            </a:r>
          </a:p>
        </p:txBody>
      </p:sp>
      <p:sp>
        <p:nvSpPr>
          <p:cNvPr id="22" name="Oval 21"/>
          <p:cNvSpPr/>
          <p:nvPr/>
        </p:nvSpPr>
        <p:spPr>
          <a:xfrm>
            <a:off x="2542032" y="379901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23" name="Rectangle 22"/>
          <p:cNvSpPr/>
          <p:nvPr/>
        </p:nvSpPr>
        <p:spPr>
          <a:xfrm>
            <a:off x="4526280" y="2153094"/>
            <a:ext cx="1417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4526280" y="2153094"/>
            <a:ext cx="14173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6592" y="2445702"/>
            <a:ext cx="98755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서비스 호출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829750"/>
            <a:ext cx="98755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Input 값</a:t>
            </a:r>
            <a:br>
              <a:rPr sz="1000"/>
            </a:br>
            <a:r>
              <a:rPr sz="1000"/>
              <a:t>Map</a:t>
            </a:r>
            <a:br>
              <a:rPr sz="1000"/>
            </a:br>
            <a:r>
              <a:rPr sz="1000"/>
              <a:t>(Download 할 파일명)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3213798"/>
            <a:ext cx="98755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Output 값</a:t>
            </a:r>
            <a:br>
              <a:rPr sz="1000"/>
            </a:br>
            <a:r>
              <a:rPr sz="1000"/>
              <a:t>Map</a:t>
            </a:r>
            <a:br>
              <a:rPr sz="1000"/>
            </a:br>
            <a:r>
              <a:rPr sz="1000"/>
              <a:t>(OutputStream)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153094"/>
            <a:ext cx="1417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6144768" y="2153094"/>
            <a:ext cx="14173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445702"/>
            <a:ext cx="10058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Map</a:t>
            </a:r>
            <a:br>
              <a:rPr sz="900"/>
            </a:br>
            <a:r>
              <a:rPr sz="900"/>
              <a:t>(Download 할 파일명)</a:t>
            </a:r>
          </a:p>
        </p:txBody>
      </p:sp>
      <p:sp>
        <p:nvSpPr>
          <p:cNvPr id="31" name="Oval 30"/>
          <p:cNvSpPr/>
          <p:nvPr/>
        </p:nvSpPr>
        <p:spPr>
          <a:xfrm>
            <a:off x="6236208" y="235426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012630"/>
            <a:ext cx="10058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InputStream</a:t>
            </a:r>
          </a:p>
        </p:txBody>
      </p:sp>
      <p:sp>
        <p:nvSpPr>
          <p:cNvPr id="33" name="Oval 32"/>
          <p:cNvSpPr/>
          <p:nvPr/>
        </p:nvSpPr>
        <p:spPr>
          <a:xfrm>
            <a:off x="7242048" y="282975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4" name="Rectangle 33"/>
          <p:cNvSpPr/>
          <p:nvPr/>
        </p:nvSpPr>
        <p:spPr>
          <a:xfrm>
            <a:off x="8183879" y="1988502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8183879" y="1988502"/>
            <a:ext cx="16002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Object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354262"/>
            <a:ext cx="640080" cy="320040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File 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250374"/>
            <a:ext cx="1600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8183879" y="3250374"/>
            <a:ext cx="16002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endParaRPr sz="1200"/>
          </a:p>
        </p:txBody>
      </p:sp>
      <p:sp>
        <p:nvSpPr>
          <p:cNvPr id="39" name="Rectangle 38"/>
          <p:cNvSpPr/>
          <p:nvPr/>
        </p:nvSpPr>
        <p:spPr>
          <a:xfrm>
            <a:off x="365760" y="4320222"/>
            <a:ext cx="9418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0" name="TextBox 39"/>
          <p:cNvSpPr txBox="1"/>
          <p:nvPr/>
        </p:nvSpPr>
        <p:spPr>
          <a:xfrm>
            <a:off x="475488" y="4576255"/>
            <a:ext cx="921715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UI에서 파일 Download를 요청합니다.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NhFileController에서 서비스 ID 인식, 시스템 선처리를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 (서비스 ID는 http://~~~/download/{ServiceId} 형태로 요청합니다.)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Service 호출시 Service에 전달한 인자값은 Download 할 파일명을 Map 형태로 전달합니다.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Controller에서 전달된 Map에서 Download 할 파일명을 꺼냅니다.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Object Storage에서 File을 가져옵니다.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6. Service 영역에 대한 수행이 완료되면 NhFileController에서 시스템 후처리를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7. UI에 결과 Return은 void이며 Http Response를 파라메터로 전달합니다.</a:t>
            </a:r>
          </a:p>
        </p:txBody>
      </p:sp>
      <p:sp>
        <p:nvSpPr>
          <p:cNvPr id="41" name="Oval 40"/>
          <p:cNvSpPr/>
          <p:nvPr/>
        </p:nvSpPr>
        <p:spPr>
          <a:xfrm>
            <a:off x="2542032" y="2527998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42" name="Oval 41"/>
          <p:cNvSpPr/>
          <p:nvPr/>
        </p:nvSpPr>
        <p:spPr>
          <a:xfrm>
            <a:off x="2542032" y="334181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43" name="Oval 42"/>
          <p:cNvSpPr/>
          <p:nvPr/>
        </p:nvSpPr>
        <p:spPr>
          <a:xfrm>
            <a:off x="2542032" y="375329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44" name="Oval 43"/>
          <p:cNvSpPr/>
          <p:nvPr/>
        </p:nvSpPr>
        <p:spPr>
          <a:xfrm>
            <a:off x="4517136" y="282975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7909560" y="3030918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6440959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레포트(RD) 연계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1366710"/>
            <a:ext cx="7315200" cy="310896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UI F/W(xFrame) 에서 RD (Report Designer) 연계시 DB 처리를 수행할때 사용하는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88502"/>
            <a:ext cx="1691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320040" y="1988502"/>
            <a:ext cx="16916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UI F/W(xFrame)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951926"/>
            <a:ext cx="5349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2212848" y="1951926"/>
            <a:ext cx="53492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207958"/>
            <a:ext cx="2423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2468880" y="2207958"/>
            <a:ext cx="24231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NhFileController(Download)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99981"/>
            <a:ext cx="1371600" cy="137160"/>
          </a:xfrm>
          <a:prstGeom prst="rect">
            <a:avLst/>
          </a:prstGeom>
          <a:noFill/>
        </p:spPr>
        <p:txBody>
          <a:bodyPr wrap="square" anchor="t">
            <a:normAutofit fontScale="32500" lnSpcReduction="20000"/>
          </a:bodyPr>
          <a:lstStyle/>
          <a:p>
            <a:pPr algn="l">
              <a:defRPr sz="1000" b="1">
                <a:solidFill>
                  <a:srgbClr val="CD5C44"/>
                </a:solidFill>
                <a:latin typeface="Malgun Gothic"/>
              </a:defRPr>
            </a:pPr>
            <a:r>
              <a:rPr sz="1000"/>
              <a:t>http://~~~/rd/{serviceId}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610293"/>
            <a:ext cx="123444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서비스 ID 인식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253714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15" name="Rectangle 14"/>
          <p:cNvSpPr/>
          <p:nvPr/>
        </p:nvSpPr>
        <p:spPr>
          <a:xfrm>
            <a:off x="2697480" y="3021773"/>
            <a:ext cx="123444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선처리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433253"/>
            <a:ext cx="123444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후처리</a:t>
            </a:r>
          </a:p>
        </p:txBody>
      </p:sp>
      <p:sp>
        <p:nvSpPr>
          <p:cNvPr id="17" name="Oval 16"/>
          <p:cNvSpPr/>
          <p:nvPr/>
        </p:nvSpPr>
        <p:spPr>
          <a:xfrm>
            <a:off x="2560320" y="33601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18" name="Rectangle 17"/>
          <p:cNvSpPr/>
          <p:nvPr/>
        </p:nvSpPr>
        <p:spPr>
          <a:xfrm>
            <a:off x="2697480" y="3844733"/>
            <a:ext cx="123444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Return</a:t>
            </a:r>
          </a:p>
        </p:txBody>
      </p:sp>
      <p:sp>
        <p:nvSpPr>
          <p:cNvPr id="19" name="Oval 18"/>
          <p:cNvSpPr/>
          <p:nvPr/>
        </p:nvSpPr>
        <p:spPr>
          <a:xfrm>
            <a:off x="2560320" y="37715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2828"/>
                </a:solidFill>
                <a:latin typeface="Malgun Gothic"/>
              </a:defRPr>
            </a:pPr>
            <a:endParaRPr sz="1000"/>
          </a:p>
        </p:txBody>
      </p:sp>
      <p:sp>
        <p:nvSpPr>
          <p:cNvPr id="20" name="Oval 19"/>
          <p:cNvSpPr/>
          <p:nvPr/>
        </p:nvSpPr>
        <p:spPr>
          <a:xfrm>
            <a:off x="2560320" y="256457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2560320" y="337839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2560320" y="378987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646870"/>
            <a:ext cx="123444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서비스 호출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976054"/>
            <a:ext cx="530352" cy="201168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rPr sz="1000"/>
              <a:t>Input 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6592" y="2976054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341814"/>
            <a:ext cx="530352" cy="201168"/>
          </a:xfrm>
          <a:prstGeom prst="rect">
            <a:avLst/>
          </a:prstGeom>
          <a:solidFill>
            <a:srgbClr val="CD5C44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rPr sz="1000"/>
              <a:t>Output 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3341814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String</a:t>
            </a:r>
          </a:p>
        </p:txBody>
      </p:sp>
      <p:sp>
        <p:nvSpPr>
          <p:cNvPr id="28" name="Oval 27"/>
          <p:cNvSpPr/>
          <p:nvPr/>
        </p:nvSpPr>
        <p:spPr>
          <a:xfrm>
            <a:off x="4005072" y="292119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2427414"/>
            <a:ext cx="1463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0" name="Rectangle 29"/>
          <p:cNvSpPr/>
          <p:nvPr/>
        </p:nvSpPr>
        <p:spPr>
          <a:xfrm>
            <a:off x="5623560" y="2427414"/>
            <a:ext cx="14630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2921190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Map</a:t>
            </a:r>
          </a:p>
        </p:txBody>
      </p:sp>
      <p:sp>
        <p:nvSpPr>
          <p:cNvPr id="32" name="Oval 31"/>
          <p:cNvSpPr/>
          <p:nvPr/>
        </p:nvSpPr>
        <p:spPr>
          <a:xfrm>
            <a:off x="5532120" y="282975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2445702"/>
            <a:ext cx="1508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4" name="Rectangle 33"/>
          <p:cNvSpPr/>
          <p:nvPr/>
        </p:nvSpPr>
        <p:spPr>
          <a:xfrm>
            <a:off x="8366760" y="2445702"/>
            <a:ext cx="15087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DataBase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40262"/>
            <a:ext cx="9509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475488" y="4896295"/>
            <a:ext cx="930859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UI에서 RD Controller 를 호출하며 Map 을 전달합니다.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NhRDController에서 서비스 ID 인식, 시스템 선처리를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 (서비스 ID는 http://~~~/rd/{ServiceId} 형태로 요청합니다.)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Service 호출시 Service에 전달한 인자값은 Map 형태로 전달합니다.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Controller에서 전달된 Map을 사용해 DB작업을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Service 영역에 대한 수행이 완료되면 NhRDController에서 시스템 후처리를 수행합니다.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7. 결과 Return 값은 String 타입을 반환합니다.</a:t>
            </a:r>
          </a:p>
        </p:txBody>
      </p:sp>
    </p:spTree>
    <p:extLst>
      <p:ext uri="{BB962C8B-B14F-4D97-AF65-F5344CB8AC3E}">
        <p14:creationId xmlns:p14="http://schemas.microsoft.com/office/powerpoint/2010/main" val="126565409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In bound 거래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2034222"/>
            <a:ext cx="1325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228600" y="2034222"/>
            <a:ext cx="132588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Core 뱅킹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354263"/>
            <a:ext cx="914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Header : FLD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Body   : FLD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994342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228600" y="2994342"/>
            <a:ext cx="132588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ETC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286951"/>
            <a:ext cx="914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Header : Json or X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Body   : Json</a:t>
            </a:r>
          </a:p>
        </p:txBody>
      </p:sp>
      <p:sp>
        <p:nvSpPr>
          <p:cNvPr id="11" name="Oval 10"/>
          <p:cNvSpPr/>
          <p:nvPr/>
        </p:nvSpPr>
        <p:spPr>
          <a:xfrm>
            <a:off x="1627632" y="21713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89670"/>
            <a:ext cx="822960" cy="182880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Fixed Length</a:t>
            </a:r>
          </a:p>
        </p:txBody>
      </p:sp>
      <p:sp>
        <p:nvSpPr>
          <p:cNvPr id="13" name="Oval 12"/>
          <p:cNvSpPr/>
          <p:nvPr/>
        </p:nvSpPr>
        <p:spPr>
          <a:xfrm>
            <a:off x="1627632" y="31589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177222"/>
            <a:ext cx="457200" cy="182880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algn="l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079942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2331720" y="2079942"/>
            <a:ext cx="14173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EAI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8" y="1988502"/>
            <a:ext cx="4434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3950208" y="1988502"/>
            <a:ext cx="44348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APIG/W(Cruz APIM)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308542"/>
            <a:ext cx="2148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ex) /nhapi/INBOUND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24457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18854"/>
            <a:ext cx="914400" cy="18288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1:1 Mapping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829750"/>
            <a:ext cx="21031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/nh/eai/{ServiceID}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10407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104070"/>
            <a:ext cx="1463040" cy="2286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100" b="0">
                <a:solidFill>
                  <a:srgbClr val="CD5C44"/>
                </a:solidFill>
                <a:latin typeface="Malgun Gothic"/>
              </a:defRPr>
            </a:pPr>
            <a:r>
              <a:rPr sz="1100"/>
              <a:t>전문변환 : 별도 전문변환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4000183"/>
            <a:ext cx="43434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7086600" y="4000182"/>
            <a:ext cx="43434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274501"/>
            <a:ext cx="2514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7360920" y="4274501"/>
            <a:ext cx="25146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NhInbound 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71231" y="4567110"/>
            <a:ext cx="210312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요청전문 Service Context에 저장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71231" y="4768278"/>
            <a:ext cx="210312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시스템 선처리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1" y="4969446"/>
            <a:ext cx="210312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서비스 호출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71231" y="5170614"/>
            <a:ext cx="210312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시스템 후처리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71231" y="5371782"/>
            <a:ext cx="2103120" cy="16459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응답전문(Fixed Length, Json) Return</a:t>
            </a:r>
          </a:p>
        </p:txBody>
      </p:sp>
      <p:sp>
        <p:nvSpPr>
          <p:cNvPr id="34" name="Oval 33"/>
          <p:cNvSpPr/>
          <p:nvPr/>
        </p:nvSpPr>
        <p:spPr>
          <a:xfrm>
            <a:off x="7342631" y="45305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9985248" y="45305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36" name="Oval 35"/>
          <p:cNvSpPr/>
          <p:nvPr/>
        </p:nvSpPr>
        <p:spPr>
          <a:xfrm>
            <a:off x="7342631" y="535349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4274501"/>
            <a:ext cx="1143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10012680" y="4274501"/>
            <a:ext cx="11430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31552" y="451224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CD5C44"/>
                </a:solidFill>
                <a:latin typeface="Malgun Gothic"/>
              </a:defRPr>
            </a:pPr>
            <a:r>
              <a:rPr sz="900"/>
              <a:t>전문변환</a:t>
            </a:r>
            <a:br>
              <a:rPr sz="900"/>
            </a:br>
            <a:r>
              <a:rPr sz="900"/>
              <a:t>(FLD, JSON → MAP)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31552" y="4914582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서비스</a:t>
            </a:r>
            <a:br>
              <a:rPr sz="1000"/>
            </a:br>
            <a:r>
              <a:rPr sz="1000"/>
              <a:t>로직처리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1552" y="5316918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CD5C44"/>
                </a:solidFill>
                <a:latin typeface="Malgun Gothic"/>
              </a:defRPr>
            </a:pPr>
            <a:r>
              <a:rPr sz="900"/>
              <a:t>전문변환</a:t>
            </a:r>
            <a:br>
              <a:rPr sz="900"/>
            </a:br>
            <a:r>
              <a:rPr sz="900"/>
              <a:t>(MAP → FLD, JSON)</a:t>
            </a:r>
          </a:p>
        </p:txBody>
      </p:sp>
      <p:sp>
        <p:nvSpPr>
          <p:cNvPr id="42" name="Oval 41"/>
          <p:cNvSpPr/>
          <p:nvPr/>
        </p:nvSpPr>
        <p:spPr>
          <a:xfrm>
            <a:off x="11064240" y="443909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43" name="Oval 42"/>
          <p:cNvSpPr/>
          <p:nvPr/>
        </p:nvSpPr>
        <p:spPr>
          <a:xfrm>
            <a:off x="11064240" y="5243766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4274501"/>
            <a:ext cx="4434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310896" y="4530533"/>
            <a:ext cx="4233672" cy="2130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출발지에서 FLD 전문을 보내는 경우 : 표준전문 Header 및 Body는 FixedLength 형태로 전달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 (Header : FLD, Body : Fixed Length)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출발지에서 Json 전문을 보내는 경우 : Json 전문에 표준전문 Header를 포함하여 보낼 수도 있고 보내지 않을 수 있음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   (Header : Json or X, Body : Json)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APIG/W(Cruz APIM)에서는 출발지에서 전달된 인터페이스 ID 와 Framework로 보낼 URL 1:1 Mapping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APIG/W에서 별도 전문변환 없음(http body 전달)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APIG/W에서 Framework 전달시 NhInboundController 에서 요청전문을 Service Context에 저장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6,7 서비스 영역에서 전문 변환 수행(업무팀 Util)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8. 응답전문 Return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72768" y="2354262"/>
            <a:ext cx="758952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72768" y="3341814"/>
            <a:ext cx="758952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49040" y="2720022"/>
            <a:ext cx="1737361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635240" y="3085783"/>
            <a:ext cx="0" cy="1188719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51286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SSO 연계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1366710"/>
            <a:ext cx="3657600" cy="27432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2000" b="0">
                <a:solidFill>
                  <a:srgbClr val="282828"/>
                </a:solidFill>
                <a:latin typeface="Malgun Gothic"/>
              </a:defRPr>
            </a:pPr>
            <a:r>
              <a:rPr sz="2000"/>
              <a:t>SSO 로그인 인증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79942"/>
            <a:ext cx="1463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411480" y="2079942"/>
            <a:ext cx="14630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통합로그인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262822"/>
            <a:ext cx="1234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2286000" y="2262822"/>
            <a:ext cx="12344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WEB(wb)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69830"/>
            <a:ext cx="3063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566928" y="3469830"/>
            <a:ext cx="30632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PT(ws)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2" y="2171382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3913632" y="2171382"/>
            <a:ext cx="53949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PaaS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445702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4160520" y="2445702"/>
            <a:ext cx="21945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NhSsoController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73831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Session(Gemfire)</a:t>
            </a:r>
            <a:br>
              <a:rPr sz="1100"/>
            </a:br>
            <a:r>
              <a:rPr sz="1100"/>
              <a:t>nonce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3222942"/>
            <a:ext cx="1691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RequestBody</a:t>
            </a:r>
            <a:br>
              <a:rPr sz="1100"/>
            </a:br>
            <a:r>
              <a:rPr sz="1100"/>
              <a:t>ticket, ssold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799014"/>
            <a:ext cx="169164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NhSsoService 호출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45702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6492240" y="2445702"/>
            <a:ext cx="23774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NhSsoService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765742"/>
            <a:ext cx="1719072" cy="20116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nonce 값 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3067494"/>
            <a:ext cx="1719072" cy="201168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r>
              <a:rPr sz="1200"/>
              <a:t>ssoid 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433254"/>
            <a:ext cx="777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82828"/>
                </a:solidFill>
                <a:latin typeface="Malgun Gothic"/>
              </a:defRPr>
            </a:pPr>
            <a:r>
              <a:rPr sz="900"/>
              <a:t>MH</a:t>
            </a:r>
            <a:br>
              <a:rPr sz="900"/>
            </a:br>
            <a:r>
              <a:rPr sz="900"/>
              <a:t>Session 세팅</a:t>
            </a:r>
            <a:br>
              <a:rPr sz="900"/>
            </a:br>
            <a:r>
              <a:rPr sz="900"/>
              <a:t>userId, loginYN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3433254"/>
            <a:ext cx="868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BI</a:t>
            </a:r>
            <a:br>
              <a:rPr sz="800"/>
            </a:br>
            <a:r>
              <a:rPr sz="800"/>
              <a:t>Session 세팅</a:t>
            </a:r>
            <a:br>
              <a:rPr sz="800"/>
            </a:br>
            <a:r>
              <a:rPr sz="800"/>
              <a:t>userId, loginYN</a:t>
            </a:r>
            <a:br>
              <a:rPr sz="800"/>
            </a:br>
            <a:r>
              <a:rPr sz="800"/>
              <a:t>ticket, ssoYN, toa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4927" y="4475670"/>
            <a:ext cx="1463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7424927" y="4475670"/>
            <a:ext cx="14630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메인화면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3771582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804672" y="3771582"/>
            <a:ext cx="13716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WsController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" y="4183062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nonce 값 생성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594542"/>
            <a:ext cx="914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749808" y="4594542"/>
            <a:ext cx="9144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check.jsp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59718"/>
            <a:ext cx="640080" cy="164592"/>
          </a:xfrm>
          <a:prstGeom prst="rect">
            <a:avLst/>
          </a:prstGeom>
          <a:noFill/>
        </p:spPr>
        <p:txBody>
          <a:bodyPr wrap="square" anchor="t">
            <a:normAutofit fontScale="40000" lnSpcReduction="20000"/>
          </a:bodyPr>
          <a:lstStyle/>
          <a:p>
            <a:pPr algn="l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ticket, ssold 발급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594542"/>
            <a:ext cx="1143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4" name="Rectangle 33"/>
          <p:cNvSpPr/>
          <p:nvPr/>
        </p:nvSpPr>
        <p:spPr>
          <a:xfrm>
            <a:off x="1828800" y="4594542"/>
            <a:ext cx="11430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process.jsp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104" y="4841430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 fontScale="32500" lnSpcReduction="20000"/>
          </a:bodyPr>
          <a:lstStyle/>
          <a:p>
            <a:pPr algn="ctr"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nonce 값</a:t>
            </a:r>
            <a:br>
              <a:rPr sz="1000"/>
            </a:br>
            <a:r>
              <a:rPr sz="1000"/>
              <a:t>Session 셋팅</a:t>
            </a:r>
          </a:p>
        </p:txBody>
      </p:sp>
      <p:sp>
        <p:nvSpPr>
          <p:cNvPr id="36" name="Oval 35"/>
          <p:cNvSpPr/>
          <p:nvPr/>
        </p:nvSpPr>
        <p:spPr>
          <a:xfrm>
            <a:off x="2011680" y="249142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37" name="Oval 36"/>
          <p:cNvSpPr/>
          <p:nvPr/>
        </p:nvSpPr>
        <p:spPr>
          <a:xfrm>
            <a:off x="786384" y="3689286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76656" y="45305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39" name="Oval 38"/>
          <p:cNvSpPr/>
          <p:nvPr/>
        </p:nvSpPr>
        <p:spPr>
          <a:xfrm>
            <a:off x="1764792" y="453053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40" name="Oval 39"/>
          <p:cNvSpPr/>
          <p:nvPr/>
        </p:nvSpPr>
        <p:spPr>
          <a:xfrm>
            <a:off x="4023360" y="235426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6419088" y="235426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5897880" y="49145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91822"/>
            <a:ext cx="8961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429768" y="5947855"/>
            <a:ext cx="875995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통합로그인에서 마케팅허브 접속을 시도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wb를 거쳐 WsController에서 요청을 전달받아 nonce 값을 생성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통합로그인 ActiveX모듈을 통해 ticket, ssold를 발급받아 process.jsp로 전달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nonce 값을 session에 저장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Session에서 nonce 값을 꺼내 ticket, ssold와 함께 NhSsoService로 전달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6. ticket을 복호화하여 nonce와 ssold(userId)를 검증 후 필요한 항목을 session에 저장, 검증 여부를 NhSsoController로 리턴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7. NhSsoController에서 검증 결과를 process.jsp로 리턴, 검증 성공시 메인화면으로 이동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874520" y="2765742"/>
            <a:ext cx="411481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520440" y="2811462"/>
            <a:ext cx="64008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55080" y="3360102"/>
            <a:ext cx="137160" cy="54864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852161" y="4841430"/>
            <a:ext cx="1572767" cy="274320"/>
          </a:xfrm>
          <a:prstGeom prst="line">
            <a:avLst/>
          </a:prstGeom>
          <a:ln w="2540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3581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671766"/>
            <a:ext cx="68580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42424"/>
                </a:solidFill>
                <a:latin typeface="Malgun Gothic"/>
              </a:defRPr>
            </a:pPr>
            <a:r>
              <a:rPr sz="2600"/>
              <a:t>온라인 선/후처리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5DB4"/>
          </a:solidFill>
          <a:ln>
            <a:solidFill>
              <a:srgbClr val="2B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375136" cy="45720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" name="TextBox 4"/>
          <p:cNvSpPr txBox="1"/>
          <p:nvPr/>
        </p:nvSpPr>
        <p:spPr>
          <a:xfrm>
            <a:off x="228600" y="1348422"/>
            <a:ext cx="11155680" cy="320040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 algn="l">
              <a:defRPr sz="1800" b="0">
                <a:solidFill>
                  <a:srgbClr val="242424"/>
                </a:solidFill>
                <a:latin typeface="Malgun Gothic"/>
              </a:defRPr>
            </a:pPr>
            <a:r>
              <a:t>프레임워크에서 제공하는 NB Spring Controller 에 의하여 시스템 선/후처리가 수행되며, AOP 기반의 업무 선/후처리 수행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8774"/>
            <a:ext cx="10287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7" name="Rectangle 6"/>
          <p:cNvSpPr/>
          <p:nvPr/>
        </p:nvSpPr>
        <p:spPr>
          <a:xfrm>
            <a:off x="960120" y="2628582"/>
            <a:ext cx="822960" cy="1143000"/>
          </a:xfrm>
          <a:prstGeom prst="rect">
            <a:avLst/>
          </a:prstGeom>
          <a:solidFill>
            <a:srgbClr val="2156A6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Spring</a:t>
            </a:r>
            <a:br>
              <a:rPr sz="1200"/>
            </a:br>
            <a:r>
              <a:rPr sz="1200"/>
              <a:t>Servlet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308542"/>
            <a:ext cx="1207008" cy="1691640"/>
          </a:xfrm>
          <a:prstGeom prst="rect">
            <a:avLst/>
          </a:prstGeom>
          <a:solidFill>
            <a:srgbClr val="E4F0FC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9" name="TextBox 8"/>
          <p:cNvSpPr txBox="1"/>
          <p:nvPr/>
        </p:nvSpPr>
        <p:spPr>
          <a:xfrm>
            <a:off x="1947672" y="2125662"/>
            <a:ext cx="1417320" cy="201168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인터페이스 및 시스템 공통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2491422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950" b="0">
                <a:solidFill>
                  <a:srgbClr val="242424"/>
                </a:solidFill>
                <a:latin typeface="Malgun Gothic"/>
              </a:defRPr>
            </a:pPr>
            <a:r>
              <a:rPr sz="950"/>
              <a:t>시스템 선처리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2994342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950" b="0">
                <a:solidFill>
                  <a:srgbClr val="242424"/>
                </a:solidFill>
                <a:latin typeface="Malgun Gothic"/>
              </a:defRPr>
            </a:pPr>
            <a:r>
              <a:rPr sz="950"/>
              <a:t>Spring</a:t>
            </a:r>
            <a:br>
              <a:rPr sz="950"/>
            </a:br>
            <a:r>
              <a:rPr sz="950"/>
              <a:t>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2848" y="3433254"/>
            <a:ext cx="8046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950" b="0">
                <a:solidFill>
                  <a:srgbClr val="242424"/>
                </a:solidFill>
                <a:latin typeface="Malgun Gothic"/>
              </a:defRPr>
            </a:pPr>
            <a:r>
              <a:rPr sz="950"/>
              <a:t>시스템 후처리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25662"/>
            <a:ext cx="914400" cy="201168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업무 공통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610293"/>
            <a:ext cx="777240" cy="384048"/>
          </a:xfrm>
          <a:prstGeom prst="rect">
            <a:avLst/>
          </a:prstGeom>
          <a:solidFill>
            <a:srgbClr val="F3C44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10000"/>
          </a:bodyPr>
          <a:lstStyle/>
          <a:p>
            <a:pPr algn="ctr">
              <a:defRPr sz="950" b="1">
                <a:solidFill>
                  <a:srgbClr val="242424"/>
                </a:solidFill>
                <a:latin typeface="Malgun Gothic"/>
              </a:defRPr>
            </a:pPr>
            <a:r>
              <a:rPr sz="950"/>
              <a:t>AOP</a:t>
            </a:r>
            <a:br>
              <a:rPr sz="950"/>
            </a:br>
            <a:r>
              <a:rPr sz="950"/>
              <a:t>공통 선처리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5887" y="3305238"/>
            <a:ext cx="777240" cy="384048"/>
          </a:xfrm>
          <a:prstGeom prst="rect">
            <a:avLst/>
          </a:prstGeom>
          <a:solidFill>
            <a:srgbClr val="F3C44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10000"/>
          </a:bodyPr>
          <a:lstStyle/>
          <a:p>
            <a:pPr algn="ctr">
              <a:defRPr sz="950" b="1">
                <a:solidFill>
                  <a:srgbClr val="242424"/>
                </a:solidFill>
                <a:latin typeface="Malgun Gothic"/>
              </a:defRPr>
            </a:pPr>
            <a:r>
              <a:rPr sz="950"/>
              <a:t>AOP</a:t>
            </a:r>
            <a:br>
              <a:rPr sz="950"/>
            </a:br>
            <a:r>
              <a:rPr sz="950"/>
              <a:t>공통 후처리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125662"/>
            <a:ext cx="914400" cy="201168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업무 개별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610293"/>
            <a:ext cx="777240" cy="384048"/>
          </a:xfrm>
          <a:prstGeom prst="rect">
            <a:avLst/>
          </a:prstGeom>
          <a:solidFill>
            <a:srgbClr val="F3C44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10000"/>
          </a:bodyPr>
          <a:lstStyle/>
          <a:p>
            <a:pPr algn="ctr">
              <a:defRPr sz="950" b="1">
                <a:solidFill>
                  <a:srgbClr val="242424"/>
                </a:solidFill>
                <a:latin typeface="Malgun Gothic"/>
              </a:defRPr>
            </a:pPr>
            <a:r>
              <a:rPr sz="950"/>
              <a:t>AOP</a:t>
            </a:r>
            <a:br>
              <a:rPr sz="950"/>
            </a:br>
            <a:r>
              <a:rPr sz="950"/>
              <a:t>개별 선처리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305238"/>
            <a:ext cx="777240" cy="384048"/>
          </a:xfrm>
          <a:prstGeom prst="rect">
            <a:avLst/>
          </a:prstGeom>
          <a:solidFill>
            <a:srgbClr val="F3C44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10000"/>
          </a:bodyPr>
          <a:lstStyle/>
          <a:p>
            <a:pPr algn="ctr">
              <a:defRPr sz="950" b="1">
                <a:solidFill>
                  <a:srgbClr val="242424"/>
                </a:solidFill>
                <a:latin typeface="Malgun Gothic"/>
              </a:defRPr>
            </a:pPr>
            <a:r>
              <a:rPr sz="950"/>
              <a:t>AOP</a:t>
            </a:r>
            <a:br>
              <a:rPr sz="950"/>
            </a:br>
            <a:r>
              <a:rPr sz="950"/>
              <a:t>개별 후처리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463990"/>
            <a:ext cx="685800" cy="1325880"/>
          </a:xfrm>
          <a:prstGeom prst="rect">
            <a:avLst/>
          </a:prstGeom>
          <a:solidFill>
            <a:srgbClr val="2156A6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354262"/>
            <a:ext cx="804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30" b="0">
                <a:solidFill>
                  <a:srgbClr val="242424"/>
                </a:solidFill>
                <a:latin typeface="Malgun Gothic"/>
              </a:defRPr>
            </a:pPr>
            <a:r>
              <a:rPr sz="730"/>
              <a:t>BIZ모듈</a:t>
            </a:r>
            <a:br>
              <a:rPr sz="730"/>
            </a:br>
            <a:r>
              <a:rPr sz="730"/>
              <a:t>(Class)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354262"/>
            <a:ext cx="58521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800" b="0">
                <a:solidFill>
                  <a:srgbClr val="242424"/>
                </a:solidFill>
                <a:latin typeface="Malgun Gothic"/>
              </a:defRPr>
            </a:pPr>
            <a:r>
              <a:rPr sz="800"/>
              <a:t>DAO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2610294"/>
            <a:ext cx="804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30" b="0">
                <a:solidFill>
                  <a:srgbClr val="242424"/>
                </a:solidFill>
                <a:latin typeface="Malgun Gothic"/>
              </a:defRPr>
            </a:pPr>
            <a:r>
              <a:rPr sz="730"/>
              <a:t>BIZ모듈</a:t>
            </a:r>
            <a:br>
              <a:rPr sz="730"/>
            </a:br>
            <a:r>
              <a:rPr sz="730"/>
              <a:t>(Class)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610294"/>
            <a:ext cx="58521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800" b="0">
                <a:solidFill>
                  <a:srgbClr val="242424"/>
                </a:solidFill>
                <a:latin typeface="Malgun Gothic"/>
              </a:defRPr>
            </a:pPr>
            <a:r>
              <a:rPr sz="800"/>
              <a:t>DAO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2866326"/>
            <a:ext cx="804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30" b="0">
                <a:solidFill>
                  <a:srgbClr val="242424"/>
                </a:solidFill>
                <a:latin typeface="Malgun Gothic"/>
              </a:defRPr>
            </a:pPr>
            <a:r>
              <a:rPr sz="730"/>
              <a:t>BIZ모듈</a:t>
            </a:r>
            <a:br>
              <a:rPr sz="730"/>
            </a:br>
            <a:r>
              <a:rPr sz="730"/>
              <a:t>(Class)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866326"/>
            <a:ext cx="58521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800" b="0">
                <a:solidFill>
                  <a:srgbClr val="242424"/>
                </a:solidFill>
                <a:latin typeface="Malgun Gothic"/>
              </a:defRPr>
            </a:pPr>
            <a:r>
              <a:rPr sz="800"/>
              <a:t>DAO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3122358"/>
            <a:ext cx="804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5000" lnSpcReduction="20000"/>
          </a:bodyPr>
          <a:lstStyle/>
          <a:p>
            <a:pPr algn="ctr">
              <a:defRPr sz="730" b="0">
                <a:solidFill>
                  <a:srgbClr val="242424"/>
                </a:solidFill>
                <a:latin typeface="Malgun Gothic"/>
              </a:defRPr>
            </a:pPr>
            <a:r>
              <a:rPr sz="730"/>
              <a:t>BIZ모듈</a:t>
            </a:r>
            <a:br>
              <a:rPr sz="730"/>
            </a:br>
            <a:r>
              <a:rPr sz="730"/>
              <a:t>(Class)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122358"/>
            <a:ext cx="58521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800" b="0">
                <a:solidFill>
                  <a:srgbClr val="242424"/>
                </a:solidFill>
                <a:latin typeface="Malgun Gothic"/>
              </a:defRPr>
            </a:pPr>
            <a:r>
              <a:rPr sz="800"/>
              <a:t>DAO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378390"/>
            <a:ext cx="804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730" b="0">
                <a:solidFill>
                  <a:srgbClr val="242424"/>
                </a:solidFill>
                <a:latin typeface="Malgun Gothic"/>
              </a:defRPr>
            </a:pPr>
            <a:r>
              <a:rPr sz="730"/>
              <a:t>BIZ {...n}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3378390"/>
            <a:ext cx="58521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ctr">
              <a:defRPr sz="800" b="0">
                <a:solidFill>
                  <a:srgbClr val="242424"/>
                </a:solidFill>
                <a:latin typeface="Malgun Gothic"/>
              </a:defRPr>
            </a:pPr>
            <a:r>
              <a:rPr sz="800"/>
              <a:t>DAO {...n}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463990"/>
            <a:ext cx="594360" cy="1325880"/>
          </a:xfrm>
          <a:prstGeom prst="rect">
            <a:avLst/>
          </a:prstGeom>
          <a:solidFill>
            <a:srgbClr val="2156A6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sz="1600"/>
              <a:t>DB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3186366"/>
            <a:ext cx="914400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20240" y="4567110"/>
            <a:ext cx="2560320" cy="18288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시스템 및 공통 선/후처리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567110"/>
            <a:ext cx="2743200" cy="18288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>
              <a:defRPr sz="1000" b="1">
                <a:solidFill>
                  <a:srgbClr val="242424"/>
                </a:solidFill>
                <a:latin typeface="Malgun Gothic"/>
              </a:defRPr>
            </a:pPr>
            <a:r>
              <a:rPr sz="1000"/>
              <a:t>서비스 Transaction 구간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115750"/>
            <a:ext cx="9601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35" name="Rectangle 34"/>
          <p:cNvSpPr/>
          <p:nvPr/>
        </p:nvSpPr>
        <p:spPr>
          <a:xfrm>
            <a:off x="502920" y="5115750"/>
            <a:ext cx="96012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서비스 수신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36192" y="5115750"/>
            <a:ext cx="192024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37" name="Rectangle 36"/>
          <p:cNvSpPr/>
          <p:nvPr/>
        </p:nvSpPr>
        <p:spPr>
          <a:xfrm>
            <a:off x="1536192" y="5115750"/>
            <a:ext cx="192024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시스템 선/후처리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5444934"/>
            <a:ext cx="178308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거래제어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이미지로그 기록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전문 객체 생성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TX begin() / SVC 호출 / TX end()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응답 전문 생성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메시지 매핑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거래 / 에러로그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5" y="5115750"/>
            <a:ext cx="1874519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0" name="Rectangle 39"/>
          <p:cNvSpPr/>
          <p:nvPr/>
        </p:nvSpPr>
        <p:spPr>
          <a:xfrm>
            <a:off x="3529585" y="5115750"/>
            <a:ext cx="1874519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업무 공통 선/후처리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2737" y="5444934"/>
            <a:ext cx="173735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Spring AOP로 구현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공통팀에서 공통 처리 로직 구현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별도 Transaction 관리 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77256" y="5115750"/>
            <a:ext cx="196596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3" name="Rectangle 42"/>
          <p:cNvSpPr/>
          <p:nvPr/>
        </p:nvSpPr>
        <p:spPr>
          <a:xfrm>
            <a:off x="5477256" y="5115750"/>
            <a:ext cx="196596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업무 개별 선/후처리</a:t>
            </a:r>
            <a:br>
              <a:rPr sz="1000"/>
            </a:br>
            <a:r>
              <a:rPr sz="1000"/>
              <a:t>(각 업무 공통)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0408" y="5444934"/>
            <a:ext cx="18288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Spring AOP로 구현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개별 업무팀에서 공통 처리 로직 구현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16368" y="5115750"/>
            <a:ext cx="30175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6" name="Rectangle 45"/>
          <p:cNvSpPr/>
          <p:nvPr/>
        </p:nvSpPr>
        <p:spPr>
          <a:xfrm>
            <a:off x="7516368" y="5115750"/>
            <a:ext cx="3017520" cy="25603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000"/>
              <a:t>개별 업무 서비스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444934"/>
            <a:ext cx="28803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업무 개발자가 개별 업무 Logic 구현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Service(Spring Service Layer) 업무 서비스 ID와 1:1 매핑</a:t>
            </a:r>
          </a:p>
          <a:p>
            <a:pPr>
              <a:defRPr sz="780">
                <a:solidFill>
                  <a:srgbClr val="242424"/>
                </a:solidFill>
                <a:latin typeface="Malgun Gothic"/>
              </a:defRPr>
            </a:pPr>
            <a:r>
              <a:rPr sz="780"/>
              <a:t>• 프레임워크 제공 Interface Class 사용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" y="3104070"/>
            <a:ext cx="54864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>
              <a:defRPr sz="900" b="0">
                <a:solidFill>
                  <a:srgbClr val="242424"/>
                </a:solidFill>
                <a:latin typeface="Malgun Gothic"/>
              </a:defRPr>
            </a:pPr>
            <a:r>
              <a:rPr sz="900"/>
              <a:t>PT Client</a:t>
            </a:r>
          </a:p>
        </p:txBody>
      </p:sp>
    </p:spTree>
    <p:extLst>
      <p:ext uri="{BB962C8B-B14F-4D97-AF65-F5344CB8AC3E}">
        <p14:creationId xmlns:p14="http://schemas.microsoft.com/office/powerpoint/2010/main" val="313972703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Exception Handling(1/2)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1311846"/>
            <a:ext cx="10972800" cy="329184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프레임워크에서 제공하는 NhBaseException 에 의하여 Exception 발생시 메시지 처리 및 에러전문 생</a:t>
            </a:r>
            <a:br/>
            <a:r>
              <a:t>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37142"/>
            <a:ext cx="1463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411480" y="2537142"/>
            <a:ext cx="14630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UI F/W(xFrame)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942782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3200400" y="1942782"/>
            <a:ext cx="26517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54262"/>
            <a:ext cx="214884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Service 에서 Exception 객체를 전달받음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793174"/>
            <a:ext cx="214884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Common 영역 Error Process 호출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3232086"/>
            <a:ext cx="2148840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XFrame에 전달할 메시지 Setting</a:t>
            </a:r>
          </a:p>
        </p:txBody>
      </p:sp>
      <p:sp>
        <p:nvSpPr>
          <p:cNvPr id="13" name="Oval 12"/>
          <p:cNvSpPr/>
          <p:nvPr/>
        </p:nvSpPr>
        <p:spPr>
          <a:xfrm>
            <a:off x="5623560" y="287547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817302"/>
            <a:ext cx="2331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3383280" y="381730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ErrorProcess(Common)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183062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표준에러 전문 생성</a:t>
            </a:r>
          </a:p>
        </p:txBody>
      </p:sp>
      <p:sp>
        <p:nvSpPr>
          <p:cNvPr id="17" name="Oval 16"/>
          <p:cNvSpPr/>
          <p:nvPr/>
        </p:nvSpPr>
        <p:spPr>
          <a:xfrm>
            <a:off x="3456432" y="415563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503101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xFrame에 전달할 메시지 생성</a:t>
            </a:r>
          </a:p>
        </p:txBody>
      </p:sp>
      <p:sp>
        <p:nvSpPr>
          <p:cNvPr id="19" name="Oval 18"/>
          <p:cNvSpPr/>
          <p:nvPr/>
        </p:nvSpPr>
        <p:spPr>
          <a:xfrm>
            <a:off x="3456432" y="447567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125662"/>
            <a:ext cx="43891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6583680" y="2125662"/>
            <a:ext cx="43891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518854"/>
            <a:ext cx="393192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7571231" y="2427414"/>
            <a:ext cx="2194560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1400" b="1">
                <a:solidFill>
                  <a:srgbClr val="282828"/>
                </a:solidFill>
                <a:latin typeface="Malgun Gothic"/>
              </a:defRPr>
            </a:pPr>
            <a:r>
              <a:rPr sz="1400"/>
              <a:t>catch (Throwable t){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2884614"/>
            <a:ext cx="2331720" cy="292608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NhBaseException 객체 세팅</a:t>
            </a:r>
          </a:p>
        </p:txBody>
      </p:sp>
      <p:sp>
        <p:nvSpPr>
          <p:cNvPr id="25" name="Oval 24"/>
          <p:cNvSpPr/>
          <p:nvPr/>
        </p:nvSpPr>
        <p:spPr>
          <a:xfrm>
            <a:off x="7150608" y="2829750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3286951"/>
            <a:ext cx="283464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* obskindCode : 장애종류코드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* errServiceName : 에러 서비스 명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* errMethodName : 에러 메서드 명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* errFileName : 에러 파일 명</a:t>
            </a:r>
          </a:p>
          <a:p>
            <a:pPr algn="l">
              <a:lnSpc>
                <a:spcPct val="100000"/>
              </a:lnSpc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* pgmLineNo : 프로그램 라인 번호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852160" y="3506406"/>
            <a:ext cx="3794760" cy="0"/>
          </a:xfrm>
          <a:prstGeom prst="line">
            <a:avLst/>
          </a:prstGeom>
          <a:ln w="2286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96712" y="3040062"/>
            <a:ext cx="886968" cy="0"/>
          </a:xfrm>
          <a:prstGeom prst="line">
            <a:avLst/>
          </a:prstGeom>
          <a:ln w="2286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874520" y="4365942"/>
            <a:ext cx="1325881" cy="0"/>
          </a:xfrm>
          <a:prstGeom prst="line">
            <a:avLst/>
          </a:prstGeom>
          <a:ln w="2286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606040" y="379901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5326062"/>
            <a:ext cx="11338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365760" y="5582094"/>
            <a:ext cx="11137392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Service에서 Exception 발생시 NhBaseException 객체를 생성하여 장애종류코드, 에러 서비스 명 등 값을 셋팅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Controller에서는 Service에서 전달받은 Exception 객체를 Common 영역의 Error Process 메서드의 인자로 전달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전달받은 Exception 객체를 기반으로 표준 에러전문 생성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UI(xFrame)에 전달할 오류 메시지 생성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5. Error Process 로 부터 전달받은 오류 메시지를 xFrame에 전달</a:t>
            </a:r>
          </a:p>
        </p:txBody>
      </p:sp>
    </p:spTree>
    <p:extLst>
      <p:ext uri="{BB962C8B-B14F-4D97-AF65-F5344CB8AC3E}">
        <p14:creationId xmlns:p14="http://schemas.microsoft.com/office/powerpoint/2010/main" val="357374430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671766"/>
            <a:ext cx="685800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42424"/>
                </a:solidFill>
                <a:latin typeface="Malgun Gothic"/>
              </a:defRPr>
            </a:pPr>
            <a:r>
              <a:rPr sz="2600"/>
              <a:t>Exception Handling(2/2)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5DB4"/>
          </a:solidFill>
          <a:ln>
            <a:solidFill>
              <a:srgbClr val="2B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375136" cy="45720"/>
          </a:xfrm>
          <a:prstGeom prst="rect">
            <a:avLst/>
          </a:prstGeom>
          <a:solidFill>
            <a:srgbClr val="2C7B4F"/>
          </a:solidFill>
          <a:ln>
            <a:solidFill>
              <a:srgbClr val="2C7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" name="TextBox 4"/>
          <p:cNvSpPr txBox="1"/>
          <p:nvPr/>
        </p:nvSpPr>
        <p:spPr>
          <a:xfrm>
            <a:off x="228600" y="1348422"/>
            <a:ext cx="11064240" cy="3200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1800" b="0">
                <a:solidFill>
                  <a:srgbClr val="242424"/>
                </a:solidFill>
                <a:latin typeface="Malgun Gothic"/>
              </a:defRPr>
            </a:pPr>
            <a:r>
              <a:t>프레임워크에서 제공하는 NhBaseException 에 의하여 Exception 발생시 메시지 처리 및 에러전문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05622"/>
            <a:ext cx="4800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7" name="Rectangle 6"/>
          <p:cNvSpPr/>
          <p:nvPr/>
        </p:nvSpPr>
        <p:spPr>
          <a:xfrm>
            <a:off x="502920" y="1970214"/>
            <a:ext cx="1005840" cy="2560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300" b="1">
                <a:solidFill>
                  <a:srgbClr val="242424"/>
                </a:solidFill>
                <a:latin typeface="Malgun Gothic"/>
              </a:defRPr>
            </a:pPr>
            <a:r>
              <a:rPr sz="1300"/>
              <a:t>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90254"/>
            <a:ext cx="4160520" cy="137160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750" b="0">
                <a:solidFill>
                  <a:srgbClr val="242424"/>
                </a:solidFill>
                <a:latin typeface="Malgun Gothic"/>
              </a:defRPr>
            </a:pPr>
            <a:r>
              <a:rPr sz="750"/>
              <a:t>if(returnMap == null) {</a:t>
            </a:r>
            <a:br>
              <a:rPr sz="750"/>
            </a:br>
            <a:r>
              <a:rPr sz="750"/>
              <a:t>    throw new Exception("FWIN01027");</a:t>
            </a:r>
            <a:br>
              <a:rPr sz="750"/>
            </a:br>
            <a:r>
              <a:rPr sz="750"/>
              <a:t>}</a:t>
            </a:r>
            <a:br>
              <a:rPr sz="750"/>
            </a:br>
            <a:r>
              <a:rPr sz="750"/>
              <a:t>return returnMap;</a:t>
            </a:r>
            <a:br>
              <a:rPr sz="750"/>
            </a:br>
            <a:r>
              <a:rPr sz="750"/>
              <a:t>} catch (Exception e) {</a:t>
            </a:r>
            <a:br>
              <a:rPr sz="750"/>
            </a:br>
            <a:r>
              <a:rPr sz="750"/>
              <a:t>    StackTraceElement[] stc = e.getStackTrace();</a:t>
            </a:r>
            <a:br>
              <a:rPr sz="750"/>
            </a:br>
            <a:r>
              <a:rPr sz="750"/>
              <a:t>    NhBaseException exception = new NhBaseException(e.getMessage());</a:t>
            </a:r>
            <a:br>
              <a:rPr sz="750"/>
            </a:br>
            <a:r>
              <a:rPr sz="750"/>
              <a:t>    exception.setObskindCode("AAE");</a:t>
            </a:r>
            <a:br>
              <a:rPr sz="750"/>
            </a:br>
            <a:r>
              <a:rPr sz="750"/>
              <a:t>    exception.setErrServiceName(stc[0].getClassName());</a:t>
            </a:r>
            <a:br>
              <a:rPr sz="750"/>
            </a:br>
            <a:r>
              <a:rPr sz="750"/>
              <a:t>    exception.setErrMethodName(stc[0].getMethodName());</a:t>
            </a:r>
            <a:br>
              <a:rPr sz="750"/>
            </a:br>
            <a:r>
              <a:rPr sz="750"/>
              <a:t>    exception.setErrFileName(stc[0].getFileName());</a:t>
            </a:r>
            <a:br>
              <a:rPr sz="750"/>
            </a:br>
            <a:r>
              <a:rPr sz="750"/>
              <a:t>    exception.setPgmLineNo(stc[0].getLineNumber());</a:t>
            </a:r>
            <a:br>
              <a:rPr sz="750"/>
            </a:br>
            <a:r>
              <a:rPr sz="750"/>
              <a:t>    throw exception;</a:t>
            </a:r>
            <a:br>
              <a:rPr sz="750"/>
            </a:br>
            <a:r>
              <a:rPr sz="750"/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537142"/>
            <a:ext cx="3154680" cy="1115568"/>
          </a:xfrm>
          <a:prstGeom prst="rect">
            <a:avLst/>
          </a:prstGeom>
          <a:noFill/>
          <a:ln w="2159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8" y="2052510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27614"/>
            <a:ext cx="1143000" cy="2560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300" b="1">
                <a:solidFill>
                  <a:srgbClr val="242424"/>
                </a:solidFill>
                <a:latin typeface="Malgun Gothic"/>
              </a:defRPr>
            </a:pPr>
            <a:r>
              <a:rPr sz="1300"/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38510"/>
            <a:ext cx="4251960" cy="100584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720" b="0">
                <a:solidFill>
                  <a:srgbClr val="242424"/>
                </a:solidFill>
                <a:latin typeface="Malgun Gothic"/>
              </a:defRPr>
            </a:pPr>
            <a:r>
              <a:rPr sz="720"/>
              <a:t>// Service Call</a:t>
            </a:r>
            <a:br>
              <a:rPr sz="720"/>
            </a:br>
            <a:r>
              <a:rPr sz="720"/>
              <a:t>output = (Map&lt;String,Object&gt;) service.service(input);</a:t>
            </a:r>
            <a:br>
              <a:rPr sz="720"/>
            </a:br>
            <a:r>
              <a:rPr sz="720"/>
              <a:t>ServiceTransactionManager.getInstance().commit(serviceTx);</a:t>
            </a:r>
            <a:br>
              <a:rPr sz="720"/>
            </a:br>
            <a:r>
              <a:rPr sz="720"/>
              <a:t>} catch (Throwable t) {</a:t>
            </a:r>
            <a:br>
              <a:rPr sz="720"/>
            </a:br>
            <a:r>
              <a:rPr sz="720"/>
              <a:t>    ServiceTransactionManager.getInstance().rollback(serviceTx);</a:t>
            </a:r>
            <a:br>
              <a:rPr sz="720"/>
            </a:br>
            <a:r>
              <a:rPr sz="720"/>
              <a:t>    responseStatus = HttpStatus.INTERNAL_SERVER_ERROR;</a:t>
            </a:r>
            <a:br>
              <a:rPr sz="720"/>
            </a:br>
            <a:r>
              <a:rPr sz="720"/>
              <a:t>    errorMsg = systemProcessor.insErrorProcess(t);</a:t>
            </a:r>
            <a:br>
              <a:rPr sz="720"/>
            </a:br>
            <a:r>
              <a:rPr sz="720"/>
              <a:t>    model.addAttribute(XFrame5View.XFRAME5_ERR_CODE , "100");</a:t>
            </a:r>
            <a:br>
              <a:rPr sz="720"/>
            </a:br>
            <a:r>
              <a:rPr sz="720"/>
              <a:t>    model.addAttribute(XFrame5View.XFRAME5_ERR_DETAIL , errorMsg);</a:t>
            </a:r>
            <a:br>
              <a:rPr sz="720"/>
            </a:br>
            <a:r>
              <a:rPr sz="720"/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768278"/>
            <a:ext cx="3703320" cy="694944"/>
          </a:xfrm>
          <a:prstGeom prst="rect">
            <a:avLst/>
          </a:prstGeom>
          <a:noFill/>
          <a:ln w="2159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8992" y="4731702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4187952" y="4731702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969446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915351"/>
            <a:ext cx="534924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18" name="Rectangle 17"/>
          <p:cNvSpPr/>
          <p:nvPr/>
        </p:nvSpPr>
        <p:spPr>
          <a:xfrm>
            <a:off x="5486400" y="1915350"/>
            <a:ext cx="5349240" cy="310896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242424"/>
                </a:solidFill>
                <a:latin typeface="Malgun Gothic"/>
              </a:defRPr>
            </a:pPr>
            <a:r>
              <a:rPr sz="1300"/>
              <a:t>거래 오류 메시지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3888" y="1979358"/>
            <a:ext cx="164592" cy="164592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900"/>
              <a:t>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0992" y="2335974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화면ID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94576" y="2335974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/BIZ/99/0001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0992" y="2523426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화면명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94576" y="2523426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TranInfo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992" y="2710878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오류메시지코드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94576" y="2710878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-100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0992" y="2898330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GUID번호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4576" y="2898330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22070617092261604415E44@0411f6003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0992" y="3085782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에러분류네임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94576" y="3085782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50992" y="3273234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표준에러코드넘버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94576" y="3273234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0992" y="3460686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표준에러코드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94576" y="3460686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FWIN01055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3648138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표준에러메시지내용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94576" y="3648138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에러가 발생하였습니다.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0992" y="3835590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추가메시지내용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94576" y="3835590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endParaRPr sz="690"/>
          </a:p>
        </p:txBody>
      </p:sp>
      <p:sp>
        <p:nvSpPr>
          <p:cNvPr id="38" name="Rectangle 37"/>
          <p:cNvSpPr/>
          <p:nvPr/>
        </p:nvSpPr>
        <p:spPr>
          <a:xfrm>
            <a:off x="5650992" y="4023042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장애종류코드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4576" y="4023042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ECM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50992" y="4210493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에러서비스명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94576" y="4210493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com.nhbank.ins.service.mi.bi.MIBI0009SOService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50992" y="4397945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에러파일명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94576" y="4397945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MIBI0009SOService.java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50992" y="4585397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에러메서드명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94576" y="4585397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service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50992" y="4772850"/>
            <a:ext cx="1243584" cy="141732"/>
          </a:xfrm>
          <a:prstGeom prst="rect">
            <a:avLst/>
          </a:prstGeom>
          <a:solidFill>
            <a:srgbClr val="F4F4F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700" b="0">
                <a:solidFill>
                  <a:srgbClr val="242424"/>
                </a:solidFill>
                <a:latin typeface="Malgun Gothic"/>
              </a:defRPr>
            </a:pPr>
            <a:r>
              <a:rPr sz="700"/>
              <a:t>프로그램라인번호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94576" y="4772850"/>
            <a:ext cx="3520440" cy="14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l">
              <a:defRPr sz="690" b="0">
                <a:solidFill>
                  <a:srgbClr val="242424"/>
                </a:solidFill>
                <a:latin typeface="Malgun Gothic"/>
              </a:defRPr>
            </a:pPr>
            <a:r>
              <a:rPr sz="690"/>
              <a:t>24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96128" y="3030918"/>
            <a:ext cx="4956048" cy="1920240"/>
          </a:xfrm>
          <a:prstGeom prst="rect">
            <a:avLst/>
          </a:prstGeom>
          <a:noFill/>
          <a:ln w="21590">
            <a:solidFill>
              <a:srgbClr val="CD5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296912" y="2143950"/>
            <a:ext cx="256032" cy="256032"/>
          </a:xfrm>
          <a:prstGeom prst="ellipse">
            <a:avLst/>
          </a:prstGeom>
          <a:solidFill>
            <a:srgbClr val="F3C448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42424"/>
                </a:solidFill>
                <a:latin typeface="Malgun Gothic"/>
              </a:defRPr>
            </a:pPr>
            <a:r>
              <a:rPr sz="1100"/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16368" y="5280342"/>
            <a:ext cx="868680" cy="219456"/>
          </a:xfrm>
          <a:prstGeom prst="rect">
            <a:avLst/>
          </a:prstGeom>
          <a:solidFill>
            <a:srgbClr val="2B5DB4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rPr sz="1000"/>
              <a:t>닫기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920422"/>
            <a:ext cx="10927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Malgun Gothic"/>
              </a:defRPr>
            </a:pPr>
            <a:endParaRPr sz="1100"/>
          </a:p>
        </p:txBody>
      </p:sp>
      <p:sp>
        <p:nvSpPr>
          <p:cNvPr id="52" name="TextBox 51"/>
          <p:cNvSpPr txBox="1"/>
          <p:nvPr/>
        </p:nvSpPr>
        <p:spPr>
          <a:xfrm>
            <a:off x="502920" y="6030150"/>
            <a:ext cx="10561320" cy="640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900">
                <a:solidFill>
                  <a:srgbClr val="242424"/>
                </a:solidFill>
                <a:latin typeface="Malgun Gothic"/>
              </a:defRPr>
            </a:pPr>
            <a:r>
              <a:rPr sz="900"/>
              <a:t>1. Service에서 Exception 발생시 NhBaseException 객체를 생성하여 장애종류코드, 에러 서비스 명 등 값을 셋팅</a:t>
            </a:r>
          </a:p>
          <a:p>
            <a:pPr>
              <a:defRPr sz="900">
                <a:solidFill>
                  <a:srgbClr val="242424"/>
                </a:solidFill>
                <a:latin typeface="Malgun Gothic"/>
              </a:defRPr>
            </a:pPr>
            <a:r>
              <a:rPr sz="900"/>
              <a:t>2. Controller에서는 Service에서 전달받은 Exception 객체를 Common 영역의 Error Process 메서드의 인자로 전달</a:t>
            </a:r>
          </a:p>
          <a:p>
            <a:pPr>
              <a:defRPr sz="900">
                <a:solidFill>
                  <a:srgbClr val="242424"/>
                </a:solidFill>
                <a:latin typeface="Malgun Gothic"/>
              </a:defRPr>
            </a:pPr>
            <a:r>
              <a:rPr sz="900"/>
              <a:t>3. 전달받은 Exception 객체를 기반으로 표준 에러전문 생성</a:t>
            </a:r>
          </a:p>
          <a:p>
            <a:pPr>
              <a:defRPr sz="900">
                <a:solidFill>
                  <a:srgbClr val="242424"/>
                </a:solidFill>
                <a:latin typeface="Malgun Gothic"/>
              </a:defRPr>
            </a:pPr>
            <a:r>
              <a:rPr sz="900"/>
              <a:t>4. Error Process 로 부터 전달받은 오류 메시지를 xFrame에 전달</a:t>
            </a:r>
          </a:p>
          <a:p>
            <a:pPr>
              <a:defRPr sz="900">
                <a:solidFill>
                  <a:srgbClr val="242424"/>
                </a:solidFill>
                <a:latin typeface="Malgun Gothic"/>
              </a:defRPr>
            </a:pPr>
            <a:r>
              <a:rPr sz="900"/>
              <a:t>5. UI에 전달된 거래 오류 메시지</a:t>
            </a:r>
          </a:p>
        </p:txBody>
      </p:sp>
    </p:spTree>
    <p:extLst>
      <p:ext uri="{BB962C8B-B14F-4D97-AF65-F5344CB8AC3E}">
        <p14:creationId xmlns:p14="http://schemas.microsoft.com/office/powerpoint/2010/main" val="91374916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거래로그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1330134"/>
            <a:ext cx="10058400" cy="274320"/>
          </a:xfrm>
          <a:prstGeom prst="rect">
            <a:avLst/>
          </a:prstGeom>
          <a:noFill/>
        </p:spPr>
        <p:txBody>
          <a:bodyPr wrap="square" anchor="t">
            <a:normAutofit fontScale="850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프레임워크 시스템 선/후처리, 오류처리에서 거래로그를 Console 및 DB 에 적재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2262822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438912" y="2262822"/>
            <a:ext cx="25146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592005"/>
            <a:ext cx="1719072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선처리 수행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838893"/>
            <a:ext cx="1719072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서비스 호출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085781"/>
            <a:ext cx="1719072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오류 처리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332669"/>
            <a:ext cx="1719072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시스템 후처리 수행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228782"/>
            <a:ext cx="2926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384048" y="4228782"/>
            <a:ext cx="292608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nhbank-common</a:t>
            </a:r>
            <a:br>
              <a:rPr sz="1200"/>
            </a:br>
            <a:r>
              <a:rPr sz="1200"/>
              <a:t>(공통라이브러리)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68598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713232" y="4685982"/>
            <a:ext cx="21945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SystemProcessor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87734"/>
            <a:ext cx="1828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거래입력로그 출력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거래로그 적재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거래출력로그 출력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41750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713232" y="5417502"/>
            <a:ext cx="21945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ErrorProcessor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719254"/>
            <a:ext cx="1828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오류전문 생성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오류로그 출력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오류로그 적재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2308542"/>
            <a:ext cx="5532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5687568" y="2308542"/>
            <a:ext cx="55321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App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610293"/>
            <a:ext cx="5029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at com [...] TRANSACTIONGUID: [...] SESSION ID : MPCM1005 | ip : 10.24...</a:t>
            </a:r>
            <a:br>
              <a:rPr sz="800"/>
            </a:br>
            <a:r>
              <a:rPr sz="800"/>
              <a:t>API MONITOR [...] (Transaction)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96128" y="3451542"/>
            <a:ext cx="56235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5596128" y="3451542"/>
            <a:ext cx="562356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817302"/>
            <a:ext cx="5029200" cy="274320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BI포탈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852160" y="4091622"/>
          <a:ext cx="502919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1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GUID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조작자 개인번호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정보계최초등록자개인번호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정보계최종변경자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개인번호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업무로그일시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BI포탈 전문내용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정보계최초등록일시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정보계최종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변경일시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서비스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정보계최초등록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프로그램ID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정보계최종변경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프로그램ID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5852160" y="4987734"/>
            <a:ext cx="5029200" cy="274320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마케팅허브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852160" y="5262054"/>
          <a:ext cx="502919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거래일련번호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거래서비스ID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거래응답일시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거래자개인번호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거래결과</a:t>
                      </a:r>
                    </a:p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구분코드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정보계최초등록</a:t>
                      </a:r>
                    </a:p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프로그램ID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정보계최종변경</a:t>
                      </a:r>
                    </a:p>
                    <a:p>
                      <a:pPr algn="ctr">
                        <a:defRPr sz="700" b="1">
                          <a:latin typeface="Malgun Gothic"/>
                        </a:defRPr>
                      </a:pPr>
                      <a:r>
                        <a:t>프로그램ID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거래일자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글로벌ID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거래소요시간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거래사무소코드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에러코드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정보계최초</a:t>
                      </a:r>
                    </a:p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등록자개인번호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정보계최종변경</a:t>
                      </a:r>
                    </a:p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자개인번호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마케팅허브ID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거래요청일시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거래인식내용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거래단말기</a:t>
                      </a:r>
                    </a:p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IP주소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에러내용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정보계최초</a:t>
                      </a:r>
                    </a:p>
                    <a:p>
                      <a:pPr algn="ctr">
                        <a:defRPr sz="700">
                          <a:latin typeface="Malgun Gothic"/>
                        </a:defRPr>
                      </a:pPr>
                      <a:r>
                        <a:t>등록일시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00">
                          <a:latin typeface="Malgun Gothic"/>
                        </a:defRPr>
                      </a:pPr>
                      <a:r>
                        <a:t>정보계최종변경일시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9" name="Connector 28"/>
          <p:cNvCxnSpPr/>
          <p:nvPr/>
        </p:nvCxnSpPr>
        <p:spPr>
          <a:xfrm flipV="1">
            <a:off x="2953512" y="2628582"/>
            <a:ext cx="2734056" cy="320040"/>
          </a:xfrm>
          <a:prstGeom prst="line">
            <a:avLst/>
          </a:prstGeom>
          <a:ln w="2159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953512" y="4274502"/>
            <a:ext cx="2642616" cy="731521"/>
          </a:xfrm>
          <a:prstGeom prst="line">
            <a:avLst/>
          </a:prstGeom>
          <a:ln w="2159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953512" y="5600382"/>
            <a:ext cx="2642616" cy="155448"/>
          </a:xfrm>
          <a:prstGeom prst="line">
            <a:avLst/>
          </a:prstGeom>
          <a:ln w="21590">
            <a:solidFill>
              <a:srgbClr val="CD5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75591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Master Solution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66710"/>
            <a:ext cx="10058400" cy="310896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Master Solution 을 활용하여 프레임워크에서 사용하는 파라미터를 관리하는 기능 제공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51342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502920" y="1851342"/>
            <a:ext cx="26060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Master Solution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53094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749808" y="2153094"/>
            <a:ext cx="21031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파라미터 관리기능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4457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399981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파라미터 등록</a:t>
            </a:r>
            <a:br>
              <a:rPr sz="1100"/>
            </a:br>
            <a:r>
              <a:rPr sz="1100"/>
              <a:t>(거래제어, DB정보, Log Level)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01263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749808" y="3012630"/>
            <a:ext cx="21031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파라미터 동적변경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268662"/>
            <a:ext cx="14173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Container 선택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52469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1078992" y="3524694"/>
            <a:ext cx="14173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동적변경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171382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4160520" y="217138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Spring Cloud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610293"/>
            <a:ext cx="411480" cy="420624"/>
          </a:xfrm>
          <a:prstGeom prst="rect">
            <a:avLst/>
          </a:prstGeom>
          <a:solidFill>
            <a:srgbClr val="4141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sz="2400"/>
              <a:t>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610293"/>
            <a:ext cx="411480" cy="420624"/>
          </a:xfrm>
          <a:prstGeom prst="rect">
            <a:avLst/>
          </a:prstGeom>
          <a:solidFill>
            <a:srgbClr val="4141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sz="2400"/>
              <a:t>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2610293"/>
            <a:ext cx="411480" cy="420624"/>
          </a:xfrm>
          <a:prstGeom prst="rect">
            <a:avLst/>
          </a:prstGeom>
          <a:solidFill>
            <a:srgbClr val="4141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sz="2400"/>
              <a:t>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77158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4434840" y="3771582"/>
            <a:ext cx="18288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137342"/>
            <a:ext cx="132588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DB</a:t>
            </a:r>
            <a:br>
              <a:rPr sz="1600"/>
            </a:br>
            <a:r>
              <a:rPr sz="1600"/>
              <a:t>(Key-Value)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594542"/>
            <a:ext cx="11887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P_ID    Key    Value   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034222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8046720" y="203422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Application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290254"/>
            <a:ext cx="1783080" cy="237744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application.yml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82862"/>
            <a:ext cx="1600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Master Solution Admin 정보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Spring Cloud Config Server 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930334"/>
            <a:ext cx="1325880" cy="384048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076638"/>
            <a:ext cx="731520" cy="18288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l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◉◉◉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497262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8046720" y="349726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Application #2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753294"/>
            <a:ext cx="1783080" cy="237744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application.yml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045902"/>
            <a:ext cx="1600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Master Solution Admin 정보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Spring Cloud Config Server 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393374"/>
            <a:ext cx="1325880" cy="384048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539677"/>
            <a:ext cx="731520" cy="18288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l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◉◉◉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5051742"/>
            <a:ext cx="2331720" cy="320040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Application #{...n}</a:t>
            </a:r>
          </a:p>
        </p:txBody>
      </p:sp>
      <p:sp>
        <p:nvSpPr>
          <p:cNvPr id="39" name="Oval 38"/>
          <p:cNvSpPr/>
          <p:nvPr/>
        </p:nvSpPr>
        <p:spPr>
          <a:xfrm>
            <a:off x="6510528" y="253714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40" name="Oval 39"/>
          <p:cNvSpPr/>
          <p:nvPr/>
        </p:nvSpPr>
        <p:spPr>
          <a:xfrm>
            <a:off x="5266944" y="35429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6446520" y="31315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08960" y="2582862"/>
            <a:ext cx="105156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49240" y="34972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92240" y="2582862"/>
            <a:ext cx="1554480" cy="0"/>
          </a:xfrm>
          <a:prstGeom prst="line">
            <a:avLst/>
          </a:prstGeom>
          <a:ln w="1270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92240" y="3314382"/>
            <a:ext cx="1554480" cy="731520"/>
          </a:xfrm>
          <a:prstGeom prst="line">
            <a:avLst/>
          </a:prstGeom>
          <a:ln w="12700">
            <a:solidFill>
              <a:srgbClr val="2C7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144000" y="4914582"/>
            <a:ext cx="0" cy="457200"/>
          </a:xfrm>
          <a:prstGeom prst="line">
            <a:avLst/>
          </a:prstGeom>
          <a:ln w="12700">
            <a:solidFill>
              <a:srgbClr val="2C7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47472" y="4503101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438912" y="4548821"/>
            <a:ext cx="3063240" cy="201168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Master Solution 파라미터 등록 및 사용 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59134"/>
            <a:ext cx="304495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파라미터 신규등록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Application 기동시 Spring Cloud Config에 파라미터 정보 요청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Master Solution DB로부터 파라미터 정보 조회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해당 Application(프로젝트)에 속한 System Context를 Application 내부 캐싱영역에 저장</a:t>
            </a:r>
          </a:p>
        </p:txBody>
      </p:sp>
    </p:spTree>
    <p:extLst>
      <p:ext uri="{BB962C8B-B14F-4D97-AF65-F5344CB8AC3E}">
        <p14:creationId xmlns:p14="http://schemas.microsoft.com/office/powerpoint/2010/main" val="419551521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Master Solution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66710"/>
            <a:ext cx="10058400" cy="310896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Master Solution 을 활용하여 파라미터 동적반영 기능제공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51342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502920" y="1851342"/>
            <a:ext cx="260604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Master Solution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53094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749808" y="2153094"/>
            <a:ext cx="21031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파라미터 관리기능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4457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399981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파라미터 수정</a:t>
            </a:r>
            <a:br>
              <a:rPr sz="1100"/>
            </a:br>
            <a:r>
              <a:rPr sz="1100"/>
              <a:t>(거래제어, DB정보, Log Level)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01263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749808" y="3012630"/>
            <a:ext cx="21031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파라미터 동적변경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268662"/>
            <a:ext cx="14173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Container 선택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524694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3524694"/>
            <a:ext cx="14173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82828"/>
                </a:solidFill>
                <a:latin typeface="Malgun Gothic"/>
              </a:defRPr>
            </a:pPr>
            <a:r>
              <a:rPr sz="1100"/>
              <a:t>동적변경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171382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4160520" y="217138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Spring Cloud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610293"/>
            <a:ext cx="411480" cy="420624"/>
          </a:xfrm>
          <a:prstGeom prst="rect">
            <a:avLst/>
          </a:prstGeom>
          <a:solidFill>
            <a:srgbClr val="4141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sz="2400"/>
              <a:t>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610293"/>
            <a:ext cx="411480" cy="420624"/>
          </a:xfrm>
          <a:prstGeom prst="rect">
            <a:avLst/>
          </a:prstGeom>
          <a:solidFill>
            <a:srgbClr val="4141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sz="2400"/>
              <a:t>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2610293"/>
            <a:ext cx="411480" cy="420624"/>
          </a:xfrm>
          <a:prstGeom prst="rect">
            <a:avLst/>
          </a:prstGeom>
          <a:solidFill>
            <a:srgbClr val="4141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sz="2400"/>
              <a:t>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77158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4434840" y="3771582"/>
            <a:ext cx="182880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137342"/>
            <a:ext cx="132588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B6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828"/>
                </a:solidFill>
                <a:latin typeface="Malgun Gothic"/>
              </a:defRPr>
            </a:pPr>
            <a:r>
              <a:rPr sz="1600"/>
              <a:t>DB</a:t>
            </a:r>
            <a:br>
              <a:rPr sz="1600"/>
            </a:br>
            <a:r>
              <a:rPr sz="1600"/>
              <a:t>(Key-Value)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594542"/>
            <a:ext cx="1188720" cy="256032"/>
          </a:xfrm>
          <a:prstGeom prst="rect">
            <a:avLst/>
          </a:prstGeom>
          <a:solidFill>
            <a:srgbClr val="E7F0FC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82828"/>
                </a:solidFill>
                <a:latin typeface="Malgun Gothic"/>
              </a:defRPr>
            </a:pPr>
            <a:r>
              <a:rPr sz="800"/>
              <a:t>P_ID    Key    Value   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034222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8046720" y="203422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Application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290254"/>
            <a:ext cx="1783080" cy="237744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application.yml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82862"/>
            <a:ext cx="1600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Master Solution Admin 정보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Spring Cloud Config Server 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930334"/>
            <a:ext cx="1325880" cy="384048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076638"/>
            <a:ext cx="731520" cy="18288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l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◉◉◉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497262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8046720" y="3497262"/>
            <a:ext cx="2331720" cy="274320"/>
          </a:xfrm>
          <a:prstGeom prst="rect">
            <a:avLst/>
          </a:prstGeom>
          <a:solidFill>
            <a:srgbClr val="2755AA"/>
          </a:solidFill>
          <a:ln w="12700">
            <a:solidFill>
              <a:srgbClr val="27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sz="1200"/>
              <a:t>Application #2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753294"/>
            <a:ext cx="1783080" cy="237744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application.yml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045902"/>
            <a:ext cx="1600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Master Solution Admin 정보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- Spring Cloud Config Server 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393374"/>
            <a:ext cx="1325880" cy="384048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539677"/>
            <a:ext cx="731520" cy="18288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l">
              <a:defRPr sz="2600" b="0">
                <a:solidFill>
                  <a:srgbClr val="282828"/>
                </a:solidFill>
                <a:latin typeface="Malgun Gothic"/>
              </a:defRPr>
            </a:pPr>
            <a:r>
              <a:rPr sz="2600"/>
              <a:t>◉◉◉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5051742"/>
            <a:ext cx="2331720" cy="320040"/>
          </a:xfrm>
          <a:prstGeom prst="rect">
            <a:avLst/>
          </a:prstGeom>
          <a:solidFill>
            <a:srgbClr val="2755AA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sz="1400"/>
              <a:t>Application #{...n}</a:t>
            </a:r>
          </a:p>
        </p:txBody>
      </p:sp>
      <p:sp>
        <p:nvSpPr>
          <p:cNvPr id="39" name="Oval 38"/>
          <p:cNvSpPr/>
          <p:nvPr/>
        </p:nvSpPr>
        <p:spPr>
          <a:xfrm>
            <a:off x="6510528" y="253714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4</a:t>
            </a:r>
          </a:p>
        </p:txBody>
      </p:sp>
      <p:sp>
        <p:nvSpPr>
          <p:cNvPr id="40" name="Oval 39"/>
          <p:cNvSpPr/>
          <p:nvPr/>
        </p:nvSpPr>
        <p:spPr>
          <a:xfrm>
            <a:off x="5266944" y="354298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6446520" y="3131502"/>
            <a:ext cx="274320" cy="274320"/>
          </a:xfrm>
          <a:prstGeom prst="ellipse">
            <a:avLst/>
          </a:prstGeom>
          <a:solidFill>
            <a:srgbClr val="F3C448"/>
          </a:solidFill>
          <a:ln w="12700">
            <a:solidFill>
              <a:srgbClr val="B8B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cxnSp>
        <p:nvCxnSpPr>
          <p:cNvPr id="42" name="Connector 41"/>
          <p:cNvCxnSpPr/>
          <p:nvPr/>
        </p:nvCxnSpPr>
        <p:spPr>
          <a:xfrm>
            <a:off x="3108960" y="2582862"/>
            <a:ext cx="105156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349240" y="3497262"/>
            <a:ext cx="0" cy="27432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92240" y="2582862"/>
            <a:ext cx="1554480" cy="0"/>
          </a:xfrm>
          <a:prstGeom prst="line">
            <a:avLst/>
          </a:prstGeom>
          <a:ln w="12700">
            <a:solidFill>
              <a:srgbClr val="2B6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92240" y="3314382"/>
            <a:ext cx="1554480" cy="731520"/>
          </a:xfrm>
          <a:prstGeom prst="line">
            <a:avLst/>
          </a:prstGeom>
          <a:ln w="12700">
            <a:solidFill>
              <a:srgbClr val="2C7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144000" y="4914582"/>
            <a:ext cx="0" cy="457200"/>
          </a:xfrm>
          <a:prstGeom prst="line">
            <a:avLst/>
          </a:prstGeom>
          <a:ln w="12700">
            <a:solidFill>
              <a:srgbClr val="2C7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47472" y="4503101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82828"/>
                </a:solidFill>
                <a:latin typeface="Malgun Gothic"/>
              </a:defRPr>
            </a:pPr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438912" y="4548821"/>
            <a:ext cx="3063240" cy="201168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1200" b="1">
                <a:solidFill>
                  <a:srgbClr val="282828"/>
                </a:solidFill>
                <a:latin typeface="Malgun Gothic"/>
              </a:defRPr>
            </a:pPr>
            <a:r>
              <a:rPr sz="1200"/>
              <a:t>Master Solution 파라미터 변경 및 동적변경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59134"/>
            <a:ext cx="304495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1. 파라미터 수정시 Master Solution DB에 저장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2. 파라미터 동적변경 수행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3. Spring Cloud Config 에서 Master Solution DB에서 변경된 파라미터 정보를 읽음</a:t>
            </a:r>
          </a:p>
          <a:p>
            <a:pPr algn="l">
              <a:lnSpc>
                <a:spcPct val="100000"/>
              </a:lnSpc>
              <a:defRPr sz="1000" b="0">
                <a:solidFill>
                  <a:srgbClr val="282828"/>
                </a:solidFill>
                <a:latin typeface="Malgun Gothic"/>
              </a:defRPr>
            </a:pPr>
            <a:r>
              <a:rPr sz="1000"/>
              <a:t>4. Spring Cloud Config 에서 해당 컨테이너에 대한 파라미터 동적변경 수행(/actuator/refresh)후 캐시영역에 저장</a:t>
            </a:r>
          </a:p>
        </p:txBody>
      </p:sp>
    </p:spTree>
    <p:extLst>
      <p:ext uri="{BB962C8B-B14F-4D97-AF65-F5344CB8AC3E}">
        <p14:creationId xmlns:p14="http://schemas.microsoft.com/office/powerpoint/2010/main" val="247671493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클라우드 프레임워크 제공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94142"/>
            <a:ext cx="10972800" cy="41148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BT (Business Tier)의 서비스를 구성하는 클라우드 프레임워크의 기능을 상용 프레임워크 기준의 OSS</a:t>
            </a:r>
            <a:br/>
            <a:r>
              <a:t>F/W 대응 방안으로 정의함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1" y="2125663"/>
          <a:ext cx="11247119" cy="486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기능셋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주요 요소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요소</a:t>
                      </a:r>
                    </a:p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개수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제공</a:t>
                      </a:r>
                    </a:p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OSS</a:t>
                      </a:r>
                    </a:p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활용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개발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전문 I/O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전문 설계 / Excel / 포맷 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고정 길이 전문 지원 (톤)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DBIO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SQL 등록 및 관리, 테스트 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OSS 및 DB 툴 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거래테스트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단위 테스트 지원 기능, 자동화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OSS 활용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통합 개발 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통합 개발 IDE (STS 등) 및 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실행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온라인 Channel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HTTP, 거래 제어, 서비스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HTTP 기반 연계 만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온라인 Business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선후처리, 로그, 메시지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이미지 로그 저장만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온라인 Interface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동기/비동기 연계, Tx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개별 업무 공통부터 1-Tx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Integration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OSS 및 EAI, Object Storage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공통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예외처리, 암복호화, 헤더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헤더 조립 기능 제공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배치 처리 및 스케줄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Spring Batch + Control-M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운영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일반 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Master Solution(파라미터 관리시스템)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온라인 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r>
                        <a:t>파라미터 동적변경 및 운영 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12173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92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상용 F/W 대비 대응 기능 정의 – 개발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942782"/>
          <a:ext cx="11292836" cy="5503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6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2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63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요소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설명 및 세부 내역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제공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OSS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활용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전문 I/O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전문 구조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I/O 전문 설계 Editor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DTO Editor Plug-In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Excel(I/O 정의)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Excel을 이용한 I/O 정보 Import /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DTO Editor Plug-In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I/O 객체 또는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XML 파일 생성/관리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I/O 객체 또는 XML 파일 자동 생성 및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DTO Editor Plug-In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전문 포맷 다중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JSON 및 Fixed Length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Charset(UTF-8, MS949)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DTO Editor Plug-In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MMS(Meta Management System)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MMS 연동 DTO 생성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DTO Editor MMS 연동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DBIO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SQL 등록 및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SQL 등록 및 관리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MyBatis 사용 (OSS)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소스코드와 SQL 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SQL 문 작성을 위한 XML(SQL Mapper)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생성 및 관리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MyBatis 사용 (OSS)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거래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전문 구조 기반 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I/O 전문기반의 테스트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Junit 활용 (OSS)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Unit 테스트 자동화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Unit 테스트에 대한 자동화 지원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(코드 레벨 테스트)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Junit 활용 (OSS)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통합 개발 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통합 개발 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설계/개발/테스트를 지원하는 통합 개발 환경 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Eclipse 기반의 개발 툴 사용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(STS : Spring Tool Suite)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Build &amp;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Compile, Build, Hot Deploy 기능 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STS 제공 기능 활용 검토 및 가이드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(OSS)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개발자 로컬 테스트 지원을 위한 기능으로 한정(Hot Deploy)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버전관리 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소스 버전관리 기능 및 third party 형상 관리와 연동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CI/CD 제공 환경 사용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(Gitlab)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834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프로그램 유형별 Template 기반 자동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Code Snippet Plugin 제공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16470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상용 F/W 대비 대응 기능 정의 – 실행 환경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84998"/>
            <a:ext cx="11430000" cy="320040"/>
          </a:xfrm>
          <a:prstGeom prst="rect">
            <a:avLst/>
          </a:prstGeom>
          <a:noFill/>
        </p:spPr>
        <p:txBody>
          <a:bodyPr wrap="square" anchor="t">
            <a:normAutofit fontScale="47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실행 환경은 클라우드 프레임워크 기반에서 개발/배포한 업무 서비스 모듈을 실행하기 위한 기능</a:t>
            </a:r>
            <a:br/>
            <a:r>
              <a:t>을 의미함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9" y="2034222"/>
          <a:ext cx="1133855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9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4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요소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설명 및 세부 내역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제공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OSS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활용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온라인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Channel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Service Control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거래 제어 기능 제공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채널별, Device별, 시간별 등에 대한 거래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AOP 개발 가이드 제공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Master Solution과 연계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Spring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Service 인식 및 DTO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온라인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Business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거래 선후처리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시스템/업무에 대한 선/후처리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F/W, 도메인, 어플리케이션 레벨에 따른 선/후처리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NB Spring Controller 시스템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선/후처리 제공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AOP 영역에서 업무 선/후처리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거래 로그 수집 및 조회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(이미지 로그 수집 및 조회)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Sync. Async 방식 지원 (동적 제어)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저장 기능은 F/W에서, 조회 기능은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업무 개발팀에서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로그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로그 분류 및 개별 로그 수집 / 생성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F/W 로그, I/O 로그, SQL 로그, Biz 로그, 통계 로그 등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Service ID별, Application별 로그 레벨 동적 제어 기능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Log4j2의 Wrapper 제공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(GUID 및 서비스ID 정보 추가)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로그 발생을 위한 추가 항목 정의 필요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로그 레벨 동적 관리는 Master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Solution 활용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메시지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정상/오류/푸시 메시지 기능 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AOP를 이용한 메시지 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16448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671766"/>
            <a:ext cx="6217920" cy="4114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l">
              <a:defRPr sz="2600" b="1">
                <a:solidFill>
                  <a:srgbClr val="282828"/>
                </a:solidFill>
                <a:latin typeface="Malgun Gothic"/>
              </a:defRPr>
            </a:pPr>
            <a:r>
              <a:rPr sz="2600"/>
              <a:t>상용 F/W 대비 대응 기능 정의 – 실행 환경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3830"/>
            <a:ext cx="777240" cy="45720"/>
          </a:xfrm>
          <a:prstGeom prst="rect">
            <a:avLst/>
          </a:prstGeom>
          <a:solidFill>
            <a:srgbClr val="2B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183830"/>
            <a:ext cx="11411712" cy="45720"/>
          </a:xfrm>
          <a:prstGeom prst="rect">
            <a:avLst/>
          </a:prstGeom>
          <a:solidFill>
            <a:srgbClr val="2C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84998"/>
            <a:ext cx="11430000" cy="36576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l">
              <a:defRPr sz="1800" b="0">
                <a:solidFill>
                  <a:srgbClr val="282828"/>
                </a:solidFill>
                <a:latin typeface="Malgun Gothic"/>
              </a:defRPr>
            </a:pPr>
            <a:r>
              <a:t>클라우드 프레임워크에서 기본 트랜잭션을 관리하며, MIDAS를 이용하여 다양한 외부 시스템과의 통합</a:t>
            </a:r>
            <a:br/>
            <a:r>
              <a:t>기능을 제공함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9" y="2125662"/>
          <a:ext cx="11338557" cy="508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2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8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05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73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요소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설명 및 세부 내역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제공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OSS</a:t>
                      </a:r>
                    </a:p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활용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온라인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Interface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유관 시스템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유관 시스템 연계 API 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EAI 연계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Sync 방식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MIDAS Sync 방식지원(WebClient 기반 통신)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MIDAS ServiceManager를 통해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WebClient를 기반으로 Sync 방식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C2C 통신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Async 방식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rPr dirty="0"/>
                        <a:t>MIDAS </a:t>
                      </a:r>
                      <a:r>
                        <a:rPr dirty="0" err="1"/>
                        <a:t>Async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방식지원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WebFlux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통신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MIDAS ServiceManager를 통해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WebFlux를 기반으로 Async 방식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C2C 통신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Tx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서비스 처리시 원 거래 트랜잭션을 F/W에서 관리하는 기능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F/W에서 기본 Tx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Tx 관리범위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: 서비스 호출 전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~ 서비스 호출 후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: 개별 트랜잭션 제공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Tx 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원 거래와 트랜잭션을 분리하는 기능 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시스템 영역에서 개별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트랜잭션 기능 제공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배치 업무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Spring Batch 활용 및 가이드 작성,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제공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배치 등록/관리/스케쥴러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시간, 주기 등 배치 스케쥴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배치작업자동화(Control-M)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상용 스케쥴러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상용 작업스케줄러 연계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배치작업자동화(Control-M)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SAM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SAM파일을 이용한 배치작업(Input/Output)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Spring Batch 기능을 활용하여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SAM 파일 활용에 대한 샘플 및</a:t>
                      </a:r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가이드 제공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740"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대용량 배치 서비스 지원 기능(병렬처리 지원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Partitioning 기능을 활용하여 Chunk Size 조정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- 멀티 스레드 스텝을 사용하여 각 Chunk에 여러개</a:t>
                      </a:r>
                    </a:p>
                    <a:p>
                      <a:pPr algn="l">
                        <a:defRPr sz="800">
                          <a:latin typeface="Malgun Gothic"/>
                        </a:defRPr>
                      </a:pPr>
                      <a:r>
                        <a:t>스레드가 붙어서 작동하는 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rPr dirty="0"/>
                        <a:t>Spring Batch </a:t>
                      </a:r>
                      <a:r>
                        <a:rPr dirty="0" err="1"/>
                        <a:t>기능을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활용하여</a:t>
                      </a:r>
                      <a:endParaRPr dirty="0"/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rPr dirty="0" err="1"/>
                        <a:t>병렬처리에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대한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샘플</a:t>
                      </a:r>
                      <a:r>
                        <a:rPr dirty="0"/>
                        <a:t> 및 </a:t>
                      </a:r>
                      <a:r>
                        <a:rPr dirty="0" err="1"/>
                        <a:t>가이드</a:t>
                      </a:r>
                      <a:endParaRPr dirty="0"/>
                    </a:p>
                    <a:p>
                      <a:pPr algn="ctr">
                        <a:defRPr sz="800">
                          <a:latin typeface="Malgun Gothic"/>
                        </a:defRPr>
                      </a:pPr>
                      <a:r>
                        <a:rPr dirty="0" err="1"/>
                        <a:t>제공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13069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781494"/>
            <a:ext cx="3291840" cy="71404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algun Gothic"/>
              </a:rPr>
              <a:t>상용 F/W 대비 대응 기능 정의 - 실행 환경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59318"/>
            <a:ext cx="640080" cy="36576"/>
          </a:xfrm>
          <a:prstGeom prst="rect">
            <a:avLst/>
          </a:prstGeom>
          <a:solidFill>
            <a:srgbClr val="21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659318"/>
            <a:ext cx="256032" cy="36576"/>
          </a:xfrm>
          <a:prstGeom prst="rect">
            <a:avLst/>
          </a:prstGeom>
          <a:solidFill>
            <a:srgbClr val="B4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1659318"/>
            <a:ext cx="11292840" cy="36576"/>
          </a:xfrm>
          <a:prstGeom prst="rect">
            <a:avLst/>
          </a:prstGeom>
          <a:solidFill>
            <a:srgbClr val="58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851342"/>
            <a:ext cx="11338560" cy="5293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  <a:latin typeface="Malgun Gothic"/>
              </a:rPr>
              <a:t>클라우드 프레임워크의 공통 기능으로 로깅, 오류 처리, 공통 헤더 처리 기능을 제공하며, 배치 업무를</a:t>
            </a:r>
          </a:p>
          <a:p>
            <a:pPr algn="l"/>
            <a:r>
              <a:rPr sz="1600">
                <a:solidFill>
                  <a:srgbClr val="333333"/>
                </a:solidFill>
                <a:latin typeface="Malgun Gothic"/>
              </a:rPr>
              <a:t>Spring Batch를 활용함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2381693"/>
          <a:ext cx="10652760" cy="5423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상용 F/W 기준 기능 목록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클라우드 프레임워크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요소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설명 및 세부 내역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제공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OSS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활용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 row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배치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배치작업 결과(LOG) 통합관리 기능(Log제어 및 생성)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로그 파일 관리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Control-M 결과관리 기능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배치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비정상 종료 시 재작업을 위한 Restart Point 관리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Spring Batch 기능을 활용하여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Restart Point에 대한 샘플 및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가이드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상주배치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한번의 배치 수행으로 수시로 배치서비스를 호출하는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Spring Batch에서 While문으로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배치를 반복적으로 수행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실행결과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Control-M을 활용하여 배치 결과 및 업무로그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Control-M을 활용하여 배치 결과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및 업무로그 관리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Spring Batch Repository를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활용하여 배치 서비스의 시작 및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결과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 row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공통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공통 헤더 처리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헤더 조립 및 Setter, Getter 함수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표준헤더, EAI헤더, 대외MCI헤더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등 대표 헤더 처리 기능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GUID 채번 기능 등 포함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Exception, Error Handle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예외 및 에러 처리 기능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AOP / Tx 관리와 연동된 Exception 처리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Exception Handler 위치 정의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Error 및 Exception 유형별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표준 처리 가이드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Security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암복호화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DTO 항목별 Field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환경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55285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781494"/>
            <a:ext cx="3291840" cy="71404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algun Gothic"/>
              </a:rPr>
              <a:t>상용 F/W 대비 대응 기능 정의 - 실행 환경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59318"/>
            <a:ext cx="640080" cy="36576"/>
          </a:xfrm>
          <a:prstGeom prst="rect">
            <a:avLst/>
          </a:prstGeom>
          <a:solidFill>
            <a:srgbClr val="21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659318"/>
            <a:ext cx="256032" cy="36576"/>
          </a:xfrm>
          <a:prstGeom prst="rect">
            <a:avLst/>
          </a:prstGeom>
          <a:solidFill>
            <a:srgbClr val="B4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1659318"/>
            <a:ext cx="11292840" cy="36576"/>
          </a:xfrm>
          <a:prstGeom prst="rect">
            <a:avLst/>
          </a:prstGeom>
          <a:solidFill>
            <a:srgbClr val="58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851342"/>
            <a:ext cx="11338560" cy="5293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  <a:latin typeface="Malgun Gothic"/>
              </a:rPr>
              <a:t>클라우드 프레임워크의 공통 기능으로 로깅, 오류 처리, 공통 헤더 처리 기능을 제공하며, 배치 업무를</a:t>
            </a:r>
          </a:p>
          <a:p>
            <a:pPr algn="l"/>
            <a:r>
              <a:rPr sz="1600">
                <a:solidFill>
                  <a:srgbClr val="333333"/>
                </a:solidFill>
                <a:latin typeface="Malgun Gothic"/>
              </a:rPr>
              <a:t>Spring Batch를 활용함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2381693"/>
          <a:ext cx="10652760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상용 F/W 기준 기능 목록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클라우드 프레임워크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요소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설명 및 세부 내역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제공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OSS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활용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 row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공통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로깅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다양한 로그 레벨, 로그 매체에 표준화된 로깅 제공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동적 관리 도구 및 레벨 동적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Service ID별, Application별 로그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레벨 동적 제어 기능 제공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(Master Solution 연동)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log4j2의 Wrapper 제공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(GUID 및 서비스ID 정보 추가)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항목 관련 협의 및 정의 필요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(표준전문 헤더부 기준)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메모리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대량 데이터 조회시 메모리 고갈 방지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Spring Batch의 페이징 처리에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대한 샘플 및 가이드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 row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Integration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Service Mesh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Service &lt;-&gt; Spring Cloud 연계 통합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MIDAS SM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ETC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Service &lt;-&gt; Object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공통라이브러리로 기능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EAI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EAI 연계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공통라이브러리로 기능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34905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781494"/>
            <a:ext cx="3291840" cy="71404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algun Gothic"/>
              </a:rPr>
              <a:t>상용 F/W 대비 대응 기능 정의 - 운영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59318"/>
            <a:ext cx="640080" cy="36576"/>
          </a:xfrm>
          <a:prstGeom prst="rect">
            <a:avLst/>
          </a:prstGeom>
          <a:solidFill>
            <a:srgbClr val="21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659318"/>
            <a:ext cx="256032" cy="36576"/>
          </a:xfrm>
          <a:prstGeom prst="rect">
            <a:avLst/>
          </a:prstGeom>
          <a:solidFill>
            <a:srgbClr val="B4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1659318"/>
            <a:ext cx="11292840" cy="36576"/>
          </a:xfrm>
          <a:prstGeom prst="rect">
            <a:avLst/>
          </a:prstGeom>
          <a:solidFill>
            <a:srgbClr val="58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851342"/>
            <a:ext cx="11338560" cy="5293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  <a:latin typeface="Malgun Gothic"/>
              </a:rPr>
              <a:t>클라우드 프레임워크의 Master Solution(파라미터 관리 시스템) 에서 권한, 환경정보를 관리하며 운영에 대한 배포 기능 제공함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2381693"/>
          <a:ext cx="1065276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상용 F/W 기준 기능 목록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클라우드 프레임워크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요소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설명 및 세부 내역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제공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OSS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활용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 row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일반 운영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Configuration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사용자 연동 파라미터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 에서 MIDAS SM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에서 사용할 파라미터를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연동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사용자 연동 파라미터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 연동 파라미터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저장 및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사용자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사용자 및 그룹 관리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 그룹 관리 기능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권한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사용자별 권한 설정 및 관리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 권한 관리 기능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 row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Malgun Gothic"/>
                        </a:rPr>
                        <a:t>온라인 운영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온라인 실행 제어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온라인 실행 및 제어 기능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 파라미터 동적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변경 기능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Master Solution 운영 이관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운영 배포시 별도 yml 파일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• Master Solution 파라미터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algun Gothic"/>
                        </a:rPr>
                        <a:t>  운영 이관 기능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96057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781494"/>
            <a:ext cx="3291840" cy="71404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algun Gothic"/>
              </a:rPr>
              <a:t>업무 개발을 위한 프레임워크 사용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59318"/>
            <a:ext cx="640080" cy="36576"/>
          </a:xfrm>
          <a:prstGeom prst="rect">
            <a:avLst/>
          </a:prstGeom>
          <a:solidFill>
            <a:srgbClr val="21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659318"/>
            <a:ext cx="256032" cy="36576"/>
          </a:xfrm>
          <a:prstGeom prst="rect">
            <a:avLst/>
          </a:prstGeom>
          <a:solidFill>
            <a:srgbClr val="B4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" y="1659318"/>
            <a:ext cx="11292840" cy="36576"/>
          </a:xfrm>
          <a:prstGeom prst="rect">
            <a:avLst/>
          </a:prstGeom>
          <a:solidFill>
            <a:srgbClr val="58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851342"/>
            <a:ext cx="11338560" cy="28315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  <a:latin typeface="Malgun Gothic"/>
              </a:rPr>
              <a:t>OSS 기반의 클라우드 프레임워크에서 사용하는 기준을 정의함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2335974"/>
          <a:ext cx="1078992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요소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설명 및 세부 내역</a:t>
                      </a:r>
                    </a:p>
                  </a:txBody>
                  <a:tcPr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5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개발환경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개발 IDE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STS4.11.0 버전 사용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빌드 Tool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Gradle 6.3 버전 사용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JDK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Open JDK 1.8_192 버전 사용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OSS Repository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OSS Repository는 NH농협은행에 구축되어있는 Nexus 등 사용함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배치작업자동화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배치서비스 개발시 배치작업자동화(Control-M)을 사용함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rowSpan="4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algun Gothic"/>
                        </a:rPr>
                        <a:t>개발표준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NB Spring Controller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BT(Business Tier) 영역에서는 NhinsController 들 사용함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Spring Batch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배치서비스는 Spring Batch를 표준으로 사용함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792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DBIO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SQL 등록 및 관리 기능, SQL 문 작성을 위한 XML(SQL Mapper) 생성 및 관리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  기능은 Mybatis를 표준으로 사용함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DTO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• 개발시 사용하는 DTO 객체는 DTO Editor를 활용해 생성함</a:t>
                      </a:r>
                    </a:p>
                  </a:txBody>
                  <a:tcPr anchor="ctr">
                    <a:lnL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43021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781495"/>
            <a:ext cx="3291840" cy="37548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Malgun Gothic"/>
              </a:rPr>
              <a:t>배치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21240" y="635191"/>
            <a:ext cx="1920240" cy="2215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>
                <a:solidFill>
                  <a:srgbClr val="333333"/>
                </a:solidFill>
                <a:latin typeface="Malgun Gothic"/>
              </a:rPr>
              <a:t>9. 아키텍처 구성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818071"/>
            <a:ext cx="1920240" cy="2215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333333"/>
                </a:solidFill>
                <a:latin typeface="Malgun Gothic"/>
              </a:rPr>
              <a:t>9.2 배치 프레임워크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59318"/>
            <a:ext cx="640080" cy="36576"/>
          </a:xfrm>
          <a:prstGeom prst="rect">
            <a:avLst/>
          </a:prstGeom>
          <a:solidFill>
            <a:srgbClr val="21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59318"/>
            <a:ext cx="256032" cy="36576"/>
          </a:xfrm>
          <a:prstGeom prst="rect">
            <a:avLst/>
          </a:prstGeom>
          <a:solidFill>
            <a:srgbClr val="B4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1659318"/>
            <a:ext cx="11292840" cy="36576"/>
          </a:xfrm>
          <a:prstGeom prst="rect">
            <a:avLst/>
          </a:prstGeom>
          <a:solidFill>
            <a:srgbClr val="58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2052510"/>
            <a:ext cx="1106424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2500566"/>
            <a:ext cx="1755648" cy="384048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작업 자동화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2902902"/>
            <a:ext cx="1481328" cy="347472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배치작업등록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3360102"/>
            <a:ext cx="1481328" cy="347472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배치작업조회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3817302"/>
            <a:ext cx="1481328" cy="347472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배치모니터링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4274501"/>
            <a:ext cx="1481328" cy="347472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125663"/>
            <a:ext cx="502920" cy="3600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333333"/>
                </a:solidFill>
                <a:latin typeface="Malgun Gothic"/>
              </a:rPr>
              <a:t>관리</a:t>
            </a:r>
          </a:p>
          <a:p>
            <a:pPr algn="ctr"/>
            <a:r>
              <a:rPr sz="1050" b="1">
                <a:solidFill>
                  <a:srgbClr val="333333"/>
                </a:solidFill>
                <a:latin typeface="Malgun Gothic"/>
              </a:rPr>
              <a:t>담당자</a:t>
            </a:r>
          </a:p>
        </p:txBody>
      </p:sp>
      <p:sp>
        <p:nvSpPr>
          <p:cNvPr id="15" name="Oval 14"/>
          <p:cNvSpPr/>
          <p:nvPr/>
        </p:nvSpPr>
        <p:spPr>
          <a:xfrm>
            <a:off x="1389888" y="1942782"/>
            <a:ext cx="109728" cy="109728"/>
          </a:xfrm>
          <a:prstGeom prst="ellipse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1335024" y="2043366"/>
            <a:ext cx="228600" cy="164592"/>
          </a:xfrm>
          <a:prstGeom prst="triangle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5179758"/>
            <a:ext cx="1755648" cy="384048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작업 스케줄러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5591238"/>
            <a:ext cx="1481328" cy="640080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배치작업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기동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(정기, 수시)</a:t>
            </a:r>
          </a:p>
        </p:txBody>
      </p:sp>
      <p:sp>
        <p:nvSpPr>
          <p:cNvPr id="19" name="Can 18"/>
          <p:cNvSpPr/>
          <p:nvPr/>
        </p:nvSpPr>
        <p:spPr>
          <a:xfrm>
            <a:off x="768096" y="6395910"/>
            <a:ext cx="1143000" cy="429768"/>
          </a:xfrm>
          <a:prstGeom prst="can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6231319"/>
            <a:ext cx="1143000" cy="2215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Malgun Gothic"/>
              </a:rPr>
              <a:t>작업실행정보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3286950"/>
            <a:ext cx="749808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Malgun Gothic"/>
              </a:rPr>
              <a:t>Control-M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Malgun Gothic"/>
              </a:rPr>
              <a:t>Agent</a:t>
            </a:r>
          </a:p>
        </p:txBody>
      </p:sp>
      <p:sp>
        <p:nvSpPr>
          <p:cNvPr id="22" name="Wave 21"/>
          <p:cNvSpPr/>
          <p:nvPr/>
        </p:nvSpPr>
        <p:spPr>
          <a:xfrm>
            <a:off x="3511296" y="3799014"/>
            <a:ext cx="621792" cy="502920"/>
          </a:xfrm>
          <a:prstGeom prst="wave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Malgun Gothic"/>
              </a:rPr>
              <a:t>Shell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098230"/>
            <a:ext cx="6446520" cy="4370832"/>
          </a:xfrm>
          <a:prstGeom prst="rect">
            <a:avLst/>
          </a:prstGeom>
          <a:solidFill>
            <a:srgbClr val="F7F7F7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0520" y="2098230"/>
            <a:ext cx="6446520" cy="310896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배치 서버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2491422"/>
            <a:ext cx="5431536" cy="256032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Spring Batch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352" y="2747454"/>
            <a:ext cx="5431536" cy="256032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Job 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13248" y="3085782"/>
            <a:ext cx="868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Malgun Gothic"/>
              </a:rPr>
              <a:t>Job Launcher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4055046"/>
            <a:ext cx="868680" cy="512064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Job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42048" y="4055046"/>
            <a:ext cx="914400" cy="512064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03136" y="3085782"/>
            <a:ext cx="3520440" cy="292608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 Execution #1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34272" y="3689286"/>
            <a:ext cx="1078992" cy="329184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ItemReader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4256214"/>
            <a:ext cx="1078992" cy="329184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ItemProcessor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34272" y="4804854"/>
            <a:ext cx="1078992" cy="329184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ItemWriter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5444934"/>
            <a:ext cx="3328416" cy="292608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 Execution 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87184" y="5828982"/>
            <a:ext cx="896112" cy="475488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42248" y="5828982"/>
            <a:ext cx="1078992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Malgun Gothic"/>
              </a:rPr>
              <a:t>Tasklet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6414198"/>
            <a:ext cx="3172968" cy="320040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Spring Job Repository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38928" y="6734238"/>
            <a:ext cx="317296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6825678"/>
            <a:ext cx="1435608" cy="256032"/>
          </a:xfrm>
          <a:prstGeom prst="rect">
            <a:avLst/>
          </a:prstGeom>
          <a:solidFill>
            <a:srgbClr val="D8EFEC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50" b="1">
                <a:solidFill>
                  <a:srgbClr val="333333"/>
                </a:solidFill>
                <a:latin typeface="Arial"/>
              </a:rPr>
              <a:t>BATCH_STEP_EXECUTION_CONTEXT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93992" y="6825678"/>
            <a:ext cx="1316736" cy="256032"/>
          </a:xfrm>
          <a:prstGeom prst="rect">
            <a:avLst/>
          </a:prstGeom>
          <a:solidFill>
            <a:srgbClr val="D8EFEC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50" b="1">
                <a:solidFill>
                  <a:srgbClr val="333333"/>
                </a:solidFill>
                <a:latin typeface="Arial"/>
              </a:rPr>
              <a:t>BATCH_JOB_CONTEXT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66944" y="7099998"/>
            <a:ext cx="1435608" cy="256032"/>
          </a:xfrm>
          <a:prstGeom prst="rect">
            <a:avLst/>
          </a:prstGeom>
          <a:solidFill>
            <a:srgbClr val="D8EFEC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50" b="1">
                <a:solidFill>
                  <a:srgbClr val="333333"/>
                </a:solidFill>
                <a:latin typeface="Arial"/>
              </a:rPr>
              <a:t>BATCH_STEP_EXECUTION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3992" y="7099998"/>
            <a:ext cx="1316736" cy="256032"/>
          </a:xfrm>
          <a:prstGeom prst="rect">
            <a:avLst/>
          </a:prstGeom>
          <a:solidFill>
            <a:srgbClr val="D8EFEC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50" b="1">
                <a:solidFill>
                  <a:srgbClr val="333333"/>
                </a:solidFill>
                <a:latin typeface="Arial"/>
              </a:rPr>
              <a:t>BATCH_JOB_INSTANCE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66944" y="7127430"/>
            <a:ext cx="2843784" cy="256032"/>
          </a:xfrm>
          <a:prstGeom prst="rect">
            <a:avLst/>
          </a:prstGeom>
          <a:solidFill>
            <a:srgbClr val="D8EFEC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50" b="1">
                <a:solidFill>
                  <a:srgbClr val="333333"/>
                </a:solidFill>
                <a:latin typeface="Arial"/>
              </a:rPr>
              <a:t>BATCH_JOB_EXECUTION_PARAMS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67344" y="6414198"/>
            <a:ext cx="1572768" cy="320040"/>
          </a:xfrm>
          <a:prstGeom prst="rect">
            <a:avLst/>
          </a:prstGeom>
          <a:solidFill>
            <a:srgbClr val="215EA8"/>
          </a:solidFill>
          <a:ln w="15240">
            <a:solidFill>
              <a:srgbClr val="2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원장 DataBase</a:t>
            </a:r>
          </a:p>
        </p:txBody>
      </p:sp>
      <p:sp>
        <p:nvSpPr>
          <p:cNvPr id="45" name="Can 44"/>
          <p:cNvSpPr/>
          <p:nvPr/>
        </p:nvSpPr>
        <p:spPr>
          <a:xfrm>
            <a:off x="8668512" y="6798246"/>
            <a:ext cx="1188720" cy="502920"/>
          </a:xfrm>
          <a:prstGeom prst="can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 flipV="1">
            <a:off x="1344168" y="2884614"/>
            <a:ext cx="0" cy="36576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344168" y="2281110"/>
            <a:ext cx="0" cy="219456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90473" y="2281110"/>
            <a:ext cx="384047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874519" y="2281110"/>
            <a:ext cx="0" cy="59436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29768" y="3350958"/>
            <a:ext cx="0" cy="3300984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29768" y="6651942"/>
            <a:ext cx="338328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344168" y="6231318"/>
            <a:ext cx="0" cy="164592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084832" y="5911278"/>
            <a:ext cx="585217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670048" y="4091622"/>
            <a:ext cx="0" cy="1819656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419856" y="4082478"/>
            <a:ext cx="91440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133088" y="4082478"/>
            <a:ext cx="969265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133088" y="3085782"/>
            <a:ext cx="969265" cy="996696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852160" y="3725862"/>
            <a:ext cx="0" cy="329184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961888" y="3799014"/>
            <a:ext cx="50292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  <a:latin typeface="Malgun Gothic"/>
              </a:rPr>
              <a:t>execute()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281928" y="4311077"/>
            <a:ext cx="960120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19088" y="4146486"/>
            <a:ext cx="50292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  <a:latin typeface="Malgun Gothic"/>
              </a:rPr>
              <a:t>execute()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156448" y="3853879"/>
            <a:ext cx="877824" cy="457199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156448" y="4311078"/>
            <a:ext cx="877824" cy="109729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156448" y="4311078"/>
            <a:ext cx="877824" cy="658369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540496" y="3698430"/>
            <a:ext cx="365760" cy="16773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>
                <a:solidFill>
                  <a:srgbClr val="333333"/>
                </a:solidFill>
                <a:latin typeface="Malgun Gothic"/>
              </a:rPr>
              <a:t>read()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94192" y="4274501"/>
            <a:ext cx="566928" cy="16773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>
                <a:solidFill>
                  <a:srgbClr val="333333"/>
                </a:solidFill>
                <a:latin typeface="Malgun Gothic"/>
              </a:rPr>
              <a:t>process()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3648" y="4823142"/>
            <a:ext cx="384048" cy="16773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>
                <a:solidFill>
                  <a:srgbClr val="333333"/>
                </a:solidFill>
                <a:latin typeface="Malgun Gothic"/>
              </a:rPr>
              <a:t>write()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4585399"/>
            <a:ext cx="502920" cy="298543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>
                <a:solidFill>
                  <a:srgbClr val="333333"/>
                </a:solidFill>
                <a:latin typeface="Malgun Gothic"/>
              </a:rPr>
              <a:t>reads / writes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708392" y="4567110"/>
            <a:ext cx="0" cy="1261872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83296" y="6066726"/>
            <a:ext cx="758952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833872" y="4567110"/>
            <a:ext cx="0" cy="1847088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049256" y="3853878"/>
            <a:ext cx="155448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204704" y="3853878"/>
            <a:ext cx="0" cy="3054096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9857232" y="6907974"/>
            <a:ext cx="347472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13499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836358"/>
            <a:ext cx="1188720" cy="49859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Malgun Gothic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8" y="3341814"/>
            <a:ext cx="5303520" cy="402336"/>
          </a:xfrm>
          <a:prstGeom prst="rect">
            <a:avLst/>
          </a:prstGeom>
          <a:solidFill>
            <a:srgbClr val="D8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878774"/>
            <a:ext cx="484632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>
                <a:solidFill>
                  <a:srgbClr val="333333"/>
                </a:solidFill>
                <a:latin typeface="Malgun Gothic"/>
              </a:rPr>
              <a:t>7. 런타임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271966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7.1 업무 처리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592005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7.2 단말 거래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12046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7.3 미니 싱글뷰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32086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7.4 UMS 고객 통지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52126"/>
            <a:ext cx="484632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>
                <a:solidFill>
                  <a:srgbClr val="333333"/>
                </a:solidFill>
                <a:latin typeface="Malgun Gothic"/>
              </a:rPr>
              <a:t>8. 아키텍처 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45318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8.1 어플리케이션 계층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265358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8.2 전문 표준화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58539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8.3 GUID 관리 체계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0543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8.4 캐릭터 셋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22547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8.5 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54551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8.6 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86555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8.7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618559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8.8 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6505637"/>
            <a:ext cx="484632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8.9 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878774"/>
            <a:ext cx="493776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>
                <a:solidFill>
                  <a:srgbClr val="333333"/>
                </a:solidFill>
                <a:latin typeface="Malgun Gothic"/>
              </a:rPr>
              <a:t>9. 아키텍처 구성 요소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271966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9.1 단말 프레임워크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592005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9.2 온라인 프레임워크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912046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9.3 배치 프레임워크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232086"/>
            <a:ext cx="493776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>
                <a:solidFill>
                  <a:srgbClr val="333333"/>
                </a:solidFill>
                <a:latin typeface="Malgun Gothic"/>
              </a:rPr>
              <a:t>10. 업무 솔루션 아키텍처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625278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10.1 SELF-BI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945318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10.2 OLAP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265358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10.3 EBM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585397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10.4 데이터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905437"/>
            <a:ext cx="4937760" cy="3139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>
                <a:solidFill>
                  <a:srgbClr val="333333"/>
                </a:solidFill>
                <a:latin typeface="Malgun Gothic"/>
              </a:rPr>
              <a:t>11. 기타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5298629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11.1 시스템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618669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11.2 시스템 가용성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5938709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11.3 시스템 확장성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6258749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11.4 DR 구성 (센터 간 가용성)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6578789"/>
            <a:ext cx="4937760" cy="26776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  <a:latin typeface="Malgun Gothic"/>
              </a:rPr>
              <a:t>11.5 백업 구성</a:t>
            </a:r>
          </a:p>
        </p:txBody>
      </p:sp>
    </p:spTree>
    <p:extLst>
      <p:ext uri="{BB962C8B-B14F-4D97-AF65-F5344CB8AC3E}">
        <p14:creationId xmlns:p14="http://schemas.microsoft.com/office/powerpoint/2010/main" val="148378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26244</Words>
  <Application>Microsoft Office PowerPoint</Application>
  <PresentationFormat>사용자 지정</PresentationFormat>
  <Paragraphs>11157</Paragraphs>
  <Slides>163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163</vt:i4>
      </vt:variant>
    </vt:vector>
  </HeadingPairs>
  <TitlesOfParts>
    <vt:vector size="168" baseType="lpstr">
      <vt:lpstr>Noto Sans CJK KR</vt:lpstr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NH 농협 상호금융 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아키텍처 정의서 목차</dc:title>
  <dc:subject>아키텍처 정의서 목차</dc:subject>
  <dc:creator>OpenAI</dc:creator>
  <cp:lastModifiedBy>장우승</cp:lastModifiedBy>
  <cp:revision>13</cp:revision>
  <dcterms:created xsi:type="dcterms:W3CDTF">2026-08-25T01:25:34Z</dcterms:created>
  <dcterms:modified xsi:type="dcterms:W3CDTF">2026-08-25T08:54:00Z</dcterms:modified>
</cp:coreProperties>
</file>