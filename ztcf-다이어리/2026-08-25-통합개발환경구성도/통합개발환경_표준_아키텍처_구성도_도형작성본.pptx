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algun Gothic"/>
              </a:rPr>
              <a:t>통합 개발 환경 표준 아키텍처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" cy="36576"/>
          </a:xfrm>
          <a:prstGeom prst="rect">
            <a:avLst/>
          </a:prstGeom>
          <a:solidFill>
            <a:srgbClr val="395D9A"/>
          </a:solidFill>
          <a:ln w="12700">
            <a:solidFill>
              <a:srgbClr val="395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640080"/>
            <a:ext cx="11274552" cy="36576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7782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algun Gothic"/>
              </a:rPr>
              <a:t>NEXT 통합개발환경은 일관된 아키텍처에 유지하기 위한 투자이며 IaaS DevOps 기반 개발 환경을 적용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Malgun Gothic"/>
              </a:rPr>
              <a:t>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2331720"/>
            <a:ext cx="347472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단말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883664"/>
            <a:ext cx="960120" cy="164592"/>
          </a:xfrm>
          <a:prstGeom prst="rect">
            <a:avLst/>
          </a:prstGeom>
          <a:solidFill>
            <a:srgbClr val="66768A"/>
          </a:solidFill>
          <a:ln w="12700">
            <a:solidFill>
              <a:srgbClr val="667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인증 관리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2331720"/>
            <a:ext cx="219456" cy="1005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" y="2331720"/>
            <a:ext cx="310896" cy="1005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FFFFFF"/>
                </a:solidFill>
                <a:latin typeface="Malgun Gothic"/>
              </a:rPr>
              <a:t>JS/CSS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27632" y="2331720"/>
            <a:ext cx="3840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L4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12064" y="2386584"/>
            <a:ext cx="274320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89888" y="2386584"/>
            <a:ext cx="237744" cy="109728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38328" y="1965960"/>
            <a:ext cx="0" cy="3657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8328" y="1965960"/>
            <a:ext cx="274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8328" y="2660904"/>
            <a:ext cx="0" cy="104241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8328" y="3703320"/>
            <a:ext cx="1856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25880" y="3063240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단말소스 배포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1627632"/>
            <a:ext cx="1783080" cy="3273552"/>
          </a:xfrm>
          <a:prstGeom prst="rect">
            <a:avLst/>
          </a:prstGeom>
          <a:noFill/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1700784"/>
            <a:ext cx="1600200" cy="20116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UI 서비스 플랫폼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938528"/>
            <a:ext cx="1600200" cy="164592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40" y="3511296"/>
            <a:ext cx="1051560" cy="841248"/>
          </a:xfrm>
          <a:prstGeom prst="rect">
            <a:avLst/>
          </a:prstGeom>
          <a:solidFill>
            <a:srgbClr val="E7F3F4"/>
          </a:solidFill>
          <a:ln w="25400">
            <a:solidFill>
              <a:srgbClr val="4F81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4912" y="3611880"/>
            <a:ext cx="8229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Front 어플리케이션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70632" y="3803904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단말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803904"/>
            <a:ext cx="30175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단말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배포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0048" y="4151376"/>
            <a:ext cx="932688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WAS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4553712"/>
            <a:ext cx="932688" cy="1645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4754880"/>
            <a:ext cx="932688" cy="1645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IaaS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1664208"/>
            <a:ext cx="2578608" cy="3310128"/>
          </a:xfrm>
          <a:prstGeom prst="rect">
            <a:avLst/>
          </a:prstGeom>
          <a:solidFill>
            <a:srgbClr val="E6F2E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90288" y="1737360"/>
            <a:ext cx="2395728" cy="20116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어플리케이션 서비스 플랫폼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2" y="1920240"/>
            <a:ext cx="8961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E6E6"/>
                </a:solidFill>
                <a:latin typeface="Malgun Gothic"/>
              </a:rPr>
              <a:t>서비스/메시지 영역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526280" y="3310128"/>
            <a:ext cx="1645920" cy="1645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626864" y="3310128"/>
            <a:ext cx="1645920" cy="1645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727448" y="3310128"/>
            <a:ext cx="1645920" cy="1645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828032" y="3310128"/>
            <a:ext cx="1645920" cy="1645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928616" y="3310128"/>
            <a:ext cx="1645920" cy="1645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029200" y="3310128"/>
            <a:ext cx="1645920" cy="1645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129784" y="3310128"/>
            <a:ext cx="1645920" cy="1645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230368" y="3310128"/>
            <a:ext cx="1645920" cy="1645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330952" y="3310128"/>
            <a:ext cx="1645920" cy="1645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431536" y="3346704"/>
            <a:ext cx="1609344" cy="1609344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532120" y="3447288"/>
            <a:ext cx="1508760" cy="150876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632704" y="3547872"/>
            <a:ext cx="1408176" cy="1408176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733288" y="3648456"/>
            <a:ext cx="1307592" cy="1307592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833872" y="3749039"/>
            <a:ext cx="1207008" cy="1207009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934456" y="3849624"/>
            <a:ext cx="1106424" cy="1106424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035040" y="3950207"/>
            <a:ext cx="1005840" cy="1005841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135624" y="4050791"/>
            <a:ext cx="905256" cy="905257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236208" y="4151376"/>
            <a:ext cx="804672" cy="804672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336792" y="4251959"/>
            <a:ext cx="704088" cy="704089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437376" y="4352544"/>
            <a:ext cx="603504" cy="603504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537960" y="4453128"/>
            <a:ext cx="502920" cy="50292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38544" y="4553712"/>
            <a:ext cx="402336" cy="402336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739128" y="4654296"/>
            <a:ext cx="301752" cy="301752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839712" y="4754880"/>
            <a:ext cx="201168" cy="201168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940296" y="4855464"/>
            <a:ext cx="100584" cy="100584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040880" y="4956048"/>
            <a:ext cx="0" cy="0"/>
          </a:xfrm>
          <a:prstGeom prst="line">
            <a:avLst/>
          </a:prstGeom>
          <a:ln w="6350">
            <a:solidFill>
              <a:srgbClr val="7D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828032" y="2514600"/>
            <a:ext cx="3657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WEB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82896" y="3675887"/>
            <a:ext cx="329184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IMDG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59552" y="2322576"/>
            <a:ext cx="1152144" cy="1755648"/>
          </a:xfrm>
          <a:prstGeom prst="rect">
            <a:avLst/>
          </a:prstGeom>
          <a:solidFill>
            <a:srgbClr val="E7F3F4"/>
          </a:solidFill>
          <a:ln w="25400">
            <a:solidFill>
              <a:srgbClr val="4F81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0" y="2414016"/>
            <a:ext cx="96926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백엔드 어플리케이션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05856" y="2633472"/>
            <a:ext cx="42976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19" b="0">
                <a:solidFill>
                  <a:srgbClr val="000000"/>
                </a:solidFill>
                <a:latin typeface="Malgun Gothic"/>
              </a:rPr>
              <a:t>Service 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2633472"/>
            <a:ext cx="42976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19" b="0">
                <a:solidFill>
                  <a:srgbClr val="000000"/>
                </a:solidFill>
                <a:latin typeface="Malgun Gothic"/>
              </a:rPr>
              <a:t>Service 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05856" y="3017520"/>
            <a:ext cx="42976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19" b="0">
                <a:solidFill>
                  <a:srgbClr val="000000"/>
                </a:solidFill>
                <a:latin typeface="Malgun Gothic"/>
              </a:rPr>
              <a:t>Service 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3017520"/>
            <a:ext cx="42976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--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41848" y="3419856"/>
            <a:ext cx="9966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19" b="0">
                <a:solidFill>
                  <a:srgbClr val="000000"/>
                </a:solidFill>
                <a:latin typeface="Malgun Gothic"/>
              </a:rPr>
              <a:t>Application Framework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41848" y="3730752"/>
            <a:ext cx="9966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WAS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64608" y="4581144"/>
            <a:ext cx="1773936" cy="1645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VM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64608" y="4782312"/>
            <a:ext cx="1773936" cy="1645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IaaS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88352" y="1700784"/>
            <a:ext cx="3822191" cy="4462272"/>
          </a:xfrm>
          <a:prstGeom prst="rect">
            <a:avLst/>
          </a:prstGeom>
          <a:noFill/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79792" y="1773936"/>
            <a:ext cx="3639312" cy="20116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Backing Service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0" y="1901952"/>
            <a:ext cx="10241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BEBEB"/>
                </a:solidFill>
                <a:latin typeface="Malgun Gothic"/>
              </a:rPr>
              <a:t>외부지원 영역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99248" y="2487168"/>
            <a:ext cx="6217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connection</a:t>
            </a:r>
          </a:p>
        </p:txBody>
      </p:sp>
      <p:sp>
        <p:nvSpPr>
          <p:cNvPr id="73" name="Can 72"/>
          <p:cNvSpPr/>
          <p:nvPr/>
        </p:nvSpPr>
        <p:spPr>
          <a:xfrm>
            <a:off x="8412480" y="2267712"/>
            <a:ext cx="320040" cy="347472"/>
          </a:xfrm>
          <a:prstGeom prst="can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an 73"/>
          <p:cNvSpPr/>
          <p:nvPr/>
        </p:nvSpPr>
        <p:spPr>
          <a:xfrm>
            <a:off x="8531352" y="2313432"/>
            <a:ext cx="320040" cy="347472"/>
          </a:xfrm>
          <a:prstGeom prst="can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an 74"/>
          <p:cNvSpPr/>
          <p:nvPr/>
        </p:nvSpPr>
        <p:spPr>
          <a:xfrm>
            <a:off x="8659368" y="2359152"/>
            <a:ext cx="502920" cy="475488"/>
          </a:xfrm>
          <a:prstGeom prst="can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Data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Store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46920" y="2542032"/>
            <a:ext cx="38404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Cruz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APIM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68128" y="2532888"/>
            <a:ext cx="56692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계정계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정보계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68128" y="3099816"/>
            <a:ext cx="56692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대외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MCA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74352" y="3739896"/>
            <a:ext cx="658368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파일공유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74352" y="4114800"/>
            <a:ext cx="658368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오브젝트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스토리지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99648" y="3931920"/>
            <a:ext cx="493776" cy="475488"/>
          </a:xfrm>
          <a:prstGeom prst="rect">
            <a:avLst/>
          </a:prstGeom>
          <a:solidFill>
            <a:srgbClr val="E7F3F4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대외계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35440" y="5266944"/>
            <a:ext cx="768096" cy="384048"/>
          </a:xfrm>
          <a:prstGeom prst="rect">
            <a:avLst/>
          </a:prstGeom>
          <a:solidFill>
            <a:srgbClr val="F5DDDD"/>
          </a:solidFill>
          <a:ln w="12700">
            <a:solidFill>
              <a:srgbClr val="C0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0">
                <a:solidFill>
                  <a:srgbClr val="000000"/>
                </a:solidFill>
                <a:latin typeface="Malgun Gothic"/>
              </a:rPr>
              <a:t>Nexus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Malgun Gothic"/>
              </a:rPr>
              <a:t>Repository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52760" y="5321808"/>
            <a:ext cx="512064" cy="329184"/>
          </a:xfrm>
          <a:prstGeom prst="rect">
            <a:avLst/>
          </a:prstGeom>
          <a:solidFill>
            <a:srgbClr val="E7F3F4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IT 메타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94560" y="5193792"/>
            <a:ext cx="1920240" cy="713232"/>
          </a:xfrm>
          <a:prstGeom prst="rect">
            <a:avLst/>
          </a:prstGeom>
          <a:noFill/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286000" y="5266944"/>
            <a:ext cx="1737360" cy="1828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버전관리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32304" y="5495544"/>
            <a:ext cx="31089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Git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07792" y="546811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504D"/>
                </a:solidFill>
                <a:latin typeface="Malgun Gothic"/>
              </a:rPr>
              <a:t>Configuration</a:t>
            </a:r>
          </a:p>
          <a:p>
            <a:pPr algn="l"/>
            <a:r>
              <a:rPr sz="1100" b="0">
                <a:solidFill>
                  <a:srgbClr val="C0504D"/>
                </a:solidFill>
                <a:latin typeface="Malgun Gothic"/>
              </a:rPr>
              <a:t>Management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45152" y="5193792"/>
            <a:ext cx="1737360" cy="713232"/>
          </a:xfrm>
          <a:prstGeom prst="rect">
            <a:avLst/>
          </a:prstGeom>
          <a:noFill/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736592" y="5266944"/>
            <a:ext cx="1554480" cy="1828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배포관리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82896" y="5495544"/>
            <a:ext cx="29260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Pipe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68112" y="551383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504D"/>
                </a:solidFill>
                <a:latin typeface="Malgun Gothic"/>
              </a:rPr>
              <a:t>Build, Deploy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87168" y="6199632"/>
            <a:ext cx="960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100" b="0">
                <a:solidFill>
                  <a:srgbClr val="000000"/>
                </a:solidFill>
                <a:latin typeface="Malgun Gothic"/>
              </a:rPr>
              <a:t>Developer (UI IDE)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703320" y="6217920"/>
            <a:ext cx="5376672" cy="201168"/>
          </a:xfrm>
          <a:prstGeom prst="rect">
            <a:avLst/>
          </a:prstGeom>
          <a:solidFill>
            <a:srgbClr val="E6F2EA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0">
                <a:solidFill>
                  <a:srgbClr val="000000"/>
                </a:solidFill>
                <a:latin typeface="Malgun Gothic"/>
              </a:rPr>
              <a:t>DevOps, API, I/F, UIX, Metadata</a:t>
            </a:r>
          </a:p>
        </p:txBody>
      </p:sp>
      <p:cxnSp>
        <p:nvCxnSpPr>
          <p:cNvPr id="94" name="Connector 93"/>
          <p:cNvCxnSpPr/>
          <p:nvPr/>
        </p:nvCxnSpPr>
        <p:spPr>
          <a:xfrm flipV="1">
            <a:off x="2953512" y="5907024"/>
            <a:ext cx="0" cy="292608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/>
          <p:cNvSpPr/>
          <p:nvPr/>
        </p:nvSpPr>
        <p:spPr>
          <a:xfrm>
            <a:off x="2916936" y="5907024"/>
            <a:ext cx="73152" cy="6400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33472" y="5907024"/>
            <a:ext cx="6766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Merge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/Commit</a:t>
            </a:r>
          </a:p>
        </p:txBody>
      </p:sp>
      <p:cxnSp>
        <p:nvCxnSpPr>
          <p:cNvPr id="97" name="Connector 96"/>
          <p:cNvCxnSpPr/>
          <p:nvPr/>
        </p:nvCxnSpPr>
        <p:spPr>
          <a:xfrm flipV="1">
            <a:off x="4096512" y="5907024"/>
            <a:ext cx="0" cy="310896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>
            <a:off x="4059936" y="5907024"/>
            <a:ext cx="73152" cy="6400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794760" y="590702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Merge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/Commit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114800" y="5550408"/>
            <a:ext cx="53035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5400000">
            <a:off x="4590288" y="5513832"/>
            <a:ext cx="64008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42816" y="5340096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trig</a:t>
            </a:r>
          </a:p>
        </p:txBody>
      </p:sp>
      <p:cxnSp>
        <p:nvCxnSpPr>
          <p:cNvPr id="103" name="Connector 102"/>
          <p:cNvCxnSpPr/>
          <p:nvPr/>
        </p:nvCxnSpPr>
        <p:spPr>
          <a:xfrm flipV="1">
            <a:off x="3154680" y="4901184"/>
            <a:ext cx="0" cy="292608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Isosceles Triangle 103"/>
          <p:cNvSpPr/>
          <p:nvPr/>
        </p:nvSpPr>
        <p:spPr>
          <a:xfrm>
            <a:off x="3118104" y="4901184"/>
            <a:ext cx="73152" cy="6400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218688" y="4901184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deploy</a:t>
            </a:r>
          </a:p>
        </p:txBody>
      </p:sp>
      <p:cxnSp>
        <p:nvCxnSpPr>
          <p:cNvPr id="106" name="Connector 105"/>
          <p:cNvCxnSpPr/>
          <p:nvPr/>
        </p:nvCxnSpPr>
        <p:spPr>
          <a:xfrm flipV="1">
            <a:off x="5925312" y="4956048"/>
            <a:ext cx="0" cy="237744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Isosceles Triangle 106"/>
          <p:cNvSpPr/>
          <p:nvPr/>
        </p:nvSpPr>
        <p:spPr>
          <a:xfrm>
            <a:off x="5888736" y="4956048"/>
            <a:ext cx="73152" cy="6400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89320" y="4956048"/>
            <a:ext cx="32918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deploy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2011680" y="2496312"/>
            <a:ext cx="63093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711696" y="3054096"/>
            <a:ext cx="293522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Isosceles Triangle 110"/>
          <p:cNvSpPr/>
          <p:nvPr/>
        </p:nvSpPr>
        <p:spPr>
          <a:xfrm rot="5400000">
            <a:off x="9592056" y="3017520"/>
            <a:ext cx="64008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85632" y="2798064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HTTP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6711696" y="3877056"/>
            <a:ext cx="2962656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Isosceles Triangle 113"/>
          <p:cNvSpPr/>
          <p:nvPr/>
        </p:nvSpPr>
        <p:spPr>
          <a:xfrm rot="5400000">
            <a:off x="9619488" y="3840480"/>
            <a:ext cx="64008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49056" y="362102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MFT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6711696" y="4361688"/>
            <a:ext cx="2962656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9619488" y="4325112"/>
            <a:ext cx="64008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449056" y="4105656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FOS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10735056" y="3291840"/>
            <a:ext cx="0" cy="64008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10800000">
            <a:off x="10698480" y="3877056"/>
            <a:ext cx="73152" cy="6400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6711696" y="4800600"/>
            <a:ext cx="0" cy="6400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711696" y="5440680"/>
            <a:ext cx="3941064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Isosceles Triangle 122"/>
          <p:cNvSpPr/>
          <p:nvPr/>
        </p:nvSpPr>
        <p:spPr>
          <a:xfrm rot="5400000">
            <a:off x="10597896" y="5404104"/>
            <a:ext cx="64008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845552" y="517550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MFT 메타용어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6382512" y="5614416"/>
            <a:ext cx="285292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Isosceles Triangle 125"/>
          <p:cNvSpPr/>
          <p:nvPr/>
        </p:nvSpPr>
        <p:spPr>
          <a:xfrm rot="5400000">
            <a:off x="9180576" y="5577840"/>
            <a:ext cx="64008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065008" y="5321808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dependency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Malgun Gothic"/>
              </a:rPr>
              <a:t>publish</a:t>
            </a:r>
          </a:p>
        </p:txBody>
      </p:sp>
      <p:cxnSp>
        <p:nvCxnSpPr>
          <p:cNvPr id="128" name="Connector 127"/>
          <p:cNvCxnSpPr/>
          <p:nvPr/>
        </p:nvCxnSpPr>
        <p:spPr>
          <a:xfrm flipV="1">
            <a:off x="9619488" y="5650992"/>
            <a:ext cx="0" cy="566928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Isosceles Triangle 128"/>
          <p:cNvSpPr/>
          <p:nvPr/>
        </p:nvSpPr>
        <p:spPr>
          <a:xfrm>
            <a:off x="9582912" y="5650992"/>
            <a:ext cx="73152" cy="6400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997696" y="5925312"/>
            <a:ext cx="60350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dependency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8065008" y="6327648"/>
            <a:ext cx="286207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0927080" y="5650992"/>
            <a:ext cx="0" cy="676656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Isosceles Triangle 132"/>
          <p:cNvSpPr/>
          <p:nvPr/>
        </p:nvSpPr>
        <p:spPr>
          <a:xfrm>
            <a:off x="10890504" y="5650992"/>
            <a:ext cx="73152" cy="6400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912096" y="6035040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algun Gothic"/>
              </a:rPr>
              <a:t>메타용어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0972800" y="4407408"/>
            <a:ext cx="0" cy="91440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Isosceles Triangle 135"/>
          <p:cNvSpPr/>
          <p:nvPr/>
        </p:nvSpPr>
        <p:spPr>
          <a:xfrm rot="10800000">
            <a:off x="10936224" y="5266944"/>
            <a:ext cx="73152" cy="6400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