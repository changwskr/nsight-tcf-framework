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914400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마케팅플랫폼 표준 아키텍처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38912"/>
            <a:ext cx="320040" cy="54864"/>
          </a:xfrm>
          <a:prstGeom prst="rect">
            <a:avLst/>
          </a:prstGeom>
          <a:solidFill>
            <a:srgbClr val="2E75B6"/>
          </a:solidFill>
          <a:ln w="9525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38912"/>
            <a:ext cx="320040" cy="54864"/>
          </a:xfrm>
          <a:prstGeom prst="rect">
            <a:avLst/>
          </a:prstGeom>
          <a:solidFill>
            <a:srgbClr val="A9D08E"/>
          </a:solidFill>
          <a:ln w="9525">
            <a:solidFill>
              <a:srgbClr val="A9D0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438912"/>
            <a:ext cx="10881360" cy="54864"/>
          </a:xfrm>
          <a:prstGeom prst="rect">
            <a:avLst/>
          </a:prstGeom>
          <a:solidFill>
            <a:srgbClr val="548B54"/>
          </a:solidFill>
          <a:ln w="9525">
            <a:solidFill>
              <a:srgbClr val="548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548640"/>
            <a:ext cx="11521440" cy="384048"/>
          </a:xfrm>
          <a:prstGeom prst="rect">
            <a:avLst/>
          </a:prstGeom>
          <a:solidFill>
            <a:srgbClr val="FFFBF0"/>
          </a:solidFill>
          <a:ln w="9525">
            <a:solidFill>
              <a:srgbClr val="548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마케팅플랫폼은 IaaS 기반 아키텍처로, 실시간 고객 반응형 서비스 및 Customer Single View를 주 제공하는 시스템으로 단말관리 및 배포를 위한 UI 영역과 NH Cloud Framework 영역으로 구현합니다.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1051560"/>
            <a:ext cx="86868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Client
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02412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전용 Browser
(마케팅플랫폼)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024128"/>
            <a:ext cx="100584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통합단말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417320"/>
            <a:ext cx="6400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1417320"/>
            <a:ext cx="6400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417320"/>
            <a:ext cx="73152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298448"/>
            <a:ext cx="502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싱글뷰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17320" y="1316736"/>
            <a:ext cx="109728" cy="109728"/>
          </a:xfrm>
          <a:prstGeom prst="down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3017520" y="1316736"/>
            <a:ext cx="109728" cy="109728"/>
          </a:xfrm>
          <a:prstGeom prst="down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2606040" y="1481328"/>
            <a:ext cx="137160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82880" y="2331720"/>
            <a:ext cx="868680" cy="6400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1783080"/>
            <a:ext cx="3246120" cy="187451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1810512"/>
            <a:ext cx="30175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IaaS ( UI 서비스플랫폼 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2029968"/>
            <a:ext cx="1234440" cy="25603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697480" y="2286000"/>
            <a:ext cx="109728" cy="128016"/>
          </a:xfrm>
          <a:prstGeom prst="down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25880" y="2450592"/>
            <a:ext cx="28803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468880"/>
            <a:ext cx="1371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Service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63040" y="269748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단말관리
WAS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697480"/>
            <a:ext cx="1188720" cy="50292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단말배포
WAS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246120"/>
            <a:ext cx="25603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WebTopSuite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26280" y="214884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배치 AP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6280" y="256032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2971800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1783080"/>
            <a:ext cx="6355080" cy="187451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1810512"/>
            <a:ext cx="4114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IaaS ( 마케팅플랫폼 )  ·  NH Cloud 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03720" y="2029968"/>
            <a:ext cx="1371600" cy="256032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7498079" y="2286000"/>
            <a:ext cx="109728" cy="128016"/>
          </a:xfrm>
          <a:prstGeom prst="down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577840" y="2450592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2468880"/>
            <a:ext cx="128016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Service Node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2651760"/>
            <a:ext cx="1463040" cy="36576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[마케팅플랫폼]
WAS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2651760"/>
            <a:ext cx="1463040" cy="365760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[마케팅허브]
WAS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2450592"/>
            <a:ext cx="13258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468880"/>
            <a:ext cx="123444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공통인프라 Node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9720" y="2651760"/>
            <a:ext cx="960120" cy="347472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IMDG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2514600"/>
            <a:ext cx="1280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Session/
Data Cache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77840" y="3154680"/>
            <a:ext cx="598932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3163824"/>
            <a:ext cx="164592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실시간 이벤트 처리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3310128"/>
            <a:ext cx="1874519" cy="237744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[EBM] 고객행동데이터 Kafka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3310128"/>
            <a:ext cx="1691640" cy="237744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[EBM] 행동처리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3310128"/>
            <a:ext cx="1965960" cy="237744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[EBM] 실시간처리 EBM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7101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39903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2704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5506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78308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91109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3911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6712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9514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2316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55117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7919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0720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93522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6324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9125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1927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44728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57530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0332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83133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95935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8736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1538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4340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7141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59943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2744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85546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98347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11149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23951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367527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495543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62355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5157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87959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007607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135623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26363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9165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51967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647687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775703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90371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03173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15975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287767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415783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79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67181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79983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927847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55863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183879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311895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439911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56792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69594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82396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95197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07999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20800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33602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46404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59205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2007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4808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97610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10412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023213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36015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48816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61618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74420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87221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00023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128248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256264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1384280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1512296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1640312" y="3749039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1768328" y="3749039"/>
            <a:ext cx="73151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182880" y="3886200"/>
            <a:ext cx="868680" cy="41148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I/F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14300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SSO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164592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Cruz APIM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14884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EAI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65176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FOS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15468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MFT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365760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ETL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16052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CDC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66344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대내 MCA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16636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대외 MCA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66928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GSE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7220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통합관제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67512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IT메타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17804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Nexus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68096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Wily Collector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183880" y="3840480"/>
            <a:ext cx="475488" cy="502920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배치작업관리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869680" y="3822191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연계포털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9646919" y="3822191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빅데이터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0424159" y="3822191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계정계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11201400" y="3822191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대외기관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869680" y="4078224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마이데이터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646919" y="4078224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올원뱅크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0424159" y="4078224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디지털플랫폼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11201400" y="4078224"/>
            <a:ext cx="740664" cy="237744"/>
          </a:xfrm>
          <a:prstGeom prst="roundRect">
            <a:avLst>
              <a:gd name="adj" fmla="val 12000"/>
            </a:avLst>
          </a:prstGeom>
          <a:solidFill>
            <a:srgbClr val="DEEAF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타금융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14300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27101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39903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52704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65506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78308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91109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03911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16712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29514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42316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55117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67919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80720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93522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306324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19125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31927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44728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57530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70332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83133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95935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408736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421538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34340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447141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459943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472744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85546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98347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11149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23951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367527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495543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62355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75157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87959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007607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135623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26363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39165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51967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647687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775703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90371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03173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15975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287767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415783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54379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67181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79983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927847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8055863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183879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311895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439911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56792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69594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82396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95197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907999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920800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33602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46404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59205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72007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4808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97610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010412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023213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036015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48816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061618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074420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087221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00023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1128248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1256264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1384280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11512296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1640312" y="4370832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1768328" y="4370832"/>
            <a:ext cx="73151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182880" y="4572000"/>
            <a:ext cx="868680" cy="36576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240" name="Can 239"/>
          <p:cNvSpPr/>
          <p:nvPr/>
        </p:nvSpPr>
        <p:spPr>
          <a:xfrm>
            <a:off x="1280160" y="4480560"/>
            <a:ext cx="1234440" cy="502920"/>
          </a:xfrm>
          <a:prstGeom prst="can">
            <a:avLst/>
          </a:prstGeom>
          <a:solidFill>
            <a:srgbClr val="59595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단말관리 DB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2743200" y="4462272"/>
            <a:ext cx="2377440" cy="54864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</p:txBody>
      </p:sp>
      <p:sp>
        <p:nvSpPr>
          <p:cNvPr id="242" name="Can 241"/>
          <p:cNvSpPr/>
          <p:nvPr/>
        </p:nvSpPr>
        <p:spPr>
          <a:xfrm>
            <a:off x="2880360" y="4507992"/>
            <a:ext cx="960120" cy="347472"/>
          </a:xfrm>
          <a:prstGeom prst="can">
            <a:avLst/>
          </a:prstGeom>
          <a:solidFill>
            <a:srgbClr val="59595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ADW</a:t>
            </a:r>
          </a:p>
        </p:txBody>
      </p:sp>
      <p:sp>
        <p:nvSpPr>
          <p:cNvPr id="243" name="Can 242"/>
          <p:cNvSpPr/>
          <p:nvPr/>
        </p:nvSpPr>
        <p:spPr>
          <a:xfrm>
            <a:off x="3977639" y="4507992"/>
            <a:ext cx="960120" cy="347472"/>
          </a:xfrm>
          <a:prstGeom prst="can">
            <a:avLst/>
          </a:prstGeom>
          <a:solidFill>
            <a:srgbClr val="59595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RDW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834640" y="4846320"/>
            <a:ext cx="219456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80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Oracle Exa</a:t>
            </a:r>
          </a:p>
        </p:txBody>
      </p:sp>
      <p:sp>
        <p:nvSpPr>
          <p:cNvPr id="245" name="Can 244"/>
          <p:cNvSpPr/>
          <p:nvPr/>
        </p:nvSpPr>
        <p:spPr>
          <a:xfrm>
            <a:off x="5394960" y="4480560"/>
            <a:ext cx="1417320" cy="502920"/>
          </a:xfrm>
          <a:prstGeom prst="can">
            <a:avLst/>
          </a:prstGeom>
          <a:solidFill>
            <a:srgbClr val="59595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마케팅플랫폼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14300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27101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39903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52704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65506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78308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91109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203911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216712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229514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242316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255117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267919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280720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293522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306324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319125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331927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344728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357530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370332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383133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395935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408736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421538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434340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447141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459943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72744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85546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98347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511149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523951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5367527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495543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62355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75157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87959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007607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135623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626363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39165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651967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647687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6775703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690371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03173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15975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287767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415783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54379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67181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779983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7927847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8055863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8183879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8311895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8439911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56792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869594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882396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895197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907999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920800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933602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946404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959205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972007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984808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997610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1010412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1023213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36015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048816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061618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074420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87221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100023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1128248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1256264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1384280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1512296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1640312" y="5074920"/>
            <a:ext cx="73152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1768328" y="5074920"/>
            <a:ext cx="73151" cy="127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ounded Rectangle 329"/>
          <p:cNvSpPr/>
          <p:nvPr/>
        </p:nvSpPr>
        <p:spPr>
          <a:xfrm>
            <a:off x="182880" y="5532120"/>
            <a:ext cx="868680" cy="50292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형상배포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188720" y="5138928"/>
            <a:ext cx="82296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GitLab</a:t>
            </a:r>
          </a:p>
        </p:txBody>
      </p:sp>
      <p:sp>
        <p:nvSpPr>
          <p:cNvPr id="332" name="Rounded Rectangle 331"/>
          <p:cNvSpPr/>
          <p:nvPr/>
        </p:nvSpPr>
        <p:spPr>
          <a:xfrm>
            <a:off x="1143000" y="5285232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코드버전관리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2148840" y="5440680"/>
            <a:ext cx="6400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dev merge</a:t>
            </a:r>
          </a:p>
        </p:txBody>
      </p:sp>
      <p:sp>
        <p:nvSpPr>
          <p:cNvPr id="334" name="Right Arrow 333"/>
          <p:cNvSpPr/>
          <p:nvPr/>
        </p:nvSpPr>
        <p:spPr>
          <a:xfrm>
            <a:off x="2148840" y="5349240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2697480" y="5138928"/>
            <a:ext cx="91440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GitLabRunner</a:t>
            </a:r>
          </a:p>
        </p:txBody>
      </p:sp>
      <p:sp>
        <p:nvSpPr>
          <p:cNvPr id="336" name="Rounded Rectangle 335"/>
          <p:cNvSpPr/>
          <p:nvPr/>
        </p:nvSpPr>
        <p:spPr>
          <a:xfrm>
            <a:off x="2651760" y="5285232"/>
            <a:ext cx="77724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빌드</a:t>
            </a:r>
          </a:p>
        </p:txBody>
      </p:sp>
      <p:sp>
        <p:nvSpPr>
          <p:cNvPr id="337" name="Right Arrow 336"/>
          <p:cNvSpPr/>
          <p:nvPr/>
        </p:nvSpPr>
        <p:spPr>
          <a:xfrm>
            <a:off x="3474720" y="5349240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ounded Rectangle 337"/>
          <p:cNvSpPr/>
          <p:nvPr/>
        </p:nvSpPr>
        <p:spPr>
          <a:xfrm>
            <a:off x="3703320" y="5285232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Dev Pipeline</a:t>
            </a:r>
          </a:p>
        </p:txBody>
      </p:sp>
      <p:sp>
        <p:nvSpPr>
          <p:cNvPr id="339" name="Rounded Rectangle 338"/>
          <p:cNvSpPr/>
          <p:nvPr/>
        </p:nvSpPr>
        <p:spPr>
          <a:xfrm>
            <a:off x="3840480" y="5138928"/>
            <a:ext cx="777240" cy="146304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취약점점검</a:t>
            </a:r>
          </a:p>
        </p:txBody>
      </p:sp>
      <p:sp>
        <p:nvSpPr>
          <p:cNvPr id="340" name="Right Arrow 339"/>
          <p:cNvSpPr/>
          <p:nvPr/>
        </p:nvSpPr>
        <p:spPr>
          <a:xfrm>
            <a:off x="4709160" y="5349240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ounded Rectangle 340"/>
          <p:cNvSpPr/>
          <p:nvPr/>
        </p:nvSpPr>
        <p:spPr>
          <a:xfrm>
            <a:off x="4937760" y="5285232"/>
            <a:ext cx="868680" cy="292608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개발환경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852160" y="5138928"/>
            <a:ext cx="2011680" cy="1463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8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Master merge (통제점검)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5943600" y="5285232"/>
            <a:ext cx="77724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eCAMS</a:t>
            </a:r>
          </a:p>
        </p:txBody>
      </p:sp>
      <p:sp>
        <p:nvSpPr>
          <p:cNvPr id="344" name="Right Arrow 343"/>
          <p:cNvSpPr/>
          <p:nvPr/>
        </p:nvSpPr>
        <p:spPr>
          <a:xfrm>
            <a:off x="6766560" y="5340096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ounded Rectangle 344"/>
          <p:cNvSpPr/>
          <p:nvPr/>
        </p:nvSpPr>
        <p:spPr>
          <a:xfrm>
            <a:off x="6995160" y="5285232"/>
            <a:ext cx="6400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빌드</a:t>
            </a:r>
          </a:p>
        </p:txBody>
      </p:sp>
      <p:sp>
        <p:nvSpPr>
          <p:cNvPr id="346" name="Rounded Rectangle 345"/>
          <p:cNvSpPr/>
          <p:nvPr/>
        </p:nvSpPr>
        <p:spPr>
          <a:xfrm>
            <a:off x="6903720" y="5138928"/>
            <a:ext cx="777240" cy="146304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취약점점검</a:t>
            </a:r>
          </a:p>
        </p:txBody>
      </p:sp>
      <p:sp>
        <p:nvSpPr>
          <p:cNvPr id="347" name="Right Arrow 346"/>
          <p:cNvSpPr/>
          <p:nvPr/>
        </p:nvSpPr>
        <p:spPr>
          <a:xfrm>
            <a:off x="7680960" y="5340096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ounded Rectangle 347"/>
          <p:cNvSpPr/>
          <p:nvPr/>
        </p:nvSpPr>
        <p:spPr>
          <a:xfrm>
            <a:off x="7909560" y="5285232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운영환경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5943600" y="5687568"/>
            <a:ext cx="914400" cy="12801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GitLabRunner</a:t>
            </a:r>
          </a:p>
        </p:txBody>
      </p:sp>
      <p:sp>
        <p:nvSpPr>
          <p:cNvPr id="350" name="Rounded Rectangle 349"/>
          <p:cNvSpPr/>
          <p:nvPr/>
        </p:nvSpPr>
        <p:spPr>
          <a:xfrm>
            <a:off x="5943600" y="5806440"/>
            <a:ext cx="6400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빌드</a:t>
            </a:r>
          </a:p>
        </p:txBody>
      </p:sp>
      <p:sp>
        <p:nvSpPr>
          <p:cNvPr id="351" name="Right Arrow 350"/>
          <p:cNvSpPr/>
          <p:nvPr/>
        </p:nvSpPr>
        <p:spPr>
          <a:xfrm>
            <a:off x="6629400" y="5870448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ounded Rectangle 351"/>
          <p:cNvSpPr/>
          <p:nvPr/>
        </p:nvSpPr>
        <p:spPr>
          <a:xfrm>
            <a:off x="6858000" y="5806440"/>
            <a:ext cx="105156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운영-Pipeline</a:t>
            </a:r>
          </a:p>
        </p:txBody>
      </p:sp>
      <p:sp>
        <p:nvSpPr>
          <p:cNvPr id="353" name="Right Arrow 352"/>
          <p:cNvSpPr/>
          <p:nvPr/>
        </p:nvSpPr>
        <p:spPr>
          <a:xfrm>
            <a:off x="7955279" y="5870448"/>
            <a:ext cx="201168" cy="109728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ounded Rectangle 353"/>
          <p:cNvSpPr/>
          <p:nvPr/>
        </p:nvSpPr>
        <p:spPr>
          <a:xfrm>
            <a:off x="8183879" y="5806440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운영환경</a:t>
            </a:r>
          </a:p>
        </p:txBody>
      </p:sp>
      <p:sp>
        <p:nvSpPr>
          <p:cNvPr id="355" name="Rectangle 354"/>
          <p:cNvSpPr/>
          <p:nvPr/>
        </p:nvSpPr>
        <p:spPr>
          <a:xfrm>
            <a:off x="320040" y="6217920"/>
            <a:ext cx="11521440" cy="9525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365760" y="6309360"/>
            <a:ext cx="2286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48B54"/>
                </a:solidFill>
                <a:latin typeface="맑은 고딕"/>
                <a:ea typeface="맑은 고딕"/>
                <a:cs typeface="맑은 고딕"/>
              </a:rPr>
              <a:t>농협중앙회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5486400" y="6309360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- 5 -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9875520" y="6309360"/>
            <a:ext cx="2011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SK 주식회사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원본 이미지 (12.png · 콘텐츠 영역 크롭)</a:t>
            </a:r>
          </a:p>
        </p:txBody>
      </p:sp>
      <p:pic>
        <p:nvPicPr>
          <p:cNvPr id="3" name="Picture 2" descr="12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48640"/>
            <a:ext cx="11155680" cy="8138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6446520"/>
            <a:ext cx="11430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편집용 재구성은 1페이지(도형/텍스트), 구성요소 표는 3페이지를 사용합니다.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계층별 구성요소 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594360"/>
          <a:ext cx="11430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6583680"/>
                <a:gridCol w="3017520"/>
              </a:tblGrid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계층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구성요소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Client Access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전용 Browser(마케팅플랫폼), 통합단말, L4, MCA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싱글뷰 연계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Service / UI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WEB, 단말관리 WAS, 단말배포 WAS, WebTopSuite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IaaS UI 서비스플랫폼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Service / 마케팅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[마케팅플랫폼] WAS, [마케팅허브] WAS, IMDG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NH Cloud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이벤트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[EBM] Kafka, 행동처리, 실시간처리 EBM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고객행동 실시간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배치 AP, RD, ETL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간 연계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I/F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SSO, Cruz APIM, EAI, FOS, MFT, ETL, CDC, MCA, GSE …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인터페이스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단말관리 DB, ADW, RDW(Oracle Exa), 마케팅플랫폼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계층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형상배포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GitLab → Build → Dev/운영 Pipeline, eCAMS, 취약점점검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CI/CD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4983480"/>
            <a:ext cx="109728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I/F Layer 상세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5303520"/>
          <a:ext cx="1143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601200"/>
              </a:tblGrid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I/F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/ Cruz APIM / EAI / FOS / MFT / ETL / CDC / 대내·대외 MCA / GSE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관제·메타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통합관제 / IT메타 / Nexus / Wily Collector / 배치작업관리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연계·대외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연계포털 / 빅데이터 / 계정계 / 대외기관 / 마이데이터 / 올원뱅크 / 디지털플랫폼 / 타금융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3716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형상배포 Layer 상세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개발 경로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96012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GitLab
코드버전관리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65960" y="1188720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417320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dev merge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96012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GitLabRunner
빌드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03320" y="1188720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0" y="96012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Dev Pipeline
(+취약점점검)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188720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760720" y="960120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개발환경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운영 경로 (Master merge · 통제점검)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42316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eCAMS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828800" y="2578608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40280" y="242316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빌드
(+취약점점검)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703320" y="2578608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0" y="242316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운영환경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004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빌드
GitLabRunner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28800" y="3355848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3200400"/>
            <a:ext cx="1554480" cy="50292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운영-Pipeline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886200" y="3355848"/>
            <a:ext cx="320040" cy="164592"/>
          </a:xfrm>
          <a:prstGeom prst="rightArrow">
            <a:avLst/>
          </a:prstGeom>
          <a:solidFill>
            <a:srgbClr val="595959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3200400"/>
            <a:ext cx="1371600" cy="502920"/>
          </a:xfrm>
          <a:prstGeom prst="roundRect">
            <a:avLst>
              <a:gd name="adj" fmla="val 12000"/>
            </a:avLst>
          </a:prstGeom>
          <a:solidFill>
            <a:srgbClr val="70AD47"/>
          </a:solidFill>
          <a:ln w="9525">
            <a:solidFill>
              <a:srgbClr val="7F7F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운영환경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023360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4E79"/>
                </a:solidFill>
                <a:latin typeface="맑은 고딕"/>
                <a:ea typeface="맑은 고딕"/>
                <a:cs typeface="맑은 고딕"/>
              </a:rPr>
              <a:t>범례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65760" y="4389120"/>
          <a:ext cx="7772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2120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도형/색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파란 WAS/WEB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런타임 노드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초록 IMDG / 운영환경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캐시·운영 반영 지점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빨간 텍스트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싱글뷰 / merge / Session Cache 등 핵심 호출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회색 I/F 박스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공통·대외 인터페이스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