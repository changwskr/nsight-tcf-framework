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63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21A2A-3F20-41C0-829A-0BC64ACF702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21D5C-42F2-4D0E-84C3-040A54CED2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94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85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9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2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88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73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55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15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04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95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19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137160"/>
            <a:ext cx="3474720" cy="118872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18288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3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43427"/>
                </a:solidFill>
                <a:latin typeface="Malgun Gothic"/>
              </a:rPr>
              <a:t>대외비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32323"/>
                </a:solidFill>
                <a:latin typeface="Malgun Gothic"/>
              </a:rPr>
              <a:t>개발 표준 정의서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4747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32323"/>
                </a:solidFill>
                <a:latin typeface="Malgun Gothic"/>
              </a:rPr>
              <a:t>아키텍처_인프라아키텍처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91840" y="5029200"/>
          <a:ext cx="2743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323"/>
                          </a:solidFill>
                          <a:latin typeface="Malgun Gothic"/>
                        </a:rPr>
                        <a:t>문서번호</a:t>
                      </a:r>
                    </a:p>
                  </a:txBody>
                  <a:tcPr marL="38100" marR="381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NHNIS-IA-DS03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323"/>
                          </a:solidFill>
                          <a:latin typeface="Malgun Gothic"/>
                        </a:rPr>
                        <a:t>버전</a:t>
                      </a:r>
                    </a:p>
                  </a:txBody>
                  <a:tcPr marL="38100" marR="381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1.1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323"/>
                          </a:solidFill>
                          <a:latin typeface="Malgun Gothic"/>
                        </a:rPr>
                        <a:t>제/개정일자</a:t>
                      </a:r>
                    </a:p>
                  </a:txBody>
                  <a:tcPr marL="38100" marR="381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2026.07.07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62636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  <a:latin typeface="Malgun Gothic"/>
              </a:rPr>
              <a:t>※ 본 문서는 “한컴 고딕”으로 작성되었습니다.
※ 농협중앙회의 사전 승인 없이 본 내용의 전부 또는 일부에 대한 복사, 전재, 배포 및 사용을 금합니다.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- 2 -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32323"/>
                </a:solidFill>
                <a:latin typeface="Malgun Gothic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4389120" cy="219456"/>
          </a:xfrm>
          <a:prstGeom prst="rect">
            <a:avLst/>
          </a:prstGeom>
          <a:solidFill>
            <a:srgbClr val="E2F0D9"/>
          </a:solidFill>
          <a:ln w="12700"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Malgun Gothic"/>
              </a:rPr>
              <a:t>1.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Malgun Gothic"/>
              </a:rPr>
              <a:t>   1.1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2. 어플리케이션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689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3. 명명규칙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4. 업무 처리 유형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5. 인터페이스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6. 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7. Report 연계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67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8. 개인 정보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15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9. 주석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626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10. 로그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012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11. 페이징 처리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1. 개요
1.1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- 3 -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3444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개발 표준 정의를 통해 업무 프로그램 설계 기반을 수립하고, 아키텍처 요소의 일관성을 확보함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411480"/>
            <a:ext cx="1325880" cy="502920"/>
          </a:xfrm>
          <a:prstGeom prst="rect">
            <a:avLst/>
          </a:prstGeom>
          <a:noFill/>
          <a:ln w="25400">
            <a:solidFill>
              <a:srgbClr val="B434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B43427"/>
                </a:solidFill>
                <a:latin typeface="Malgun Gothic"/>
              </a:rPr>
              <a:t>수정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417320" cy="1005840"/>
          </a:xfrm>
          <a:prstGeom prst="rect">
            <a:avLst/>
          </a:prstGeom>
          <a:solidFill>
            <a:srgbClr val="309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목적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1828800"/>
            <a:ext cx="8961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1920240"/>
            <a:ext cx="85953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algun Gothic"/>
              </a:rPr>
              <a:t>본 문서는 차세대 정보계 시스템에서 사용하는 아키텍처 표준 명명규칙을 정의함으로써,
인프라 및 업무 프로그램 설계에 일관성 있는 식별 체계를 제공하는 것을 목적으로 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99232"/>
            <a:ext cx="1417320" cy="1005840"/>
          </a:xfrm>
          <a:prstGeom prst="rect">
            <a:avLst/>
          </a:prstGeom>
          <a:solidFill>
            <a:srgbClr val="309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정의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999232"/>
            <a:ext cx="8961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40" y="3090672"/>
            <a:ext cx="85953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algun Gothic"/>
              </a:rPr>
              <a:t>식별자만으로 명명규칙이 부여된 어플리케이션 리소스의 영역이나 적용범위를
식별할 수 있도록 정의한다.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69664"/>
            <a:ext cx="1417320" cy="1920240"/>
          </a:xfrm>
          <a:prstGeom prst="rect">
            <a:avLst/>
          </a:prstGeom>
          <a:solidFill>
            <a:srgbClr val="309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169664"/>
            <a:ext cx="1417320" cy="19202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적용 범위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4169664"/>
            <a:ext cx="8961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48840" y="4261104"/>
            <a:ext cx="859536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algun Gothic"/>
              </a:rPr>
              <a:t>• 서비스의 식별 코드
• 단말 어플리케이션 소스 식별자
• 어플리케이션 소스 식별자
• 데이터 모델링 자산 식별자
• 파일 리소스 식별자 (추가 예정)
• 데이터 처리 식별자 (추가 예정)
• 배치 처리 식별자 (추가 예정)
• 출력물 처리 식별자 (추가 예정)
• 변경 사항 없는 기존 식별자 (추가 예정)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1. 개요
1.2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- 4 -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개발 표준 정의 범위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0" y="411480"/>
            <a:ext cx="1325880" cy="502920"/>
          </a:xfrm>
          <a:prstGeom prst="rect">
            <a:avLst/>
          </a:prstGeom>
          <a:noFill/>
          <a:ln w="25400">
            <a:solidFill>
              <a:srgbClr val="B434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B43427"/>
                </a:solidFill>
                <a:latin typeface="Malgun Gothic"/>
              </a:rPr>
              <a:t>수정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Malgun Gothic"/>
              </a:rPr>
              <a:t>■ 명명 규칙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05840" y="1645920"/>
          <a:ext cx="10149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38100" marR="38100" marT="25400" marB="25400" anchor="ctr">
                    <a:solidFill>
                      <a:srgbClr val="0D58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8100" marR="38100" marT="25400" marB="25400" anchor="ctr">
                    <a:solidFill>
                      <a:srgbClr val="0D58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38100" marR="38100" marT="25400" marB="25400" anchor="ctr">
                    <a:solidFill>
                      <a:srgbClr val="0D58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서비스 ID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프레임워크에서 온라인 거래 식별을 위해 단위 거래별로 부여하는 서비스번호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통합업무시스템(단말) 소스코드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AS-IS 정보계 단말 프로그램을 통해 생성되는 UI 소스코드 명명규칙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정보계 단말 소스코드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TO-BE 정보계 단말 프로그램을 통해 생성되는 UI 소스코드 명명규칙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컨트롤러 클래스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서비스를 사용하는 컨트롤러 클래스 파일 명명규칙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서비스 클래스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 클래스(Service Class) 파일 명명규칙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DAO 클래스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서비스에서 사용되는 DAO 클래스 파일 명명규칙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SQL 파일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서비스에서 사용되는 SQL 파일 명명규칙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SQL ID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서비스에서 사용되는 SQL ID 명명규칙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DB 테이블 명명규칙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출력물(RD)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SAM File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ETL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FOS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14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OLAP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15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배치 작업 자동화(Control-M)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26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변경 사항 없는 기존 식별자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- 5 -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32323"/>
                </a:solidFill>
                <a:latin typeface="Malgun Gothic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21992"/>
            <a:ext cx="4389120" cy="219456"/>
          </a:xfrm>
          <a:prstGeom prst="rect">
            <a:avLst/>
          </a:prstGeom>
          <a:solidFill>
            <a:srgbClr val="E2F0D9"/>
          </a:solidFill>
          <a:ln w="12700"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1.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Malgun Gothic"/>
              </a:rPr>
              <a:t>   1.1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Malgun Gothic"/>
              </a:rPr>
              <a:t>2. 어플리케이션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689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3. 명명규칙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4. 업무 처리 유형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5. 인터페이스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6. 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7. Report 연계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67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8. 개인 정보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15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9. 주석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626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10. 로그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012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11. 페이징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 어플리케이션 구성
2.1 어플리케이션 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- 6 -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도메인 구성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17520" y="1234440"/>
            <a:ext cx="6492240" cy="320040"/>
          </a:xfrm>
          <a:prstGeom prst="rect">
            <a:avLst/>
          </a:prstGeom>
          <a:solidFill>
            <a:srgbClr val="0D5860"/>
          </a:solidFill>
          <a:ln w="12700">
            <a:solidFill>
              <a:srgbClr val="0D5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23444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1691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554480"/>
            <a:ext cx="169164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5544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데이터플랫폼 RDW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874519"/>
            <a:ext cx="1600200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30552"/>
            <a:ext cx="1600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2139696"/>
            <a:ext cx="15453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/ 상품 / 수신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1600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2478024"/>
            <a:ext cx="15453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외환 / 여신 /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07208"/>
            <a:ext cx="1600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2816352"/>
            <a:ext cx="15453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통합/요약/집계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45536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3154680"/>
            <a:ext cx="15453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보고서 마트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29000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" y="3438144"/>
            <a:ext cx="15453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Feed 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1554480"/>
            <a:ext cx="1920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40280" y="1554480"/>
            <a:ext cx="192024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40280" y="15544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데이터플랫폼 ADW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874519"/>
            <a:ext cx="1828800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0" y="187451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130552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13432" y="2139696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/ 상품 / 수신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2468880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13432" y="2478024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외환 / 여신 / 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807208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3432" y="2816352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통합/요약/집계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145536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13432" y="3154680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/ 업무별 통합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48386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13432" y="3493008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보고서 마트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3767328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13432" y="3776472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실적 보고서 / OLAP 마트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105656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13432" y="4114800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단위업무 마트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438912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13432" y="4398264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Feed Back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467258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13432" y="4681728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분석 지원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1554480"/>
            <a:ext cx="1828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297680" y="1554480"/>
            <a:ext cx="182880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97680" y="15544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3400" y="1874519"/>
            <a:ext cx="1737360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43400" y="1874519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2130552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70832" y="2139696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계정/권한 관리 / 결재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2468880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70832" y="2478024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통합 검색 / 데이터 활용지원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3400" y="2807208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70832" y="2816352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커뮤니케이션 / 보고서 관리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3145536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70832" y="3154680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관련 시스템 연계 / 관리자 기능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3483864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70832" y="349300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신용 실적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43400" y="3767328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370832" y="3776472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수신실적 / 여신실적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43400" y="4105656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370832" y="4114800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계좌실적 / 사무량 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43400" y="4443984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70832" y="4453128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종합 메리트 / 기타실적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4782312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70832" y="4791456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BIMS / 실적공통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43400" y="5120640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70832" y="5129784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1554480"/>
            <a:ext cx="1965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63640" y="1554480"/>
            <a:ext cx="196596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63640" y="1554480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59" y="1874519"/>
            <a:ext cx="1874519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09359" y="1874519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마케팅 공통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59" y="2130552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36792" y="2139696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권한 관리 / 메뉴 관리 / 화면 관리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59" y="2468880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36792" y="2478024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정보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59" y="2752344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336792" y="2761488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통합 고객 / 개인·기업 고객 / 미니 싱글뷰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59" y="3090672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36792" y="3099816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상담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59" y="3374136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36792" y="3383280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상담 판매 / 통합 상품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59" y="3712464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336792" y="3721608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이벤트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59" y="3995928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336792" y="4005072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캠페인 / EBM / 실시간 처리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59" y="4334256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336792" y="4343400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행동정보 처리 / 고객 행동 데이터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59" y="4672584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36792" y="4681728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마케팅 지원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59" y="4956048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336792" y="4965192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영업 지원 / 마케팅 CS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09359" y="5294376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36792" y="5303520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접촉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66760" y="1554480"/>
            <a:ext cx="1737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366760" y="1554480"/>
            <a:ext cx="173736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366760" y="15544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1874519"/>
            <a:ext cx="1645919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1874519"/>
            <a:ext cx="16459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비즈 메타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12480" y="2130552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439912" y="2139696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업무용어 / 표준계수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412480" y="2468880"/>
            <a:ext cx="16459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439912" y="2478024"/>
            <a:ext cx="1591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데이터 흐름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12480" y="2752344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439912" y="2761488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흐름 수집/파싱 / 흐름 분석/검색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12480" y="3090672"/>
            <a:ext cx="16459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39912" y="3099816"/>
            <a:ext cx="1591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데이터 품질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12480" y="3374136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439912" y="338328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CTQ / DQI / 프로파일링 / 업무규칙(BR)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366760" y="43434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366760" y="4343400"/>
            <a:ext cx="173736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366760" y="434340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IT서비스 및 업무지원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412480" y="4663440"/>
            <a:ext cx="1645919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12480" y="4663440"/>
            <a:ext cx="16459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형상관리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0" y="4919472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439912" y="4928616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버전관리 / 배포관리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12480" y="5257800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439912" y="5266944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데이터 처리 / 보고서 디자이너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691640" y="141732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657600" y="1417320"/>
            <a:ext cx="502920" cy="201168"/>
          </a:xfrm>
          <a:prstGeom prst="roundRect">
            <a:avLst/>
          </a:prstGeom>
          <a:solidFill>
            <a:srgbClr val="3466B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577840" y="178308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178040" y="169164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269480" y="2240280"/>
            <a:ext cx="502920" cy="201168"/>
          </a:xfrm>
          <a:prstGeom prst="roundRect">
            <a:avLst/>
          </a:prstGeom>
          <a:solidFill>
            <a:srgbClr val="3466B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406640" y="2743200"/>
            <a:ext cx="502920" cy="201168"/>
          </a:xfrm>
          <a:prstGeom prst="roundRect">
            <a:avLst/>
          </a:prstGeom>
          <a:solidFill>
            <a:srgbClr val="3466B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903720" y="315468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452360" y="3749039"/>
            <a:ext cx="502920" cy="201168"/>
          </a:xfrm>
          <a:prstGeom prst="roundRect">
            <a:avLst/>
          </a:prstGeom>
          <a:solidFill>
            <a:srgbClr val="3466B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738360" y="141732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692640" y="416052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703320" y="5074920"/>
            <a:ext cx="731520" cy="201168"/>
          </a:xfrm>
          <a:prstGeom prst="roundRect">
            <a:avLst/>
          </a:prstGeom>
          <a:solidFill>
            <a:srgbClr val="A08C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대외개발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02920" y="466344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solidFill>
            <a:srgbClr val="0D5860"/>
          </a:solidFill>
          <a:ln w="12700">
            <a:solidFill>
              <a:srgbClr val="0D5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빅데이터플랫폼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6928" y="4956048"/>
            <a:ext cx="1051560" cy="182880"/>
          </a:xfrm>
          <a:prstGeom prst="rect">
            <a:avLst/>
          </a:prstGeom>
          <a:solidFill>
            <a:srgbClr val="1A737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66928" y="49560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처리/저장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66928" y="516636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94360" y="516636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분석 데이터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6928" y="534924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594360" y="534924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원천 / 마트 / 분석결과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66928" y="562356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94360" y="562356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실시간 데이터 HDFS/NoSQL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66928" y="589788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94360" y="589788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수집/전처리 / 실시간 분석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83080" y="4956048"/>
            <a:ext cx="1051560" cy="182880"/>
          </a:xfrm>
          <a:prstGeom prst="rect">
            <a:avLst/>
          </a:prstGeom>
          <a:solidFill>
            <a:srgbClr val="1A737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783080" y="49560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분석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783080" y="516636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810512" y="516636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배치/사용자분석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783080" y="544068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810512" y="544068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마케팅 / 리스크 / ...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783080" y="571500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810512" y="571500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오픈소스 분석툴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83080" y="589788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810512" y="589788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SAS분석 플랫폼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44368" y="4956048"/>
            <a:ext cx="1051560" cy="182880"/>
          </a:xfrm>
          <a:prstGeom prst="rect">
            <a:avLst/>
          </a:prstGeom>
          <a:solidFill>
            <a:srgbClr val="1A737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944368" y="49560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관리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944368" y="516636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2971800" y="516636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데이터 카탈로그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944368" y="534924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971800" y="534924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메타 관리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944368" y="553212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971800" y="553212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분석 모델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- 7 -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분류 체계 (1/5)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9464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7180">
                <a:tc gridSpan="9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38100" marR="38100" marT="25400" marB="25400" anchor="ctr">
                    <a:solidFill>
                      <a:srgbClr val="0D58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 rowSpan="13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
마케팅플랫폼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MP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Marketing
Platform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3" gridSpan="3"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43427"/>
                          </a:solidFill>
                          <a:latin typeface="Malgun Gothic"/>
                        </a:rPr>
                        <a:t>업무개발팀
분석, 설계 단계 시 반영</a:t>
                      </a:r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rowSpan="13"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rowSpan="13"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통합고객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IC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Integration Customer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미니 싱글뷰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MS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Mini SingleView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상담판매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Sale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통합상품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Product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캠페인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Campaign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실시간 처리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EP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Event Processing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행동정보 처리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BP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Behavior Information
Processing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고객 행동 데이터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BD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Customer Behavior Data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영업지원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Sales Support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Customer Service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컨텐츠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Contents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메시지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MG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Message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- 8 -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분류 체계 (2/5)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9464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4160">
                <a:tc gridSpan="9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데이터플랫폼</a:t>
                      </a:r>
                    </a:p>
                  </a:txBody>
                  <a:tcPr marL="38100" marR="38100" marT="25400" marB="25400" anchor="ctr">
                    <a:solidFill>
                      <a:srgbClr val="0D58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 rowSpan="5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 데이터
플랫폼 RDW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Real-time
Data Warehouse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5" gridSpan="3"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43427"/>
                          </a:solidFill>
                          <a:latin typeface="Malgun Gothic"/>
                        </a:rPr>
                        <a:t>업무개발팀
분석, 설계 단계 시 반영</a:t>
                      </a:r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실시간SoR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SR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Source of record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준실시간요약집계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ZD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Zipped Data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준실시간보고서마트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RM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Report Data Mart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피드백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FA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Feedback area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160">
                <a:tc rowSpan="10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 데이터
플랫폼 ADW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AD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Analytical
Data Warehouse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분석SoR 파일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SF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Source of Record_File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분석SoR 파일레거시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SL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Source of Record_File Legacy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분석SoR 복제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SC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Source of Record_Copy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분석통합요약집계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ZD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Zipped data area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분석단위업무표준마트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US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Unit-business Standard mart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분석단위업무마트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UM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Unit-business mart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분석보고서마트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RM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Report data mart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피드백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FA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Feedback area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분석보고서지원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AS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Analysis Report Support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- 9 -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분류 체계 (3/5)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9464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4160">
                <a:tc gridSpan="9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BI 포탈</a:t>
                      </a:r>
                    </a:p>
                  </a:txBody>
                  <a:tcPr marL="38100" marR="38100" marT="25400" marB="25400" anchor="ctr">
                    <a:solidFill>
                      <a:srgbClr val="0D58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 rowSpan="15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 BI포탈
(사용자분석)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5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BI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5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Business
Intelligence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BI포탈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PO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Portal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Package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신용실적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66BC"/>
                          </a:solidFill>
                          <a:latin typeface="Malgun Gothic"/>
                        </a:rPr>
                        <a:t>CR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Credit result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커스터마이징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Customizing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관리자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U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Public Utility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종합실적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O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Overall Performance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수신실적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Savings Volume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여신실적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L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Loan Amount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디지털실적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Digital Performance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계좌실적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Account Performance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정책자금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Policy Funds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사무량관리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W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Workload Management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종합메리트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Overall Merit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기타실적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Etc Performance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OLAP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OA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Online analysis process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Package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Self BI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Self business Intelligence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Package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41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BI포털UI/UX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UI/UX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Package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- 10 -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분류 체계 (4/5)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9464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79268">
                <a:tc gridSpan="9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marL="38100" marR="38100" marT="25400" marB="25400" anchor="ctr">
                    <a:solidFill>
                      <a:srgbClr val="0D58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marL="38100" marR="38100" marT="25400" marB="25400" anchor="ctr">
                    <a:solidFill>
                      <a:srgbClr val="1A7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 rowSpan="4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
데이터거버넌스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DG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Data
Governance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rowSpan="4" gridSpan="3"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43427"/>
                          </a:solidFill>
                          <a:latin typeface="Malgun Gothic"/>
                        </a:rPr>
                        <a:t>업무개발팀
분석, 설계 단계 시 반영</a:t>
                      </a:r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비즈메타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BM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Biz-Meta system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데이터품질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DQ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Data Quality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데이터흐름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DL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Data Lineage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8100" marR="38100" marT="25400" marB="25400" anchor="ctr">
                    <a:solidFill>
                      <a:srgbClr val="FAF7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어플리케이션 분류 체계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IT서비스 및 인프라 지원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96926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184"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IT서비스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Information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Management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아키텍처 관리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AM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Architecture Management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해당 사항 없음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공통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SU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System Utility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배포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Deployment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FW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라이브러리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Library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소스 코드 버전 관리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SM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Source Code Version Management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정보단말 관리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XM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UI/UX Management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정보단말 배포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XD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UI/UX Deployment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배치작업 처리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BJ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Batch Job Processing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실시간 중계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CD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CDC Gateway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치환 적재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Data Transform Load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보고서 디자이너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Report Designer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- 11 -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마케팅플랫폼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768"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MP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Marketing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Platform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마케팅플랫폼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마케팅플랫폼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IC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PC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BC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SA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PD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CM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EB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SS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CS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CT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sbmpco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마케팅플랫폼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IC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PC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BC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SA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PD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CM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EB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SS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CS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CT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sbmpco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Tomcat,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미니싱글뷰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sbmpms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ms = 미니 싱글뷰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미니싱글뷰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sbmpms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ms = 미니 싱글뷰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Tomcat,</a:t>
                      </a:r>
                      <a:r>
                        <a:t/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실시간 처리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EP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sbmpep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ep = 실시간 처리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(고객행동)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행동정보 처리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BP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sbmpbp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bp = 행동정보 처리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(고객행동)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고객 행동 데이터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BD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sbmpbd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bd = 고객 행동 데이터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(Kafka 기반 솔루션)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- 12 -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데이터플랫폼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77240"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데이터플랫폼_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RDW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Real-time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Data Warehouse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데이터플랫폼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RDW 서버 (어플라이언스)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SR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ZD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RM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FA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sbrdco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Real-time Data Warehouse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데이터플랫폼_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ADW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AD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Analytical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Data Warehouse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ADW 서버 (어플라이언스)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SR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ZD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UM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FA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RM</a:t>
                      </a:r>
                      <a:r>
                        <a:t/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DA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sbadco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Analytical Data Warehouse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- 13 -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BI 포탈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r>
                        <a:t/>
                      </a:r>
                      <a:br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BI포탈</a:t>
                      </a:r>
                      <a:r>
                        <a:t/>
                      </a:r>
                      <a:br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(사용자분석)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BI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Business</a:t>
                      </a:r>
                      <a:r>
                        <a:t/>
                      </a:r>
                      <a:br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Intelligence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BI포탈</a:t>
                      </a:r>
                      <a:r>
                        <a:t/>
                      </a:r>
                      <a:br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OLAP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OA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sbbioa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oa = OLAP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MSTR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OLAP WEB/WAS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OA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sbbioa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oa = OLAP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제공 (담당자 투입시 확인 필요)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BI 포탈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PT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sbbipt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pt = BI Portal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(Data Eye)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BI 포탈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PT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sbbipt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pt = BI Portal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(Data Eye)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Self BI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sbbisb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 = Self-BI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Self BI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sbbisb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 = Self-BI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Self BI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sbbisb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 = Self-BI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신용 실적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CR</a:t>
                      </a:r>
                      <a:r>
                        <a:t/>
                      </a:r>
                      <a:br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sbbicr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cr = 신용실적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신용 실적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CR</a:t>
                      </a:r>
                      <a:r>
                        <a:t/>
                      </a:r>
                      <a:br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sbbicr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cr = 신용실적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- 14 -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데이터거버넌스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0352"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DG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Data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Governance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데이터거버넌스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비즈메타/데이터품질관리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DQ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BM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sbdgdq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dq = 데이터 품질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GT-One 비즈메타</a:t>
                      </a:r>
                      <a:r>
                        <a:t/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GT-One DQ Miner(데이터품질)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데이터흐름관리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DF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sbdfdl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df = 데이터 흐름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GT-One 데이터 HAWK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- 15 -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IT서비스 및 인프라 지원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IT서비스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Information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Management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IT서비스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및 업무지원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 마스터 관리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테크시스템부 미들웨어팀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라이브러리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AS-IS Nexus 사용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소스 코드 버전 관리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SM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sbimsm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sm = 소스관리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GitLab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배포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DP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sbimdp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dp = 배포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GitLab Runner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단말관리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XM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sbimum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um = 단말관리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(WebTopSuite 5.0)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단말배포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XD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sbimud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ud = 단말배포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(WebTopSuite 5.0)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배치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BJ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sbimbj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bj = 배치작업 처리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 Batch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CDC 중계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CD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sbimcd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cd = CDC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OGG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ETL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DT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sbimdt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dt = ETL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DataStage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출력물(RD)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sbimrd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rd = 출력물 보고서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Report Designer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- 16 -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인프라 임시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r>
                        <a:t/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 rowSpan="6"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IT서비스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Information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Management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이행용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임시장비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#01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#02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#03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#04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#05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#06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(추출)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#07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추출용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(이행)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#08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이행용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(SQL 품질)</a:t>
                      </a:r>
                      <a:r>
                        <a:t/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#09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EBF5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SQL 품질 점검용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- 17 -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데이터베이스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3. 명명규칙 정의</a:t>
            </a:r>
            <a:r>
              <a:t/>
            </a:r>
            <a:br/>
            <a:r>
              <a:rPr sz="900" b="0">
                <a:solidFill>
                  <a:srgbClr val="000000"/>
                </a:solidFill>
                <a:latin typeface="Malgun Gothic"/>
              </a:rPr>
              <a:t>3.6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24712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algun Gothic"/>
              </a:rPr>
              <a:t>데이터베이스 명명 규칙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4572000" cy="320040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데이터베이스 (Database)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554480"/>
            <a:ext cx="4572000" cy="320040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항목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9339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▶ 데이터베이스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1952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92224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54203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0048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7792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254203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5616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5616" y="2862072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5616" y="3209544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31336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254203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7136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2862072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62855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50215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▶ 인스턴스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1952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92224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70048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07792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2736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85616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85616" y="4370832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85616" y="4718304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31336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4256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17136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17136" y="4370832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62855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65776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48655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12664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4748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Malgun Gothic"/>
              </a:rPr>
              <a:t>■ 작성 예시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321808"/>
            <a:ext cx="4572000" cy="822960"/>
          </a:xfrm>
          <a:prstGeom prst="rect">
            <a:avLst/>
          </a:prstGeom>
          <a:solidFill>
            <a:srgbClr val="F0F0F0"/>
          </a:solidFill>
          <a:ln w="1016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850" b="0">
                <a:solidFill>
                  <a:srgbClr val="000000"/>
                </a:solidFill>
                <a:latin typeface="Malgun Gothic"/>
              </a:rPr>
              <a:t>▶ 데이터베이스</a:t>
            </a:r>
            <a:r>
              <a:t/>
            </a:r>
            <a:br/>
            <a:r>
              <a:rPr sz="850" b="0">
                <a:solidFill>
                  <a:srgbClr val="000000"/>
                </a:solidFill>
                <a:latin typeface="Malgun Gothic"/>
              </a:rPr>
              <a:t>  ▪ 데이터분석플랫폼_RDW 개발 : SBRDCOTP</a:t>
            </a:r>
            <a:r>
              <a:t/>
            </a:r>
            <a:br/>
            <a:r>
              <a:t/>
            </a:r>
            <a:br/>
            <a:r>
              <a:rPr sz="850" b="0">
                <a:solidFill>
                  <a:srgbClr val="000000"/>
                </a:solidFill>
                <a:latin typeface="Malgun Gothic"/>
              </a:rPr>
              <a:t>▶ 인스턴스</a:t>
            </a:r>
            <a:r>
              <a:t/>
            </a:r>
            <a:br/>
            <a:r>
              <a:rPr sz="850" b="0">
                <a:solidFill>
                  <a:srgbClr val="000000"/>
                </a:solidFill>
                <a:latin typeface="Malgun Gothic"/>
              </a:rPr>
              <a:t>  ▪ 데이터분석플랫폼_RDW 개발 DB#1 : SBRDCOTP1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193852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① 법인구분 코드 (2)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213969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중앙회(상호금융제외) : NH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은행 : NB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상호금융 : SB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금융지주 : FG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경제지주 : AG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28072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② 대구분 코드 (2)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30083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메타시스템 사업별 업무분류기준의 대구분 코드 사용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60" y="34930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③ 시스템구분 코드 (2)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36941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공통업무구분이나 대표업무구분을 사용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단독업무 사용시 메타시스템 사업별 업무분류기준의 업무구분을 사용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60" y="41788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④ 운영구분코드 (1)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7880" y="43799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운영, 검증, 개발을 구분하여 사용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예시) O(운영), V(검증), T(개발)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3560" y="48646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⑤ CDB/PDB 구분코드 (1)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50657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Container DB : C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Pluggable DB : 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60" y="55504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⑥ 일련번호 (0~2)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7880" y="57515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1 ~ 9 또는 01 ~ 99 사용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※ 이중화 되지 않은 단독 DB인 경우 일련번호 미사용</a:t>
            </a:r>
            <a:r>
              <a:t/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예) NBNCCOV(카드코어 검증)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- 18 -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0928" y="621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C1C1C"/>
                </a:solidFill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61360" y="15361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1C"/>
                </a:solidFill>
              </a:rPr>
              <a:t>1. 개요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61360" y="18836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1C"/>
                </a:solidFill>
              </a:rPr>
              <a:t>2. 어플리케이션 구성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23616" y="2176272"/>
            <a:ext cx="3291840" cy="292608"/>
          </a:xfrm>
          <a:prstGeom prst="rect">
            <a:avLst/>
          </a:prstGeom>
          <a:solidFill>
            <a:srgbClr val="BED6CC"/>
          </a:solidFill>
          <a:ln w="12700">
            <a:solidFill>
              <a:srgbClr val="BED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61360" y="22311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C1C"/>
                </a:solidFill>
              </a:rPr>
              <a:t>3. 명명규칙 정의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35680" y="26426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1C1C"/>
                </a:solidFill>
              </a:rPr>
              <a:t>   3.1 개요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35680" y="2990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1C1C"/>
                </a:solidFill>
              </a:rPr>
              <a:t>   3.2 정보 단말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35680" y="3337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1C1C"/>
                </a:solidFill>
              </a:rPr>
              <a:t>   3.3 서비스 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35680" y="3685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1C1C"/>
                </a:solidFill>
              </a:rPr>
              <a:t>   3.4 온라인 프레임워크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5680" y="4032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1C1C"/>
                </a:solidFill>
              </a:rPr>
              <a:t>   3.5 레포트 (Report Designer)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5680" y="43799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1C1C"/>
                </a:solidFill>
              </a:rPr>
              <a:t>   3.6 데이터 베이스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5680" y="47274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1C1C"/>
                </a:solidFill>
              </a:rPr>
              <a:t>4. 업무 처리 유형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5680" y="5074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1C1C"/>
                </a:solidFill>
              </a:rPr>
              <a:t>5. 인터페이스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81800" y="15361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1C"/>
                </a:solidFill>
              </a:rPr>
              <a:t>6. FOS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81800" y="19933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1C"/>
                </a:solidFill>
              </a:rPr>
              <a:t>7. Report 연계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1800" y="2450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1C"/>
                </a:solidFill>
              </a:rPr>
              <a:t>8. 개인 정보 처리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81800" y="29077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1C"/>
                </a:solidFill>
              </a:rPr>
              <a:t>9. 주석 처리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81800" y="33649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1C"/>
                </a:solidFill>
              </a:rPr>
              <a:t>10. 로그 처리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81800" y="38221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1C"/>
                </a:solidFill>
              </a:rPr>
              <a:t>11. 페이징 처리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13120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- 18 -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206279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920" y="402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ID 관계도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73440" y="164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명명규칙 정의</a:t>
            </a:r>
            <a:endParaRPr lang="en-US" sz="820" dirty="0"/>
          </a:p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개요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1999488" y="1060704"/>
            <a:ext cx="8156448" cy="0"/>
          </a:xfrm>
          <a:prstGeom prst="line">
            <a:avLst/>
          </a:prstGeom>
          <a:noFill/>
          <a:ln w="25400">
            <a:solidFill>
              <a:srgbClr val="287C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9488" y="1060704"/>
            <a:ext cx="658368" cy="0"/>
          </a:xfrm>
          <a:prstGeom prst="line">
            <a:avLst/>
          </a:prstGeom>
          <a:noFill/>
          <a:ln w="38100">
            <a:solidFill>
              <a:srgbClr val="285D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7856" y="1060704"/>
            <a:ext cx="411480" cy="0"/>
          </a:xfrm>
          <a:prstGeom prst="line">
            <a:avLst/>
          </a:prstGeom>
          <a:noFill/>
          <a:ln w="38100">
            <a:solidFill>
              <a:srgbClr val="87B4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1408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- 19 -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26920" y="1389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0" b="1" dirty="0">
                <a:solidFill>
                  <a:srgbClr val="000000"/>
                </a:solidFill>
              </a:rPr>
              <a:t>정보 단말 화면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026920" y="1627632"/>
            <a:ext cx="1371600" cy="0"/>
          </a:xfrm>
          <a:prstGeom prst="line">
            <a:avLst/>
          </a:prstGeom>
          <a:noFill/>
          <a:ln w="8890">
            <a:solidFill>
              <a:srgbClr val="667078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3581400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0" b="1" dirty="0">
                <a:solidFill>
                  <a:srgbClr val="000000"/>
                </a:solidFill>
              </a:rPr>
              <a:t>DTO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581400" y="1627632"/>
            <a:ext cx="960120" cy="0"/>
          </a:xfrm>
          <a:prstGeom prst="line">
            <a:avLst/>
          </a:prstGeom>
          <a:noFill/>
          <a:ln w="8890">
            <a:solidFill>
              <a:srgbClr val="6670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4770120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0" b="1" dirty="0">
                <a:solidFill>
                  <a:srgbClr val="000000"/>
                </a:solidFill>
              </a:rPr>
              <a:t>Controller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770120" y="1627632"/>
            <a:ext cx="960120" cy="0"/>
          </a:xfrm>
          <a:prstGeom prst="line">
            <a:avLst/>
          </a:prstGeom>
          <a:noFill/>
          <a:ln w="8890">
            <a:solidFill>
              <a:srgbClr val="66707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931408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0" b="1" dirty="0">
                <a:solidFill>
                  <a:srgbClr val="000000"/>
                </a:solidFill>
              </a:rPr>
              <a:t>Service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931408" y="1627632"/>
            <a:ext cx="960120" cy="0"/>
          </a:xfrm>
          <a:prstGeom prst="line">
            <a:avLst/>
          </a:prstGeom>
          <a:noFill/>
          <a:ln w="8890">
            <a:solidFill>
              <a:srgbClr val="6670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7083552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0" b="1" dirty="0">
                <a:solidFill>
                  <a:srgbClr val="000000"/>
                </a:solidFill>
              </a:rPr>
              <a:t>DAO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7083552" y="1627632"/>
            <a:ext cx="960120" cy="0"/>
          </a:xfrm>
          <a:prstGeom prst="line">
            <a:avLst/>
          </a:prstGeom>
          <a:noFill/>
          <a:ln w="8890">
            <a:solidFill>
              <a:srgbClr val="6670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327136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0" b="1" dirty="0">
                <a:solidFill>
                  <a:srgbClr val="000000"/>
                </a:solidFill>
              </a:rPr>
              <a:t>SQL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8327136" y="1627632"/>
            <a:ext cx="960120" cy="0"/>
          </a:xfrm>
          <a:prstGeom prst="line">
            <a:avLst/>
          </a:prstGeom>
          <a:noFill/>
          <a:ln w="8890">
            <a:solidFill>
              <a:srgbClr val="6670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489960" y="1719072"/>
            <a:ext cx="1143000" cy="4572000"/>
          </a:xfrm>
          <a:prstGeom prst="rect">
            <a:avLst/>
          </a:prstGeom>
          <a:solidFill>
            <a:srgbClr val="DCEFE5"/>
          </a:solidFill>
          <a:ln w="8890">
            <a:solidFill>
              <a:srgbClr val="6973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6112" y="1719072"/>
            <a:ext cx="1115568" cy="4572000"/>
          </a:xfrm>
          <a:prstGeom prst="rect">
            <a:avLst/>
          </a:prstGeom>
          <a:solidFill>
            <a:srgbClr val="E2EAE1"/>
          </a:solidFill>
          <a:ln w="8890">
            <a:solidFill>
              <a:srgbClr val="6973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76544" y="1719072"/>
            <a:ext cx="1115568" cy="4572000"/>
          </a:xfrm>
          <a:prstGeom prst="rect">
            <a:avLst/>
          </a:prstGeom>
          <a:solidFill>
            <a:srgbClr val="E2EAE1"/>
          </a:solidFill>
          <a:ln w="8890">
            <a:solidFill>
              <a:srgbClr val="6973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719072"/>
            <a:ext cx="1143000" cy="4572000"/>
          </a:xfrm>
          <a:prstGeom prst="rect">
            <a:avLst/>
          </a:prstGeom>
          <a:solidFill>
            <a:srgbClr val="E2EAE1"/>
          </a:solidFill>
          <a:ln w="8890">
            <a:solidFill>
              <a:srgbClr val="6973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9120" y="1719072"/>
            <a:ext cx="1463040" cy="4572000"/>
          </a:xfrm>
          <a:prstGeom prst="rect">
            <a:avLst/>
          </a:prstGeom>
          <a:solidFill>
            <a:srgbClr val="E2EAE1"/>
          </a:solidFill>
          <a:ln w="8890">
            <a:solidFill>
              <a:srgbClr val="6973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90928" y="1828800"/>
            <a:ext cx="1143000" cy="621792"/>
          </a:xfrm>
          <a:prstGeom prst="roundRect">
            <a:avLst>
              <a:gd name="adj" fmla="val 7353"/>
            </a:avLst>
          </a:prstGeom>
          <a:solidFill>
            <a:srgbClr val="E9E9E5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82368" y="197510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" dirty="0">
                <a:solidFill>
                  <a:srgbClr val="000000"/>
                </a:solidFill>
              </a:rPr>
              <a:t>메인 화면: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2182368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" b="1" dirty="0">
                <a:solidFill>
                  <a:srgbClr val="1C1C1C"/>
                </a:solidFill>
              </a:rPr>
              <a:t>mpcoa0000M0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090928" y="2788920"/>
            <a:ext cx="1143000" cy="621792"/>
          </a:xfrm>
          <a:prstGeom prst="roundRect">
            <a:avLst>
              <a:gd name="adj" fmla="val 7353"/>
            </a:avLst>
          </a:prstGeom>
          <a:solidFill>
            <a:srgbClr val="E9E9E5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2368" y="293522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" dirty="0">
                <a:solidFill>
                  <a:srgbClr val="000000"/>
                </a:solidFill>
              </a:rPr>
              <a:t>Bottom: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2182368" y="309067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" b="1" dirty="0">
                <a:solidFill>
                  <a:srgbClr val="1C1C1C"/>
                </a:solidFill>
              </a:rPr>
              <a:t>mpcoa0000B0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2090928" y="3794760"/>
            <a:ext cx="1143000" cy="685800"/>
          </a:xfrm>
          <a:prstGeom prst="roundRect">
            <a:avLst>
              <a:gd name="adj" fmla="val 6667"/>
            </a:avLst>
          </a:prstGeom>
          <a:solidFill>
            <a:srgbClr val="E9E9E5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82368" y="394106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" dirty="0">
                <a:solidFill>
                  <a:srgbClr val="000000"/>
                </a:solidFill>
              </a:rPr>
              <a:t>서브/상세 화면: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2182368" y="409651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" b="1" dirty="0">
                <a:solidFill>
                  <a:srgbClr val="1C1C1C"/>
                </a:solidFill>
              </a:rPr>
              <a:t>mpcoa0000V0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090928" y="4892040"/>
            <a:ext cx="1143000" cy="621792"/>
          </a:xfrm>
          <a:prstGeom prst="roundRect">
            <a:avLst>
              <a:gd name="adj" fmla="val 7353"/>
            </a:avLst>
          </a:prstGeom>
          <a:solidFill>
            <a:srgbClr val="E9E9E5"/>
          </a:solidFill>
          <a:ln w="8890">
            <a:solidFill>
              <a:srgbClr val="6666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82368" y="503834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" dirty="0">
                <a:solidFill>
                  <a:srgbClr val="000000"/>
                </a:solidFill>
              </a:rPr>
              <a:t>팝업: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182368" y="519379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" b="1" dirty="0">
                <a:solidFill>
                  <a:srgbClr val="1C1C1C"/>
                </a:solidFill>
              </a:rPr>
              <a:t>mpcoa0000P0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3517392" y="171907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b="1" dirty="0">
                <a:solidFill>
                  <a:srgbClr val="1C1C1C"/>
                </a:solidFill>
              </a:rPr>
              <a:t>서비스ID: mpcoa0000S0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3581400" y="1874520"/>
            <a:ext cx="868680" cy="292608"/>
          </a:xfrm>
          <a:prstGeom prst="rect">
            <a:avLst/>
          </a:prstGeom>
          <a:solidFill>
            <a:srgbClr val="EBEBE8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08832" y="190195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70" dirty="0">
                <a:solidFill>
                  <a:srgbClr val="000000"/>
                </a:solidFill>
              </a:rPr>
              <a:t>IN: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mpcoa0000S0DTO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in</a:t>
            </a:r>
            <a:endParaRPr lang="en-US" sz="570" dirty="0"/>
          </a:p>
        </p:txBody>
      </p:sp>
      <p:sp>
        <p:nvSpPr>
          <p:cNvPr id="42" name="Shape 40"/>
          <p:cNvSpPr/>
          <p:nvPr/>
        </p:nvSpPr>
        <p:spPr>
          <a:xfrm>
            <a:off x="3581400" y="2286000"/>
            <a:ext cx="868680" cy="292608"/>
          </a:xfrm>
          <a:prstGeom prst="rect">
            <a:avLst/>
          </a:prstGeom>
          <a:solidFill>
            <a:srgbClr val="EBEBE8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08832" y="231343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70" dirty="0">
                <a:solidFill>
                  <a:srgbClr val="000000"/>
                </a:solidFill>
              </a:rPr>
              <a:t>OUT: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mpcoa0000S0DTO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out</a:t>
            </a:r>
            <a:endParaRPr lang="en-US" sz="570" dirty="0"/>
          </a:p>
        </p:txBody>
      </p:sp>
      <p:sp>
        <p:nvSpPr>
          <p:cNvPr id="44" name="Shape 42"/>
          <p:cNvSpPr/>
          <p:nvPr/>
        </p:nvSpPr>
        <p:spPr>
          <a:xfrm>
            <a:off x="4797552" y="2011680"/>
            <a:ext cx="786384" cy="237744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5840" y="206654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20" dirty="0">
                <a:solidFill>
                  <a:srgbClr val="000000"/>
                </a:solidFill>
              </a:rPr>
              <a:t>mpcoa0000S0()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5967984" y="2011680"/>
            <a:ext cx="786384" cy="237744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6272" y="206654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20" dirty="0">
                <a:solidFill>
                  <a:srgbClr val="000000"/>
                </a:solidFill>
              </a:rPr>
              <a:t>mpcoa0000S0()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7120128" y="1892808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8416" y="193852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mpcoa0000S0_S0</a:t>
            </a:r>
            <a:endParaRPr lang="en-US" sz="540" dirty="0"/>
          </a:p>
        </p:txBody>
      </p:sp>
      <p:sp>
        <p:nvSpPr>
          <p:cNvPr id="50" name="Shape 48"/>
          <p:cNvSpPr/>
          <p:nvPr/>
        </p:nvSpPr>
        <p:spPr>
          <a:xfrm>
            <a:off x="8308848" y="1892808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7136" y="193852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mpcoa0000S0_S0</a:t>
            </a:r>
            <a:endParaRPr lang="en-US" sz="540" dirty="0"/>
          </a:p>
        </p:txBody>
      </p:sp>
      <p:sp>
        <p:nvSpPr>
          <p:cNvPr id="52" name="Shape 50"/>
          <p:cNvSpPr/>
          <p:nvPr/>
        </p:nvSpPr>
        <p:spPr>
          <a:xfrm>
            <a:off x="9332976" y="1865376"/>
            <a:ext cx="228600" cy="155448"/>
          </a:xfrm>
          <a:prstGeom prst="roundRect">
            <a:avLst>
              <a:gd name="adj" fmla="val 17647"/>
            </a:avLst>
          </a:prstGeom>
          <a:solidFill>
            <a:srgbClr val="C9CDC9"/>
          </a:solidFill>
          <a:ln w="7620">
            <a:solidFill>
              <a:srgbClr val="66707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42120" y="1892808"/>
            <a:ext cx="21031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" dirty="0">
                <a:solidFill>
                  <a:srgbClr val="000000"/>
                </a:solidFill>
              </a:rPr>
              <a:t>DB</a:t>
            </a:r>
            <a:endParaRPr lang="en-US" sz="480" dirty="0"/>
          </a:p>
        </p:txBody>
      </p:sp>
      <p:sp>
        <p:nvSpPr>
          <p:cNvPr id="54" name="Shape 52"/>
          <p:cNvSpPr/>
          <p:nvPr/>
        </p:nvSpPr>
        <p:spPr>
          <a:xfrm>
            <a:off x="7120128" y="2148840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8416" y="21945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mpcoa0000S0_S1</a:t>
            </a:r>
            <a:endParaRPr lang="en-US" sz="540" dirty="0"/>
          </a:p>
        </p:txBody>
      </p:sp>
      <p:sp>
        <p:nvSpPr>
          <p:cNvPr id="56" name="Shape 54"/>
          <p:cNvSpPr/>
          <p:nvPr/>
        </p:nvSpPr>
        <p:spPr>
          <a:xfrm>
            <a:off x="8308848" y="2148840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27136" y="21945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mpcoa0000S0_S1</a:t>
            </a:r>
            <a:endParaRPr lang="en-US" sz="540" dirty="0"/>
          </a:p>
        </p:txBody>
      </p:sp>
      <p:sp>
        <p:nvSpPr>
          <p:cNvPr id="58" name="Shape 56"/>
          <p:cNvSpPr/>
          <p:nvPr/>
        </p:nvSpPr>
        <p:spPr>
          <a:xfrm>
            <a:off x="9332976" y="2084832"/>
            <a:ext cx="228600" cy="155448"/>
          </a:xfrm>
          <a:prstGeom prst="roundRect">
            <a:avLst>
              <a:gd name="adj" fmla="val 17647"/>
            </a:avLst>
          </a:prstGeom>
          <a:solidFill>
            <a:srgbClr val="C9CDC9"/>
          </a:solidFill>
          <a:ln w="7620">
            <a:solidFill>
              <a:srgbClr val="66707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42120" y="2112264"/>
            <a:ext cx="21031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" dirty="0">
                <a:solidFill>
                  <a:srgbClr val="000000"/>
                </a:solidFill>
              </a:rPr>
              <a:t>DB</a:t>
            </a:r>
            <a:endParaRPr lang="en-US" sz="480" dirty="0"/>
          </a:p>
        </p:txBody>
      </p:sp>
      <p:sp>
        <p:nvSpPr>
          <p:cNvPr id="60" name="Shape 58"/>
          <p:cNvSpPr/>
          <p:nvPr/>
        </p:nvSpPr>
        <p:spPr>
          <a:xfrm>
            <a:off x="3233928" y="2139696"/>
            <a:ext cx="329184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450080" y="2084832"/>
            <a:ext cx="320040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583936" y="2121408"/>
            <a:ext cx="384048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754368" y="2121408"/>
            <a:ext cx="347472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016240" y="1993392"/>
            <a:ext cx="283464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3517392" y="267919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b="1" dirty="0">
                <a:solidFill>
                  <a:srgbClr val="1C1C1C"/>
                </a:solidFill>
              </a:rPr>
              <a:t>서비스ID: mpcoa0000S1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3581400" y="2834640"/>
            <a:ext cx="868680" cy="292608"/>
          </a:xfrm>
          <a:prstGeom prst="rect">
            <a:avLst/>
          </a:prstGeom>
          <a:solidFill>
            <a:srgbClr val="EBEBE8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08832" y="286207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70" dirty="0">
                <a:solidFill>
                  <a:srgbClr val="000000"/>
                </a:solidFill>
              </a:rPr>
              <a:t>IN: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mpcoa0000S1DTO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in</a:t>
            </a:r>
            <a:endParaRPr lang="en-US" sz="570" dirty="0"/>
          </a:p>
        </p:txBody>
      </p:sp>
      <p:sp>
        <p:nvSpPr>
          <p:cNvPr id="68" name="Shape 66"/>
          <p:cNvSpPr/>
          <p:nvPr/>
        </p:nvSpPr>
        <p:spPr>
          <a:xfrm>
            <a:off x="3581400" y="3246120"/>
            <a:ext cx="868680" cy="292608"/>
          </a:xfrm>
          <a:prstGeom prst="rect">
            <a:avLst/>
          </a:prstGeom>
          <a:solidFill>
            <a:srgbClr val="EBEBE8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08832" y="327355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70" dirty="0">
                <a:solidFill>
                  <a:srgbClr val="000000"/>
                </a:solidFill>
              </a:rPr>
              <a:t>OUT: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mpcoa0000S1DTO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out</a:t>
            </a:r>
            <a:endParaRPr lang="en-US" sz="570" dirty="0"/>
          </a:p>
        </p:txBody>
      </p:sp>
      <p:sp>
        <p:nvSpPr>
          <p:cNvPr id="70" name="Shape 68"/>
          <p:cNvSpPr/>
          <p:nvPr/>
        </p:nvSpPr>
        <p:spPr>
          <a:xfrm>
            <a:off x="4797552" y="2971800"/>
            <a:ext cx="786384" cy="237744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15840" y="302666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20" dirty="0">
                <a:solidFill>
                  <a:srgbClr val="000000"/>
                </a:solidFill>
              </a:rPr>
              <a:t>mpcoa0000S1()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5967984" y="2971800"/>
            <a:ext cx="786384" cy="237744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86272" y="302666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20" dirty="0">
                <a:solidFill>
                  <a:srgbClr val="000000"/>
                </a:solidFill>
              </a:rPr>
              <a:t>mpcoa0000S1()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7120128" y="2852928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8416" y="289864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mpcoa0000S1_S0</a:t>
            </a:r>
            <a:endParaRPr lang="en-US" sz="540" dirty="0"/>
          </a:p>
        </p:txBody>
      </p:sp>
      <p:sp>
        <p:nvSpPr>
          <p:cNvPr id="76" name="Shape 74"/>
          <p:cNvSpPr/>
          <p:nvPr/>
        </p:nvSpPr>
        <p:spPr>
          <a:xfrm>
            <a:off x="8308848" y="2852928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27136" y="289864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mpcoa0000S1_S0</a:t>
            </a:r>
            <a:endParaRPr lang="en-US" sz="540" dirty="0"/>
          </a:p>
        </p:txBody>
      </p:sp>
      <p:sp>
        <p:nvSpPr>
          <p:cNvPr id="78" name="Shape 76"/>
          <p:cNvSpPr/>
          <p:nvPr/>
        </p:nvSpPr>
        <p:spPr>
          <a:xfrm>
            <a:off x="9332976" y="2825496"/>
            <a:ext cx="228600" cy="155448"/>
          </a:xfrm>
          <a:prstGeom prst="roundRect">
            <a:avLst>
              <a:gd name="adj" fmla="val 17647"/>
            </a:avLst>
          </a:prstGeom>
          <a:solidFill>
            <a:srgbClr val="C9CDC9"/>
          </a:solidFill>
          <a:ln w="7620">
            <a:solidFill>
              <a:srgbClr val="66707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42120" y="2852928"/>
            <a:ext cx="21031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" dirty="0">
                <a:solidFill>
                  <a:srgbClr val="000000"/>
                </a:solidFill>
              </a:rPr>
              <a:t>DB</a:t>
            </a:r>
            <a:endParaRPr lang="en-US" sz="480" dirty="0"/>
          </a:p>
        </p:txBody>
      </p:sp>
      <p:sp>
        <p:nvSpPr>
          <p:cNvPr id="80" name="Shape 78"/>
          <p:cNvSpPr/>
          <p:nvPr/>
        </p:nvSpPr>
        <p:spPr>
          <a:xfrm>
            <a:off x="3233928" y="3099816"/>
            <a:ext cx="329184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450080" y="3044952"/>
            <a:ext cx="320040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5583936" y="3081528"/>
            <a:ext cx="384048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6754368" y="3081528"/>
            <a:ext cx="347472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8016240" y="2953512"/>
            <a:ext cx="283464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3517392" y="368503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b="1" dirty="0">
                <a:solidFill>
                  <a:srgbClr val="1C1C1C"/>
                </a:solidFill>
              </a:rPr>
              <a:t>서비스ID: mpcoa0000C0</a:t>
            </a:r>
            <a:endParaRPr lang="en-US" sz="660" dirty="0"/>
          </a:p>
        </p:txBody>
      </p:sp>
      <p:sp>
        <p:nvSpPr>
          <p:cNvPr id="86" name="Shape 84"/>
          <p:cNvSpPr/>
          <p:nvPr/>
        </p:nvSpPr>
        <p:spPr>
          <a:xfrm>
            <a:off x="3581400" y="3840480"/>
            <a:ext cx="868680" cy="292608"/>
          </a:xfrm>
          <a:prstGeom prst="rect">
            <a:avLst/>
          </a:prstGeom>
          <a:solidFill>
            <a:srgbClr val="EBEBE8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08832" y="386791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70" dirty="0">
                <a:solidFill>
                  <a:srgbClr val="000000"/>
                </a:solidFill>
              </a:rPr>
              <a:t>IN: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mpcoa0000C0DTO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in</a:t>
            </a:r>
            <a:endParaRPr lang="en-US" sz="570" dirty="0"/>
          </a:p>
        </p:txBody>
      </p:sp>
      <p:sp>
        <p:nvSpPr>
          <p:cNvPr id="88" name="Shape 86"/>
          <p:cNvSpPr/>
          <p:nvPr/>
        </p:nvSpPr>
        <p:spPr>
          <a:xfrm>
            <a:off x="3581400" y="4251960"/>
            <a:ext cx="868680" cy="292608"/>
          </a:xfrm>
          <a:prstGeom prst="rect">
            <a:avLst/>
          </a:prstGeom>
          <a:solidFill>
            <a:srgbClr val="EBEBE8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08832" y="427939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70" dirty="0">
                <a:solidFill>
                  <a:srgbClr val="000000"/>
                </a:solidFill>
              </a:rPr>
              <a:t>OUT: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mpcoa0000C0DTO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out</a:t>
            </a:r>
            <a:endParaRPr lang="en-US" sz="570" dirty="0"/>
          </a:p>
        </p:txBody>
      </p:sp>
      <p:sp>
        <p:nvSpPr>
          <p:cNvPr id="90" name="Shape 88"/>
          <p:cNvSpPr/>
          <p:nvPr/>
        </p:nvSpPr>
        <p:spPr>
          <a:xfrm>
            <a:off x="4797552" y="3977640"/>
            <a:ext cx="786384" cy="237744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15840" y="403250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20" dirty="0">
                <a:solidFill>
                  <a:srgbClr val="000000"/>
                </a:solidFill>
              </a:rPr>
              <a:t>mpcoa0000C0()</a:t>
            </a:r>
            <a:endParaRPr lang="en-US" sz="620" dirty="0"/>
          </a:p>
        </p:txBody>
      </p:sp>
      <p:sp>
        <p:nvSpPr>
          <p:cNvPr id="92" name="Shape 90"/>
          <p:cNvSpPr/>
          <p:nvPr/>
        </p:nvSpPr>
        <p:spPr>
          <a:xfrm>
            <a:off x="5967984" y="3977640"/>
            <a:ext cx="786384" cy="237744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86272" y="403250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20" dirty="0">
                <a:solidFill>
                  <a:srgbClr val="000000"/>
                </a:solidFill>
              </a:rPr>
              <a:t>mpcoa0000C0()</a:t>
            </a:r>
            <a:endParaRPr lang="en-US" sz="620" dirty="0"/>
          </a:p>
        </p:txBody>
      </p:sp>
      <p:sp>
        <p:nvSpPr>
          <p:cNvPr id="94" name="Shape 92"/>
          <p:cNvSpPr/>
          <p:nvPr/>
        </p:nvSpPr>
        <p:spPr>
          <a:xfrm>
            <a:off x="7120128" y="3858768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138416" y="390448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mpcoa0000S2_S0</a:t>
            </a:r>
            <a:endParaRPr lang="en-US" sz="540" dirty="0"/>
          </a:p>
        </p:txBody>
      </p:sp>
      <p:sp>
        <p:nvSpPr>
          <p:cNvPr id="96" name="Shape 94"/>
          <p:cNvSpPr/>
          <p:nvPr/>
        </p:nvSpPr>
        <p:spPr>
          <a:xfrm>
            <a:off x="8308848" y="3858768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27136" y="390448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mpcoa0000S2_S0</a:t>
            </a:r>
            <a:endParaRPr lang="en-US" sz="540" dirty="0"/>
          </a:p>
        </p:txBody>
      </p:sp>
      <p:sp>
        <p:nvSpPr>
          <p:cNvPr id="98" name="Shape 96"/>
          <p:cNvSpPr/>
          <p:nvPr/>
        </p:nvSpPr>
        <p:spPr>
          <a:xfrm>
            <a:off x="9332976" y="3831336"/>
            <a:ext cx="228600" cy="155448"/>
          </a:xfrm>
          <a:prstGeom prst="roundRect">
            <a:avLst>
              <a:gd name="adj" fmla="val 17647"/>
            </a:avLst>
          </a:prstGeom>
          <a:solidFill>
            <a:srgbClr val="C9CDC9"/>
          </a:solidFill>
          <a:ln w="7620">
            <a:solidFill>
              <a:srgbClr val="66707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342120" y="3858768"/>
            <a:ext cx="21031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" dirty="0">
                <a:solidFill>
                  <a:srgbClr val="000000"/>
                </a:solidFill>
              </a:rPr>
              <a:t>DB</a:t>
            </a:r>
            <a:endParaRPr lang="en-US" sz="480" dirty="0"/>
          </a:p>
        </p:txBody>
      </p:sp>
      <p:sp>
        <p:nvSpPr>
          <p:cNvPr id="100" name="Shape 98"/>
          <p:cNvSpPr/>
          <p:nvPr/>
        </p:nvSpPr>
        <p:spPr>
          <a:xfrm>
            <a:off x="7120128" y="4114800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38416" y="416052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mpcoa0000C0_C0</a:t>
            </a:r>
            <a:endParaRPr lang="en-US" sz="540" dirty="0"/>
          </a:p>
        </p:txBody>
      </p:sp>
      <p:sp>
        <p:nvSpPr>
          <p:cNvPr id="102" name="Shape 100"/>
          <p:cNvSpPr/>
          <p:nvPr/>
        </p:nvSpPr>
        <p:spPr>
          <a:xfrm>
            <a:off x="8308848" y="4114800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327136" y="416052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mpcoa0000C0_C0</a:t>
            </a:r>
            <a:endParaRPr lang="en-US" sz="540" dirty="0"/>
          </a:p>
        </p:txBody>
      </p:sp>
      <p:sp>
        <p:nvSpPr>
          <p:cNvPr id="104" name="Shape 102"/>
          <p:cNvSpPr/>
          <p:nvPr/>
        </p:nvSpPr>
        <p:spPr>
          <a:xfrm>
            <a:off x="9332976" y="4050792"/>
            <a:ext cx="228600" cy="155448"/>
          </a:xfrm>
          <a:prstGeom prst="roundRect">
            <a:avLst>
              <a:gd name="adj" fmla="val 17647"/>
            </a:avLst>
          </a:prstGeom>
          <a:solidFill>
            <a:srgbClr val="C9CDC9"/>
          </a:solidFill>
          <a:ln w="7620">
            <a:solidFill>
              <a:srgbClr val="66707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2120" y="4078224"/>
            <a:ext cx="21031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" dirty="0">
                <a:solidFill>
                  <a:srgbClr val="000000"/>
                </a:solidFill>
              </a:rPr>
              <a:t>DB</a:t>
            </a:r>
            <a:endParaRPr lang="en-US" sz="480" dirty="0"/>
          </a:p>
        </p:txBody>
      </p:sp>
      <p:sp>
        <p:nvSpPr>
          <p:cNvPr id="106" name="Shape 104"/>
          <p:cNvSpPr/>
          <p:nvPr/>
        </p:nvSpPr>
        <p:spPr>
          <a:xfrm>
            <a:off x="3233928" y="4105656"/>
            <a:ext cx="329184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4450080" y="4050792"/>
            <a:ext cx="320040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5583936" y="4087368"/>
            <a:ext cx="384048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6754368" y="4087368"/>
            <a:ext cx="347472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8016240" y="3959352"/>
            <a:ext cx="283464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3517392" y="478231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" b="1" dirty="0">
                <a:solidFill>
                  <a:srgbClr val="1C1C1C"/>
                </a:solidFill>
              </a:rPr>
              <a:t>서비스ID: mpcoa0000U0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3581400" y="4937760"/>
            <a:ext cx="868680" cy="292608"/>
          </a:xfrm>
          <a:prstGeom prst="rect">
            <a:avLst/>
          </a:prstGeom>
          <a:solidFill>
            <a:srgbClr val="EBEBE8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608832" y="496519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70" dirty="0">
                <a:solidFill>
                  <a:srgbClr val="000000"/>
                </a:solidFill>
              </a:rPr>
              <a:t>IN: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mpcoa0000U0DTO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io</a:t>
            </a:r>
            <a:endParaRPr lang="en-US" sz="570" dirty="0"/>
          </a:p>
        </p:txBody>
      </p:sp>
      <p:sp>
        <p:nvSpPr>
          <p:cNvPr id="114" name="Shape 112"/>
          <p:cNvSpPr/>
          <p:nvPr/>
        </p:nvSpPr>
        <p:spPr>
          <a:xfrm>
            <a:off x="3581400" y="5349240"/>
            <a:ext cx="868680" cy="292608"/>
          </a:xfrm>
          <a:prstGeom prst="rect">
            <a:avLst/>
          </a:prstGeom>
          <a:solidFill>
            <a:srgbClr val="EBEBE8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608832" y="537667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70" dirty="0">
                <a:solidFill>
                  <a:srgbClr val="000000"/>
                </a:solidFill>
              </a:rPr>
              <a:t>OUT: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mpcoa0000U0DTO</a:t>
            </a:r>
            <a:endParaRPr lang="en-US" sz="570" dirty="0"/>
          </a:p>
          <a:p>
            <a:pPr algn="ctr"/>
            <a:r>
              <a:rPr lang="en-US" sz="570" dirty="0">
                <a:solidFill>
                  <a:srgbClr val="000000"/>
                </a:solidFill>
              </a:rPr>
              <a:t>io</a:t>
            </a:r>
            <a:endParaRPr lang="en-US" sz="570" dirty="0"/>
          </a:p>
        </p:txBody>
      </p:sp>
      <p:sp>
        <p:nvSpPr>
          <p:cNvPr id="116" name="Shape 114"/>
          <p:cNvSpPr/>
          <p:nvPr/>
        </p:nvSpPr>
        <p:spPr>
          <a:xfrm>
            <a:off x="4797552" y="5074920"/>
            <a:ext cx="786384" cy="237744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815840" y="512978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20" dirty="0">
                <a:solidFill>
                  <a:srgbClr val="000000"/>
                </a:solidFill>
              </a:rPr>
              <a:t>mpcoa0000U0()</a:t>
            </a:r>
            <a:endParaRPr lang="en-US" sz="620" dirty="0"/>
          </a:p>
        </p:txBody>
      </p:sp>
      <p:sp>
        <p:nvSpPr>
          <p:cNvPr id="118" name="Shape 116"/>
          <p:cNvSpPr/>
          <p:nvPr/>
        </p:nvSpPr>
        <p:spPr>
          <a:xfrm>
            <a:off x="5967984" y="5074920"/>
            <a:ext cx="786384" cy="237744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986272" y="512978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20" dirty="0">
                <a:solidFill>
                  <a:srgbClr val="000000"/>
                </a:solidFill>
              </a:rPr>
              <a:t>mpcoa0000U0()</a:t>
            </a:r>
            <a:endParaRPr lang="en-US" sz="620" dirty="0"/>
          </a:p>
        </p:txBody>
      </p:sp>
      <p:sp>
        <p:nvSpPr>
          <p:cNvPr id="120" name="Shape 118"/>
          <p:cNvSpPr/>
          <p:nvPr/>
        </p:nvSpPr>
        <p:spPr>
          <a:xfrm>
            <a:off x="7120128" y="4956048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138416" y="500176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mpcoa0000U0_S0</a:t>
            </a:r>
            <a:endParaRPr lang="en-US" sz="540" dirty="0"/>
          </a:p>
        </p:txBody>
      </p:sp>
      <p:sp>
        <p:nvSpPr>
          <p:cNvPr id="122" name="Shape 120"/>
          <p:cNvSpPr/>
          <p:nvPr/>
        </p:nvSpPr>
        <p:spPr>
          <a:xfrm>
            <a:off x="8308848" y="4956048"/>
            <a:ext cx="896112" cy="201168"/>
          </a:xfrm>
          <a:prstGeom prst="rect">
            <a:avLst/>
          </a:prstGeom>
          <a:solidFill>
            <a:srgbClr val="E9E9E5"/>
          </a:solidFill>
          <a:ln w="8890">
            <a:solidFill>
              <a:srgbClr val="66707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327136" y="500176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40" dirty="0">
                <a:solidFill>
                  <a:srgbClr val="000000"/>
                </a:solidFill>
              </a:rPr>
              <a:t>mpcoa0000U0_S0</a:t>
            </a:r>
            <a:endParaRPr lang="en-US" sz="540" dirty="0"/>
          </a:p>
        </p:txBody>
      </p:sp>
      <p:sp>
        <p:nvSpPr>
          <p:cNvPr id="124" name="Shape 122"/>
          <p:cNvSpPr/>
          <p:nvPr/>
        </p:nvSpPr>
        <p:spPr>
          <a:xfrm>
            <a:off x="9332976" y="4928616"/>
            <a:ext cx="228600" cy="155448"/>
          </a:xfrm>
          <a:prstGeom prst="roundRect">
            <a:avLst>
              <a:gd name="adj" fmla="val 17647"/>
            </a:avLst>
          </a:prstGeom>
          <a:solidFill>
            <a:srgbClr val="C9CDC9"/>
          </a:solidFill>
          <a:ln w="7620">
            <a:solidFill>
              <a:srgbClr val="66707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342120" y="4956048"/>
            <a:ext cx="21031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" dirty="0">
                <a:solidFill>
                  <a:srgbClr val="000000"/>
                </a:solidFill>
              </a:rPr>
              <a:t>DB</a:t>
            </a:r>
            <a:endParaRPr lang="en-US" sz="480" dirty="0"/>
          </a:p>
        </p:txBody>
      </p:sp>
      <p:sp>
        <p:nvSpPr>
          <p:cNvPr id="126" name="Shape 124"/>
          <p:cNvSpPr/>
          <p:nvPr/>
        </p:nvSpPr>
        <p:spPr>
          <a:xfrm>
            <a:off x="3233928" y="5202936"/>
            <a:ext cx="329184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4450080" y="5148072"/>
            <a:ext cx="320040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5583936" y="5184648"/>
            <a:ext cx="384048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6754368" y="5184648"/>
            <a:ext cx="347472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8016240" y="5056632"/>
            <a:ext cx="283464" cy="0"/>
          </a:xfrm>
          <a:prstGeom prst="line">
            <a:avLst/>
          </a:prstGeom>
          <a:noFill/>
          <a:ln w="10160">
            <a:solidFill>
              <a:srgbClr val="667078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137404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920" y="402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73440" y="164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명명규칙 정의</a:t>
            </a:r>
            <a:endParaRPr lang="en-US" sz="820" dirty="0"/>
          </a:p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정보 단말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1999488" y="1060704"/>
            <a:ext cx="8156448" cy="0"/>
          </a:xfrm>
          <a:prstGeom prst="line">
            <a:avLst/>
          </a:prstGeom>
          <a:noFill/>
          <a:ln w="25400">
            <a:solidFill>
              <a:srgbClr val="287C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9488" y="1060704"/>
            <a:ext cx="658368" cy="0"/>
          </a:xfrm>
          <a:prstGeom prst="line">
            <a:avLst/>
          </a:prstGeom>
          <a:noFill/>
          <a:ln w="38100">
            <a:solidFill>
              <a:srgbClr val="285D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7856" y="1060704"/>
            <a:ext cx="411480" cy="0"/>
          </a:xfrm>
          <a:prstGeom prst="line">
            <a:avLst/>
          </a:prstGeom>
          <a:noFill/>
          <a:ln w="38100">
            <a:solidFill>
              <a:srgbClr val="87B4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1408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- 20 -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82368" y="1298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0000"/>
                </a:solidFill>
              </a:rPr>
              <a:t>단말 솔루션(WebTop Suite) 기반 화면 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82368" y="1901952"/>
            <a:ext cx="3886200" cy="256032"/>
          </a:xfrm>
          <a:prstGeom prst="rect">
            <a:avLst/>
          </a:prstGeom>
          <a:solidFill>
            <a:srgbClr val="1F3A49"/>
          </a:solidFill>
          <a:ln>
            <a:solidFill>
              <a:srgbClr val="1F3A4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단말 소스 파일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10384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51048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36848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04944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84520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37232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5832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4432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95600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24200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2800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53968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82568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837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123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409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95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8136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9304" y="2880360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99304" y="3136392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99304" y="3392424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99304" y="3648456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99304" y="3904488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37048" y="2880360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37048" y="3136392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37048" y="3392424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37048" y="3648456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37048" y="3904488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82368" y="489204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■ 작성 예시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2182368" y="5148072"/>
            <a:ext cx="3886200" cy="868680"/>
          </a:xfrm>
          <a:prstGeom prst="rect">
            <a:avLst/>
          </a:prstGeom>
          <a:solidFill>
            <a:srgbClr val="DCDDD8">
              <a:alpha val="85000"/>
            </a:srgbClr>
          </a:solidFill>
          <a:ln w="12700">
            <a:solidFill>
              <a:srgbClr val="DCDDD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46960" y="5303520"/>
            <a:ext cx="3657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메인: mpcoa0000M0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서브/상세: mpcoa0000V0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탭: mpcoa0000T0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팝업: mpcoa0000P0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Bottom: mpcoa0000B0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182368" y="606247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555555"/>
                </a:solidFill>
              </a:rPr>
              <a:t>※ 나눔고딕코딩체, 11pt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662928" y="1581912"/>
            <a:ext cx="3337560" cy="265176"/>
          </a:xfrm>
          <a:prstGeom prst="rect">
            <a:avLst/>
          </a:prstGeom>
          <a:solidFill>
            <a:srgbClr val="0E4B37"/>
          </a:solidFill>
          <a:ln>
            <a:solidFill>
              <a:srgbClr val="0E4B3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항목 설명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62928" y="1874520"/>
            <a:ext cx="3337560" cy="4389120"/>
          </a:xfrm>
          <a:prstGeom prst="rect">
            <a:avLst/>
          </a:prstGeom>
          <a:solidFill>
            <a:srgbClr val="F0F0EB"/>
          </a:solidFill>
          <a:ln w="8890">
            <a:solidFill>
              <a:srgbClr val="8888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36080" y="200253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973824" y="19842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대구분 (어플리케이션 그룹) 코드 (2)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7101840" y="214884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6736080" y="250545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73824" y="2487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업무구분 (어플리케이션) 코드 (2)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7101840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6736080" y="300837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973824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세부업무구분 (기능) 코드 (1)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71018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6736080" y="351129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973824" y="34930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화면식별 번호 (4)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71018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화면 번호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화면이 없는 경우 일련번호 (“Z”+일련번호(3))</a:t>
            </a:r>
            <a:endParaRPr lang="en-US" sz="760" dirty="0"/>
          </a:p>
        </p:txBody>
      </p:sp>
      <p:sp>
        <p:nvSpPr>
          <p:cNvPr id="58" name="Text 56"/>
          <p:cNvSpPr/>
          <p:nvPr/>
        </p:nvSpPr>
        <p:spPr>
          <a:xfrm>
            <a:off x="6736080" y="416966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973824" y="41513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식별자 (2)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7101840" y="431596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구분(1) + 순번(1)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- M=메인, V=서브/상세, T=탭, P=팝업, B=Bottom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- 순번: 숫자(0~9), 알파벳(A~Z)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6736080" y="499262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6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73824" y="49743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확장자</a:t>
            </a:r>
            <a:endParaRPr lang="en-US" sz="860" dirty="0"/>
          </a:p>
        </p:txBody>
      </p:sp>
      <p:sp>
        <p:nvSpPr>
          <p:cNvPr id="63" name="Text 61"/>
          <p:cNvSpPr/>
          <p:nvPr/>
        </p:nvSpPr>
        <p:spPr>
          <a:xfrm>
            <a:off x="7101840" y="5138928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.xml : 화면 구성 파일, .js : 컴포넌트 스크립트 파일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그 외 확장자: 단말에서 관리하는 파일</a:t>
            </a:r>
            <a:endParaRPr lang="en-US" sz="760" dirty="0"/>
          </a:p>
        </p:txBody>
      </p:sp>
    </p:spTree>
    <p:extLst>
      <p:ext uri="{BB962C8B-B14F-4D97-AF65-F5344CB8AC3E}">
        <p14:creationId xmlns:p14="http://schemas.microsoft.com/office/powerpoint/2010/main" val="43530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920" y="402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소스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73440" y="164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명명규칙 정의</a:t>
            </a:r>
            <a:endParaRPr lang="en-US" sz="820" dirty="0"/>
          </a:p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정보 단말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1999488" y="1060704"/>
            <a:ext cx="8156448" cy="0"/>
          </a:xfrm>
          <a:prstGeom prst="line">
            <a:avLst/>
          </a:prstGeom>
          <a:noFill/>
          <a:ln w="25400">
            <a:solidFill>
              <a:srgbClr val="287C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9488" y="1060704"/>
            <a:ext cx="658368" cy="0"/>
          </a:xfrm>
          <a:prstGeom prst="line">
            <a:avLst/>
          </a:prstGeom>
          <a:noFill/>
          <a:ln w="38100">
            <a:solidFill>
              <a:srgbClr val="285D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7856" y="1060704"/>
            <a:ext cx="411480" cy="0"/>
          </a:xfrm>
          <a:prstGeom prst="line">
            <a:avLst/>
          </a:prstGeom>
          <a:noFill/>
          <a:ln w="38100">
            <a:solidFill>
              <a:srgbClr val="87B4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1408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- 21 -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82368" y="129844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00000"/>
                </a:solidFill>
              </a:rPr>
              <a:t>단말 솔루션(WebTop Suite) 기반 화면 개발을 통해 생성되는 UI 소스 명명 규칙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82368" y="1901952"/>
            <a:ext cx="3886200" cy="256032"/>
          </a:xfrm>
          <a:prstGeom prst="rect">
            <a:avLst/>
          </a:prstGeom>
          <a:solidFill>
            <a:srgbClr val="1F3A49"/>
          </a:solidFill>
          <a:ln>
            <a:solidFill>
              <a:srgbClr val="1F3A4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단말 소스 파일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10384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51048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36848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04944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84520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37232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5832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4432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95600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24200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2800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53968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82568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837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123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409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95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8136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9304" y="2880360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99304" y="3136392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99304" y="3392424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99304" y="3648456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99304" y="3904488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37048" y="2880360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37048" y="3136392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37048" y="3392424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37048" y="3648456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37048" y="3904488"/>
            <a:ext cx="201168" cy="237744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74792" y="2916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.xml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82368" y="489204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■ 작성 예시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2182368" y="5148072"/>
            <a:ext cx="3886200" cy="868680"/>
          </a:xfrm>
          <a:prstGeom prst="rect">
            <a:avLst/>
          </a:prstGeom>
          <a:solidFill>
            <a:srgbClr val="DCDDD8">
              <a:alpha val="85000"/>
            </a:srgbClr>
          </a:solidFill>
          <a:ln w="12700">
            <a:solidFill>
              <a:srgbClr val="DCDDD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46960" y="5303520"/>
            <a:ext cx="3657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메인: mpcoa0000M0.xml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서브/상세: mpcoa0000V0.xml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탭: mpcoa0000T0.xml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팝업: mpcoa0000P0.xml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Bottom: mpcoa0000B0.xml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182368" y="606247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555555"/>
                </a:solidFill>
              </a:rPr>
              <a:t>※ 나눔고딕코딩체, 11pt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662928" y="1581912"/>
            <a:ext cx="3337560" cy="265176"/>
          </a:xfrm>
          <a:prstGeom prst="rect">
            <a:avLst/>
          </a:prstGeom>
          <a:solidFill>
            <a:srgbClr val="0E4B37"/>
          </a:solidFill>
          <a:ln>
            <a:solidFill>
              <a:srgbClr val="0E4B3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항목 설명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62928" y="1874520"/>
            <a:ext cx="3337560" cy="4389120"/>
          </a:xfrm>
          <a:prstGeom prst="rect">
            <a:avLst/>
          </a:prstGeom>
          <a:solidFill>
            <a:srgbClr val="F0F0EB"/>
          </a:solidFill>
          <a:ln w="8890">
            <a:solidFill>
              <a:srgbClr val="8888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36080" y="200253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73824" y="19842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대구분 (어플리케이션 그룹) 코드 (2)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7101840" y="214884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50" name="Text 48"/>
          <p:cNvSpPr/>
          <p:nvPr/>
        </p:nvSpPr>
        <p:spPr>
          <a:xfrm>
            <a:off x="6736080" y="250545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973824" y="2487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업무구분 (어플리케이션) 코드 (2)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7101840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6736080" y="300837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973824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세부업무구분 (기능) 코드 (1)</a:t>
            </a:r>
            <a:endParaRPr lang="en-US" sz="860" dirty="0"/>
          </a:p>
        </p:txBody>
      </p:sp>
      <p:sp>
        <p:nvSpPr>
          <p:cNvPr id="55" name="Text 53"/>
          <p:cNvSpPr/>
          <p:nvPr/>
        </p:nvSpPr>
        <p:spPr>
          <a:xfrm>
            <a:off x="71018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56" name="Text 54"/>
          <p:cNvSpPr/>
          <p:nvPr/>
        </p:nvSpPr>
        <p:spPr>
          <a:xfrm>
            <a:off x="6736080" y="351129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73824" y="34930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화면식별 번호 (4)</a:t>
            </a:r>
            <a:endParaRPr lang="en-US" sz="860" dirty="0"/>
          </a:p>
        </p:txBody>
      </p:sp>
      <p:sp>
        <p:nvSpPr>
          <p:cNvPr id="58" name="Text 56"/>
          <p:cNvSpPr/>
          <p:nvPr/>
        </p:nvSpPr>
        <p:spPr>
          <a:xfrm>
            <a:off x="71018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화면 번호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화면이 없는 경우 일련번호 (“Z”+일련번호(3))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6736080" y="416966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973824" y="41513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식별자 (2)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7101840" y="4315968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구분(1) + 순번(1)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- M=메인, V=서브/상세, T=탭, P=팝업, B=Bottom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- 순번: 숫자(0~9), 알파벳(A~Z)</a:t>
            </a:r>
            <a:endParaRPr lang="en-US" sz="760" dirty="0"/>
          </a:p>
        </p:txBody>
      </p:sp>
      <p:sp>
        <p:nvSpPr>
          <p:cNvPr id="62" name="Text 60"/>
          <p:cNvSpPr/>
          <p:nvPr/>
        </p:nvSpPr>
        <p:spPr>
          <a:xfrm>
            <a:off x="6736080" y="499262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6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73824" y="49743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확장자</a:t>
            </a:r>
            <a:endParaRPr lang="en-US" sz="860" dirty="0"/>
          </a:p>
        </p:txBody>
      </p:sp>
      <p:sp>
        <p:nvSpPr>
          <p:cNvPr id="64" name="Text 62"/>
          <p:cNvSpPr/>
          <p:nvPr/>
        </p:nvSpPr>
        <p:spPr>
          <a:xfrm>
            <a:off x="7101840" y="5138928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.xml : 화면 구성 파일, .js : 컴포넌트 스크립트 파일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그 외 확장자: 단말에서 관리하는 파일</a:t>
            </a:r>
            <a:endParaRPr lang="en-US" sz="760" dirty="0"/>
          </a:p>
        </p:txBody>
      </p:sp>
    </p:spTree>
    <p:extLst>
      <p:ext uri="{BB962C8B-B14F-4D97-AF65-F5344CB8AC3E}">
        <p14:creationId xmlns:p14="http://schemas.microsoft.com/office/powerpoint/2010/main" val="3250310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920" y="402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73440" y="164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명명규칙 정의</a:t>
            </a:r>
            <a:endParaRPr lang="en-US" sz="820" dirty="0"/>
          </a:p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서비스 ID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1999488" y="1060704"/>
            <a:ext cx="8156448" cy="0"/>
          </a:xfrm>
          <a:prstGeom prst="line">
            <a:avLst/>
          </a:prstGeom>
          <a:noFill/>
          <a:ln w="25400">
            <a:solidFill>
              <a:srgbClr val="287C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9488" y="1060704"/>
            <a:ext cx="658368" cy="0"/>
          </a:xfrm>
          <a:prstGeom prst="line">
            <a:avLst/>
          </a:prstGeom>
          <a:noFill/>
          <a:ln w="38100">
            <a:solidFill>
              <a:srgbClr val="285D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7856" y="1060704"/>
            <a:ext cx="411480" cy="0"/>
          </a:xfrm>
          <a:prstGeom prst="line">
            <a:avLst/>
          </a:prstGeom>
          <a:noFill/>
          <a:ln w="38100">
            <a:solidFill>
              <a:srgbClr val="87B4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1408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- 22 -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82368" y="12984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20" dirty="0">
                <a:solidFill>
                  <a:srgbClr val="000000"/>
                </a:solidFill>
              </a:rPr>
              <a:t>정보계 시스템의 Application Framework(NH Cloud Framework)에서 온라인 거래 식별을 거래 별로 부여되는 서비스 식별자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182368" y="1901952"/>
            <a:ext cx="3886200" cy="256032"/>
          </a:xfrm>
          <a:prstGeom prst="rect">
            <a:avLst/>
          </a:prstGeom>
          <a:solidFill>
            <a:srgbClr val="1F3A49"/>
          </a:solidFill>
          <a:ln>
            <a:solidFill>
              <a:srgbClr val="1F3A4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서비스 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10384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51048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36848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04944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84520" y="254203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37232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5832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4432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95600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24200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2800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53968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82568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837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123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409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9536" y="288036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8136" y="29260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9304" y="288036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99304" y="312724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99304" y="337413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99304" y="362102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99304" y="386791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99304" y="411480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37048" y="288036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37048" y="312724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37048" y="337413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37048" y="362102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37048" y="386791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37048" y="411480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182368" y="480060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■ 작성 예시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2182368" y="5056632"/>
            <a:ext cx="3886200" cy="1005840"/>
          </a:xfrm>
          <a:prstGeom prst="rect">
            <a:avLst/>
          </a:prstGeom>
          <a:solidFill>
            <a:srgbClr val="DCDDD8">
              <a:alpha val="85000"/>
            </a:srgbClr>
          </a:solidFill>
          <a:ln w="12700">
            <a:solidFill>
              <a:srgbClr val="DCDDD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46960" y="521208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조회: mpcoa0000S0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등록: mpcoa0000C0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수정: mpcoa0000U0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삭제: mpcoa0000D0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혼합: mpcoa0000A0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레포트: mpcoa0000R0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화면 없음: mpcoaZ000S0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182368" y="610819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555555"/>
                </a:solidFill>
              </a:rPr>
              <a:t>※ 나눔고딕코딩체, 11pt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662928" y="1581912"/>
            <a:ext cx="3337560" cy="265176"/>
          </a:xfrm>
          <a:prstGeom prst="rect">
            <a:avLst/>
          </a:prstGeom>
          <a:solidFill>
            <a:srgbClr val="0E4B37"/>
          </a:solidFill>
          <a:ln>
            <a:solidFill>
              <a:srgbClr val="0E4B3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항목 설명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62928" y="1874520"/>
            <a:ext cx="3337560" cy="4343400"/>
          </a:xfrm>
          <a:prstGeom prst="rect">
            <a:avLst/>
          </a:prstGeom>
          <a:solidFill>
            <a:srgbClr val="F0F0EB"/>
          </a:solidFill>
          <a:ln w="8890">
            <a:solidFill>
              <a:srgbClr val="8888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36080" y="200253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73824" y="19842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대구분 (어플리케이션 그룹) 코드 (2)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7101840" y="214884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6736080" y="250545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973824" y="2487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업무구분 (어플리케이션) 코드 (2)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7101840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6736080" y="300837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973824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세부업무구분 (기능) 코드 (1)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71018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57" name="Text 55"/>
          <p:cNvSpPr/>
          <p:nvPr/>
        </p:nvSpPr>
        <p:spPr>
          <a:xfrm>
            <a:off x="6736080" y="351129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973824" y="34930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화면식별 번호 (4)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71018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화면 번호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화면이 없는 경우 일련번호 (“Z”+일련번호(3))</a:t>
            </a:r>
            <a:endParaRPr lang="en-US" sz="760" dirty="0"/>
          </a:p>
        </p:txBody>
      </p:sp>
      <p:sp>
        <p:nvSpPr>
          <p:cNvPr id="60" name="Text 58"/>
          <p:cNvSpPr/>
          <p:nvPr/>
        </p:nvSpPr>
        <p:spPr>
          <a:xfrm>
            <a:off x="6736080" y="416966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73824" y="41513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식별자 (2)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7101840" y="4315968"/>
            <a:ext cx="27889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구분(1자리) + 순번(1자리)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- S=조회, C=등록, U=수정, D=삭제, A=혼합, R=출력물(RD)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- 순번: 숫자(0~9), 알파벳(A~Z)</a:t>
            </a:r>
            <a:endParaRPr lang="en-US" sz="760" dirty="0"/>
          </a:p>
        </p:txBody>
      </p:sp>
    </p:spTree>
    <p:extLst>
      <p:ext uri="{BB962C8B-B14F-4D97-AF65-F5344CB8AC3E}">
        <p14:creationId xmlns:p14="http://schemas.microsoft.com/office/powerpoint/2010/main" val="3547499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920" y="402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 클래스 (Controller Class)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73440" y="164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명명규칙 정의</a:t>
            </a:r>
            <a:endParaRPr lang="en-US" sz="820" dirty="0"/>
          </a:p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온라인 프레임워크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1999488" y="1060704"/>
            <a:ext cx="8156448" cy="0"/>
          </a:xfrm>
          <a:prstGeom prst="line">
            <a:avLst/>
          </a:prstGeom>
          <a:noFill/>
          <a:ln w="25400">
            <a:solidFill>
              <a:srgbClr val="287C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9488" y="1060704"/>
            <a:ext cx="658368" cy="0"/>
          </a:xfrm>
          <a:prstGeom prst="line">
            <a:avLst/>
          </a:prstGeom>
          <a:noFill/>
          <a:ln w="38100">
            <a:solidFill>
              <a:srgbClr val="285D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7856" y="1060704"/>
            <a:ext cx="411480" cy="0"/>
          </a:xfrm>
          <a:prstGeom prst="line">
            <a:avLst/>
          </a:prstGeom>
          <a:noFill/>
          <a:ln w="38100">
            <a:solidFill>
              <a:srgbClr val="87B4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1408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- 23 -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82368" y="12984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20" dirty="0">
                <a:solidFill>
                  <a:srgbClr val="000000"/>
                </a:solidFill>
              </a:rPr>
              <a:t>온라인 프레임워크 (NH Cloud Framework) 에서 사용하는 Controller 클래스 파일 명명 규칙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182368" y="1901952"/>
            <a:ext cx="3886200" cy="256032"/>
          </a:xfrm>
          <a:prstGeom prst="rect">
            <a:avLst/>
          </a:prstGeom>
          <a:solidFill>
            <a:srgbClr val="1F3A49"/>
          </a:solidFill>
          <a:ln>
            <a:solidFill>
              <a:srgbClr val="1F3A4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컨트롤러 클래스 (Controller Class)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82368" y="23042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▶ 컨트롤러 클래스 명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365248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3032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80816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12920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74792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37232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5832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94432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95600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24200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2800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53968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82568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37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123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409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95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8136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99304" y="293522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Controller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39384" y="2935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.java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82368" y="3493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▶ 컨트롤러 메소드 명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4413504" y="369417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000000"/>
                </a:solidFill>
              </a:rPr>
              <a:t>서비스 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37232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65832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94432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95600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24200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52800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53968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82568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837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2123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409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695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8136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99304" y="390448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99304" y="415137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99304" y="439826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99304" y="464515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99304" y="48920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99304" y="513892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337048" y="390448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37048" y="415137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37048" y="439826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337048" y="464515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337048" y="48920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337048" y="513892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574792" y="39410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(  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182368" y="507492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■ 작성 예시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2182368" y="5330952"/>
            <a:ext cx="3886200" cy="822960"/>
          </a:xfrm>
          <a:prstGeom prst="rect">
            <a:avLst/>
          </a:prstGeom>
          <a:solidFill>
            <a:srgbClr val="DCDDD8">
              <a:alpha val="85000"/>
            </a:srgbClr>
          </a:solidFill>
          <a:ln w="12700">
            <a:solidFill>
              <a:srgbClr val="DCDDD8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46960" y="5486400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mpcoa0000Controller.java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조회: mpcoa0000S0()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등록: mpcoa0000C0()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수정: mpcoa0000U0()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삭제: mpcoa0000D0()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혼합: mpcoa0000A0()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출력물(RD): mpcoa0000R0()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182368" y="61996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555555"/>
                </a:solidFill>
              </a:rPr>
              <a:t>※ 나눔고딕코딩체, 11pt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662928" y="1581912"/>
            <a:ext cx="3337560" cy="265176"/>
          </a:xfrm>
          <a:prstGeom prst="rect">
            <a:avLst/>
          </a:prstGeom>
          <a:solidFill>
            <a:srgbClr val="0E4B37"/>
          </a:solidFill>
          <a:ln>
            <a:solidFill>
              <a:srgbClr val="0E4B3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항목 설명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662928" y="1874520"/>
            <a:ext cx="3337560" cy="4343400"/>
          </a:xfrm>
          <a:prstGeom prst="rect">
            <a:avLst/>
          </a:prstGeom>
          <a:solidFill>
            <a:srgbClr val="F0F0EB"/>
          </a:solidFill>
          <a:ln w="8890">
            <a:solidFill>
              <a:srgbClr val="8888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36080" y="200253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73824" y="19842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대구분 (어플리케이션 그룹) 코드 (2)</a:t>
            </a:r>
            <a:endParaRPr lang="en-US" sz="860" dirty="0"/>
          </a:p>
        </p:txBody>
      </p:sp>
      <p:sp>
        <p:nvSpPr>
          <p:cNvPr id="69" name="Text 67"/>
          <p:cNvSpPr/>
          <p:nvPr/>
        </p:nvSpPr>
        <p:spPr>
          <a:xfrm>
            <a:off x="7101840" y="214884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70" name="Text 68"/>
          <p:cNvSpPr/>
          <p:nvPr/>
        </p:nvSpPr>
        <p:spPr>
          <a:xfrm>
            <a:off x="6736080" y="250545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973824" y="2487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업무구분 (어플리케이션) 코드 (2)</a:t>
            </a:r>
            <a:endParaRPr lang="en-US" sz="860" dirty="0"/>
          </a:p>
        </p:txBody>
      </p:sp>
      <p:sp>
        <p:nvSpPr>
          <p:cNvPr id="72" name="Text 70"/>
          <p:cNvSpPr/>
          <p:nvPr/>
        </p:nvSpPr>
        <p:spPr>
          <a:xfrm>
            <a:off x="7101840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73" name="Text 71"/>
          <p:cNvSpPr/>
          <p:nvPr/>
        </p:nvSpPr>
        <p:spPr>
          <a:xfrm>
            <a:off x="6736080" y="300837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973824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세부업무구분 (기능) 코드 (1)</a:t>
            </a:r>
            <a:endParaRPr lang="en-US" sz="860" dirty="0"/>
          </a:p>
        </p:txBody>
      </p:sp>
      <p:sp>
        <p:nvSpPr>
          <p:cNvPr id="75" name="Text 73"/>
          <p:cNvSpPr/>
          <p:nvPr/>
        </p:nvSpPr>
        <p:spPr>
          <a:xfrm>
            <a:off x="71018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76" name="Text 74"/>
          <p:cNvSpPr/>
          <p:nvPr/>
        </p:nvSpPr>
        <p:spPr>
          <a:xfrm>
            <a:off x="6736080" y="351129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973824" y="34930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화면식별 번호 (4)</a:t>
            </a:r>
            <a:endParaRPr lang="en-US" sz="860" dirty="0"/>
          </a:p>
        </p:txBody>
      </p:sp>
      <p:sp>
        <p:nvSpPr>
          <p:cNvPr id="78" name="Text 76"/>
          <p:cNvSpPr/>
          <p:nvPr/>
        </p:nvSpPr>
        <p:spPr>
          <a:xfrm>
            <a:off x="71018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화면 번호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화면이 없는 경우 일련번호 (“Z”+일련번호(3))</a:t>
            </a:r>
            <a:endParaRPr lang="en-US" sz="760" dirty="0"/>
          </a:p>
        </p:txBody>
      </p:sp>
      <p:sp>
        <p:nvSpPr>
          <p:cNvPr id="79" name="Text 77"/>
          <p:cNvSpPr/>
          <p:nvPr/>
        </p:nvSpPr>
        <p:spPr>
          <a:xfrm>
            <a:off x="6736080" y="416966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973824" y="41513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클래스 구분자 (7)</a:t>
            </a:r>
            <a:endParaRPr lang="en-US" sz="860" dirty="0"/>
          </a:p>
        </p:txBody>
      </p:sp>
      <p:sp>
        <p:nvSpPr>
          <p:cNvPr id="81" name="Text 79"/>
          <p:cNvSpPr/>
          <p:nvPr/>
        </p:nvSpPr>
        <p:spPr>
          <a:xfrm>
            <a:off x="7101840" y="4315968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“Controller” 문자열 고정</a:t>
            </a:r>
            <a:endParaRPr lang="en-US" sz="760" dirty="0"/>
          </a:p>
        </p:txBody>
      </p:sp>
      <p:sp>
        <p:nvSpPr>
          <p:cNvPr id="82" name="Text 80"/>
          <p:cNvSpPr/>
          <p:nvPr/>
        </p:nvSpPr>
        <p:spPr>
          <a:xfrm>
            <a:off x="6736080" y="467258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6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973824" y="46542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확장자</a:t>
            </a:r>
            <a:endParaRPr lang="en-US" sz="860" dirty="0"/>
          </a:p>
        </p:txBody>
      </p:sp>
      <p:sp>
        <p:nvSpPr>
          <p:cNvPr id="84" name="Text 82"/>
          <p:cNvSpPr/>
          <p:nvPr/>
        </p:nvSpPr>
        <p:spPr>
          <a:xfrm>
            <a:off x="7101840" y="4818888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파일 확장자 (.java)</a:t>
            </a:r>
            <a:endParaRPr lang="en-US" sz="760" dirty="0"/>
          </a:p>
        </p:txBody>
      </p:sp>
      <p:sp>
        <p:nvSpPr>
          <p:cNvPr id="85" name="Text 83"/>
          <p:cNvSpPr/>
          <p:nvPr/>
        </p:nvSpPr>
        <p:spPr>
          <a:xfrm>
            <a:off x="6662928" y="5989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1C1C1C"/>
                </a:solidFill>
              </a:rPr>
              <a:t>※ 서비스ID = 컨트롤러 클래스.메소드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</a:rPr>
              <a:t>※ 서비스 식별은 Annotation으로 정의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368895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920" y="402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클래스 (Service Class)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73440" y="164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명명규칙 정의</a:t>
            </a:r>
            <a:endParaRPr lang="en-US" sz="820" dirty="0"/>
          </a:p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온라인 프레임워크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1999488" y="1060704"/>
            <a:ext cx="8156448" cy="0"/>
          </a:xfrm>
          <a:prstGeom prst="line">
            <a:avLst/>
          </a:prstGeom>
          <a:noFill/>
          <a:ln w="25400">
            <a:solidFill>
              <a:srgbClr val="287C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9488" y="1060704"/>
            <a:ext cx="658368" cy="0"/>
          </a:xfrm>
          <a:prstGeom prst="line">
            <a:avLst/>
          </a:prstGeom>
          <a:noFill/>
          <a:ln w="38100">
            <a:solidFill>
              <a:srgbClr val="285D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7856" y="1060704"/>
            <a:ext cx="411480" cy="0"/>
          </a:xfrm>
          <a:prstGeom prst="line">
            <a:avLst/>
          </a:prstGeom>
          <a:noFill/>
          <a:ln w="38100">
            <a:solidFill>
              <a:srgbClr val="87B4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1408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- 24 -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82368" y="12984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20" dirty="0">
                <a:solidFill>
                  <a:srgbClr val="000000"/>
                </a:solidFill>
              </a:rPr>
              <a:t>온라인 프레임워크 (NH Cloud Framework) 에서 사용하는 Service 클래스 파일 명명 규칙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182368" y="1901952"/>
            <a:ext cx="3886200" cy="256032"/>
          </a:xfrm>
          <a:prstGeom prst="rect">
            <a:avLst/>
          </a:prstGeom>
          <a:solidFill>
            <a:srgbClr val="1F3A49"/>
          </a:solidFill>
          <a:ln>
            <a:solidFill>
              <a:srgbClr val="1F3A4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서비스 클래스 (Service Class)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82368" y="23042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▶ 서비스 클래스 명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365248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3032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80816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12920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74792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37232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5832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94432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95600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24200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2800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53968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82568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37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123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409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95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8136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99304" y="29352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6232" y="2935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.java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82368" y="3493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▶ 서비스 메소드 명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4413504" y="369417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000000"/>
                </a:solidFill>
              </a:rPr>
              <a:t>서비스 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37232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65832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94432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95600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24200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52800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53968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82568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837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2123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409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695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8136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99304" y="390448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99304" y="415137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99304" y="439826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99304" y="464515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99304" y="48920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99304" y="513892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337048" y="390448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37048" y="415137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37048" y="439826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337048" y="464515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337048" y="48920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337048" y="513892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574792" y="39410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(  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182368" y="507492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■ 작성 예시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2182368" y="5330952"/>
            <a:ext cx="3886200" cy="822960"/>
          </a:xfrm>
          <a:prstGeom prst="rect">
            <a:avLst/>
          </a:prstGeom>
          <a:solidFill>
            <a:srgbClr val="DCDDD8">
              <a:alpha val="85000"/>
            </a:srgbClr>
          </a:solidFill>
          <a:ln w="12700">
            <a:solidFill>
              <a:srgbClr val="DCDDD8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46960" y="5486400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mpcoa0000Service.java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조회: mpcoa0000S0()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등록: mpcoa0000C0()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수정: mpcoa0000U0()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삭제: mpcoa0000D0()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혼합: mpcoa0000A0()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출력물(RD): mpcoa0000R0()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182368" y="61996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555555"/>
                </a:solidFill>
              </a:rPr>
              <a:t>※ 나눔고딕코딩체, 11pt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662928" y="1581912"/>
            <a:ext cx="3337560" cy="265176"/>
          </a:xfrm>
          <a:prstGeom prst="rect">
            <a:avLst/>
          </a:prstGeom>
          <a:solidFill>
            <a:srgbClr val="0E4B37"/>
          </a:solidFill>
          <a:ln>
            <a:solidFill>
              <a:srgbClr val="0E4B3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항목 설명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662928" y="1874520"/>
            <a:ext cx="3337560" cy="4343400"/>
          </a:xfrm>
          <a:prstGeom prst="rect">
            <a:avLst/>
          </a:prstGeom>
          <a:solidFill>
            <a:srgbClr val="F0F0EB"/>
          </a:solidFill>
          <a:ln w="8890">
            <a:solidFill>
              <a:srgbClr val="8888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36080" y="200253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73824" y="19842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대구분 (어플리케이션 그룹) 코드 (2)</a:t>
            </a:r>
            <a:endParaRPr lang="en-US" sz="860" dirty="0"/>
          </a:p>
        </p:txBody>
      </p:sp>
      <p:sp>
        <p:nvSpPr>
          <p:cNvPr id="69" name="Text 67"/>
          <p:cNvSpPr/>
          <p:nvPr/>
        </p:nvSpPr>
        <p:spPr>
          <a:xfrm>
            <a:off x="7101840" y="214884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70" name="Text 68"/>
          <p:cNvSpPr/>
          <p:nvPr/>
        </p:nvSpPr>
        <p:spPr>
          <a:xfrm>
            <a:off x="6736080" y="250545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973824" y="2487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업무구분 (어플리케이션) 코드 (2)</a:t>
            </a:r>
            <a:endParaRPr lang="en-US" sz="860" dirty="0"/>
          </a:p>
        </p:txBody>
      </p:sp>
      <p:sp>
        <p:nvSpPr>
          <p:cNvPr id="72" name="Text 70"/>
          <p:cNvSpPr/>
          <p:nvPr/>
        </p:nvSpPr>
        <p:spPr>
          <a:xfrm>
            <a:off x="7101840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73" name="Text 71"/>
          <p:cNvSpPr/>
          <p:nvPr/>
        </p:nvSpPr>
        <p:spPr>
          <a:xfrm>
            <a:off x="6736080" y="300837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973824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세부업무구분 (기능) 코드 (1)</a:t>
            </a:r>
            <a:endParaRPr lang="en-US" sz="860" dirty="0"/>
          </a:p>
        </p:txBody>
      </p:sp>
      <p:sp>
        <p:nvSpPr>
          <p:cNvPr id="75" name="Text 73"/>
          <p:cNvSpPr/>
          <p:nvPr/>
        </p:nvSpPr>
        <p:spPr>
          <a:xfrm>
            <a:off x="71018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76" name="Text 74"/>
          <p:cNvSpPr/>
          <p:nvPr/>
        </p:nvSpPr>
        <p:spPr>
          <a:xfrm>
            <a:off x="6736080" y="351129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973824" y="34930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화면식별 번호 (4)</a:t>
            </a:r>
            <a:endParaRPr lang="en-US" sz="860" dirty="0"/>
          </a:p>
        </p:txBody>
      </p:sp>
      <p:sp>
        <p:nvSpPr>
          <p:cNvPr id="78" name="Text 76"/>
          <p:cNvSpPr/>
          <p:nvPr/>
        </p:nvSpPr>
        <p:spPr>
          <a:xfrm>
            <a:off x="71018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화면 번호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화면이 없는 경우 일련번호 (“Z”+일련번호(3))</a:t>
            </a:r>
            <a:endParaRPr lang="en-US" sz="760" dirty="0"/>
          </a:p>
        </p:txBody>
      </p:sp>
      <p:sp>
        <p:nvSpPr>
          <p:cNvPr id="79" name="Text 77"/>
          <p:cNvSpPr/>
          <p:nvPr/>
        </p:nvSpPr>
        <p:spPr>
          <a:xfrm>
            <a:off x="6736080" y="416966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973824" y="41513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클래스 구분자 (7)</a:t>
            </a:r>
            <a:endParaRPr lang="en-US" sz="860" dirty="0"/>
          </a:p>
        </p:txBody>
      </p:sp>
      <p:sp>
        <p:nvSpPr>
          <p:cNvPr id="81" name="Text 79"/>
          <p:cNvSpPr/>
          <p:nvPr/>
        </p:nvSpPr>
        <p:spPr>
          <a:xfrm>
            <a:off x="7101840" y="4315968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“Service” 문자열 고정</a:t>
            </a:r>
            <a:endParaRPr lang="en-US" sz="760" dirty="0"/>
          </a:p>
        </p:txBody>
      </p:sp>
      <p:sp>
        <p:nvSpPr>
          <p:cNvPr id="82" name="Text 80"/>
          <p:cNvSpPr/>
          <p:nvPr/>
        </p:nvSpPr>
        <p:spPr>
          <a:xfrm>
            <a:off x="6736080" y="467258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6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973824" y="46542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확장자</a:t>
            </a:r>
            <a:endParaRPr lang="en-US" sz="860" dirty="0"/>
          </a:p>
        </p:txBody>
      </p:sp>
      <p:sp>
        <p:nvSpPr>
          <p:cNvPr id="84" name="Text 82"/>
          <p:cNvSpPr/>
          <p:nvPr/>
        </p:nvSpPr>
        <p:spPr>
          <a:xfrm>
            <a:off x="7101840" y="4818888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파일 확장자 (.java)</a:t>
            </a:r>
            <a:endParaRPr lang="en-US" sz="760" dirty="0"/>
          </a:p>
        </p:txBody>
      </p:sp>
    </p:spTree>
    <p:extLst>
      <p:ext uri="{BB962C8B-B14F-4D97-AF65-F5344CB8AC3E}">
        <p14:creationId xmlns:p14="http://schemas.microsoft.com/office/powerpoint/2010/main" val="1589038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920" y="402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DAO 클래스 (DAO Class)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73440" y="164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명명규칙 정의</a:t>
            </a:r>
            <a:endParaRPr lang="en-US" sz="820" dirty="0"/>
          </a:p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온라인 프레임워크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1999488" y="1060704"/>
            <a:ext cx="8156448" cy="0"/>
          </a:xfrm>
          <a:prstGeom prst="line">
            <a:avLst/>
          </a:prstGeom>
          <a:noFill/>
          <a:ln w="25400">
            <a:solidFill>
              <a:srgbClr val="287C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9488" y="1060704"/>
            <a:ext cx="658368" cy="0"/>
          </a:xfrm>
          <a:prstGeom prst="line">
            <a:avLst/>
          </a:prstGeom>
          <a:noFill/>
          <a:ln w="38100">
            <a:solidFill>
              <a:srgbClr val="285D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7856" y="1060704"/>
            <a:ext cx="411480" cy="0"/>
          </a:xfrm>
          <a:prstGeom prst="line">
            <a:avLst/>
          </a:prstGeom>
          <a:noFill/>
          <a:ln w="38100">
            <a:solidFill>
              <a:srgbClr val="87B4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1408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- 25 -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82368" y="12984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20" dirty="0">
                <a:solidFill>
                  <a:srgbClr val="000000"/>
                </a:solidFill>
              </a:rPr>
              <a:t>온라인 프레임워크 (NH Cloud Framework) 에서 사용하는 DAO 클래스 파일 명명 규칙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182368" y="1901952"/>
            <a:ext cx="3886200" cy="256032"/>
          </a:xfrm>
          <a:prstGeom prst="rect">
            <a:avLst/>
          </a:prstGeom>
          <a:solidFill>
            <a:srgbClr val="1F3A49"/>
          </a:solidFill>
          <a:ln>
            <a:solidFill>
              <a:srgbClr val="1F3A4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DAO 클래스 (DAO Class)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82368" y="23042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▶ DAO 클래스 명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365248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3032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80816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12920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74792" y="256032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37232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5832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94432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95600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24200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2800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53968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82568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37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123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409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9536" y="289864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8136" y="294436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99304" y="2935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DAO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47360" y="2935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.java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82368" y="3493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▶ DAO 메소드 명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4413504" y="369417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000000"/>
                </a:solidFill>
              </a:rPr>
              <a:t>서비스 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37232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65832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94432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95600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24200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52800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53968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82568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837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2123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409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69536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8136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99304" y="390448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99304" y="415137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99304" y="439826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99304" y="464515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99304" y="48920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99304" y="513892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337048" y="390448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37048" y="415137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37048" y="439826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337048" y="464515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337048" y="48920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337048" y="513892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574792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775960" y="3904488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004560" y="395020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05728" y="390448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205728" y="415137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205728" y="439826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205728" y="464515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205728" y="48920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443472" y="390448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443472" y="415137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443472" y="439826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443472" y="464515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443472" y="48920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681216" y="394106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(  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867400" y="3675888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6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077712" y="3675888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7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182368" y="507492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■ 작성 예시</a:t>
            </a:r>
            <a:endParaRPr lang="en-US" sz="870" dirty="0"/>
          </a:p>
        </p:txBody>
      </p:sp>
      <p:sp>
        <p:nvSpPr>
          <p:cNvPr id="77" name="Shape 75"/>
          <p:cNvSpPr/>
          <p:nvPr/>
        </p:nvSpPr>
        <p:spPr>
          <a:xfrm>
            <a:off x="2182368" y="5330952"/>
            <a:ext cx="3886200" cy="822960"/>
          </a:xfrm>
          <a:prstGeom prst="rect">
            <a:avLst/>
          </a:prstGeom>
          <a:solidFill>
            <a:srgbClr val="DCDDD8">
              <a:alpha val="85000"/>
            </a:srgbClr>
          </a:solidFill>
          <a:ln w="12700">
            <a:solidFill>
              <a:srgbClr val="DCDDD8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46960" y="5486400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mpcoa0000DAO.java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조회: mpcoa0000S0_S0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등록: mpcoa0000C0_C0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수정: mpcoa0000U0_U0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삭제: mpcoa0000D0_D0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혼합: mpcoa0000A0_A0, mpcoa0000C0_A0, mpcoa0000U0_A0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레포트: mpcoa0000R0_S0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2182368" y="61996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555555"/>
                </a:solidFill>
              </a:rPr>
              <a:t>※ 나눔고딕코딩체, 11pt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6662928" y="1581912"/>
            <a:ext cx="3337560" cy="265176"/>
          </a:xfrm>
          <a:prstGeom prst="rect">
            <a:avLst/>
          </a:prstGeom>
          <a:solidFill>
            <a:srgbClr val="0E4B37"/>
          </a:solidFill>
          <a:ln>
            <a:solidFill>
              <a:srgbClr val="0E4B3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항목 설명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62928" y="1874520"/>
            <a:ext cx="3337560" cy="4343400"/>
          </a:xfrm>
          <a:prstGeom prst="rect">
            <a:avLst/>
          </a:prstGeom>
          <a:solidFill>
            <a:srgbClr val="F0F0EB"/>
          </a:solidFill>
          <a:ln w="8890">
            <a:solidFill>
              <a:srgbClr val="8888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36080" y="200253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973824" y="19842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대구분 (어플리케이션 그룹) 코드 (2)</a:t>
            </a:r>
            <a:endParaRPr lang="en-US" sz="860" dirty="0"/>
          </a:p>
        </p:txBody>
      </p:sp>
      <p:sp>
        <p:nvSpPr>
          <p:cNvPr id="84" name="Text 82"/>
          <p:cNvSpPr/>
          <p:nvPr/>
        </p:nvSpPr>
        <p:spPr>
          <a:xfrm>
            <a:off x="7101840" y="214884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85" name="Text 83"/>
          <p:cNvSpPr/>
          <p:nvPr/>
        </p:nvSpPr>
        <p:spPr>
          <a:xfrm>
            <a:off x="6736080" y="250545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973824" y="2487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업무구분 (어플리케이션) 코드 (2)</a:t>
            </a:r>
            <a:endParaRPr lang="en-US" sz="860" dirty="0"/>
          </a:p>
        </p:txBody>
      </p:sp>
      <p:sp>
        <p:nvSpPr>
          <p:cNvPr id="87" name="Text 85"/>
          <p:cNvSpPr/>
          <p:nvPr/>
        </p:nvSpPr>
        <p:spPr>
          <a:xfrm>
            <a:off x="7101840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88" name="Text 86"/>
          <p:cNvSpPr/>
          <p:nvPr/>
        </p:nvSpPr>
        <p:spPr>
          <a:xfrm>
            <a:off x="6736080" y="300837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973824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세부업무구분 (기능) 코드 (1)</a:t>
            </a:r>
            <a:endParaRPr lang="en-US" sz="860" dirty="0"/>
          </a:p>
        </p:txBody>
      </p:sp>
      <p:sp>
        <p:nvSpPr>
          <p:cNvPr id="90" name="Text 88"/>
          <p:cNvSpPr/>
          <p:nvPr/>
        </p:nvSpPr>
        <p:spPr>
          <a:xfrm>
            <a:off x="71018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91" name="Text 89"/>
          <p:cNvSpPr/>
          <p:nvPr/>
        </p:nvSpPr>
        <p:spPr>
          <a:xfrm>
            <a:off x="6736080" y="351129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973824" y="34930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화면식별 번호 (4)</a:t>
            </a:r>
            <a:endParaRPr lang="en-US" sz="860" dirty="0"/>
          </a:p>
        </p:txBody>
      </p:sp>
      <p:sp>
        <p:nvSpPr>
          <p:cNvPr id="93" name="Text 91"/>
          <p:cNvSpPr/>
          <p:nvPr/>
        </p:nvSpPr>
        <p:spPr>
          <a:xfrm>
            <a:off x="71018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화면 번호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화면이 없는 경우 일련번호 (“Z”+일련번호(3))</a:t>
            </a:r>
            <a:endParaRPr lang="en-US" sz="760" dirty="0"/>
          </a:p>
        </p:txBody>
      </p:sp>
      <p:sp>
        <p:nvSpPr>
          <p:cNvPr id="94" name="Text 92"/>
          <p:cNvSpPr/>
          <p:nvPr/>
        </p:nvSpPr>
        <p:spPr>
          <a:xfrm>
            <a:off x="6736080" y="416966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973824" y="41513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클래스 구분자 (9)</a:t>
            </a:r>
            <a:endParaRPr lang="en-US" sz="860" dirty="0"/>
          </a:p>
        </p:txBody>
      </p:sp>
      <p:sp>
        <p:nvSpPr>
          <p:cNvPr id="96" name="Text 94"/>
          <p:cNvSpPr/>
          <p:nvPr/>
        </p:nvSpPr>
        <p:spPr>
          <a:xfrm>
            <a:off x="7101840" y="4315968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“DAO” 문자열 고정</a:t>
            </a:r>
            <a:endParaRPr lang="en-US" sz="760" dirty="0"/>
          </a:p>
        </p:txBody>
      </p:sp>
      <p:sp>
        <p:nvSpPr>
          <p:cNvPr id="97" name="Text 95"/>
          <p:cNvSpPr/>
          <p:nvPr/>
        </p:nvSpPr>
        <p:spPr>
          <a:xfrm>
            <a:off x="6736080" y="464515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6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973824" y="46268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DML 구분 (1)</a:t>
            </a:r>
            <a:endParaRPr lang="en-US" sz="860" dirty="0"/>
          </a:p>
        </p:txBody>
      </p:sp>
      <p:sp>
        <p:nvSpPr>
          <p:cNvPr id="99" name="Text 97"/>
          <p:cNvSpPr/>
          <p:nvPr/>
        </p:nvSpPr>
        <p:spPr>
          <a:xfrm>
            <a:off x="7101840" y="4791456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S=조회, C=등록, U=수정, D=삭제, A=혼합(Update &amp; Insert 등 특수 쿼리)</a:t>
            </a:r>
            <a:endParaRPr lang="en-US" sz="760" dirty="0"/>
          </a:p>
        </p:txBody>
      </p:sp>
      <p:sp>
        <p:nvSpPr>
          <p:cNvPr id="100" name="Text 98"/>
          <p:cNvSpPr/>
          <p:nvPr/>
        </p:nvSpPr>
        <p:spPr>
          <a:xfrm>
            <a:off x="6736080" y="521208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7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6973824" y="51937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순번 (2)</a:t>
            </a:r>
            <a:endParaRPr lang="en-US" sz="860" dirty="0"/>
          </a:p>
        </p:txBody>
      </p:sp>
      <p:sp>
        <p:nvSpPr>
          <p:cNvPr id="102" name="Text 100"/>
          <p:cNvSpPr/>
          <p:nvPr/>
        </p:nvSpPr>
        <p:spPr>
          <a:xfrm>
            <a:off x="7101840" y="5358384"/>
            <a:ext cx="2788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숫자(0~9), 알파벳(A~Z) → 숫자 범위 초과 시 알파벳 부여</a:t>
            </a:r>
            <a:endParaRPr lang="en-US" sz="760" dirty="0"/>
          </a:p>
        </p:txBody>
      </p:sp>
      <p:sp>
        <p:nvSpPr>
          <p:cNvPr id="103" name="Text 101"/>
          <p:cNvSpPr/>
          <p:nvPr/>
        </p:nvSpPr>
        <p:spPr>
          <a:xfrm>
            <a:off x="6736080" y="5669280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8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973824" y="5650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확장자</a:t>
            </a:r>
            <a:endParaRPr lang="en-US" sz="860" dirty="0"/>
          </a:p>
        </p:txBody>
      </p:sp>
      <p:sp>
        <p:nvSpPr>
          <p:cNvPr id="105" name="Text 103"/>
          <p:cNvSpPr/>
          <p:nvPr/>
        </p:nvSpPr>
        <p:spPr>
          <a:xfrm>
            <a:off x="7101840" y="5815584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파일 확장자 (.java)</a:t>
            </a:r>
            <a:endParaRPr lang="en-US" sz="760" dirty="0"/>
          </a:p>
        </p:txBody>
      </p:sp>
    </p:spTree>
    <p:extLst>
      <p:ext uri="{BB962C8B-B14F-4D97-AF65-F5344CB8AC3E}">
        <p14:creationId xmlns:p14="http://schemas.microsoft.com/office/powerpoint/2010/main" val="636777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6920" y="402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DTO 클래스 (DTO Class)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73440" y="164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명명규칙 정의</a:t>
            </a:r>
            <a:endParaRPr lang="en-US" sz="820" dirty="0"/>
          </a:p>
          <a:p>
            <a:pPr algn="r"/>
            <a:r>
              <a:rPr lang="en-US" sz="82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온라인 프레임워크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1999488" y="1060704"/>
            <a:ext cx="8156448" cy="0"/>
          </a:xfrm>
          <a:prstGeom prst="line">
            <a:avLst/>
          </a:prstGeom>
          <a:noFill/>
          <a:ln w="25400">
            <a:solidFill>
              <a:srgbClr val="287C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9488" y="1060704"/>
            <a:ext cx="658368" cy="0"/>
          </a:xfrm>
          <a:prstGeom prst="line">
            <a:avLst/>
          </a:prstGeom>
          <a:noFill/>
          <a:ln w="38100">
            <a:solidFill>
              <a:srgbClr val="285D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7856" y="1060704"/>
            <a:ext cx="411480" cy="0"/>
          </a:xfrm>
          <a:prstGeom prst="line">
            <a:avLst/>
          </a:prstGeom>
          <a:noFill/>
          <a:ln w="38100">
            <a:solidFill>
              <a:srgbClr val="87B4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692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E4B37"/>
                </a:solidFill>
              </a:rPr>
              <a:t>농협중앙회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1408" y="65653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C1C1C"/>
                </a:solidFill>
              </a:rPr>
              <a:t>- 26 -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525000" y="6565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dirty="0">
                <a:solidFill>
                  <a:srgbClr val="C24535"/>
                </a:solidFill>
              </a:rPr>
              <a:t>SK 주식회사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82368" y="12984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20" dirty="0">
                <a:solidFill>
                  <a:srgbClr val="000000"/>
                </a:solidFill>
              </a:rPr>
              <a:t>온라인 프레임워크 (NH Cloud Framework) 에서 사용하는 DTO 클래스 파일 명명 규칙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182368" y="1901952"/>
            <a:ext cx="3886200" cy="256032"/>
          </a:xfrm>
          <a:prstGeom prst="rect">
            <a:avLst/>
          </a:prstGeom>
          <a:solidFill>
            <a:srgbClr val="1F3A49"/>
          </a:solidFill>
          <a:ln>
            <a:solidFill>
              <a:srgbClr val="1F3A49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</a:rPr>
              <a:t>DTO 클래스 (DTO Class)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28288" y="2377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6E6E6E"/>
                </a:solidFill>
              </a:rPr>
              <a:t>서비스 ID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310384" y="272491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49880" y="272491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98520" y="272491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12920" y="272491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81600" y="272491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711952" y="272491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96000" y="2724912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37232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5832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4432" y="310896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95600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24200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52800" y="310896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53968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82568" y="310896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83736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12336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40936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9536" y="3063240"/>
            <a:ext cx="201168" cy="32004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8136" y="310896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99304" y="30632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99304" y="331012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99304" y="355701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99304" y="380390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99304" y="405079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99304" y="429768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37048" y="306324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37048" y="3310128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37048" y="3557016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37048" y="3803904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37048" y="4050792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37048" y="4297680"/>
            <a:ext cx="201168" cy="228600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74792" y="310896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75960" y="309981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DTO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60008" y="310896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C1C1C"/>
                </a:solidFill>
              </a:rPr>
              <a:t>+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61176" y="3063240"/>
            <a:ext cx="310896" cy="265176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61176" y="3346704"/>
            <a:ext cx="310896" cy="265176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61176" y="3630168"/>
            <a:ext cx="310896" cy="265176"/>
          </a:xfrm>
          <a:prstGeom prst="rect">
            <a:avLst/>
          </a:prstGeom>
          <a:solidFill>
            <a:srgbClr val="E6E7E3"/>
          </a:solidFill>
          <a:ln w="9525">
            <a:solidFill>
              <a:srgbClr val="66707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08648" y="30998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C1C1C"/>
                </a:solidFill>
              </a:rPr>
              <a:t>.java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182368" y="489204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0" b="1" dirty="0">
                <a:solidFill>
                  <a:srgbClr val="1C1C1C"/>
                </a:solidFill>
              </a:rPr>
              <a:t>■ 작성 예시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2182368" y="5148072"/>
            <a:ext cx="3886200" cy="914400"/>
          </a:xfrm>
          <a:prstGeom prst="rect">
            <a:avLst/>
          </a:prstGeom>
          <a:solidFill>
            <a:srgbClr val="DCDDD8">
              <a:alpha val="85000"/>
            </a:srgbClr>
          </a:solidFill>
          <a:ln w="12700">
            <a:solidFill>
              <a:srgbClr val="DCDDD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46960" y="5303520"/>
            <a:ext cx="36576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입력: mpcoa0000S0DTOin.java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출력: mpcoa0000S0DTOout.java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입/출력: mpcoa0000S0DTOio.java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출력물(RD) 입력: mpcoa0000R0DTOin.java</a:t>
            </a:r>
            <a:endParaRPr lang="en-US" sz="750" dirty="0"/>
          </a:p>
          <a:p>
            <a:r>
              <a:rPr lang="en-US" sz="7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출력물(RD) 출력: mpcoa0000R0DTOout.java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182368" y="610819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i="1" dirty="0">
                <a:solidFill>
                  <a:srgbClr val="555555"/>
                </a:solidFill>
              </a:rPr>
              <a:t>※ 나눔고딕코딩체, 11pt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662928" y="1581912"/>
            <a:ext cx="3337560" cy="265176"/>
          </a:xfrm>
          <a:prstGeom prst="rect">
            <a:avLst/>
          </a:prstGeom>
          <a:solidFill>
            <a:srgbClr val="0E4B37"/>
          </a:solidFill>
          <a:ln>
            <a:solidFill>
              <a:srgbClr val="0E4B3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항목 설명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62928" y="1874520"/>
            <a:ext cx="3337560" cy="4343400"/>
          </a:xfrm>
          <a:prstGeom prst="rect">
            <a:avLst/>
          </a:prstGeom>
          <a:solidFill>
            <a:srgbClr val="F0F0EB"/>
          </a:solidFill>
          <a:ln w="8890">
            <a:solidFill>
              <a:srgbClr val="8888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36080" y="200253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1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973824" y="19842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대구분 (어플리케이션 그룹) 코드 (2)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7101840" y="214884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6736080" y="250545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2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73824" y="2487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업무구분 (어플리케이션) 코드 (2)</a:t>
            </a:r>
            <a:endParaRPr lang="en-US" sz="860" dirty="0"/>
          </a:p>
        </p:txBody>
      </p:sp>
      <p:sp>
        <p:nvSpPr>
          <p:cNvPr id="63" name="Text 61"/>
          <p:cNvSpPr/>
          <p:nvPr/>
        </p:nvSpPr>
        <p:spPr>
          <a:xfrm>
            <a:off x="7101840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6736080" y="300837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3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73824" y="29900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세부업무구분 (기능) 코드 (1)</a:t>
            </a:r>
            <a:endParaRPr lang="en-US" sz="860" dirty="0"/>
          </a:p>
        </p:txBody>
      </p:sp>
      <p:sp>
        <p:nvSpPr>
          <p:cNvPr id="66" name="Text 64"/>
          <p:cNvSpPr/>
          <p:nvPr/>
        </p:nvSpPr>
        <p:spPr>
          <a:xfrm>
            <a:off x="71018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※ 어플리케이션 코드 정의서 참조</a:t>
            </a:r>
            <a:endParaRPr lang="en-US" sz="760" dirty="0"/>
          </a:p>
        </p:txBody>
      </p:sp>
      <p:sp>
        <p:nvSpPr>
          <p:cNvPr id="67" name="Text 65"/>
          <p:cNvSpPr/>
          <p:nvPr/>
        </p:nvSpPr>
        <p:spPr>
          <a:xfrm>
            <a:off x="6736080" y="351129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4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73824" y="34930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화면식별 번호 (4)</a:t>
            </a:r>
            <a:endParaRPr lang="en-US" sz="860" dirty="0"/>
          </a:p>
        </p:txBody>
      </p:sp>
      <p:sp>
        <p:nvSpPr>
          <p:cNvPr id="69" name="Text 67"/>
          <p:cNvSpPr/>
          <p:nvPr/>
        </p:nvSpPr>
        <p:spPr>
          <a:xfrm>
            <a:off x="710184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화면 번호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화면이 없는 경우 일련번호 (“Z”+일련번호(3))</a:t>
            </a:r>
            <a:endParaRPr lang="en-US" sz="760" dirty="0"/>
          </a:p>
        </p:txBody>
      </p:sp>
      <p:sp>
        <p:nvSpPr>
          <p:cNvPr id="70" name="Text 68"/>
          <p:cNvSpPr/>
          <p:nvPr/>
        </p:nvSpPr>
        <p:spPr>
          <a:xfrm>
            <a:off x="6736080" y="4169664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5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973824" y="41513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식별자 (2)</a:t>
            </a:r>
            <a:endParaRPr lang="en-US" sz="860" dirty="0"/>
          </a:p>
        </p:txBody>
      </p:sp>
      <p:sp>
        <p:nvSpPr>
          <p:cNvPr id="72" name="Text 70"/>
          <p:cNvSpPr/>
          <p:nvPr/>
        </p:nvSpPr>
        <p:spPr>
          <a:xfrm>
            <a:off x="7101840" y="4315968"/>
            <a:ext cx="27889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구분(1자리) + 순번(1자리)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- S=조회, C=등록, U=수정, D=삭제, A=혼합, R=출력물(RD)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- 순번: 숫자(0~9), 알파벳(A~Z)</a:t>
            </a:r>
            <a:endParaRPr lang="en-US" sz="760" dirty="0"/>
          </a:p>
        </p:txBody>
      </p:sp>
      <p:sp>
        <p:nvSpPr>
          <p:cNvPr id="73" name="Text 71"/>
          <p:cNvSpPr/>
          <p:nvPr/>
        </p:nvSpPr>
        <p:spPr>
          <a:xfrm>
            <a:off x="6736080" y="4974336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6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973824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클래스 구분자 (9)</a:t>
            </a:r>
            <a:endParaRPr lang="en-US" sz="860" dirty="0"/>
          </a:p>
        </p:txBody>
      </p:sp>
      <p:sp>
        <p:nvSpPr>
          <p:cNvPr id="75" name="Text 73"/>
          <p:cNvSpPr/>
          <p:nvPr/>
        </p:nvSpPr>
        <p:spPr>
          <a:xfrm>
            <a:off x="7101840" y="5120640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“DTO” 문자열 고정</a:t>
            </a:r>
            <a:endParaRPr lang="en-US" sz="760" dirty="0"/>
          </a:p>
        </p:txBody>
      </p:sp>
      <p:sp>
        <p:nvSpPr>
          <p:cNvPr id="76" name="Text 74"/>
          <p:cNvSpPr/>
          <p:nvPr/>
        </p:nvSpPr>
        <p:spPr>
          <a:xfrm>
            <a:off x="6736080" y="5413248"/>
            <a:ext cx="164592" cy="164592"/>
          </a:xfrm>
          <a:prstGeom prst="ellipse">
            <a:avLst/>
          </a:prstGeom>
          <a:solidFill>
            <a:srgbClr val="E9EAA4"/>
          </a:solidFill>
          <a:ln w="7620">
            <a:solidFill>
              <a:srgbClr val="4D5A2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</a:rPr>
              <a:t>7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973824" y="5394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0" b="1" dirty="0">
                <a:solidFill>
                  <a:srgbClr val="1C1C1C"/>
                </a:solidFill>
              </a:rPr>
              <a:t>입·출력 구분 (2)</a:t>
            </a:r>
            <a:endParaRPr lang="en-US" sz="860" dirty="0"/>
          </a:p>
        </p:txBody>
      </p:sp>
      <p:sp>
        <p:nvSpPr>
          <p:cNvPr id="78" name="Text 76"/>
          <p:cNvSpPr/>
          <p:nvPr/>
        </p:nvSpPr>
        <p:spPr>
          <a:xfrm>
            <a:off x="7101840" y="5559552"/>
            <a:ext cx="2788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60" dirty="0">
                <a:solidFill>
                  <a:srgbClr val="1C1C1C"/>
                </a:solidFill>
              </a:rPr>
              <a:t>• in=입력, out=출력, io=입/출력</a:t>
            </a:r>
            <a:endParaRPr lang="en-US" sz="760" dirty="0"/>
          </a:p>
          <a:p>
            <a:r>
              <a:rPr lang="en-US" sz="760" dirty="0">
                <a:solidFill>
                  <a:srgbClr val="1C1C1C"/>
                </a:solidFill>
              </a:rPr>
              <a:t>• 확장자: 파일 확장자(.java)</a:t>
            </a:r>
            <a:endParaRPr lang="en-US" sz="760" dirty="0"/>
          </a:p>
        </p:txBody>
      </p:sp>
    </p:spTree>
    <p:extLst>
      <p:ext uri="{BB962C8B-B14F-4D97-AF65-F5344CB8AC3E}">
        <p14:creationId xmlns:p14="http://schemas.microsoft.com/office/powerpoint/2010/main" val="2334577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57201"/>
            <a:ext cx="4468274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Sub DTO 클래스 (Sub DTO Class)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80780" y="237744"/>
            <a:ext cx="1121461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3.4 온라인 프레임워크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1" y="1243585"/>
            <a:ext cx="763677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온라인 프레임워크 (NH Cloud Framework) 에서 사용하는 GRID 처리를 위한 Sub DTO 클래스 파일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- 27 -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DTO 클래스 (DTO Class)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37232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97836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5551" y="3081528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1320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1924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639" y="3081528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5408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3123" y="3081528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8892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88892" y="337413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9496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9496" y="337413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0100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0100" y="337413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0704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0704" y="337413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8419" y="3081528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4188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14188" y="337413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4188" y="364845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14188" y="392277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14188" y="419709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14188" y="447141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4792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4792" y="337413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4792" y="364845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4792" y="392277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4792" y="419709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4792" y="4471416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2507" y="3081528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8276" y="3054096"/>
            <a:ext cx="512064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DTO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743" y="3081528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3512" y="3054096"/>
            <a:ext cx="512064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Sub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25868" y="3054096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48" name="Oval 47"/>
          <p:cNvSpPr/>
          <p:nvPr/>
        </p:nvSpPr>
        <p:spPr>
          <a:xfrm>
            <a:off x="2250948" y="2734056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49" name="Oval 48"/>
          <p:cNvSpPr/>
          <p:nvPr/>
        </p:nvSpPr>
        <p:spPr>
          <a:xfrm>
            <a:off x="3215639" y="2734056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4102608" y="2734056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4623816" y="2734056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5327904" y="2734056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53" name="Oval 52"/>
          <p:cNvSpPr/>
          <p:nvPr/>
        </p:nvSpPr>
        <p:spPr>
          <a:xfrm>
            <a:off x="6182868" y="2734056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54" name="Oval 53"/>
          <p:cNvSpPr/>
          <p:nvPr/>
        </p:nvSpPr>
        <p:spPr>
          <a:xfrm>
            <a:off x="6928104" y="2734056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22849" y="3090672"/>
            <a:ext cx="398507" cy="206210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.java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255520" y="2697480"/>
            <a:ext cx="3163824" cy="0"/>
          </a:xfrm>
          <a:prstGeom prst="line">
            <a:avLst/>
          </a:prstGeom>
          <a:ln w="825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255520" y="2697480"/>
            <a:ext cx="0" cy="73152"/>
          </a:xfrm>
          <a:prstGeom prst="line">
            <a:avLst/>
          </a:prstGeom>
          <a:ln w="825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419344" y="2697480"/>
            <a:ext cx="0" cy="73152"/>
          </a:xfrm>
          <a:prstGeom prst="line">
            <a:avLst/>
          </a:prstGeom>
          <a:ln w="825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568448" y="2496312"/>
            <a:ext cx="537968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Noto Sans CJK KR"/>
              </a:defRPr>
            </a:pPr>
            <a:r>
              <a:rPr sz="800"/>
              <a:t>서비스 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64080" y="5120640"/>
            <a:ext cx="3703320" cy="1097280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164080" y="4828032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73808" y="5193792"/>
            <a:ext cx="1509388" cy="66723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▪ mpcoa0000S0DTOSub0.java</a:t>
            </a:r>
            <a:br>
              <a:rPr sz="819"/>
            </a:br>
            <a:r>
              <a:rPr sz="819"/>
              <a:t>▪ mpcoa0000S0DTOSub1.java</a:t>
            </a:r>
            <a:br>
              <a:rPr sz="819"/>
            </a:br>
            <a:r>
              <a:rPr sz="819"/>
              <a:t>▪ mpcoa0000S0DTOSub2.java</a:t>
            </a:r>
            <a:br>
              <a:rPr sz="819"/>
            </a:br>
            <a:r>
              <a:rPr sz="819"/>
              <a:t>▪ mpcoa0000S0DTOSubA.java</a:t>
            </a:r>
            <a:br>
              <a:rPr sz="819"/>
            </a:br>
            <a:r>
              <a:rPr sz="819"/>
              <a:t>▪ mpcoa0000S0DTOSubB.java</a:t>
            </a:r>
          </a:p>
        </p:txBody>
      </p:sp>
      <p:sp>
        <p:nvSpPr>
          <p:cNvPr id="63" name="Oval 62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91528" y="2377440"/>
            <a:ext cx="180273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대구분 (어플리케이션 그룹)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65" name="Oval 64"/>
          <p:cNvSpPr/>
          <p:nvPr/>
        </p:nvSpPr>
        <p:spPr>
          <a:xfrm>
            <a:off x="6662928" y="282549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91528" y="2807208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업무구분 (어플리케이션)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67" name="Oval 66"/>
          <p:cNvSpPr/>
          <p:nvPr/>
        </p:nvSpPr>
        <p:spPr>
          <a:xfrm>
            <a:off x="6662928" y="3255264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91528" y="3236976"/>
            <a:ext cx="2142574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세부업무구분 (기능) 코드 (1)</a:t>
            </a:r>
            <a:br>
              <a:rPr sz="830"/>
            </a:br>
            <a:r>
              <a:rPr sz="830"/>
              <a:t>• 세부 업무 구분 코드가 없는 경우 “-” 표기</a:t>
            </a:r>
          </a:p>
        </p:txBody>
      </p:sp>
      <p:sp>
        <p:nvSpPr>
          <p:cNvPr id="69" name="Oval 68"/>
          <p:cNvSpPr/>
          <p:nvPr/>
        </p:nvSpPr>
        <p:spPr>
          <a:xfrm>
            <a:off x="6662928" y="3685031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91529" y="3666744"/>
            <a:ext cx="2365391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화면식별 번호 (4)</a:t>
            </a:r>
            <a:br>
              <a:rPr sz="830"/>
            </a:br>
            <a:r>
              <a:rPr sz="830"/>
              <a:t>• 화면 번호 / 화면이 없는 경우 “Z”+일련번호(3)</a:t>
            </a:r>
          </a:p>
        </p:txBody>
      </p:sp>
      <p:sp>
        <p:nvSpPr>
          <p:cNvPr id="71" name="Oval 70"/>
          <p:cNvSpPr/>
          <p:nvPr/>
        </p:nvSpPr>
        <p:spPr>
          <a:xfrm>
            <a:off x="6662928" y="4114799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91529" y="4096511"/>
            <a:ext cx="2487219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식별자 (2)</a:t>
            </a:r>
            <a:br>
              <a:rPr sz="830"/>
            </a:br>
            <a:r>
              <a:rPr sz="830"/>
              <a:t>• S 조회, C 등록, U 수정, D 삭제, A 혼합, R 출력물</a:t>
            </a:r>
          </a:p>
        </p:txBody>
      </p:sp>
      <p:sp>
        <p:nvSpPr>
          <p:cNvPr id="73" name="Oval 72"/>
          <p:cNvSpPr/>
          <p:nvPr/>
        </p:nvSpPr>
        <p:spPr>
          <a:xfrm>
            <a:off x="6662928" y="4544567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91528" y="4526279"/>
            <a:ext cx="1996700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Sub DTO 식별자 (4)</a:t>
            </a:r>
            <a:br>
              <a:rPr sz="830"/>
            </a:br>
            <a:r>
              <a:rPr sz="830"/>
              <a:t>• “Sub” 고정 문자열(3자리)+순번(1자리)</a:t>
            </a:r>
          </a:p>
        </p:txBody>
      </p:sp>
      <p:sp>
        <p:nvSpPr>
          <p:cNvPr id="75" name="Oval 74"/>
          <p:cNvSpPr/>
          <p:nvPr/>
        </p:nvSpPr>
        <p:spPr>
          <a:xfrm>
            <a:off x="6662928" y="4974335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91528" y="4956047"/>
            <a:ext cx="107176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클래스 구분자 (9)</a:t>
            </a:r>
            <a:br>
              <a:rPr sz="830"/>
            </a:br>
            <a:r>
              <a:rPr sz="830"/>
              <a:t>• “DTO” 문자열 고정</a:t>
            </a:r>
          </a:p>
        </p:txBody>
      </p:sp>
    </p:spTree>
    <p:extLst>
      <p:ext uri="{BB962C8B-B14F-4D97-AF65-F5344CB8AC3E}">
        <p14:creationId xmlns:p14="http://schemas.microsoft.com/office/powerpoint/2010/main" val="1132957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1280159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SQL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80780" y="237744"/>
            <a:ext cx="1121461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3.4 온라인 프레임워크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1" y="1243585"/>
            <a:ext cx="549240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온라인 프레임워크 (NH Cloud Framework) 에서 사용하는 SQL 파일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- 28 -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SQL 파일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37232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97836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5551" y="3410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1320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1924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639" y="3410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5408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3123" y="3410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8892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88892" y="370332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9496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9496" y="370332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0100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0100" y="370332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0704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0704" y="370332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8419" y="3410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4188" y="338328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1903" y="3410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57672" y="3383280"/>
            <a:ext cx="512064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ORA</a:t>
            </a:r>
          </a:p>
        </p:txBody>
      </p:sp>
      <p:sp>
        <p:nvSpPr>
          <p:cNvPr id="34" name="Oval 33"/>
          <p:cNvSpPr/>
          <p:nvPr/>
        </p:nvSpPr>
        <p:spPr>
          <a:xfrm>
            <a:off x="2250948" y="306324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3215639" y="306324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4102608" y="306324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37" name="Oval 36"/>
          <p:cNvSpPr/>
          <p:nvPr/>
        </p:nvSpPr>
        <p:spPr>
          <a:xfrm>
            <a:off x="4623816" y="306324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38" name="Oval 37"/>
          <p:cNvSpPr/>
          <p:nvPr/>
        </p:nvSpPr>
        <p:spPr>
          <a:xfrm>
            <a:off x="5327904" y="306324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39" name="Oval 38"/>
          <p:cNvSpPr/>
          <p:nvPr/>
        </p:nvSpPr>
        <p:spPr>
          <a:xfrm>
            <a:off x="5922264" y="306324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22849" y="3419856"/>
            <a:ext cx="372859" cy="206210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.xml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4080" y="5120640"/>
            <a:ext cx="3703320" cy="1097280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64080" y="4828032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73808" y="5193792"/>
            <a:ext cx="1177566" cy="41511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▪ mpcoa0000-ORA.xml</a:t>
            </a:r>
            <a:br>
              <a:rPr sz="819"/>
            </a:br>
            <a:r>
              <a:rPr sz="819"/>
              <a:t>▪ mpcob0001-ORA.xml</a:t>
            </a:r>
            <a:br>
              <a:rPr sz="819"/>
            </a:br>
            <a:r>
              <a:rPr sz="819"/>
              <a:t>▪ mpcoa0002-ORA.xml</a:t>
            </a:r>
          </a:p>
        </p:txBody>
      </p:sp>
      <p:sp>
        <p:nvSpPr>
          <p:cNvPr id="44" name="Oval 43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1528" y="2377440"/>
            <a:ext cx="180273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대구분 (어플리케이션 그룹)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46" name="Oval 45"/>
          <p:cNvSpPr/>
          <p:nvPr/>
        </p:nvSpPr>
        <p:spPr>
          <a:xfrm>
            <a:off x="6662928" y="282549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91528" y="2807208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업무구분 (어플리케이션)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48" name="Oval 47"/>
          <p:cNvSpPr/>
          <p:nvPr/>
        </p:nvSpPr>
        <p:spPr>
          <a:xfrm>
            <a:off x="6662928" y="3255264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91528" y="3236976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세부업무구분 (기능) 코드 (1)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50" name="Oval 49"/>
          <p:cNvSpPr/>
          <p:nvPr/>
        </p:nvSpPr>
        <p:spPr>
          <a:xfrm>
            <a:off x="6662928" y="3685031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91529" y="3666744"/>
            <a:ext cx="2365391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화면식별 번호 (4)</a:t>
            </a:r>
            <a:br>
              <a:rPr sz="830"/>
            </a:br>
            <a:r>
              <a:rPr sz="830"/>
              <a:t>• 화면 번호 / 화면이 없는 경우 “Z”+일련번호(3)</a:t>
            </a:r>
          </a:p>
        </p:txBody>
      </p:sp>
      <p:sp>
        <p:nvSpPr>
          <p:cNvPr id="52" name="Oval 51"/>
          <p:cNvSpPr/>
          <p:nvPr/>
        </p:nvSpPr>
        <p:spPr>
          <a:xfrm>
            <a:off x="6662928" y="4114799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1528" y="4096511"/>
            <a:ext cx="677430" cy="164660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구분자(-) (1)</a:t>
            </a:r>
          </a:p>
        </p:txBody>
      </p:sp>
      <p:sp>
        <p:nvSpPr>
          <p:cNvPr id="54" name="Oval 53"/>
          <p:cNvSpPr/>
          <p:nvPr/>
        </p:nvSpPr>
        <p:spPr>
          <a:xfrm>
            <a:off x="6662928" y="4544567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91529" y="4526279"/>
            <a:ext cx="2783775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데이터베이스 구분자 (3)</a:t>
            </a:r>
            <a:br>
              <a:rPr sz="830"/>
            </a:br>
            <a:r>
              <a:rPr sz="830"/>
              <a:t>• “ORA”=오라클, “MYS”=MySQL, “MSS”=MS SQL Server</a:t>
            </a:r>
          </a:p>
        </p:txBody>
      </p:sp>
      <p:sp>
        <p:nvSpPr>
          <p:cNvPr id="56" name="Oval 55"/>
          <p:cNvSpPr/>
          <p:nvPr/>
        </p:nvSpPr>
        <p:spPr>
          <a:xfrm>
            <a:off x="6662928" y="4974335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91529" y="4956047"/>
            <a:ext cx="1257717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확장자</a:t>
            </a:r>
            <a:br>
              <a:rPr sz="830"/>
            </a:br>
            <a:r>
              <a:rPr sz="830"/>
              <a:t>• .xml : SQL 파일 확장자</a:t>
            </a:r>
          </a:p>
        </p:txBody>
      </p:sp>
    </p:spTree>
    <p:extLst>
      <p:ext uri="{BB962C8B-B14F-4D97-AF65-F5344CB8AC3E}">
        <p14:creationId xmlns:p14="http://schemas.microsoft.com/office/powerpoint/2010/main" val="420593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57201"/>
            <a:ext cx="1014060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SQL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80780" y="237744"/>
            <a:ext cx="1121461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3.4 온라인 프레임워크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0" y="1243585"/>
            <a:ext cx="5336910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온라인 프레임워크 (NH Cloud Framework) 에서 사용하는 SQL ID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- 29 -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SQL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37232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97836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5551" y="327355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1320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1924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639" y="327355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5408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3123" y="327355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8892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88892" y="356616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9496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9496" y="356616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0100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0100" y="356616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0704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0704" y="356616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8419" y="327355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4188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14188" y="356616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4188" y="384048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14188" y="411480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14188" y="438912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14188" y="466344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4792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4792" y="356616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4792" y="384048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4792" y="411480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4792" y="438912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4792" y="466344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2507" y="327355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8276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991" y="327355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1760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61760" y="356616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61760" y="384048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1760" y="411480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61760" y="438912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2364" y="3246120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2364" y="356616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2364" y="384048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22364" y="411480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2364" y="4389120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0</a:t>
            </a:r>
          </a:p>
        </p:txBody>
      </p:sp>
      <p:sp>
        <p:nvSpPr>
          <p:cNvPr id="56" name="Oval 55"/>
          <p:cNvSpPr/>
          <p:nvPr/>
        </p:nvSpPr>
        <p:spPr>
          <a:xfrm>
            <a:off x="2250948" y="2926079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57" name="Oval 56"/>
          <p:cNvSpPr/>
          <p:nvPr/>
        </p:nvSpPr>
        <p:spPr>
          <a:xfrm>
            <a:off x="3215639" y="2926079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58" name="Oval 57"/>
          <p:cNvSpPr/>
          <p:nvPr/>
        </p:nvSpPr>
        <p:spPr>
          <a:xfrm>
            <a:off x="4102608" y="2926079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4623816" y="2926079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60" name="Oval 59"/>
          <p:cNvSpPr/>
          <p:nvPr/>
        </p:nvSpPr>
        <p:spPr>
          <a:xfrm>
            <a:off x="5327904" y="2926079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61" name="Oval 60"/>
          <p:cNvSpPr/>
          <p:nvPr/>
        </p:nvSpPr>
        <p:spPr>
          <a:xfrm>
            <a:off x="6475476" y="2926079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62" name="Oval 61"/>
          <p:cNvSpPr/>
          <p:nvPr/>
        </p:nvSpPr>
        <p:spPr>
          <a:xfrm>
            <a:off x="6736080" y="2926079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7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255520" y="2834640"/>
            <a:ext cx="3035808" cy="0"/>
          </a:xfrm>
          <a:prstGeom prst="line">
            <a:avLst/>
          </a:prstGeom>
          <a:ln w="825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255520" y="2834640"/>
            <a:ext cx="0" cy="73152"/>
          </a:xfrm>
          <a:prstGeom prst="line">
            <a:avLst/>
          </a:prstGeom>
          <a:ln w="825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291328" y="2834640"/>
            <a:ext cx="0" cy="73152"/>
          </a:xfrm>
          <a:prstGeom prst="line">
            <a:avLst/>
          </a:prstGeom>
          <a:ln w="825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504440" y="2633472"/>
            <a:ext cx="537968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Noto Sans CJK KR"/>
              </a:defRPr>
            </a:pPr>
            <a:r>
              <a:rPr sz="800"/>
              <a:t>서비스 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64080" y="5120640"/>
            <a:ext cx="3703320" cy="1097280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164080" y="4828032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73808" y="5193792"/>
            <a:ext cx="3115596" cy="79329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▪ 조회: mpcoa0000S0_S0</a:t>
            </a:r>
            <a:br>
              <a:rPr sz="819"/>
            </a:br>
            <a:r>
              <a:rPr sz="819"/>
              <a:t>▪ 등록: mpcoa0000C0_C0</a:t>
            </a:r>
            <a:br>
              <a:rPr sz="819"/>
            </a:br>
            <a:r>
              <a:rPr sz="819"/>
              <a:t>▪ 수정: mpcoa0000U0_U0</a:t>
            </a:r>
            <a:br>
              <a:rPr sz="819"/>
            </a:br>
            <a:r>
              <a:rPr sz="819"/>
              <a:t>▪ 삭제: mpcoa0000D0_D0</a:t>
            </a:r>
            <a:br>
              <a:rPr sz="819"/>
            </a:br>
            <a:r>
              <a:rPr sz="819"/>
              <a:t>▪ 혼합: mpcoa0000A0_A0, mpcoa0000C0_A0, mpcoa0000U0_A0</a:t>
            </a:r>
            <a:br>
              <a:rPr sz="819"/>
            </a:br>
            <a:r>
              <a:rPr sz="819"/>
              <a:t>▪ 레포트: mpcoa0000R0_S0</a:t>
            </a:r>
          </a:p>
        </p:txBody>
      </p:sp>
      <p:sp>
        <p:nvSpPr>
          <p:cNvPr id="70" name="Oval 69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91528" y="2377440"/>
            <a:ext cx="180273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대구분 (어플리케이션 그룹)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72" name="Oval 71"/>
          <p:cNvSpPr/>
          <p:nvPr/>
        </p:nvSpPr>
        <p:spPr>
          <a:xfrm>
            <a:off x="6662928" y="282549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91528" y="2807208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업무구분 (어플리케이션)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74" name="Oval 73"/>
          <p:cNvSpPr/>
          <p:nvPr/>
        </p:nvSpPr>
        <p:spPr>
          <a:xfrm>
            <a:off x="6662928" y="3255264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91528" y="3236976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세부업무구분 (기능) 코드 (1)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76" name="Oval 75"/>
          <p:cNvSpPr/>
          <p:nvPr/>
        </p:nvSpPr>
        <p:spPr>
          <a:xfrm>
            <a:off x="6662928" y="3685031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1529" y="3666744"/>
            <a:ext cx="2365391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화면식별 번호 (4)</a:t>
            </a:r>
            <a:br>
              <a:rPr sz="830"/>
            </a:br>
            <a:r>
              <a:rPr sz="830"/>
              <a:t>• 화면 번호 / 화면이 없는 경우 “Z”+일련번호(3)</a:t>
            </a:r>
          </a:p>
        </p:txBody>
      </p:sp>
      <p:sp>
        <p:nvSpPr>
          <p:cNvPr id="78" name="Oval 77"/>
          <p:cNvSpPr/>
          <p:nvPr/>
        </p:nvSpPr>
        <p:spPr>
          <a:xfrm>
            <a:off x="6662928" y="4114799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91529" y="4096511"/>
            <a:ext cx="2487219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식별자 (2)</a:t>
            </a:r>
            <a:br>
              <a:rPr sz="830"/>
            </a:br>
            <a:r>
              <a:rPr sz="830"/>
              <a:t>• S 조회, C 등록, U 수정, D 삭제, A 혼합, R 레포트</a:t>
            </a:r>
          </a:p>
        </p:txBody>
      </p:sp>
      <p:sp>
        <p:nvSpPr>
          <p:cNvPr id="80" name="Oval 79"/>
          <p:cNvSpPr/>
          <p:nvPr/>
        </p:nvSpPr>
        <p:spPr>
          <a:xfrm>
            <a:off x="6662928" y="4544567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91528" y="4526279"/>
            <a:ext cx="2007922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DML 구분 (1)</a:t>
            </a:r>
            <a:br>
              <a:rPr sz="830"/>
            </a:br>
            <a:r>
              <a:rPr sz="830"/>
              <a:t>• S 조회, C 등록, U 수정, D 삭제, A 혼합</a:t>
            </a:r>
          </a:p>
        </p:txBody>
      </p:sp>
      <p:sp>
        <p:nvSpPr>
          <p:cNvPr id="82" name="Oval 81"/>
          <p:cNvSpPr/>
          <p:nvPr/>
        </p:nvSpPr>
        <p:spPr>
          <a:xfrm>
            <a:off x="6662928" y="4974335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91529" y="4956047"/>
            <a:ext cx="1294585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순번 (2)</a:t>
            </a:r>
            <a:br>
              <a:rPr sz="830"/>
            </a:br>
            <a:r>
              <a:rPr sz="830"/>
              <a:t>• 숫자(0~9), 알파벳(A~Z)</a:t>
            </a:r>
          </a:p>
        </p:txBody>
      </p:sp>
    </p:spTree>
    <p:extLst>
      <p:ext uri="{BB962C8B-B14F-4D97-AF65-F5344CB8AC3E}">
        <p14:creationId xmlns:p14="http://schemas.microsoft.com/office/powerpoint/2010/main" val="1095769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4830105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레포트 ID (Report Designer, 출력물)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42070" y="237744"/>
            <a:ext cx="860171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3.5 레포트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0" y="1243585"/>
            <a:ext cx="5055358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Report Designer 개발 프로그램을 통해 생성하는 보고서 파일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- 30 -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단말 소스 파일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37232" y="2587753"/>
            <a:ext cx="796052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레포트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7232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7836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5551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1320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1924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639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5408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3123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88892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88892" y="3136392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9496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9496" y="3136392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0100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0100" y="3136392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0704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70704" y="3136392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8419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14188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4792" y="281635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34" name="Oval 33"/>
          <p:cNvSpPr/>
          <p:nvPr/>
        </p:nvSpPr>
        <p:spPr>
          <a:xfrm>
            <a:off x="2250948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3215639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4102608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37" name="Oval 36"/>
          <p:cNvSpPr/>
          <p:nvPr/>
        </p:nvSpPr>
        <p:spPr>
          <a:xfrm>
            <a:off x="4623816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38" name="Oval 37"/>
          <p:cNvSpPr/>
          <p:nvPr/>
        </p:nvSpPr>
        <p:spPr>
          <a:xfrm>
            <a:off x="5327904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7233" y="4142233"/>
            <a:ext cx="1031693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레포트 파일명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7232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97836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5551" y="439826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41320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1924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639" y="439826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45408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73123" y="439826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88892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88892" y="4690872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9496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9496" y="4690872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0100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0100" y="4690872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70704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0704" y="4690872"/>
            <a:ext cx="21031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98419" y="439826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14188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4792" y="4370832"/>
            <a:ext cx="21031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59" name="Oval 58"/>
          <p:cNvSpPr/>
          <p:nvPr/>
        </p:nvSpPr>
        <p:spPr>
          <a:xfrm>
            <a:off x="2250948" y="405079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60" name="Oval 59"/>
          <p:cNvSpPr/>
          <p:nvPr/>
        </p:nvSpPr>
        <p:spPr>
          <a:xfrm>
            <a:off x="3215639" y="405079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61" name="Oval 60"/>
          <p:cNvSpPr/>
          <p:nvPr/>
        </p:nvSpPr>
        <p:spPr>
          <a:xfrm>
            <a:off x="4102608" y="405079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62" name="Oval 61"/>
          <p:cNvSpPr/>
          <p:nvPr/>
        </p:nvSpPr>
        <p:spPr>
          <a:xfrm>
            <a:off x="4623816" y="405079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63" name="Oval 62"/>
          <p:cNvSpPr/>
          <p:nvPr/>
        </p:nvSpPr>
        <p:spPr>
          <a:xfrm>
            <a:off x="5327904" y="405079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30240" y="4407408"/>
            <a:ext cx="403316" cy="206210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.mrd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64080" y="5120640"/>
            <a:ext cx="3703320" cy="1097280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64080" y="4828032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73808" y="5193793"/>
            <a:ext cx="1058944" cy="28905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▪ mpcoa0000R0</a:t>
            </a:r>
            <a:br>
              <a:rPr sz="819"/>
            </a:br>
            <a:r>
              <a:rPr sz="819"/>
              <a:t>▪ mpcoa0000R0.mrd</a:t>
            </a:r>
          </a:p>
        </p:txBody>
      </p:sp>
      <p:sp>
        <p:nvSpPr>
          <p:cNvPr id="68" name="Oval 67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91528" y="2377440"/>
            <a:ext cx="180273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대구분 (어플리케이션 그룹)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70" name="Oval 69"/>
          <p:cNvSpPr/>
          <p:nvPr/>
        </p:nvSpPr>
        <p:spPr>
          <a:xfrm>
            <a:off x="6662928" y="282549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91528" y="2807208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업무구분 (어플리케이션)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72" name="Oval 71"/>
          <p:cNvSpPr/>
          <p:nvPr/>
        </p:nvSpPr>
        <p:spPr>
          <a:xfrm>
            <a:off x="6662928" y="3255264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91528" y="3236976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세부업무구분 (기능) 코드 (1)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74" name="Oval 73"/>
          <p:cNvSpPr/>
          <p:nvPr/>
        </p:nvSpPr>
        <p:spPr>
          <a:xfrm>
            <a:off x="6662928" y="3685031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91529" y="3666744"/>
            <a:ext cx="2365391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화면식별 번호 (4)</a:t>
            </a:r>
            <a:br>
              <a:rPr sz="830"/>
            </a:br>
            <a:r>
              <a:rPr sz="830"/>
              <a:t>• 화면 번호 / 화면이 없는 경우 “Z”+일련번호(3)</a:t>
            </a:r>
          </a:p>
        </p:txBody>
      </p:sp>
      <p:sp>
        <p:nvSpPr>
          <p:cNvPr id="76" name="Oval 75"/>
          <p:cNvSpPr/>
          <p:nvPr/>
        </p:nvSpPr>
        <p:spPr>
          <a:xfrm>
            <a:off x="6662928" y="4114799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1528" y="4096511"/>
            <a:ext cx="1839606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식별자 (2)</a:t>
            </a:r>
            <a:br>
              <a:rPr sz="830"/>
            </a:br>
            <a:r>
              <a:rPr sz="830"/>
              <a:t>• 구분 “R”=레포트, 순번 숫자/알파벳</a:t>
            </a:r>
          </a:p>
        </p:txBody>
      </p:sp>
      <p:sp>
        <p:nvSpPr>
          <p:cNvPr id="78" name="Oval 77"/>
          <p:cNvSpPr/>
          <p:nvPr/>
        </p:nvSpPr>
        <p:spPr>
          <a:xfrm>
            <a:off x="6662928" y="4544567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91528" y="4526279"/>
            <a:ext cx="1764266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확장자</a:t>
            </a:r>
            <a:br>
              <a:rPr sz="830"/>
            </a:br>
            <a:r>
              <a:rPr sz="830"/>
              <a:t>• .mrd : 레포트 디자이너 구성 파일</a:t>
            </a:r>
          </a:p>
        </p:txBody>
      </p:sp>
    </p:spTree>
    <p:extLst>
      <p:ext uri="{BB962C8B-B14F-4D97-AF65-F5344CB8AC3E}">
        <p14:creationId xmlns:p14="http://schemas.microsoft.com/office/powerpoint/2010/main" val="2039033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57201"/>
            <a:ext cx="1785104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데이터베이스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2834" y="237744"/>
            <a:ext cx="87940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3.6 데이터베이스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0" y="1243585"/>
            <a:ext cx="1740220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데이터베이스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- 31 -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데이터베이스 (Database)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82369" y="2414017"/>
            <a:ext cx="1034899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▶ 데이터베이스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7232" y="2834640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9840" y="2834640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9559" y="28620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5328" y="2834640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7936" y="2834640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655" y="28620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73424" y="2834640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6032" y="2834640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751" y="28620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41520" y="2834640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1239" y="28620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7008" y="2834640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2260092" y="25146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3320796" y="25146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4088892" y="25146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82368" y="4133088"/>
            <a:ext cx="778418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▶ 인스턴스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37232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29840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9559" y="458114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05328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7936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7655" y="458114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73424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6032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751" y="458114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41520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1239" y="458114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17008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6727" y="458114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92496" y="4553712"/>
            <a:ext cx="22860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</a:t>
            </a:r>
          </a:p>
        </p:txBody>
      </p:sp>
      <p:sp>
        <p:nvSpPr>
          <p:cNvPr id="45" name="Oval 44"/>
          <p:cNvSpPr/>
          <p:nvPr/>
        </p:nvSpPr>
        <p:spPr>
          <a:xfrm>
            <a:off x="2260092" y="423367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3320796" y="423367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47" name="Oval 46"/>
          <p:cNvSpPr/>
          <p:nvPr/>
        </p:nvSpPr>
        <p:spPr>
          <a:xfrm>
            <a:off x="4088892" y="423367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64080" y="5321808"/>
            <a:ext cx="3703320" cy="868680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64080" y="5029201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73809" y="5394960"/>
            <a:ext cx="2519279" cy="66723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▶ 데이터베이스</a:t>
            </a:r>
            <a:br>
              <a:rPr sz="819"/>
            </a:br>
            <a:r>
              <a:rPr sz="819"/>
              <a:t>▪ 데이터분석플랫폼_RDW 개발 : SBRDCOTP</a:t>
            </a:r>
            <a:br>
              <a:rPr sz="819"/>
            </a:br>
            <a:r>
              <a:rPr sz="819"/>
              <a:t/>
            </a:r>
            <a:br>
              <a:rPr sz="819"/>
            </a:br>
            <a:r>
              <a:rPr sz="819"/>
              <a:t>▶ 인스턴스</a:t>
            </a:r>
            <a:br>
              <a:rPr sz="819"/>
            </a:br>
            <a:r>
              <a:rPr sz="819"/>
              <a:t>▪ 데이터분석플랫폼_RDW 개발 DB#1 : SBRDCOTP1</a:t>
            </a:r>
          </a:p>
        </p:txBody>
      </p:sp>
      <p:sp>
        <p:nvSpPr>
          <p:cNvPr id="51" name="Oval 50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91528" y="2377440"/>
            <a:ext cx="3006592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법인구분 코드 (2)</a:t>
            </a:r>
            <a:br>
              <a:rPr sz="800"/>
            </a:br>
            <a:r>
              <a:rPr sz="800"/>
              <a:t>• 중앙회 NH, 은행 NB, 상호금융 SB, 금융지주 FG, 경제지주 AG</a:t>
            </a:r>
          </a:p>
        </p:txBody>
      </p:sp>
      <p:sp>
        <p:nvSpPr>
          <p:cNvPr id="53" name="Oval 52"/>
          <p:cNvSpPr/>
          <p:nvPr/>
        </p:nvSpPr>
        <p:spPr>
          <a:xfrm>
            <a:off x="6662928" y="2907792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1529" y="2889504"/>
            <a:ext cx="261385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대구분 코드 (2)</a:t>
            </a:r>
            <a:br>
              <a:rPr sz="800"/>
            </a:br>
            <a:r>
              <a:rPr sz="800"/>
              <a:t>• 메타시스템 사업별 업무분류기준의 대구분 코드 사용</a:t>
            </a:r>
          </a:p>
        </p:txBody>
      </p:sp>
      <p:sp>
        <p:nvSpPr>
          <p:cNvPr id="55" name="Oval 54"/>
          <p:cNvSpPr/>
          <p:nvPr/>
        </p:nvSpPr>
        <p:spPr>
          <a:xfrm>
            <a:off x="6662928" y="341985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91528" y="3401568"/>
            <a:ext cx="1990288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시스템구분 코드 (2)</a:t>
            </a:r>
            <a:br>
              <a:rPr sz="800"/>
            </a:br>
            <a:r>
              <a:rPr sz="800"/>
              <a:t>• 공통업무구분이나 대표업무구분을 사용</a:t>
            </a:r>
          </a:p>
        </p:txBody>
      </p:sp>
      <p:sp>
        <p:nvSpPr>
          <p:cNvPr id="57" name="Oval 56"/>
          <p:cNvSpPr/>
          <p:nvPr/>
        </p:nvSpPr>
        <p:spPr>
          <a:xfrm>
            <a:off x="6662928" y="3931920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91529" y="3913632"/>
            <a:ext cx="1217641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운영구분코드 (1)</a:t>
            </a:r>
            <a:br>
              <a:rPr sz="800"/>
            </a:br>
            <a:r>
              <a:rPr sz="800"/>
              <a:t>• O 운영, V 검증, T 개발</a:t>
            </a:r>
          </a:p>
        </p:txBody>
      </p:sp>
      <p:sp>
        <p:nvSpPr>
          <p:cNvPr id="59" name="Oval 58"/>
          <p:cNvSpPr/>
          <p:nvPr/>
        </p:nvSpPr>
        <p:spPr>
          <a:xfrm>
            <a:off x="6662928" y="4443983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91528" y="4425696"/>
            <a:ext cx="1783502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CDB/PDB 구분코드 (1)</a:t>
            </a:r>
            <a:br>
              <a:rPr sz="800"/>
            </a:br>
            <a:r>
              <a:rPr sz="800"/>
              <a:t>• Container DB: C / Pluggable DB: P</a:t>
            </a:r>
          </a:p>
        </p:txBody>
      </p:sp>
      <p:sp>
        <p:nvSpPr>
          <p:cNvPr id="61" name="Oval 60"/>
          <p:cNvSpPr/>
          <p:nvPr/>
        </p:nvSpPr>
        <p:spPr>
          <a:xfrm>
            <a:off x="6662928" y="495604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1529" y="4937760"/>
            <a:ext cx="2548133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일련번호 (0~2)</a:t>
            </a:r>
            <a:br>
              <a:rPr sz="800"/>
            </a:br>
            <a:r>
              <a:rPr sz="800"/>
              <a:t>• 1~9 또는 01~99 사용 / DB가 1개인 경우 생략 가능</a:t>
            </a:r>
          </a:p>
        </p:txBody>
      </p:sp>
    </p:spTree>
    <p:extLst>
      <p:ext uri="{BB962C8B-B14F-4D97-AF65-F5344CB8AC3E}">
        <p14:creationId xmlns:p14="http://schemas.microsoft.com/office/powerpoint/2010/main" val="2395752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2067233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테이블스페이스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2834" y="237744"/>
            <a:ext cx="87940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3.6 데이터베이스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0" y="1243585"/>
            <a:ext cx="3849772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데이터베이스에서 사용하는 테이블스페이스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- 32 -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테이블스페이스 (Tablespace)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55520" y="3108960"/>
            <a:ext cx="512064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TSD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5520" y="3429000"/>
            <a:ext cx="512064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TSI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5520" y="3703320"/>
            <a:ext cx="512064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TMP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703" y="313639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4472" y="3108960"/>
            <a:ext cx="25603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1623" y="313639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7392" y="3108960"/>
            <a:ext cx="25603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37432" y="3108960"/>
            <a:ext cx="25603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24583" y="313639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0352" y="3108960"/>
            <a:ext cx="25603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0392" y="3108960"/>
            <a:ext cx="25603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7543" y="3136392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3312" y="3108960"/>
            <a:ext cx="25603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3352" y="3108960"/>
            <a:ext cx="25603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2420112" y="2788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3553968" y="2788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4376928" y="2788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5199888" y="2788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64080" y="5074920"/>
            <a:ext cx="3703320" cy="1078992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64080" y="4782313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73808" y="5148072"/>
            <a:ext cx="2876750" cy="9193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▶ 업무용 테이블스페이스</a:t>
            </a:r>
            <a:br>
              <a:rPr sz="819"/>
            </a:br>
            <a:r>
              <a:rPr sz="819"/>
              <a:t>▪ TSD_RDCO01 : RDW 공통 영역의 데이터 테이블스페이스</a:t>
            </a:r>
            <a:br>
              <a:rPr sz="819"/>
            </a:br>
            <a:r>
              <a:rPr sz="819"/>
              <a:t>▪ TMP_RDCO01 : RDW DB의 TEMP 테이블스페이스</a:t>
            </a:r>
            <a:br>
              <a:rPr sz="819"/>
            </a:br>
            <a:r>
              <a:rPr sz="819"/>
              <a:t/>
            </a:r>
            <a:br>
              <a:rPr sz="819"/>
            </a:br>
            <a:r>
              <a:rPr sz="819"/>
              <a:t>▶ 시스템 테이블스페이스</a:t>
            </a:r>
            <a:br>
              <a:rPr sz="819"/>
            </a:br>
            <a:r>
              <a:rPr sz="819"/>
              <a:t>▪ SYSTEM : SYSTEM 테이블스페이스</a:t>
            </a:r>
            <a:br>
              <a:rPr sz="819"/>
            </a:br>
            <a:r>
              <a:rPr sz="819"/>
              <a:t>▪ UNDOTBS1 : DB#1의 UNDO 테이블스페이스</a:t>
            </a:r>
          </a:p>
        </p:txBody>
      </p:sp>
      <p:sp>
        <p:nvSpPr>
          <p:cNvPr id="35" name="Oval 34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1528" y="2377441"/>
            <a:ext cx="3041858" cy="29854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Object Code (3)</a:t>
            </a:r>
            <a:br>
              <a:rPr sz="850"/>
            </a:br>
            <a:r>
              <a:rPr sz="850"/>
              <a:t>• 데이터용 TSD / 인덱스용 TSI / TEMP 테이블스페이스 TMP</a:t>
            </a:r>
          </a:p>
        </p:txBody>
      </p:sp>
      <p:sp>
        <p:nvSpPr>
          <p:cNvPr id="37" name="Oval 36"/>
          <p:cNvSpPr/>
          <p:nvPr/>
        </p:nvSpPr>
        <p:spPr>
          <a:xfrm>
            <a:off x="6662928" y="2953512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91528" y="2935225"/>
            <a:ext cx="1857240" cy="29854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대구분 (어플리케이션 그룹) 코드 (2)</a:t>
            </a:r>
            <a:br>
              <a:rPr sz="850"/>
            </a:br>
            <a:r>
              <a:rPr sz="850"/>
              <a:t>• ※ 어플리케이션 코드 정의서 참조</a:t>
            </a:r>
          </a:p>
        </p:txBody>
      </p:sp>
      <p:sp>
        <p:nvSpPr>
          <p:cNvPr id="39" name="Oval 38"/>
          <p:cNvSpPr/>
          <p:nvPr/>
        </p:nvSpPr>
        <p:spPr>
          <a:xfrm>
            <a:off x="6662928" y="351129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1528" y="3493009"/>
            <a:ext cx="1966244" cy="29854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업무구분 (어플리케이션 그룹) 코드 (2)</a:t>
            </a:r>
            <a:br>
              <a:rPr sz="850"/>
            </a:br>
            <a:r>
              <a:rPr sz="850"/>
              <a:t>• ※ 어플리케이션 코드 정의서 참조</a:t>
            </a:r>
          </a:p>
        </p:txBody>
      </p:sp>
      <p:sp>
        <p:nvSpPr>
          <p:cNvPr id="41" name="Oval 40"/>
          <p:cNvSpPr/>
          <p:nvPr/>
        </p:nvSpPr>
        <p:spPr>
          <a:xfrm>
            <a:off x="6662928" y="4069079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1528" y="4050792"/>
            <a:ext cx="823302" cy="29854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일련번호 (2)</a:t>
            </a:r>
            <a:br>
              <a:rPr sz="850"/>
            </a:br>
            <a:r>
              <a:rPr sz="850"/>
              <a:t>• 01 ~ 99 사용</a:t>
            </a:r>
          </a:p>
        </p:txBody>
      </p:sp>
    </p:spTree>
    <p:extLst>
      <p:ext uri="{BB962C8B-B14F-4D97-AF65-F5344CB8AC3E}">
        <p14:creationId xmlns:p14="http://schemas.microsoft.com/office/powerpoint/2010/main" val="3339949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938719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테이블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2834" y="237744"/>
            <a:ext cx="87940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3.6 데이터베이스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1" y="1243585"/>
            <a:ext cx="3234219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데이터베이스에서 사용하는 테이블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- 33 -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테이블 (Table)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82368" y="2359153"/>
            <a:ext cx="1813958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일반 테이블 (엔티티 분류어)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7232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1259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2399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8168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306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5075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9103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0243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6012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7151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2920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6948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8087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43856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4995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50764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1903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57672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57672" y="3090672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57672" y="3364991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57672" y="3639311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57672" y="3913631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57672" y="4187951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8811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64580" y="2770632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719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71488" y="2770632"/>
            <a:ext cx="6217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정보내용</a:t>
            </a:r>
          </a:p>
        </p:txBody>
      </p:sp>
      <p:sp>
        <p:nvSpPr>
          <p:cNvPr id="42" name="Oval 41"/>
          <p:cNvSpPr/>
          <p:nvPr/>
        </p:nvSpPr>
        <p:spPr>
          <a:xfrm>
            <a:off x="3275075" y="2450591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4312920" y="2450591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5350764" y="2450591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5757672" y="2450591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46" name="Oval 45"/>
          <p:cNvSpPr/>
          <p:nvPr/>
        </p:nvSpPr>
        <p:spPr>
          <a:xfrm>
            <a:off x="6790944" y="2450591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82368" y="3767329"/>
            <a:ext cx="1074974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일반 테이블 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3723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4297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4871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5445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6019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6593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167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41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315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8889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463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00372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6112" y="4206240"/>
            <a:ext cx="73152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정보</a:t>
            </a:r>
            <a:br>
              <a:rPr sz="819"/>
            </a:br>
            <a:r>
              <a:rPr sz="819"/>
              <a:t>내용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36747" y="42336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52516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25367" y="42336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41136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3987" y="42336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29756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2607" y="42336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18376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24116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24116" y="4526279"/>
            <a:ext cx="17373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29856" y="4206240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</a:t>
            </a:r>
          </a:p>
        </p:txBody>
      </p:sp>
      <p:sp>
        <p:nvSpPr>
          <p:cNvPr id="72" name="Oval 71"/>
          <p:cNvSpPr/>
          <p:nvPr/>
        </p:nvSpPr>
        <p:spPr>
          <a:xfrm>
            <a:off x="2849880" y="38862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73" name="Oval 72"/>
          <p:cNvSpPr/>
          <p:nvPr/>
        </p:nvSpPr>
        <p:spPr>
          <a:xfrm>
            <a:off x="3467100" y="38862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74" name="Oval 73"/>
          <p:cNvSpPr/>
          <p:nvPr/>
        </p:nvSpPr>
        <p:spPr>
          <a:xfrm>
            <a:off x="4084320" y="38862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75" name="Oval 74"/>
          <p:cNvSpPr/>
          <p:nvPr/>
        </p:nvSpPr>
        <p:spPr>
          <a:xfrm>
            <a:off x="4290060" y="38862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76" name="Oval 75"/>
          <p:cNvSpPr/>
          <p:nvPr/>
        </p:nvSpPr>
        <p:spPr>
          <a:xfrm>
            <a:off x="4980432" y="38862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77" name="Oval 76"/>
          <p:cNvSpPr/>
          <p:nvPr/>
        </p:nvSpPr>
        <p:spPr>
          <a:xfrm>
            <a:off x="7019544" y="38862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64080" y="5230368"/>
            <a:ext cx="3703320" cy="960120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164080" y="4937760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73809" y="5303520"/>
            <a:ext cx="3131627" cy="104541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▶ 일반 테이블</a:t>
            </a:r>
            <a:br>
              <a:rPr sz="819"/>
            </a:br>
            <a:r>
              <a:rPr sz="819"/>
              <a:t>▪ 고객_고객기본: TB_RD_CO_AM_CUS_BASE</a:t>
            </a:r>
            <a:br>
              <a:rPr sz="819"/>
            </a:br>
            <a:r>
              <a:rPr sz="819"/>
              <a:t/>
            </a:r>
            <a:br>
              <a:rPr sz="819"/>
            </a:br>
            <a:r>
              <a:rPr sz="819"/>
              <a:t>▶ 일반 테이블 외</a:t>
            </a:r>
            <a:br>
              <a:rPr sz="819"/>
            </a:br>
            <a:r>
              <a:rPr sz="819"/>
              <a:t>▪ 고객_고객기본일별: TB_RD_CO_AM_CUS_BASE_D</a:t>
            </a:r>
            <a:br>
              <a:rPr sz="819"/>
            </a:br>
            <a:r>
              <a:rPr sz="819"/>
              <a:t>▪ 고객_고객기본복사본: TB_RD_CO_AM_CUS_BASE_T</a:t>
            </a:r>
            <a:br>
              <a:rPr sz="819"/>
            </a:br>
            <a:r>
              <a:rPr sz="819"/>
              <a:t>▪ 고객_고객기본일별복사본: TB_RD_CO_AM_CUS_BASE_D_T</a:t>
            </a:r>
            <a:br>
              <a:rPr sz="819"/>
            </a:br>
            <a:r>
              <a:rPr sz="819"/>
              <a:t>▪ 고객_고객기본일별작업용01: TB_RD_CO_AM_CUS_BASE_D_K01</a:t>
            </a:r>
          </a:p>
        </p:txBody>
      </p:sp>
      <p:sp>
        <p:nvSpPr>
          <p:cNvPr id="81" name="Oval 80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91529" y="2377440"/>
            <a:ext cx="1645643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대구분 (어플리케이션 그룹) 코드 (2)</a:t>
            </a:r>
            <a:br>
              <a:rPr sz="750"/>
            </a:br>
            <a:r>
              <a:rPr sz="750"/>
              <a:t>• ※ 어플리케이션 코드 정의서 참조</a:t>
            </a:r>
          </a:p>
        </p:txBody>
      </p:sp>
      <p:sp>
        <p:nvSpPr>
          <p:cNvPr id="83" name="Oval 82"/>
          <p:cNvSpPr/>
          <p:nvPr/>
        </p:nvSpPr>
        <p:spPr>
          <a:xfrm>
            <a:off x="6662928" y="2862072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91528" y="2843784"/>
            <a:ext cx="1628010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업무구분 (어플리케이션) 코드 (2)</a:t>
            </a:r>
            <a:br>
              <a:rPr sz="750"/>
            </a:br>
            <a:r>
              <a:rPr sz="750"/>
              <a:t>• ※ 어플리케이션 코드 정의서 참조</a:t>
            </a:r>
          </a:p>
        </p:txBody>
      </p:sp>
      <p:sp>
        <p:nvSpPr>
          <p:cNvPr id="85" name="Oval 84"/>
          <p:cNvSpPr/>
          <p:nvPr/>
        </p:nvSpPr>
        <p:spPr>
          <a:xfrm>
            <a:off x="6662928" y="332841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91528" y="3310128"/>
            <a:ext cx="1628010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세부업무구분 (기능) 코드 (1)</a:t>
            </a:r>
            <a:br>
              <a:rPr sz="750"/>
            </a:br>
            <a:r>
              <a:rPr sz="750"/>
              <a:t>• ※ 어플리케이션 코드 정의서 참조</a:t>
            </a:r>
          </a:p>
        </p:txBody>
      </p:sp>
      <p:sp>
        <p:nvSpPr>
          <p:cNvPr id="87" name="Oval 86"/>
          <p:cNvSpPr/>
          <p:nvPr/>
        </p:nvSpPr>
        <p:spPr>
          <a:xfrm>
            <a:off x="6662928" y="3794759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91529" y="3776472"/>
            <a:ext cx="2160207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테이블 유형 (1)</a:t>
            </a:r>
            <a:br>
              <a:rPr sz="750"/>
            </a:br>
            <a:r>
              <a:rPr sz="750"/>
              <a:t>• M 기준, D 상세, H 내역, I 이력, C 코드, S 집계</a:t>
            </a:r>
          </a:p>
        </p:txBody>
      </p:sp>
      <p:sp>
        <p:nvSpPr>
          <p:cNvPr id="89" name="Oval 88"/>
          <p:cNvSpPr/>
          <p:nvPr/>
        </p:nvSpPr>
        <p:spPr>
          <a:xfrm>
            <a:off x="6662928" y="4261103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91528" y="4242816"/>
            <a:ext cx="906658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정보내용 (1~30)</a:t>
            </a:r>
            <a:br>
              <a:rPr sz="750"/>
            </a:br>
            <a:r>
              <a:rPr sz="750"/>
              <a:t>• 테이블 실제 이름</a:t>
            </a:r>
          </a:p>
        </p:txBody>
      </p:sp>
      <p:sp>
        <p:nvSpPr>
          <p:cNvPr id="91" name="Oval 90"/>
          <p:cNvSpPr/>
          <p:nvPr/>
        </p:nvSpPr>
        <p:spPr>
          <a:xfrm>
            <a:off x="6662928" y="4727447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91528" y="4709159"/>
            <a:ext cx="2865528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테이블 주기 유형 (1) (생략가능)</a:t>
            </a:r>
            <a:br>
              <a:rPr sz="750"/>
            </a:br>
            <a:r>
              <a:rPr sz="750"/>
              <a:t>• D 일별, W 주별, M 월별, Q 분기별, H 반기별, Y 년별, B 영업일</a:t>
            </a:r>
          </a:p>
        </p:txBody>
      </p:sp>
      <p:sp>
        <p:nvSpPr>
          <p:cNvPr id="93" name="Oval 92"/>
          <p:cNvSpPr/>
          <p:nvPr/>
        </p:nvSpPr>
        <p:spPr>
          <a:xfrm>
            <a:off x="6662928" y="5193791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91529" y="5175503"/>
            <a:ext cx="1674497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복사본/작업용 유형 (1~3) (생략가능)</a:t>
            </a:r>
            <a:br>
              <a:rPr sz="750"/>
            </a:br>
            <a:r>
              <a:rPr sz="750"/>
              <a:t>• T 복사본, K 작업용</a:t>
            </a:r>
          </a:p>
        </p:txBody>
      </p:sp>
    </p:spTree>
    <p:extLst>
      <p:ext uri="{BB962C8B-B14F-4D97-AF65-F5344CB8AC3E}">
        <p14:creationId xmlns:p14="http://schemas.microsoft.com/office/powerpoint/2010/main" val="33424400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938719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파티션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2834" y="237744"/>
            <a:ext cx="87940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3.6 데이터베이스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1" y="1243585"/>
            <a:ext cx="3234219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데이터베이스에서 사용하는 파티션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- 34 -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파티션 (Partition)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82369" y="2359153"/>
            <a:ext cx="622927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파티션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7232" y="277063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06980" y="277063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839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59607" y="277063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6466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2236" y="277063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2236" y="3090672"/>
            <a:ext cx="21945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2236" y="3364991"/>
            <a:ext cx="21945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9095" y="2798064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64865" y="2770632"/>
            <a:ext cx="1389887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Description</a:t>
            </a:r>
          </a:p>
        </p:txBody>
      </p:sp>
      <p:sp>
        <p:nvSpPr>
          <p:cNvPr id="25" name="Oval 24"/>
          <p:cNvSpPr/>
          <p:nvPr/>
        </p:nvSpPr>
        <p:spPr>
          <a:xfrm>
            <a:off x="3430524" y="2450591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4468368" y="2450591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2368" y="3794761"/>
            <a:ext cx="909864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서브 파티션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2680" y="4041648"/>
            <a:ext cx="2860720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별도 명명 규칙을 지정하지 않고 DBMS 기본 명명규칙을 따른다.</a:t>
            </a:r>
            <a:br>
              <a:rPr sz="750"/>
            </a:br>
            <a:r>
              <a:rPr sz="750"/>
              <a:t>단, 필요시 명명 규칙을 따른다.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37232" y="452628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79547" y="452628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975" y="4553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4744" y="452628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4171" y="4553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29939" y="452628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9366" y="4553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55137" y="4526280"/>
            <a:ext cx="1389887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Description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3283" y="4553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69052" y="452628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8479" y="4553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94248" y="452628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94248" y="4846320"/>
            <a:ext cx="201168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94248" y="5120640"/>
            <a:ext cx="201168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03675" y="455371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9445" y="4526280"/>
            <a:ext cx="1389887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Description</a:t>
            </a:r>
          </a:p>
        </p:txBody>
      </p:sp>
      <p:sp>
        <p:nvSpPr>
          <p:cNvPr id="45" name="Oval 44"/>
          <p:cNvSpPr/>
          <p:nvPr/>
        </p:nvSpPr>
        <p:spPr>
          <a:xfrm>
            <a:off x="5803392" y="420624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6822948" y="420624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4080" y="5440680"/>
            <a:ext cx="3703320" cy="713232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4080" y="5148073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73808" y="5513832"/>
            <a:ext cx="1033296" cy="9193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▶ 파티션</a:t>
            </a:r>
            <a:br>
              <a:rPr sz="819"/>
            </a:br>
            <a:r>
              <a:rPr sz="819"/>
              <a:t>▪ PT_R2017</a:t>
            </a:r>
            <a:br>
              <a:rPr sz="819"/>
            </a:br>
            <a:r>
              <a:rPr sz="819"/>
              <a:t>▪ PT_L1000</a:t>
            </a:r>
            <a:br>
              <a:rPr sz="819"/>
            </a:br>
            <a:r>
              <a:rPr sz="819"/>
              <a:t/>
            </a:r>
            <a:br>
              <a:rPr sz="819"/>
            </a:br>
            <a:r>
              <a:rPr sz="819"/>
              <a:t>▶ 서브파티션</a:t>
            </a:r>
            <a:br>
              <a:rPr sz="819"/>
            </a:br>
            <a:r>
              <a:rPr sz="819"/>
              <a:t>▪ PT_L001_R2017</a:t>
            </a:r>
            <a:br>
              <a:rPr sz="819"/>
            </a:br>
            <a:r>
              <a:rPr sz="819"/>
              <a:t>▪ PT_R201701_H001</a:t>
            </a:r>
          </a:p>
        </p:txBody>
      </p:sp>
      <p:sp>
        <p:nvSpPr>
          <p:cNvPr id="50" name="Oval 49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91528" y="2377441"/>
            <a:ext cx="2104102" cy="66018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파티션 종류 (1)</a:t>
            </a:r>
            <a:br>
              <a:rPr sz="810"/>
            </a:br>
            <a:r>
              <a:rPr sz="810"/>
              <a:t>• R Range Partition</a:t>
            </a:r>
            <a:br>
              <a:rPr sz="810"/>
            </a:br>
            <a:r>
              <a:rPr sz="810"/>
              <a:t>• L List Partition</a:t>
            </a:r>
            <a:br>
              <a:rPr sz="810"/>
            </a:br>
            <a:r>
              <a:rPr sz="810"/>
              <a:t>• H Hash Partition</a:t>
            </a:r>
            <a:br>
              <a:rPr sz="810"/>
            </a:br>
            <a:r>
              <a:rPr sz="810"/>
              <a:t>※ HASH 파티션은 DBMS 기본 규칙을 따름</a:t>
            </a:r>
          </a:p>
        </p:txBody>
      </p:sp>
      <p:sp>
        <p:nvSpPr>
          <p:cNvPr id="52" name="Oval 51"/>
          <p:cNvSpPr/>
          <p:nvPr/>
        </p:nvSpPr>
        <p:spPr>
          <a:xfrm>
            <a:off x="6662928" y="3200400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1528" y="3182113"/>
            <a:ext cx="913070" cy="16158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Description (1~6)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73240" y="3977639"/>
            <a:ext cx="2788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873240" y="3977639"/>
            <a:ext cx="502920" cy="228600"/>
          </a:xfrm>
          <a:prstGeom prst="rect">
            <a:avLst/>
          </a:prstGeom>
          <a:solidFill>
            <a:srgbClr val="1A374A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95178" y="4005073"/>
            <a:ext cx="259045" cy="13696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Noto Sans CJK KR"/>
              </a:defRPr>
            </a:pPr>
            <a:r>
              <a:rPr sz="650"/>
              <a:t>종류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76159" y="3977639"/>
            <a:ext cx="594360" cy="228600"/>
          </a:xfrm>
          <a:prstGeom prst="rect">
            <a:avLst/>
          </a:prstGeom>
          <a:solidFill>
            <a:srgbClr val="1A374A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43817" y="4005073"/>
            <a:ext cx="259045" cy="13696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Noto Sans CJK KR"/>
              </a:defRPr>
            </a:pPr>
            <a:r>
              <a:rPr sz="650"/>
              <a:t>용도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0520" y="3977639"/>
            <a:ext cx="960120" cy="228600"/>
          </a:xfrm>
          <a:prstGeom prst="rect">
            <a:avLst/>
          </a:prstGeom>
          <a:solidFill>
            <a:srgbClr val="1A374A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37701" y="4005073"/>
            <a:ext cx="425758" cy="13696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Noto Sans CJK KR"/>
              </a:defRPr>
            </a:pPr>
            <a:r>
              <a:rPr sz="650"/>
              <a:t>명명규칙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30640" y="3977639"/>
            <a:ext cx="685800" cy="228600"/>
          </a:xfrm>
          <a:prstGeom prst="rect">
            <a:avLst/>
          </a:prstGeom>
          <a:solidFill>
            <a:srgbClr val="1A374A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18" y="4005073"/>
            <a:ext cx="259045" cy="13696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Noto Sans CJK KR"/>
              </a:defRPr>
            </a:pPr>
            <a:r>
              <a:rPr sz="650"/>
              <a:t>예시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73240" y="4206240"/>
            <a:ext cx="5029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72735" y="4233672"/>
            <a:ext cx="303929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Range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76159" y="4206240"/>
            <a:ext cx="59436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53435" y="4233672"/>
            <a:ext cx="239809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연별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0520" y="4206240"/>
            <a:ext cx="9601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41709" y="4233672"/>
            <a:ext cx="417743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PT_RYYYY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30640" y="4206240"/>
            <a:ext cx="68580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064668" y="4233672"/>
            <a:ext cx="417742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PT_R2017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73240" y="4434840"/>
            <a:ext cx="5029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78501" y="4462272"/>
            <a:ext cx="92397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endParaRPr sz="580"/>
          </a:p>
        </p:txBody>
      </p:sp>
      <p:sp>
        <p:nvSpPr>
          <p:cNvPr id="73" name="Rectangle 72"/>
          <p:cNvSpPr/>
          <p:nvPr/>
        </p:nvSpPr>
        <p:spPr>
          <a:xfrm>
            <a:off x="7376159" y="4434840"/>
            <a:ext cx="59436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53435" y="4462272"/>
            <a:ext cx="239809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월별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70520" y="4434840"/>
            <a:ext cx="9601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172780" y="4462272"/>
            <a:ext cx="555600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PT_RYYYYMM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30640" y="4434840"/>
            <a:ext cx="68580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022990" y="4462272"/>
            <a:ext cx="501098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PT_R201701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73240" y="4663440"/>
            <a:ext cx="5029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078501" y="4690872"/>
            <a:ext cx="92397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endParaRPr sz="580"/>
          </a:p>
        </p:txBody>
      </p:sp>
      <p:sp>
        <p:nvSpPr>
          <p:cNvPr id="81" name="Rectangle 80"/>
          <p:cNvSpPr/>
          <p:nvPr/>
        </p:nvSpPr>
        <p:spPr>
          <a:xfrm>
            <a:off x="7376159" y="4663440"/>
            <a:ext cx="59436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553435" y="4690872"/>
            <a:ext cx="239809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일별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70520" y="4663440"/>
            <a:ext cx="9601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119880" y="4690872"/>
            <a:ext cx="661400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PT_RYYYYMMDD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30640" y="4663440"/>
            <a:ext cx="68580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981312" y="4690872"/>
            <a:ext cx="584454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PT_R20170101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73240" y="4892040"/>
            <a:ext cx="5029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023229" y="4919472"/>
            <a:ext cx="202940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List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76159" y="4892040"/>
            <a:ext cx="59436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571869" y="4919472"/>
            <a:ext cx="202941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List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70520" y="4892040"/>
            <a:ext cx="9601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115072" y="4919472"/>
            <a:ext cx="671017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PT_L"High Value"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30640" y="4892040"/>
            <a:ext cx="68580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069477" y="4919472"/>
            <a:ext cx="408125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PT_L1000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873240" y="5120640"/>
            <a:ext cx="5029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994375" y="5148072"/>
            <a:ext cx="260648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Hash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76159" y="5120640"/>
            <a:ext cx="59436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543015" y="5148072"/>
            <a:ext cx="260649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Hash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70520" y="5120640"/>
            <a:ext cx="96012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143926" y="5148072"/>
            <a:ext cx="613308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PT_H"일련번호"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30640" y="5120640"/>
            <a:ext cx="685800" cy="228600"/>
          </a:xfrm>
          <a:prstGeom prst="rect">
            <a:avLst/>
          </a:prstGeom>
          <a:solidFill>
            <a:srgbClr val="F7F7F7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80698" y="5148072"/>
            <a:ext cx="385682" cy="1261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580" b="0">
                <a:solidFill>
                  <a:srgbClr val="000000"/>
                </a:solidFill>
                <a:latin typeface="Noto Sans CJK KR"/>
              </a:defRPr>
            </a:pPr>
            <a:r>
              <a:rPr sz="580"/>
              <a:t>PT_H001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73240" y="5577840"/>
            <a:ext cx="202395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※ MAX 파티션의 경우 “PT_RMAX”로 사용</a:t>
            </a:r>
          </a:p>
        </p:txBody>
      </p:sp>
    </p:spTree>
    <p:extLst>
      <p:ext uri="{BB962C8B-B14F-4D97-AF65-F5344CB8AC3E}">
        <p14:creationId xmlns:p14="http://schemas.microsoft.com/office/powerpoint/2010/main" val="2653762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938719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인덱스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2834" y="237744"/>
            <a:ext cx="87940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3.6 데이터베이스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1" y="1243585"/>
            <a:ext cx="3234219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데이터베이스에서 사용하는 인덱스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- 35 -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인덱스 (Index)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82369" y="2395729"/>
            <a:ext cx="1369927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Primary Key 인덱스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7232" y="2798064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0696" y="2798064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1271" y="2825497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87040" y="2798064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7615" y="2825497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3385" y="2798064"/>
            <a:ext cx="1389887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테이블명(TB 제외)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2369" y="3273553"/>
            <a:ext cx="1360309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Foreign Key 인덱스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8401" y="3547873"/>
            <a:ext cx="2774157" cy="15234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FK는 사용하지 않음을 원칙으로 하나 필요시 다음과 같이 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37232" y="395935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0696" y="395935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1271" y="3986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87040" y="395935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7615" y="3986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3385" y="3959352"/>
            <a:ext cx="1389887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테이블명(TB 제외)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91" y="3986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90160" y="395935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73624" y="3959352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5108448" y="3639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82369" y="4407409"/>
            <a:ext cx="1424429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PK/FK 제외한 인덱스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37232" y="4800600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20696" y="4800600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71271" y="482803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7040" y="4800600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_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37615" y="482803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53385" y="4800600"/>
            <a:ext cx="1389887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테이블명(TB 제외)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91" y="482803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90160" y="4800600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0735" y="482803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56504" y="4800600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56504" y="5120640"/>
            <a:ext cx="21945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56504" y="5394959"/>
            <a:ext cx="21945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7079" y="482803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22848" y="4800600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6312" y="4800600"/>
            <a:ext cx="21945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49" name="Oval 48"/>
          <p:cNvSpPr/>
          <p:nvPr/>
        </p:nvSpPr>
        <p:spPr>
          <a:xfrm>
            <a:off x="5574792" y="448056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6324600" y="448056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64080" y="5559552"/>
            <a:ext cx="3703320" cy="603504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64080" y="5266945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73809" y="5632704"/>
            <a:ext cx="2347759" cy="79329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▶ 인덱스</a:t>
            </a:r>
            <a:br>
              <a:rPr sz="819"/>
            </a:br>
            <a:r>
              <a:rPr sz="819"/>
              <a:t>▪ Primary Key : PK_SB_SC_IM_EMP</a:t>
            </a:r>
            <a:br>
              <a:rPr sz="819"/>
            </a:br>
            <a:r>
              <a:rPr sz="819"/>
              <a:t>▪ Foreign Key : FK_SB_SC_IM_EMP01</a:t>
            </a:r>
            <a:br>
              <a:rPr sz="819"/>
            </a:br>
            <a:r>
              <a:rPr sz="819"/>
              <a:t>▪ Unique Index : IX_SB_SC_IM_EMP_U01</a:t>
            </a:r>
            <a:br>
              <a:rPr sz="819"/>
            </a:br>
            <a:r>
              <a:rPr sz="819"/>
              <a:t>▪ Normal Index : IX_SB_SC_IM_EMP_N01</a:t>
            </a:r>
            <a:br>
              <a:rPr sz="819"/>
            </a:br>
            <a:r>
              <a:rPr sz="819"/>
              <a:t>▪ Function Based Index : IX_SB_SC_IM_EMP_F01</a:t>
            </a:r>
          </a:p>
        </p:txBody>
      </p:sp>
      <p:sp>
        <p:nvSpPr>
          <p:cNvPr id="54" name="Oval 53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91528" y="2377441"/>
            <a:ext cx="1879682" cy="28905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FK 순번 (2)</a:t>
            </a:r>
            <a:br>
              <a:rPr sz="819"/>
            </a:br>
            <a:r>
              <a:rPr sz="819"/>
              <a:t>• 테이블단위로 FK순번을 별도로 부여</a:t>
            </a:r>
          </a:p>
        </p:txBody>
      </p:sp>
      <p:sp>
        <p:nvSpPr>
          <p:cNvPr id="56" name="Oval 55"/>
          <p:cNvSpPr/>
          <p:nvPr/>
        </p:nvSpPr>
        <p:spPr>
          <a:xfrm>
            <a:off x="6662928" y="3063240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91528" y="3044952"/>
            <a:ext cx="1730602" cy="54117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인덱스 유형 코드 (1)</a:t>
            </a:r>
            <a:br>
              <a:rPr sz="819"/>
            </a:br>
            <a:r>
              <a:rPr sz="819"/>
              <a:t>• U : Unique Index</a:t>
            </a:r>
            <a:br>
              <a:rPr sz="819"/>
            </a:br>
            <a:r>
              <a:rPr sz="819"/>
              <a:t>• N : Normal Index</a:t>
            </a:r>
            <a:br>
              <a:rPr sz="819"/>
            </a:br>
            <a:r>
              <a:rPr sz="819"/>
              <a:t>• F : Function Based Normal Index</a:t>
            </a:r>
          </a:p>
        </p:txBody>
      </p:sp>
      <p:sp>
        <p:nvSpPr>
          <p:cNvPr id="58" name="Oval 57"/>
          <p:cNvSpPr/>
          <p:nvPr/>
        </p:nvSpPr>
        <p:spPr>
          <a:xfrm>
            <a:off x="6662928" y="3730752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91529" y="3712465"/>
            <a:ext cx="2472793" cy="28905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인덱스 순번 (2)</a:t>
            </a:r>
            <a:br>
              <a:rPr sz="819"/>
            </a:br>
            <a:r>
              <a:rPr sz="819"/>
              <a:t>• 인덱스 유형에 관계없이 테이블단위로 순번 부여</a:t>
            </a:r>
          </a:p>
        </p:txBody>
      </p:sp>
      <p:sp>
        <p:nvSpPr>
          <p:cNvPr id="60" name="Oval 59"/>
          <p:cNvSpPr/>
          <p:nvPr/>
        </p:nvSpPr>
        <p:spPr>
          <a:xfrm>
            <a:off x="6662928" y="4398264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91528" y="4379977"/>
            <a:ext cx="2631490" cy="28905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파티션/서브파티션 인덱스</a:t>
            </a:r>
            <a:br>
              <a:rPr sz="819"/>
            </a:br>
            <a:r>
              <a:rPr sz="819"/>
              <a:t>테이블 파티션 정책을 준용, 필요 시 LOCAL 옵션 사용</a:t>
            </a:r>
          </a:p>
        </p:txBody>
      </p:sp>
    </p:spTree>
    <p:extLst>
      <p:ext uri="{BB962C8B-B14F-4D97-AF65-F5344CB8AC3E}">
        <p14:creationId xmlns:p14="http://schemas.microsoft.com/office/powerpoint/2010/main" val="1947247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374461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2834" y="237744"/>
            <a:ext cx="87940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3.6 데이터베이스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0" y="1243585"/>
            <a:ext cx="2926442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데이터베이스에서 사용하는 뷰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- 36 -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뷰 (View)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82368" y="2423161"/>
            <a:ext cx="666208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일반 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7232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120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8119" y="2880361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13888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887" y="2880361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3656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90543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4543" y="2880361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0312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4311" y="2880361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0080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96968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967" y="2880361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6736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735" y="2880361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6504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0503" y="2880361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6272" y="2852928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0271" y="2880361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6040" y="2852928"/>
            <a:ext cx="6217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정보내용</a:t>
            </a:r>
          </a:p>
        </p:txBody>
      </p:sp>
      <p:sp>
        <p:nvSpPr>
          <p:cNvPr id="35" name="Oval 34"/>
          <p:cNvSpPr/>
          <p:nvPr/>
        </p:nvSpPr>
        <p:spPr>
          <a:xfrm>
            <a:off x="3343655" y="2532888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4450080" y="2532888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5556504" y="2532888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38" name="Oval 37"/>
          <p:cNvSpPr/>
          <p:nvPr/>
        </p:nvSpPr>
        <p:spPr>
          <a:xfrm>
            <a:off x="6635496" y="2532888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82368" y="3730753"/>
            <a:ext cx="1820370" cy="18312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50" b="1">
                <a:solidFill>
                  <a:srgbClr val="000000"/>
                </a:solidFill>
                <a:latin typeface="Noto Sans CJK KR"/>
              </a:defRPr>
            </a:pPr>
            <a:r>
              <a:rPr sz="950"/>
              <a:t>▶ Materialized View (MView)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7232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84120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8119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13888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7887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43656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90543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4543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0312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4311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50080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96968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0967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6736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0735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56504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70503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6272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6272" y="4480559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6272" y="4754879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J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33160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J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3160" y="4480559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33160" y="4754879"/>
            <a:ext cx="182880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7159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62928" y="4160520"/>
            <a:ext cx="18288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_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76927" y="418795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92696" y="4160520"/>
            <a:ext cx="6217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정보내용</a:t>
            </a:r>
          </a:p>
        </p:txBody>
      </p:sp>
      <p:sp>
        <p:nvSpPr>
          <p:cNvPr id="67" name="Oval 66"/>
          <p:cNvSpPr/>
          <p:nvPr/>
        </p:nvSpPr>
        <p:spPr>
          <a:xfrm>
            <a:off x="3343655" y="384048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68" name="Oval 67"/>
          <p:cNvSpPr/>
          <p:nvPr/>
        </p:nvSpPr>
        <p:spPr>
          <a:xfrm>
            <a:off x="4450080" y="384048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69" name="Oval 68"/>
          <p:cNvSpPr/>
          <p:nvPr/>
        </p:nvSpPr>
        <p:spPr>
          <a:xfrm>
            <a:off x="5556504" y="384048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70" name="Oval 69"/>
          <p:cNvSpPr/>
          <p:nvPr/>
        </p:nvSpPr>
        <p:spPr>
          <a:xfrm>
            <a:off x="5986272" y="384048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71" name="Oval 70"/>
          <p:cNvSpPr/>
          <p:nvPr/>
        </p:nvSpPr>
        <p:spPr>
          <a:xfrm>
            <a:off x="7312152" y="384048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64080" y="5413248"/>
            <a:ext cx="3703320" cy="777240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164080" y="5120641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73808" y="5486400"/>
            <a:ext cx="2985754" cy="66723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▶ 일반 뷰</a:t>
            </a:r>
            <a:br>
              <a:rPr sz="819"/>
            </a:br>
            <a:r>
              <a:rPr sz="819"/>
              <a:t>▪ View_공통정보_직원기본 : VW_SB_CS_I_MEMP</a:t>
            </a:r>
            <a:br>
              <a:rPr sz="819"/>
            </a:br>
            <a:r>
              <a:rPr sz="819"/>
              <a:t/>
            </a:r>
            <a:br>
              <a:rPr sz="819"/>
            </a:br>
            <a:r>
              <a:rPr sz="819"/>
              <a:t>▶ Materialized View (MView)</a:t>
            </a:r>
            <a:br>
              <a:rPr sz="819"/>
            </a:br>
            <a:r>
              <a:rPr sz="819"/>
              <a:t>▪ 공통정보 영역의 단순 조인 MView : MV_SB_SC_ISJ_XXXXXX</a:t>
            </a:r>
          </a:p>
        </p:txBody>
      </p:sp>
      <p:sp>
        <p:nvSpPr>
          <p:cNvPr id="75" name="Oval 74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91528" y="2377440"/>
            <a:ext cx="1757854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대구분 (어플리케이션 그룹) 코드 (2)</a:t>
            </a:r>
            <a:br>
              <a:rPr sz="800"/>
            </a:br>
            <a:r>
              <a:rPr sz="800"/>
              <a:t>• ※ 어플리케이션 코드 정의서 참조</a:t>
            </a:r>
          </a:p>
        </p:txBody>
      </p:sp>
      <p:sp>
        <p:nvSpPr>
          <p:cNvPr id="77" name="Oval 76"/>
          <p:cNvSpPr/>
          <p:nvPr/>
        </p:nvSpPr>
        <p:spPr>
          <a:xfrm>
            <a:off x="6662928" y="299008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91529" y="2971800"/>
            <a:ext cx="1735411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업무구분 (어플리케이션) 코드 (2)</a:t>
            </a:r>
            <a:br>
              <a:rPr sz="800"/>
            </a:br>
            <a:r>
              <a:rPr sz="800"/>
              <a:t>• ※ 어플리케이션 코드 정의서 참조</a:t>
            </a:r>
          </a:p>
        </p:txBody>
      </p:sp>
      <p:sp>
        <p:nvSpPr>
          <p:cNvPr id="79" name="Oval 78"/>
          <p:cNvSpPr/>
          <p:nvPr/>
        </p:nvSpPr>
        <p:spPr>
          <a:xfrm>
            <a:off x="6662928" y="358444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91529" y="3566160"/>
            <a:ext cx="1735411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세부업무구분 (기능) 코드 (1)</a:t>
            </a:r>
            <a:br>
              <a:rPr sz="800"/>
            </a:br>
            <a:r>
              <a:rPr sz="800"/>
              <a:t>• ※ 어플리케이션 코드 정의서 참조</a:t>
            </a:r>
          </a:p>
        </p:txBody>
      </p:sp>
      <p:sp>
        <p:nvSpPr>
          <p:cNvPr id="81" name="Oval 80"/>
          <p:cNvSpPr/>
          <p:nvPr/>
        </p:nvSpPr>
        <p:spPr>
          <a:xfrm>
            <a:off x="6662928" y="4178807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91528" y="4160521"/>
            <a:ext cx="1502976" cy="406265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정보내용 (1~15)</a:t>
            </a:r>
            <a:br>
              <a:rPr sz="800"/>
            </a:br>
            <a:r>
              <a:rPr sz="800"/>
              <a:t>• 일반 뷰 정보내용 12~26자리</a:t>
            </a:r>
            <a:br>
              <a:rPr sz="800"/>
            </a:br>
            <a:r>
              <a:rPr sz="800"/>
              <a:t>• MView 정보내용 14~26자리</a:t>
            </a:r>
          </a:p>
        </p:txBody>
      </p:sp>
      <p:sp>
        <p:nvSpPr>
          <p:cNvPr id="83" name="Oval 82"/>
          <p:cNvSpPr/>
          <p:nvPr/>
        </p:nvSpPr>
        <p:spPr>
          <a:xfrm>
            <a:off x="6662928" y="477316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91529" y="4754880"/>
            <a:ext cx="2173031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MView 유형 코드 (2)</a:t>
            </a:r>
            <a:br>
              <a:rPr sz="800"/>
            </a:br>
            <a:r>
              <a:rPr sz="800"/>
              <a:t>• SA 단순 집계 / SJ 단순 조인 / JA 조인 집계</a:t>
            </a:r>
          </a:p>
        </p:txBody>
      </p:sp>
    </p:spTree>
    <p:extLst>
      <p:ext uri="{BB962C8B-B14F-4D97-AF65-F5344CB8AC3E}">
        <p14:creationId xmlns:p14="http://schemas.microsoft.com/office/powerpoint/2010/main" val="19014549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938719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시퀀스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2834" y="237744"/>
            <a:ext cx="87940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3.6 데이터베이스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1" y="1243585"/>
            <a:ext cx="3234219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데이터베이스에서 사용하는 시퀀스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- 37 -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시퀀스 (Sequence)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37232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2408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695" y="35478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0464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751" y="35478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8520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63696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983" y="35478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1752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4039" y="35478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9808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24984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7271" y="35478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73040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5327" y="35478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21096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3383" y="35478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9152" y="3520440"/>
            <a:ext cx="201168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1439" y="354787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17208" y="3520440"/>
            <a:ext cx="6217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80" b="0">
                <a:solidFill>
                  <a:srgbClr val="000000"/>
                </a:solidFill>
                <a:latin typeface="Noto Sans CJK KR"/>
              </a:defRPr>
            </a:pPr>
            <a:r>
              <a:rPr sz="880"/>
              <a:t>정보내용</a:t>
            </a:r>
          </a:p>
        </p:txBody>
      </p:sp>
      <p:sp>
        <p:nvSpPr>
          <p:cNvPr id="34" name="Oval 33"/>
          <p:cNvSpPr/>
          <p:nvPr/>
        </p:nvSpPr>
        <p:spPr>
          <a:xfrm>
            <a:off x="3407664" y="32004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4568952" y="32004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5730240" y="32004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37" name="Oval 36"/>
          <p:cNvSpPr/>
          <p:nvPr/>
        </p:nvSpPr>
        <p:spPr>
          <a:xfrm>
            <a:off x="6836664" y="320040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4080" y="5212080"/>
            <a:ext cx="3703320" cy="530352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64080" y="4919473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73809" y="5285233"/>
            <a:ext cx="2121735" cy="289053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▶ 시퀀스</a:t>
            </a:r>
            <a:br>
              <a:rPr sz="819"/>
            </a:br>
            <a:r>
              <a:rPr sz="819"/>
              <a:t>▪ 고객기본순번: SQ_RD_CO_AM_CUS_BASE</a:t>
            </a:r>
          </a:p>
        </p:txBody>
      </p:sp>
      <p:sp>
        <p:nvSpPr>
          <p:cNvPr id="41" name="Oval 40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1528" y="2377440"/>
            <a:ext cx="180273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대구분 (어플리케이션 그룹)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43" name="Oval 42"/>
          <p:cNvSpPr/>
          <p:nvPr/>
        </p:nvSpPr>
        <p:spPr>
          <a:xfrm>
            <a:off x="6662928" y="2953512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1528" y="2935224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업무구분 (어플리케이션) 코드 (2)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45" name="Oval 44"/>
          <p:cNvSpPr/>
          <p:nvPr/>
        </p:nvSpPr>
        <p:spPr>
          <a:xfrm>
            <a:off x="6662928" y="351129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1528" y="3493008"/>
            <a:ext cx="1781898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세부업무구분 (기능) 코드 (1)</a:t>
            </a:r>
            <a:br>
              <a:rPr sz="830"/>
            </a:br>
            <a:r>
              <a:rPr sz="830"/>
              <a:t>• ※ 어플리케이션 코드 정의서 참조</a:t>
            </a:r>
          </a:p>
        </p:txBody>
      </p:sp>
      <p:sp>
        <p:nvSpPr>
          <p:cNvPr id="47" name="Oval 46"/>
          <p:cNvSpPr/>
          <p:nvPr/>
        </p:nvSpPr>
        <p:spPr>
          <a:xfrm>
            <a:off x="6662928" y="4069079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1529" y="4050791"/>
            <a:ext cx="1222451" cy="292388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정보내용 (1~15)</a:t>
            </a:r>
            <a:br>
              <a:rPr sz="830"/>
            </a:br>
            <a:r>
              <a:rPr sz="830"/>
              <a:t>• 정보 내용(12~26자리)</a:t>
            </a:r>
          </a:p>
        </p:txBody>
      </p:sp>
    </p:spTree>
    <p:extLst>
      <p:ext uri="{BB962C8B-B14F-4D97-AF65-F5344CB8AC3E}">
        <p14:creationId xmlns:p14="http://schemas.microsoft.com/office/powerpoint/2010/main" val="2464170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1" y="457201"/>
            <a:ext cx="938719" cy="375487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동의어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22834" y="237744"/>
            <a:ext cx="879407" cy="28315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3. 명명규칙 정의</a:t>
            </a:r>
            <a:br>
              <a:rPr sz="800"/>
            </a:br>
            <a:r>
              <a:rPr sz="800"/>
              <a:t>3.6 데이터베이스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51560"/>
            <a:ext cx="1645920" cy="0"/>
          </a:xfrm>
          <a:prstGeom prst="line">
            <a:avLst/>
          </a:prstGeom>
          <a:ln w="6350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44240" y="1051560"/>
            <a:ext cx="365760" cy="0"/>
          </a:xfrm>
          <a:prstGeom prst="line">
            <a:avLst/>
          </a:prstGeom>
          <a:ln w="63500">
            <a:solidFill>
              <a:srgbClr val="82BE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0" y="1051560"/>
            <a:ext cx="6446520" cy="0"/>
          </a:xfrm>
          <a:prstGeom prst="line">
            <a:avLst/>
          </a:prstGeom>
          <a:ln w="63500">
            <a:solidFill>
              <a:srgbClr val="1B6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72641" y="1243585"/>
            <a:ext cx="3234219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데이터베이스에서 사용하는 동의어 명명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2614" y="6519672"/>
            <a:ext cx="361637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- 38 -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6920" y="6483097"/>
            <a:ext cx="733534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1B6F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9238" y="6483096"/>
            <a:ext cx="663002" cy="16004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r">
              <a:defRPr sz="800" b="1">
                <a:solidFill>
                  <a:srgbClr val="AA2D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080" y="1901952"/>
            <a:ext cx="3657600" cy="292608"/>
          </a:xfrm>
          <a:prstGeom prst="rect">
            <a:avLst/>
          </a:prstGeom>
          <a:solidFill>
            <a:srgbClr val="1A374A"/>
          </a:solidFill>
          <a:ln w="9525">
            <a:solidFill>
              <a:srgbClr val="1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동의어 (Synonym)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920" y="1901952"/>
            <a:ext cx="3383280" cy="292608"/>
          </a:xfrm>
          <a:prstGeom prst="rect">
            <a:avLst/>
          </a:prstGeom>
          <a:solidFill>
            <a:srgbClr val="1B6F3A"/>
          </a:solidFill>
          <a:ln w="9525">
            <a:solidFill>
              <a:srgbClr val="1B6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항목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2331720"/>
            <a:ext cx="3429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82369" y="2359153"/>
            <a:ext cx="3508333" cy="172355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80" b="1">
                <a:solidFill>
                  <a:srgbClr val="000000"/>
                </a:solidFill>
                <a:latin typeface="Noto Sans CJK KR"/>
              </a:defRPr>
            </a:pPr>
            <a:r>
              <a:rPr sz="880"/>
              <a:t>▶ 일반 테이블 (엔티티 분류어)  ※ 테이블명 규칙과 동일 하게 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7232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47544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967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0736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8159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3928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44240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663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37432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4855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0624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0936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8359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34128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1551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27320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4743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0512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0512" y="3136392"/>
            <a:ext cx="17373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0512" y="3410712"/>
            <a:ext cx="17373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0512" y="3685032"/>
            <a:ext cx="17373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0512" y="3959352"/>
            <a:ext cx="17373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0512" y="4233672"/>
            <a:ext cx="173736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7935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13704" y="2816352"/>
            <a:ext cx="173736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1127" y="2843785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6" y="2816352"/>
            <a:ext cx="6217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정보내용</a:t>
            </a:r>
          </a:p>
        </p:txBody>
      </p:sp>
      <p:sp>
        <p:nvSpPr>
          <p:cNvPr id="42" name="Oval 41"/>
          <p:cNvSpPr/>
          <p:nvPr/>
        </p:nvSpPr>
        <p:spPr>
          <a:xfrm>
            <a:off x="3229355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4226052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5222748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5615940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46" name="Oval 45"/>
          <p:cNvSpPr/>
          <p:nvPr/>
        </p:nvSpPr>
        <p:spPr>
          <a:xfrm>
            <a:off x="6626352" y="2496312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82369" y="3840480"/>
            <a:ext cx="1047723" cy="178382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919" b="1">
                <a:solidFill>
                  <a:srgbClr val="000000"/>
                </a:solidFill>
                <a:latin typeface="Noto Sans CJK KR"/>
              </a:defRPr>
            </a:pPr>
            <a:r>
              <a:rPr sz="919"/>
              <a:t>▶ 일반 테이블 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37232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32913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28595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_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24276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9958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15639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_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11321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07003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02684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_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98366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94048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729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_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85411" y="4251960"/>
            <a:ext cx="731520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정보</a:t>
            </a:r>
            <a:br>
              <a:rPr sz="800"/>
            </a:br>
            <a:r>
              <a:rPr sz="800"/>
              <a:t>내용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15131" y="427939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0900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_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3693" y="427939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09462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2255" y="427939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88024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_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50816" y="4279393"/>
            <a:ext cx="202941" cy="221599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+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66585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2267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62267" y="4572000"/>
            <a:ext cx="164592" cy="25603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57948" y="4251960"/>
            <a:ext cx="164592" cy="301752"/>
          </a:xfrm>
          <a:prstGeom prst="rect">
            <a:avLst/>
          </a:prstGeom>
          <a:solidFill>
            <a:srgbClr val="DCE1E1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</a:t>
            </a:r>
          </a:p>
        </p:txBody>
      </p:sp>
      <p:sp>
        <p:nvSpPr>
          <p:cNvPr id="72" name="Oval 71"/>
          <p:cNvSpPr/>
          <p:nvPr/>
        </p:nvSpPr>
        <p:spPr>
          <a:xfrm>
            <a:off x="2815132" y="3931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73" name="Oval 72"/>
          <p:cNvSpPr/>
          <p:nvPr/>
        </p:nvSpPr>
        <p:spPr>
          <a:xfrm>
            <a:off x="3402177" y="3931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74" name="Oval 73"/>
          <p:cNvSpPr/>
          <p:nvPr/>
        </p:nvSpPr>
        <p:spPr>
          <a:xfrm>
            <a:off x="3989222" y="3931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75" name="Oval 74"/>
          <p:cNvSpPr/>
          <p:nvPr/>
        </p:nvSpPr>
        <p:spPr>
          <a:xfrm>
            <a:off x="4184903" y="3931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76" name="Oval 75"/>
          <p:cNvSpPr/>
          <p:nvPr/>
        </p:nvSpPr>
        <p:spPr>
          <a:xfrm>
            <a:off x="4859731" y="3931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77" name="Oval 76"/>
          <p:cNvSpPr/>
          <p:nvPr/>
        </p:nvSpPr>
        <p:spPr>
          <a:xfrm>
            <a:off x="6853123" y="3931920"/>
            <a:ext cx="182880" cy="182880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64080" y="5230368"/>
            <a:ext cx="3703320" cy="960120"/>
          </a:xfrm>
          <a:prstGeom prst="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164080" y="4937760"/>
            <a:ext cx="823302" cy="190821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■ 작성 예시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73809" y="5303520"/>
            <a:ext cx="3131627" cy="1045414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▶ 일반 테이블</a:t>
            </a:r>
            <a:br>
              <a:rPr sz="819"/>
            </a:br>
            <a:r>
              <a:rPr sz="819"/>
              <a:t>▪ 고객_고객기본: TB_RD_CO_AM_CUS_BASE</a:t>
            </a:r>
            <a:br>
              <a:rPr sz="819"/>
            </a:br>
            <a:r>
              <a:rPr sz="819"/>
              <a:t/>
            </a:r>
            <a:br>
              <a:rPr sz="819"/>
            </a:br>
            <a:r>
              <a:rPr sz="819"/>
              <a:t>▶ 일반 테이블 외</a:t>
            </a:r>
            <a:br>
              <a:rPr sz="819"/>
            </a:br>
            <a:r>
              <a:rPr sz="819"/>
              <a:t>▪ 고객_고객기본일별: TB_RD_CO_AM_CUS_BASE_D</a:t>
            </a:r>
            <a:br>
              <a:rPr sz="819"/>
            </a:br>
            <a:r>
              <a:rPr sz="819"/>
              <a:t>▪ 고객_고객기본복사본: TB_RD_CO_AM_CUS_BASE_T</a:t>
            </a:r>
            <a:br>
              <a:rPr sz="819"/>
            </a:br>
            <a:r>
              <a:rPr sz="819"/>
              <a:t>▪ 고객_고객기본일별복사본: TB_RD_CO_AM_CUS_BASE_D_T</a:t>
            </a:r>
            <a:br>
              <a:rPr sz="819"/>
            </a:br>
            <a:r>
              <a:rPr sz="819"/>
              <a:t>▪ 고객_고객기본일별작업용01: TB_RD_CO_AM_CUS_BASE_D_K01</a:t>
            </a:r>
          </a:p>
        </p:txBody>
      </p:sp>
      <p:sp>
        <p:nvSpPr>
          <p:cNvPr id="81" name="Oval 80"/>
          <p:cNvSpPr/>
          <p:nvPr/>
        </p:nvSpPr>
        <p:spPr>
          <a:xfrm>
            <a:off x="6662928" y="2395728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91529" y="2377440"/>
            <a:ext cx="1645643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대구분 (어플리케이션 그룹) 코드 (2)</a:t>
            </a:r>
            <a:br>
              <a:rPr sz="750"/>
            </a:br>
            <a:r>
              <a:rPr sz="750"/>
              <a:t>• ※ 어플리케이션 코드 정의서 참조</a:t>
            </a:r>
          </a:p>
        </p:txBody>
      </p:sp>
      <p:sp>
        <p:nvSpPr>
          <p:cNvPr id="83" name="Oval 82"/>
          <p:cNvSpPr/>
          <p:nvPr/>
        </p:nvSpPr>
        <p:spPr>
          <a:xfrm>
            <a:off x="6662928" y="2862072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91528" y="2843784"/>
            <a:ext cx="1628010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업무구분 (어플리케이션) 코드 (2)</a:t>
            </a:r>
            <a:br>
              <a:rPr sz="750"/>
            </a:br>
            <a:r>
              <a:rPr sz="750"/>
              <a:t>• ※ 어플리케이션 코드 정의서 참조</a:t>
            </a:r>
          </a:p>
        </p:txBody>
      </p:sp>
      <p:sp>
        <p:nvSpPr>
          <p:cNvPr id="85" name="Oval 84"/>
          <p:cNvSpPr/>
          <p:nvPr/>
        </p:nvSpPr>
        <p:spPr>
          <a:xfrm>
            <a:off x="6662928" y="3328416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91528" y="3310128"/>
            <a:ext cx="1628010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세부업무구분 (기능) 코드 (1)</a:t>
            </a:r>
            <a:br>
              <a:rPr sz="750"/>
            </a:br>
            <a:r>
              <a:rPr sz="750"/>
              <a:t>• ※ 어플리케이션 코드 정의서 참조</a:t>
            </a:r>
          </a:p>
        </p:txBody>
      </p:sp>
      <p:sp>
        <p:nvSpPr>
          <p:cNvPr id="87" name="Oval 86"/>
          <p:cNvSpPr/>
          <p:nvPr/>
        </p:nvSpPr>
        <p:spPr>
          <a:xfrm>
            <a:off x="6662928" y="3794759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91529" y="3776472"/>
            <a:ext cx="2160207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테이블 유형 (1)</a:t>
            </a:r>
            <a:br>
              <a:rPr sz="750"/>
            </a:br>
            <a:r>
              <a:rPr sz="750"/>
              <a:t>• M 기준, D 상세, H 내역, I 이력, C 코드, S 집계</a:t>
            </a:r>
          </a:p>
        </p:txBody>
      </p:sp>
      <p:sp>
        <p:nvSpPr>
          <p:cNvPr id="89" name="Oval 88"/>
          <p:cNvSpPr/>
          <p:nvPr/>
        </p:nvSpPr>
        <p:spPr>
          <a:xfrm>
            <a:off x="6662928" y="4261103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91528" y="4242816"/>
            <a:ext cx="906658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정보내용 (1~30)</a:t>
            </a:r>
            <a:br>
              <a:rPr sz="750"/>
            </a:br>
            <a:r>
              <a:rPr sz="750"/>
              <a:t>• 테이블 실제 이름</a:t>
            </a:r>
          </a:p>
        </p:txBody>
      </p:sp>
      <p:sp>
        <p:nvSpPr>
          <p:cNvPr id="91" name="Oval 90"/>
          <p:cNvSpPr/>
          <p:nvPr/>
        </p:nvSpPr>
        <p:spPr>
          <a:xfrm>
            <a:off x="6662928" y="4727447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91529" y="4709159"/>
            <a:ext cx="1453283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테이블 주기 유형 (1) (생략가능)</a:t>
            </a:r>
            <a:br>
              <a:rPr sz="750"/>
            </a:br>
            <a:r>
              <a:rPr sz="750"/>
              <a:t>• D/W/M/Q/H/Y/B</a:t>
            </a:r>
          </a:p>
        </p:txBody>
      </p:sp>
      <p:sp>
        <p:nvSpPr>
          <p:cNvPr id="93" name="Oval 92"/>
          <p:cNvSpPr/>
          <p:nvPr/>
        </p:nvSpPr>
        <p:spPr>
          <a:xfrm>
            <a:off x="6662928" y="5193791"/>
            <a:ext cx="164592" cy="164592"/>
          </a:xfrm>
          <a:prstGeom prst="ellipse">
            <a:avLst/>
          </a:prstGeom>
          <a:solidFill>
            <a:srgbClr val="E0E59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latin typeface="Noto Sans CJK KR"/>
              </a:defRPr>
            </a:pPr>
            <a:r>
              <a:rPr sz="900"/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91529" y="5175503"/>
            <a:ext cx="1674497" cy="267766"/>
          </a:xfrm>
          <a:prstGeom prst="rect">
            <a:avLst/>
          </a:prstGeom>
          <a:noFill/>
          <a:ln>
            <a:noFill/>
          </a:ln>
        </p:spPr>
        <p:txBody>
          <a:bodyPr wrap="none" lIns="45720" tIns="18288" rIns="45720" bIns="18288" anchor="t">
            <a:spAutoFit/>
          </a:bodyPr>
          <a:lstStyle/>
          <a:p>
            <a:pPr algn="l">
              <a:defRPr sz="750" b="0">
                <a:solidFill>
                  <a:srgbClr val="000000"/>
                </a:solidFill>
                <a:latin typeface="Noto Sans CJK KR"/>
              </a:defRPr>
            </a:pPr>
            <a:r>
              <a:rPr sz="750"/>
              <a:t>복사본/작업용 유형 (1~3) (생략가능)</a:t>
            </a:r>
            <a:br>
              <a:rPr sz="750"/>
            </a:br>
            <a:r>
              <a:rPr sz="750"/>
              <a:t>• T 복사본, K 작업용</a:t>
            </a:r>
          </a:p>
        </p:txBody>
      </p:sp>
    </p:spTree>
    <p:extLst>
      <p:ext uri="{BB962C8B-B14F-4D97-AF65-F5344CB8AC3E}">
        <p14:creationId xmlns:p14="http://schemas.microsoft.com/office/powerpoint/2010/main" val="3246715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패키지/프로시저/함수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3. 명명규칙 정의</a:t>
            </a:r>
            <a:br>
              <a:rPr sz="1100"/>
            </a:br>
            <a:r>
              <a:rPr sz="1100"/>
              <a:t>3.6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09800" y="1229978"/>
            <a:ext cx="7680960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  <a:latin typeface="Malgun Gothic"/>
              </a:defRPr>
            </a:pPr>
            <a:r>
              <a:rPr sz="1600"/>
              <a:t>데이터베이스에서 사용하는 패키지/프로시저/함수 명명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- 39 -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1240" y="1847088"/>
            <a:ext cx="4069080" cy="329184"/>
          </a:xfrm>
          <a:prstGeom prst="rect">
            <a:avLst/>
          </a:prstGeom>
          <a:solidFill>
            <a:srgbClr val="1F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패키지/프로시저/함수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3200" y="1847088"/>
            <a:ext cx="3611880" cy="329184"/>
          </a:xfrm>
          <a:prstGeom prst="rect">
            <a:avLst/>
          </a:prstGeom>
          <a:solidFill>
            <a:srgbClr val="1D6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항목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984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330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76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023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3696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4716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062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08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55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1016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6448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4794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140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487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8336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180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5264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872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219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15656" y="3246120"/>
            <a:ext cx="9601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정보내용</a:t>
            </a:r>
          </a:p>
        </p:txBody>
      </p:sp>
      <p:sp>
        <p:nvSpPr>
          <p:cNvPr id="32" name="Oval 31"/>
          <p:cNvSpPr/>
          <p:nvPr/>
        </p:nvSpPr>
        <p:spPr>
          <a:xfrm>
            <a:off x="3005328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4102608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5199888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3</a:t>
            </a:r>
          </a:p>
        </p:txBody>
      </p:sp>
      <p:sp>
        <p:nvSpPr>
          <p:cNvPr id="35" name="Oval 34"/>
          <p:cNvSpPr/>
          <p:nvPr/>
        </p:nvSpPr>
        <p:spPr>
          <a:xfrm>
            <a:off x="6324600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4</a:t>
            </a:r>
          </a:p>
        </p:txBody>
      </p:sp>
      <p:sp>
        <p:nvSpPr>
          <p:cNvPr id="36" name="Oval 35"/>
          <p:cNvSpPr/>
          <p:nvPr/>
        </p:nvSpPr>
        <p:spPr>
          <a:xfrm>
            <a:off x="7275576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8400" y="4888358"/>
            <a:ext cx="914400" cy="4462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Malgun Gothic"/>
              </a:defRPr>
            </a:pPr>
            <a:r>
              <a:rPr sz="1300"/>
              <a:t>■ 작성 예시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2680" y="5074920"/>
            <a:ext cx="420624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75560" y="5230368"/>
            <a:ext cx="3840480" cy="6001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▶ 프로시저 명</a:t>
            </a:r>
          </a:p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• 데이터분석플랫폼_RDW 공통 업무 : SP_RD_CO_A_ACCD01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98920" y="2194560"/>
            <a:ext cx="352044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t"/>
          <a:lstStyle/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① 오브젝트(Object) 코드 (2)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PG : Package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SP : Stored Procedure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SF : Stored Function</a:t>
            </a:r>
          </a:p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② 대구분 (어플리케이션 그룹) 코드 (2)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※ 어플리케이션 코드 정의서 참조</a:t>
            </a:r>
          </a:p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③ 업무구분 (어플리케이션) 코드 (2)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※ 어플리케이션 코드 정의서 참조</a:t>
            </a:r>
          </a:p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④ 세부업무구분 (기능) 코드 (1)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※ 어플리케이션 코드 정의서 참조</a:t>
            </a:r>
          </a:p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⑤ 정보내용 (1~15)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12~26자리 사용</a:t>
            </a:r>
          </a:p>
        </p:txBody>
      </p:sp>
    </p:spTree>
    <p:extLst>
      <p:ext uri="{BB962C8B-B14F-4D97-AF65-F5344CB8AC3E}">
        <p14:creationId xmlns:p14="http://schemas.microsoft.com/office/powerpoint/2010/main" val="576072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트리거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3. 명명규칙 정의</a:t>
            </a:r>
            <a:br>
              <a:rPr sz="1100"/>
            </a:br>
            <a:r>
              <a:rPr sz="1100"/>
              <a:t>3.6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09800" y="1229978"/>
            <a:ext cx="7680960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  <a:latin typeface="Malgun Gothic"/>
              </a:defRPr>
            </a:pPr>
            <a:r>
              <a:rPr sz="1600"/>
              <a:t>데이터베이스에서 사용하는 트리거 명명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- 40 -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1240" y="1847088"/>
            <a:ext cx="4069080" cy="329184"/>
          </a:xfrm>
          <a:prstGeom prst="rect">
            <a:avLst/>
          </a:prstGeom>
          <a:solidFill>
            <a:srgbClr val="1F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트리거 (Trigger)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3200" y="1847088"/>
            <a:ext cx="3611880" cy="329184"/>
          </a:xfrm>
          <a:prstGeom prst="rect">
            <a:avLst/>
          </a:prstGeom>
          <a:solidFill>
            <a:srgbClr val="1D6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항목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412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758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104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451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7976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0144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4904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8368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183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5296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760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02224" y="3246120"/>
            <a:ext cx="11887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Description</a:t>
            </a:r>
          </a:p>
        </p:txBody>
      </p:sp>
      <p:sp>
        <p:nvSpPr>
          <p:cNvPr id="24" name="Oval 23"/>
          <p:cNvSpPr/>
          <p:nvPr/>
        </p:nvSpPr>
        <p:spPr>
          <a:xfrm>
            <a:off x="4221480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4770120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6836664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7200" y="3502152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200" y="376732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0" y="4032504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7200" y="429768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5840" y="3502152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15840" y="376732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400" y="4888358"/>
            <a:ext cx="914400" cy="4462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Malgun Gothic"/>
              </a:defRPr>
            </a:pPr>
            <a:r>
              <a:rPr sz="1300"/>
              <a:t>■ 작성 예시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2680" y="5074920"/>
            <a:ext cx="420624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5560" y="5230368"/>
            <a:ext cx="3840480" cy="6001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▶ 트리거</a:t>
            </a:r>
          </a:p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• TG_IA_SB_SC_IM_EMP : 공통정보_직원기본 테이블 Insert/After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8920" y="2194560"/>
            <a:ext cx="35204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t"/>
          <a:lstStyle/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① Action 구분 코드 (1)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I : Insert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D : Delete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U : Update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C : Insert, Delete, Update를 병용</a:t>
            </a:r>
          </a:p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② 시점구분 코드 (1)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B : Before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A : After</a:t>
            </a:r>
          </a:p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③ Description (1~)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특정 테이블에만 적용되는 경우 “TB_”를 제외한 테이블명으로 기술</a:t>
            </a:r>
          </a:p>
        </p:txBody>
      </p:sp>
    </p:spTree>
    <p:extLst>
      <p:ext uri="{BB962C8B-B14F-4D97-AF65-F5344CB8AC3E}">
        <p14:creationId xmlns:p14="http://schemas.microsoft.com/office/powerpoint/2010/main" val="41094208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DB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3. 명명규칙 정의</a:t>
            </a:r>
            <a:br>
              <a:rPr sz="1100"/>
            </a:br>
            <a:r>
              <a:rPr sz="1100"/>
              <a:t>3.6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09800" y="1229978"/>
            <a:ext cx="7680960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  <a:latin typeface="Malgun Gothic"/>
              </a:defRPr>
            </a:pPr>
            <a:r>
              <a:rPr sz="1600"/>
              <a:t>데이터베이스에서 사용하는 DB Link 명명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- 41 -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1240" y="1847088"/>
            <a:ext cx="4069080" cy="329184"/>
          </a:xfrm>
          <a:prstGeom prst="rect">
            <a:avLst/>
          </a:prstGeom>
          <a:solidFill>
            <a:srgbClr val="1F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DB Link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3200" y="1847088"/>
            <a:ext cx="3611880" cy="329184"/>
          </a:xfrm>
          <a:prstGeom prst="rect">
            <a:avLst/>
          </a:prstGeom>
          <a:solidFill>
            <a:srgbClr val="1D6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항목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412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758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1048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451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7976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1440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490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8368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1832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5296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1876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2224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568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915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52616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3608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954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3008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O</a:t>
            </a:r>
          </a:p>
        </p:txBody>
      </p:sp>
      <p:sp>
        <p:nvSpPr>
          <p:cNvPr id="30" name="Oval 29"/>
          <p:cNvSpPr/>
          <p:nvPr/>
        </p:nvSpPr>
        <p:spPr>
          <a:xfrm>
            <a:off x="5062728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1</a:t>
            </a:r>
          </a:p>
        </p:txBody>
      </p:sp>
      <p:sp>
        <p:nvSpPr>
          <p:cNvPr id="31" name="Oval 30"/>
          <p:cNvSpPr/>
          <p:nvPr/>
        </p:nvSpPr>
        <p:spPr>
          <a:xfrm>
            <a:off x="7165848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4120" y="3716701"/>
            <a:ext cx="384048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※ DB Link는 데이터 마이그레이션 등 제한된 범위에 한시적으로 사용한다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400" y="4888358"/>
            <a:ext cx="914400" cy="4462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Malgun Gothic"/>
              </a:defRPr>
            </a:pPr>
            <a:r>
              <a:rPr sz="1300"/>
              <a:t>■ 작성 예시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2680" y="5074920"/>
            <a:ext cx="420624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5560" y="5230368"/>
            <a:ext cx="3840480" cy="6001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▶ DB Link</a:t>
            </a:r>
          </a:p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• 데이터플랫폼_ADW 공통업무 개발환경 : DBL_SBADT_ADCO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8920" y="2194560"/>
            <a:ext cx="35204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t"/>
          <a:lstStyle/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① Target 데이터베이스명 (5)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원격지 (Remote) 데이터베이스명</a:t>
            </a:r>
          </a:p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② Target 업무코드 (4)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DB Link를 통해서 접근하는 업무의 업무코드 (대구분+업무구분)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※ 어플리케이션 코드 정의서 참조</a:t>
            </a:r>
          </a:p>
        </p:txBody>
      </p:sp>
    </p:spTree>
    <p:extLst>
      <p:ext uri="{BB962C8B-B14F-4D97-AF65-F5344CB8AC3E}">
        <p14:creationId xmlns:p14="http://schemas.microsoft.com/office/powerpoint/2010/main" val="1254195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제약조건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3. 명명규칙 정의</a:t>
            </a:r>
            <a:br>
              <a:rPr sz="1100"/>
            </a:br>
            <a:r>
              <a:rPr sz="1100"/>
              <a:t>3.6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09800" y="1229978"/>
            <a:ext cx="7680960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  <a:latin typeface="Malgun Gothic"/>
              </a:defRPr>
            </a:pPr>
            <a:r>
              <a:rPr sz="1600"/>
              <a:t>데이터베이스에서 사용하는 제약조건 명명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- 42 -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1240" y="1847088"/>
            <a:ext cx="4069080" cy="329184"/>
          </a:xfrm>
          <a:prstGeom prst="rect">
            <a:avLst/>
          </a:prstGeom>
          <a:solidFill>
            <a:srgbClr val="1F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제약조건 (Constraint)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3200" y="1847088"/>
            <a:ext cx="3611880" cy="329184"/>
          </a:xfrm>
          <a:prstGeom prst="rect">
            <a:avLst/>
          </a:prstGeom>
          <a:solidFill>
            <a:srgbClr val="1D6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항목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2400635"/>
            <a:ext cx="2011680" cy="2462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Malgun Gothic"/>
              </a:defRPr>
            </a:pPr>
            <a:r>
              <a:rPr sz="1300"/>
              <a:t>▶ Primary Key 제약조건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8400" y="2761488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1864" y="2761488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328" y="2783232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8792" y="2783232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2256" y="2783232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5720" y="2761488"/>
            <a:ext cx="2148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테이블명(TB_제외)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8400" y="3251027"/>
            <a:ext cx="2011680" cy="2462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Malgun Gothic"/>
              </a:defRPr>
            </a:pPr>
            <a:r>
              <a:rPr sz="1300"/>
              <a:t>▶ Foreign Key 제약조건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38400" y="361188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1864" y="361188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5328" y="363362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8792" y="363362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2256" y="363362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55720" y="3611880"/>
            <a:ext cx="2148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테이블명(TB_제외)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1992" y="363362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15456" y="361188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98920" y="361188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5501640" y="337413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8400" y="4888358"/>
            <a:ext cx="914400" cy="4462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Malgun Gothic"/>
              </a:defRPr>
            </a:pPr>
            <a:r>
              <a:rPr sz="1300"/>
              <a:t>■ 작성 예시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2680" y="5074920"/>
            <a:ext cx="420624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75560" y="5230368"/>
            <a:ext cx="3840480" cy="6001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▶ 제약조건</a:t>
            </a:r>
          </a:p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• Primary Key 제약조건 : PK_SB_SC_IM_EMP</a:t>
            </a:r>
          </a:p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• Foreign Key 제약조건 : FK_SB_SC_IM_EMP01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98920" y="2194560"/>
            <a:ext cx="35204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t"/>
          <a:lstStyle/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① FK 순번 (2)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테이블단위로 FK순번을 별도로 부여</a:t>
            </a:r>
          </a:p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※ Primary Key, Foreign Key는 인덱스의 명명 규칙을 따른다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그 외 Default, Not Null 등의 제약조건은 명칭을 부여하지 않는다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Foreign Key는 사용하지 않음을 원칙으로 한다.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단, 패키지 솔루션 등 부득이한 경우 제한적으로 사용할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290248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3. 명명규칙 정의</a:t>
            </a:r>
            <a:br>
              <a:rPr sz="1100"/>
            </a:br>
            <a:r>
              <a:rPr sz="1100"/>
              <a:t>3.6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09800" y="1229978"/>
            <a:ext cx="7680960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  <a:latin typeface="Malgun Gothic"/>
              </a:defRPr>
            </a:pPr>
            <a:r>
              <a:rPr sz="1600"/>
              <a:t>데이터베이스에서 사용하는 롤 명명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- 43 -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1240" y="1847088"/>
            <a:ext cx="4069080" cy="329184"/>
          </a:xfrm>
          <a:prstGeom prst="rect">
            <a:avLst/>
          </a:prstGeom>
          <a:solidFill>
            <a:srgbClr val="1F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롤 (Role)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3200" y="1847088"/>
            <a:ext cx="3611880" cy="329184"/>
          </a:xfrm>
          <a:prstGeom prst="rect">
            <a:avLst/>
          </a:prstGeom>
          <a:solidFill>
            <a:srgbClr val="1D6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항목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412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758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104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451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7976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0144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490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836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1832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5296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760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2224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568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9152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52616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3608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3529584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6432" y="3529584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22464" y="3529584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L</a:t>
            </a:r>
          </a:p>
        </p:txBody>
      </p:sp>
      <p:sp>
        <p:nvSpPr>
          <p:cNvPr id="31" name="Oval 30"/>
          <p:cNvSpPr/>
          <p:nvPr/>
        </p:nvSpPr>
        <p:spPr>
          <a:xfrm>
            <a:off x="4623816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5465064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7257288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8400" y="4888358"/>
            <a:ext cx="914400" cy="4462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Malgun Gothic"/>
              </a:defRPr>
            </a:pPr>
            <a:r>
              <a:rPr sz="1300"/>
              <a:t>■ 작성 예시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92680" y="5074920"/>
            <a:ext cx="420624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75560" y="5230368"/>
            <a:ext cx="3840480" cy="6001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▶ 롤</a:t>
            </a:r>
          </a:p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• RL_MPCO_DML : 마케팅플랫폼 공통업무 DML</a:t>
            </a:r>
          </a:p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• RL_MPCO_SEL : 마케팅플랫폼 공통업무 SEL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98920" y="2194561"/>
            <a:ext cx="352044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t"/>
          <a:lstStyle/>
          <a:p>
            <a:pPr algn="l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① 대구분 (어플리케이션 그룹) 코드 (2)</a:t>
            </a:r>
          </a:p>
          <a:p>
            <a:pPr algn="l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• ※ 어플리케이션 코드 정의서 참조</a:t>
            </a:r>
          </a:p>
          <a:p>
            <a:pPr algn="l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② 업무구분 (어플리케이션) 코드 (2)</a:t>
            </a:r>
          </a:p>
          <a:p>
            <a:pPr algn="l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• ※ 어플리케이션 코드 정의서 참조</a:t>
            </a:r>
          </a:p>
          <a:p>
            <a:pPr algn="l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③ 권한구분 코드 (3)</a:t>
            </a:r>
          </a:p>
          <a:p>
            <a:pPr algn="l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• SEL : Select 권한 부여</a:t>
            </a:r>
          </a:p>
          <a:p>
            <a:pPr algn="l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• DML : DML 권한 부여</a:t>
            </a:r>
          </a:p>
          <a:p>
            <a:pPr algn="l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※ Role은 스키마 계정과 1:1로 생성하여 관리한다.</a:t>
            </a:r>
          </a:p>
          <a:p>
            <a:pPr algn="l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DB내 통합 ROLE인 경우 업무구분을 시스템구분으로 사용할 수 있다.</a:t>
            </a:r>
          </a:p>
          <a:p>
            <a:pPr algn="l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스키마 계정에 대한 시스템 권한은 해당 계정에 직접 부여한다.</a:t>
            </a:r>
          </a:p>
          <a:p>
            <a:pPr algn="l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관리 솔루션은 별도의 Role을 생성하지 않는다.</a:t>
            </a:r>
          </a:p>
          <a:p>
            <a:pPr algn="l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단, 부득이 필요할 경우 “RL_[업무구분][ALL]_[권한구분]” 명명 규칙을 사용한다.</a:t>
            </a:r>
          </a:p>
        </p:txBody>
      </p:sp>
    </p:spTree>
    <p:extLst>
      <p:ext uri="{BB962C8B-B14F-4D97-AF65-F5344CB8AC3E}">
        <p14:creationId xmlns:p14="http://schemas.microsoft.com/office/powerpoint/2010/main" val="3144878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프로파일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3. 명명규칙 정의</a:t>
            </a:r>
            <a:br>
              <a:rPr sz="1100"/>
            </a:br>
            <a:r>
              <a:rPr sz="1100"/>
              <a:t>3.6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09800" y="1229978"/>
            <a:ext cx="7680960" cy="2923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600" b="0">
                <a:solidFill>
                  <a:srgbClr val="1E1E1E"/>
                </a:solidFill>
                <a:latin typeface="Malgun Gothic"/>
              </a:defRPr>
            </a:pPr>
            <a:r>
              <a:rPr sz="1600"/>
              <a:t>데이터베이스에서 사용하는 프로파일 명명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- 44 -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1240" y="1847088"/>
            <a:ext cx="4069080" cy="329184"/>
          </a:xfrm>
          <a:prstGeom prst="rect">
            <a:avLst/>
          </a:prstGeom>
          <a:solidFill>
            <a:srgbClr val="1F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프로파일 (Profile)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3200" y="1847088"/>
            <a:ext cx="3611880" cy="329184"/>
          </a:xfrm>
          <a:prstGeom prst="rect">
            <a:avLst/>
          </a:prstGeom>
          <a:solidFill>
            <a:srgbClr val="1D6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항목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412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758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1048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4512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7976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0144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490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8368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1832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5296" y="3267864"/>
            <a:ext cx="256032" cy="2308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200" b="1">
                <a:solidFill>
                  <a:srgbClr val="1E1E1E"/>
                </a:solidFill>
                <a:latin typeface="Malgun Gothic"/>
              </a:defRPr>
            </a:pPr>
            <a:r>
              <a:rPr sz="1200"/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18760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02224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5688" y="3246120"/>
            <a:ext cx="256032" cy="2743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4368" y="352044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10400" y="352044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6431" y="352044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2304" y="379476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8336" y="379476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54368" y="379476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10400" y="379476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6432" y="3794760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rPr sz="1200"/>
              <a:t>P</a:t>
            </a:r>
          </a:p>
        </p:txBody>
      </p:sp>
      <p:sp>
        <p:nvSpPr>
          <p:cNvPr id="33" name="Oval 32"/>
          <p:cNvSpPr/>
          <p:nvPr/>
        </p:nvSpPr>
        <p:spPr>
          <a:xfrm>
            <a:off x="7211568" y="3008376"/>
            <a:ext cx="237744" cy="237744"/>
          </a:xfrm>
          <a:prstGeom prst="ellipse">
            <a:avLst/>
          </a:prstGeom>
          <a:solidFill>
            <a:srgbClr val="FFF2CC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1E1E"/>
                </a:solidFill>
                <a:latin typeface="Malgun Gothic"/>
              </a:defRPr>
            </a:pPr>
            <a:r>
              <a:rPr sz="100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8400" y="4888358"/>
            <a:ext cx="914400" cy="4462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Malgun Gothic"/>
              </a:defRPr>
            </a:pPr>
            <a:r>
              <a:rPr sz="1300"/>
              <a:t>■ 작성 예시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92680" y="5074920"/>
            <a:ext cx="42062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75560" y="5230369"/>
            <a:ext cx="3840480" cy="1061829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▶ 프로파일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PROFILE_SYS : SYS, SYSTEM 및 DBMS Default 계정에서 사용한다.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PROFILE_APP : 표준/업무용 S/W 연결 계정에서 사용한다.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PROFILE_NOAPP : 조회용, 갱신용, 개인용 계정에서 사용한다.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98920" y="2194560"/>
            <a:ext cx="3520440" cy="37947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t"/>
          <a:lstStyle/>
          <a:p>
            <a:pPr algn="l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① 용도 구분 코드 (3~5)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SYS : SYS, SYSTEM 및 DBMS Default 계정에서 사용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APP : 표준/업무용 S/W 연결 계정에서 사용</a:t>
            </a:r>
          </a:p>
          <a:p>
            <a:pPr algn="l"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rPr sz="1100"/>
              <a:t>• NOAPP : 조회용, 갱신용, 개인용 계정에서 사용</a:t>
            </a:r>
          </a:p>
        </p:txBody>
      </p:sp>
    </p:spTree>
    <p:extLst>
      <p:ext uri="{BB962C8B-B14F-4D97-AF65-F5344CB8AC3E}">
        <p14:creationId xmlns:p14="http://schemas.microsoft.com/office/powerpoint/2010/main" val="13509084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1240" y="721593"/>
            <a:ext cx="1828800" cy="4770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algun Gothic"/>
              </a:defRPr>
            </a:pPr>
            <a:r>
              <a:rPr sz="2800"/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3096768" y="2889504"/>
            <a:ext cx="3611880" cy="310896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98519" y="1766130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1.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98519" y="2241618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2. 어플리케이션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8519" y="2717106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3. 명명규칙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8519" y="3192594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1">
                <a:solidFill>
                  <a:srgbClr val="1E1E1E"/>
                </a:solidFill>
                <a:latin typeface="Malgun Gothic"/>
              </a:defRPr>
            </a:pPr>
            <a:r>
              <a:rPr sz="2000"/>
              <a:t>4. 업무 처리 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5720" y="3673098"/>
            <a:ext cx="3383280" cy="26161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algun Gothic"/>
              </a:defRPr>
            </a:pPr>
            <a:r>
              <a:rPr sz="1400"/>
              <a:t>4.1 업무 처리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519" y="3960689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5. 인터페이스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840" y="1766130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6. FOS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1840" y="2241618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7. Report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1840" y="2717106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8. 개인 정보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1840" y="3192594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9. 주석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840" y="3668081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10. 로그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840" y="4143569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11. 페이징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- 45 -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2325842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업무 처리 유형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4. 업무 처리 유형</a:t>
            </a:r>
            <a:br>
              <a:rPr sz="1100"/>
            </a:br>
            <a:r>
              <a:rPr sz="1100"/>
              <a:t>4.1 업무 처리 유형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- 46 -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92680" y="1417320"/>
          <a:ext cx="80467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번호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거래 유형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 row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채널</a:t>
                      </a:r>
                    </a:p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업무 처리 유형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 단말 거래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웹 기반 전용 브라우저 업무 화면에서 어플리케이션 시스템으로 거래를 요청하고 응답 받는 업무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Json/http 기반 통신으로 클라이언트와 서버간 거래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통합업무시스템 거래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C/S 기반 업무 화면에서 어플리케이션 시스템으로 거래를 요청하고 응답 받는 업무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영업점MCA 인터페이스 시스템을 경유해서 거래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미니 싱글뷰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C/S 기반 업무 화면에서 Web View(웹 클라이언트)를 통해 정보계 어플리케이션 시스템으로 거래를 요청하고 응답 받는 업무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Json/http 기반 통신으로 클라이언트와 서버간 거래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연계</a:t>
                      </a:r>
                    </a:p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업무 처리 유형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대내 시스템 간 연계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정보계 어플리케이션 시스템과 대내 시스템 간 거래를 요청하고 응답받는 업무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정보계 대내 시스템은 API Gateway(CruzAPIM)를 통해 연계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농협 은행과 법인간 거래는 GSE를 통해 연계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대외 시스템 간 연계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정보계 어플리케이션 시스템과 대외 기관 간 거래를 요청하고 응답받는 업무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API Gateway(CruzAPIM)를 통해 연계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마케팅 이벤트</a:t>
                      </a:r>
                    </a:p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업무 처리 유형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실시간 고객 반응 정보 수집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비대면 고객채널(인터넷뱅킹, 스마트뱅킹)에서 생성된 서비스 이용 정보를 Wise Collector로부터 Publish/Subscribe Streaming으로 전송 받는 업무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Kafka를 기반으로 미리 약속된 채널을 Subscribe 해서 Topic을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실시간 고객 오퍼링 제공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고객채널로부터 수집된 고객의 서비스 이용 정보를 기반으로 사전에 설정된 규칙에 따라 마케팅 요소를 식별해서 다시 사용자 접점(SMS, App Push, 이메일)으로 마케팅을 수행하는 업무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RDW로 분석된 정보를 주기적으로 조회해서 대상을 식별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UMS를 통해 사용자 접점으로 마케팅 메시지 전송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7026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업무 처리 유형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4. 업무 처리 유형</a:t>
            </a:r>
            <a:br>
              <a:rPr sz="1100"/>
            </a:br>
            <a:r>
              <a:rPr sz="1100"/>
              <a:t>4.1 업무 처리 유형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- 47 -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92680" y="1417320"/>
          <a:ext cx="80467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53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번호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거래 유형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340">
                <a:tc row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데이터</a:t>
                      </a:r>
                    </a:p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분석/제공</a:t>
                      </a:r>
                    </a:p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업무 처리 유형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CDC 실시간 데이터 동기화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코어뱅킹에서 생성되는 고객 거래 정보를 코어뱅킹DB에서 CDC솔루션 기반 (준)실시간으로 정보계 RDW DB에 데이터 동기화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34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ETL 연계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대내 시스템과 정보계 시스템 간 데이터 변환 동기화 작업을 ETL 솔루션 기반 배치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DB 또는 파일 데이터를 변환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파일 데이터 처리는 FOS를 연계해서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미리 지정된 시간에 Control-M 등 배치 처리 자동화 솔루션을 통해 실행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배치, Control-M, 데이터 적재/변환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34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데이터 분석 기반</a:t>
                      </a:r>
                    </a:p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의사결정 지원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정보계 데이터 플랫폼 시스템에서 정보를 수집하고 분석한 결과를 BI포탈을 통해 의사결정을 위한 정보 분석 결과 리포트로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파일 연계</a:t>
                      </a:r>
                    </a:p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업무 처리 유형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FOS 파일 처리 연계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정보계 시스템과 대내시스템 또는 대외기관과 FOS 솔루션을 통해 파일을 연계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FOS와 MFT는 설정을 통해 연계 처리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배치, Control-M, 데이터 적재/변환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배치</a:t>
                      </a:r>
                    </a:p>
                    <a:p>
                      <a:pPr algn="ctr">
                        <a:defRPr sz="12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업무 처리 유형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배치 처리</a:t>
                      </a:r>
                    </a:p>
                  </a:txBody>
                  <a:tcPr>
                    <a:solidFill>
                      <a:srgbClr val="E7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배치 프레임워크 (NH Cloud Framework) 기반으로 작성된 어플리케이션이 Control-M 작업 자동화 시스템을 통해 정해진 시간에 동작</a:t>
                      </a:r>
                    </a:p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배치, 배치 프레임워크, 일괄처리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7280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1240" y="721593"/>
            <a:ext cx="1828800" cy="4770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algun Gothic"/>
              </a:defRPr>
            </a:pPr>
            <a:r>
              <a:rPr sz="2800"/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3096768" y="2889504"/>
            <a:ext cx="3611880" cy="310896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98519" y="1766130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1.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98519" y="2241618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2. 어플리케이션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8519" y="2717106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3. 명명규칙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8519" y="3192594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1">
                <a:solidFill>
                  <a:srgbClr val="1E1E1E"/>
                </a:solidFill>
                <a:latin typeface="Malgun Gothic"/>
              </a:defRPr>
            </a:pPr>
            <a:r>
              <a:rPr sz="2000"/>
              <a:t>5.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5720" y="3673098"/>
            <a:ext cx="3383280" cy="26161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algun Gothic"/>
              </a:defRPr>
            </a:pPr>
            <a:r>
              <a:rPr sz="1400"/>
              <a:t>5.1 인터페이스 표준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519" y="3960689"/>
            <a:ext cx="33832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5. 인터페이스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840" y="1766130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6. FOS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1840" y="2241618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7. Report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1840" y="2717106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8. 개인 정보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1840" y="3192594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9. 주석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840" y="3668081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10. 로그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840" y="4143569"/>
            <a:ext cx="2468880" cy="3539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000" b="0">
                <a:solidFill>
                  <a:srgbClr val="1E1E1E"/>
                </a:solidFill>
                <a:latin typeface="Malgun Gothic"/>
              </a:defRPr>
            </a:pPr>
            <a:r>
              <a:rPr sz="2000"/>
              <a:t>11. 페이징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- 48 -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25872204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320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algun Gothic"/>
              </a:defRPr>
            </a:pPr>
            <a:r>
              <a:rPr sz="2400"/>
              <a:t>온라인 인터페이스 표준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6240" y="177972"/>
            <a:ext cx="1920240" cy="3847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1E1E1E"/>
                </a:solidFill>
                <a:latin typeface="Malgun Gothic"/>
              </a:defRPr>
            </a:pPr>
            <a:r>
              <a:rPr sz="1100"/>
              <a:t>5. 인터페이스 아키텍처</a:t>
            </a:r>
            <a:br>
              <a:rPr sz="1100"/>
            </a:br>
            <a:r>
              <a:rPr sz="1100"/>
              <a:t>5.1 인터페이스 표준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033271"/>
            <a:ext cx="118872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12721" y="1033271"/>
            <a:ext cx="7955279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21680" y="6483654"/>
            <a:ext cx="548640" cy="20005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algun Gothic"/>
              </a:defRPr>
            </a:pPr>
            <a:r>
              <a:rPr sz="1000"/>
              <a:t>- 49 -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880" y="6425666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l">
              <a:defRPr sz="1100" b="1">
                <a:solidFill>
                  <a:srgbClr val="786E14"/>
                </a:solidFill>
                <a:latin typeface="Malgun Gothic"/>
              </a:defRPr>
            </a:pPr>
            <a:r>
              <a:rPr sz="1100"/>
              <a:t>농협중앙회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2120" y="6425666"/>
            <a:ext cx="1005840" cy="21544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>
            <a:spAutoFit/>
          </a:bodyPr>
          <a:lstStyle/>
          <a:p>
            <a:pPr algn="r">
              <a:defRPr sz="1100" b="1">
                <a:solidFill>
                  <a:srgbClr val="A3472E"/>
                </a:solidFill>
                <a:latin typeface="Malgun Gothic"/>
              </a:defRPr>
            </a:pPr>
            <a:r>
              <a:rPr sz="1100"/>
              <a:t>SK 주식회사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92680" y="1463040"/>
          <a:ext cx="7543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소스 ➜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인터페이스</a:t>
                      </a:r>
                    </a:p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시스템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➜ 타깃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F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 rowSpan="9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온라인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통합업무시스템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영업점 MCA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대면 채널 전사 표준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비대면 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MCI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비대면 채널 전사 표준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 단말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(없음)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정보계 대면 채널 인터페이스, 인터페이스 시스템 경유 없이 거래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패키지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(없음)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 솔루션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정보계 패키지 솔루션 UI 인터페이스, 인터페이스 시스템 경유 없이 거래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API G/W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대내 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정보계와 대내 시스템 간 전사 표준 인터페이스는 API G/W (CruzAPIM)를 경유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대내 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API G/W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대내 시스템과 정보계 간 전사 표준 인터페이스는 API G/W (CruzAPIM)를 경유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API G/W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대외 기관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대외 기관 전문 연계 전사 표준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대외 기관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API G/W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대외 기관 전문 연계 전사 표준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타 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GSE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정보계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• 타 법인 (은행) 과 정보계 간 전사 표준 인터페이스는 GSE를 경유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392680" y="6080761"/>
            <a:ext cx="7543800" cy="461665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>
            <a:spAutoFit/>
          </a:bodyPr>
          <a:lstStyle/>
          <a:p>
            <a:pPr algn="l">
              <a:defRPr sz="900" b="0">
                <a:solidFill>
                  <a:srgbClr val="1E1E1E"/>
                </a:solidFill>
                <a:latin typeface="Malgun Gothic"/>
              </a:defRPr>
            </a:pPr>
            <a:r>
              <a:rPr sz="900"/>
              <a:t>※ 정보계와 연계하는 타깃 시스템이 EAI 연계만 지원하는 경우, API G/W ↔ EAI 간 연계는 API G/W(CruzAPIM) 내부 EAI 연동 처리 기능을 활용</a:t>
            </a:r>
          </a:p>
          <a:p>
            <a:pPr algn="l">
              <a:defRPr sz="900" b="0">
                <a:solidFill>
                  <a:srgbClr val="1E1E1E"/>
                </a:solidFill>
                <a:latin typeface="Malgun Gothic"/>
              </a:defRPr>
            </a:pPr>
            <a:r>
              <a:rPr sz="900"/>
              <a:t>※ 정보계와 연계하는 타깃 시스템이 대외기관인 경우, API G/W ↔ 대외MCA 간 연계는 API G/W(CruzAPIM) 내부 대외MCA 연동 처리 기능을 활용</a:t>
            </a:r>
          </a:p>
        </p:txBody>
      </p:sp>
    </p:spTree>
    <p:extLst>
      <p:ext uri="{BB962C8B-B14F-4D97-AF65-F5344CB8AC3E}">
        <p14:creationId xmlns:p14="http://schemas.microsoft.com/office/powerpoint/2010/main" val="35570234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0350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파일 인터페이스 표준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4630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5. 인터페이스 아키텍처</a:t>
            </a:r>
            <a:br>
              <a:rPr sz="800"/>
            </a:br>
            <a:r>
              <a:rPr sz="800"/>
              <a:t>5.1 인터페이스 표준 정의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- 50 -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6064" y="1499616"/>
            <a:ext cx="640080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6144" y="1499616"/>
            <a:ext cx="1481328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소스 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7472" y="1499616"/>
            <a:ext cx="1225296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인터페이스</a:t>
            </a:r>
            <a:br>
              <a:rPr sz="1050"/>
            </a:br>
            <a:r>
              <a:rPr sz="1050"/>
              <a:t>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82768" y="1499616"/>
            <a:ext cx="1005840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➜ 타깃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8608" y="1499616"/>
            <a:ext cx="3840480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설명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6064" y="1975104"/>
            <a:ext cx="640080" cy="241401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파일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6144" y="1975104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 단말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7472" y="1975104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FOS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82768" y="1975104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8608" y="1975104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시스템 파일 전송 표준 인터페이스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6144" y="2377440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패키지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57472" y="2377440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FOS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2768" y="2377440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 솔루션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88608" y="2377440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시스템 파일 전송 표준 인터페이스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6144" y="2779776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7472" y="2779776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FOS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82768" y="2779776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대내 시스템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8608" y="2779776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시스템 파일 전송 표준 인터페이스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6144" y="3182112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대내 시스템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57472" y="3182112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FOS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2768" y="3182112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8608" y="3182112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시스템 파일 전송 표준 인터페이스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6144" y="3584448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7472" y="3584448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FOS (대외MCA)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82768" y="3584448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대외 기관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8608" y="3584448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시스템 파일 전송 표준 인터페이스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76144" y="3986784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대외 기관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7472" y="3986784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FOS (대외MCA)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2768" y="3986784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8608" y="3986784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시스템 파일 전송 표준 인터페이스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2640" y="6327649"/>
            <a:ext cx="8138160" cy="14452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※ 정보계와 연계하는 타깃 시스템이 MFT인 경우, FOS ↔ MFT 간 연계는 FOS 내부 MFT 연동 처리 기능을 활용</a:t>
            </a:r>
          </a:p>
        </p:txBody>
      </p:sp>
    </p:spTree>
    <p:extLst>
      <p:ext uri="{BB962C8B-B14F-4D97-AF65-F5344CB8AC3E}">
        <p14:creationId xmlns:p14="http://schemas.microsoft.com/office/powerpoint/2010/main" val="2407999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0350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데이터 인터페이스 표준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4630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5. 인터페이스 아키텍처</a:t>
            </a:r>
            <a:br>
              <a:rPr sz="800"/>
            </a:br>
            <a:r>
              <a:rPr sz="800"/>
              <a:t>5.1 인터페이스 표준 정의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- 51 -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6064" y="1499616"/>
            <a:ext cx="640080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6144" y="1499616"/>
            <a:ext cx="1481328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소스 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7472" y="1499616"/>
            <a:ext cx="1225296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인터페이스</a:t>
            </a:r>
            <a:br>
              <a:rPr sz="1050"/>
            </a:br>
            <a:r>
              <a:rPr sz="1050"/>
              <a:t>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82768" y="1499616"/>
            <a:ext cx="1005840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➜ 타깃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8608" y="1499616"/>
            <a:ext cx="3840480" cy="475488"/>
          </a:xfrm>
          <a:prstGeom prst="rect">
            <a:avLst/>
          </a:prstGeom>
          <a:solidFill>
            <a:srgbClr val="1A37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설명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6064" y="1975104"/>
            <a:ext cx="6400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6144" y="1975104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코어뱅킹DB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7472" y="1975104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CDC (실시간)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82768" y="1975104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 DW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8608" y="1975104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계정계 데이터 실시간 동기화 인터페이스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6144" y="2377440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코어뱅킹DB BCV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57472" y="2377440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ETL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2768" y="2377440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정보계 DW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88608" y="2377440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계정계 데이터 동기화 인터페이스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6144" y="2779776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RDW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7472" y="2779776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ETL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82768" y="2779776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ADW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8608" y="2779776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데이터 동기화 인터페이스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6144" y="3182112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DW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57472" y="3182112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ETL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2768" y="3182112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타 시스템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8608" y="3182112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데이터 동기화 인터페이스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6144" y="3584448"/>
            <a:ext cx="14813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타 시스템 DB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7472" y="3584448"/>
            <a:ext cx="12252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ETL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82768" y="3584448"/>
            <a:ext cx="1005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019" b="0">
                <a:solidFill>
                  <a:srgbClr val="1A5599"/>
                </a:solidFill>
                <a:latin typeface="Noto Sans CJK KR"/>
              </a:defRPr>
            </a:pPr>
            <a:r>
              <a:rPr sz="1019"/>
              <a:t>DW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8608" y="3584448"/>
            <a:ext cx="3840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1019" b="0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정보계 데이터 동기화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21535453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685800"/>
            <a:ext cx="91440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7120" y="1938528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7120" y="2322576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2. 어플리케이션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120" y="2706624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3. 명명규칙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7120" y="3090672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4.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120" y="3474720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5. 인터페이스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6736079" y="1920240"/>
            <a:ext cx="2971800" cy="256032"/>
          </a:xfrm>
          <a:prstGeom prst="rect">
            <a:avLst/>
          </a:prstGeom>
          <a:solidFill>
            <a:srgbClr val="E3F2E4"/>
          </a:solidFill>
          <a:ln w="9525">
            <a:solidFill>
              <a:srgbClr val="E3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73240" y="1938528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6. FOS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79" y="2253447"/>
            <a:ext cx="2377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6.1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3279" y="2491191"/>
            <a:ext cx="2377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6.2 공유용 테넌트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279" y="2728935"/>
            <a:ext cx="2377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6.3 업무용 테넌트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3240" y="2322576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7. Report 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240" y="2706624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8. 개인 정보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3240" y="3090672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9. 주석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3240" y="3474720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10. 로그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3240" y="3858768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11. 페이징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- 52 -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42298911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0350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FOS 기본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4630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6. FOS</a:t>
            </a:r>
            <a:br>
              <a:rPr sz="800"/>
            </a:br>
            <a:r>
              <a:rPr sz="800"/>
              <a:t>6.1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- 53 -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5792" y="1417320"/>
            <a:ext cx="1463040" cy="32004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8832" y="1417320"/>
            <a:ext cx="6446520" cy="32004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5792" y="1737360"/>
            <a:ext cx="1463040" cy="56692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개요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8832" y="1737360"/>
            <a:ext cx="6446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업무 시스템 간 파일 전송/공유를 목적으로 한 스토리지</a:t>
            </a:r>
            <a:br>
              <a:rPr sz="830"/>
            </a:br>
            <a:r>
              <a:rPr sz="830"/>
              <a:t>• 파일을 Object 단위로 저장</a:t>
            </a:r>
            <a:br>
              <a:rPr sz="830"/>
            </a:br>
            <a:r>
              <a:rPr sz="830"/>
              <a:t>• FOS와의 연계 프로토콜은 rest/http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5792" y="2304288"/>
            <a:ext cx="1463040" cy="64008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테넌트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8832" y="2304288"/>
            <a:ext cx="6446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Storage 사용 용도에 따른 분류</a:t>
            </a:r>
            <a:br>
              <a:rPr sz="830"/>
            </a:br>
            <a:r>
              <a:rPr sz="830"/>
              <a:t>  ① 공유용 (obstenant01): 시스템 간 파일 공유를 위하여 사용되는 FOS 영역</a:t>
            </a:r>
            <a:br>
              <a:rPr sz="830"/>
            </a:br>
            <a:r>
              <a:rPr sz="830"/>
              <a:t>  ② 업무용 (obstenant02): 동일 업무 내 파일 공유를 위하여 사용되는 FOS 영역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5792" y="2944368"/>
            <a:ext cx="1463040" cy="105156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네임스페이스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8832" y="2944368"/>
            <a:ext cx="6446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네임스페이스 란? : 데이터(Object) 저장 영역</a:t>
            </a:r>
            <a:br>
              <a:rPr sz="830"/>
            </a:br>
            <a:r>
              <a:rPr sz="830"/>
              <a:t>• 테넌트 별 네임스페이스 분류 기준</a:t>
            </a:r>
            <a:br>
              <a:rPr sz="830"/>
            </a:br>
            <a:r>
              <a:rPr sz="830"/>
              <a:t>  ① 공유용 테넌트: “obs”+{보관주기}=법인 내(內), “cop”+{보관주기}=법인 간(間), “outs”+{보관주기}=대외MCA 간(間)</a:t>
            </a:r>
            <a:br>
              <a:rPr sz="830"/>
            </a:br>
            <a:r>
              <a:rPr sz="830"/>
              <a:t>  ② 업무용 테넌트 : 업무코드</a:t>
            </a:r>
            <a:br>
              <a:rPr sz="830"/>
            </a:br>
            <a:r>
              <a:rPr sz="830"/>
              <a:t>※ 주1보관주기: day(1일), 3day(3일), week(1주), 2week(2주), mon(1개월), bungi(3개월), bangi(6개월), year(1년), per(영구)</a:t>
            </a:r>
            <a:br>
              <a:rPr sz="830"/>
            </a:br>
            <a:r>
              <a:rPr sz="830"/>
              <a:t>※ obsper(영구) 은 시 FOS 담당자 협의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5792" y="3995927"/>
            <a:ext cx="1463040" cy="29260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기본 도메인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8832" y="3995927"/>
            <a:ext cx="64465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(개발/운영) 동일 : obs.nafc.nonghyup.com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5792" y="4288536"/>
            <a:ext cx="1463040" cy="82296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8832" y="4288536"/>
            <a:ext cx="6446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http://[네임스페이스명].[테넌트명].obs.nafc.nonghyup.com/rest</a:t>
            </a:r>
            <a:br>
              <a:rPr sz="830"/>
            </a:br>
            <a:r>
              <a:rPr sz="830"/>
              <a:t>• 공유용 예시: http://obsday.obstenant01.obs.nafc.nonghyup.com/rest/[업무코드(송신)]/[업무코드(수신)]/[YYYYMMDD]/[파일명]</a:t>
            </a:r>
            <a:br>
              <a:rPr sz="830"/>
            </a:br>
            <a:r>
              <a:rPr sz="830"/>
              <a:t>• 업무용 예시: http://mpic.obstenant02.obs.nafc.nonghyup.com/rest/[주업무 정의 경로]/[YYYYMMDD]/[파일명]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5792" y="5111496"/>
            <a:ext cx="1463040" cy="530352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주2 업무 정의 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8832" y="5111496"/>
            <a:ext cx="6446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기본 URL에 path를 “/” 구분자로 나열</a:t>
            </a:r>
            <a:br>
              <a:rPr sz="830"/>
            </a:br>
            <a:r>
              <a:rPr sz="830"/>
              <a:t>• 경로(디렉토리) Depth : 3 이내</a:t>
            </a:r>
            <a:br>
              <a:rPr sz="830"/>
            </a:br>
            <a:r>
              <a:rPr sz="830"/>
              <a:t>• 디렉토리는 PUT 거래 시 자동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5792" y="5641848"/>
            <a:ext cx="1463040" cy="29260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파일 삭제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8832" y="5641848"/>
            <a:ext cx="64465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① 공유용 네임스페이스: 주기 별 자동 삭제, ② 업무용 네임스페이스 : 해당 업무 팀 자체 삭제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5792" y="5934456"/>
            <a:ext cx="1463040" cy="41148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개별 파일 용량 제한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8832" y="5934456"/>
            <a:ext cx="64465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MFT 공유용: 100 GB, 그 외 : 2 TB</a:t>
            </a:r>
            <a:br>
              <a:rPr sz="830"/>
            </a:br>
            <a:r>
              <a:rPr sz="830"/>
              <a:t>• 법인 간 거래는 거래건수에 수반 자료가 작은 파일(10MB이하) 권장 (※ 파일 권장 size는 변동 될 수 있음)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5792" y="6345936"/>
            <a:ext cx="1463040" cy="29260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계정 및 토큰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8832" y="6345936"/>
            <a:ext cx="64465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FOS 업무 계정에 권한 할당 시 권한을 할당 받은 토큰이 생성 (FOS 호출 시 토큰 값 전송)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5792" y="6638544"/>
            <a:ext cx="1463040" cy="38404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토큰변경주기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8832" y="6638544"/>
            <a:ext cx="6446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FOS 사용 업무 팀은 별도 table 혹은 config 등을 사용하여 토큰 관리 필요함</a:t>
            </a:r>
            <a:br>
              <a:rPr sz="830"/>
            </a:br>
            <a:r>
              <a:rPr sz="830"/>
              <a:t>• 토큰의 “영구 사용”은 협의에 따라 사용가능하나 추후 감사 지적 등이 발생할 경우, 영구 사용이 불가능할 수 있음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7504" y="6355081"/>
            <a:ext cx="5029200" cy="14452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※ FOS: 파일 공유 오브젝트 스토리지 (File sharing Object Storage)</a:t>
            </a:r>
          </a:p>
        </p:txBody>
      </p:sp>
    </p:spTree>
    <p:extLst>
      <p:ext uri="{BB962C8B-B14F-4D97-AF65-F5344CB8AC3E}">
        <p14:creationId xmlns:p14="http://schemas.microsoft.com/office/powerpoint/2010/main" val="4406029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035040" cy="69557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[BackUp] 공유용 테넌트 (obstenant01)의 네임스페이스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4630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6. FOS</a:t>
            </a:r>
            <a:br>
              <a:rPr sz="800"/>
            </a:br>
            <a:r>
              <a:rPr sz="800"/>
              <a:t>6.1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- 54 -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8048" y="1600200"/>
            <a:ext cx="749808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연계 유형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7856" y="1600200"/>
            <a:ext cx="987552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네임스페이스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45408" y="1600200"/>
            <a:ext cx="640080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보관 주기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5488" y="1600200"/>
            <a:ext cx="960120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용도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5608" y="1600200"/>
            <a:ext cx="612648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MFT서버</a:t>
            </a:r>
            <a:br>
              <a:rPr sz="1019"/>
            </a:br>
            <a:r>
              <a:rPr sz="1019"/>
              <a:t>Mount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8048" y="1965960"/>
            <a:ext cx="74980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①</a:t>
            </a:r>
            <a:br>
              <a:rPr sz="1100"/>
            </a:br>
            <a:r>
              <a:rPr sz="1100"/>
              <a:t>FOS 연계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7856" y="1965960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45408" y="1965960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7856" y="2167128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Obs3Day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45408" y="2167128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7856" y="2368296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5408" y="2368296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7856" y="2569464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Obs2Week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45408" y="2569464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7856" y="2770632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ObsMon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45408" y="2770632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7856" y="2971800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ObsBungi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45408" y="2971800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7856" y="3172968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ObsBangi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45408" y="3172968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6달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7856" y="3374136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45408" y="3374136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7856" y="3575304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Obs11Year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5408" y="3575304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11년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7856" y="3776472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ObsCommDay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45408" y="3776472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7856" y="3977639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ObsComm3Day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45408" y="3977639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85488" y="1965960"/>
            <a:ext cx="9601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일반 파일 공유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5488" y="3575304"/>
            <a:ext cx="960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공통 파일 제공</a:t>
            </a:r>
            <a:br>
              <a:rPr sz="819"/>
            </a:br>
            <a:r>
              <a:rPr sz="819"/>
              <a:t>e.g. 기준일자,</a:t>
            </a:r>
            <a:br>
              <a:rPr sz="819"/>
            </a:br>
            <a:r>
              <a:rPr sz="819"/>
              <a:t>인사정보 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45608" y="1965960"/>
            <a:ext cx="61264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08048" y="4178808"/>
            <a:ext cx="74980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②</a:t>
            </a:r>
            <a:br>
              <a:rPr sz="1100"/>
            </a:br>
            <a:r>
              <a:rPr sz="1100"/>
              <a:t>MFT 연계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7856" y="4178808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MftDay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45408" y="4178808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7856" y="4379976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Mft3Day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45408" y="4379976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7856" y="4581144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MftWeek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45408" y="4581144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7856" y="4782312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Mft2Week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45408" y="4782312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7856" y="4983480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MftMon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45408" y="4983480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7856" y="5184648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MftBungi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45408" y="5184648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7856" y="5385816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MftBangi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45408" y="5385816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6달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57856" y="5586984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MftYear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45408" y="5586984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7856" y="5788152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MftCommDay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45408" y="5788152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7856" y="5989320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MftComm3Day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45408" y="5989320"/>
            <a:ext cx="6400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85488" y="4178808"/>
            <a:ext cx="9601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일반 파일 공유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85488" y="5788152"/>
            <a:ext cx="960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공통 파일 제공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45608" y="4178808"/>
            <a:ext cx="6126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0360" y="1600200"/>
            <a:ext cx="566928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연계 유형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57288" y="1600200"/>
            <a:ext cx="987552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네임스페이스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44840" y="1600200"/>
            <a:ext cx="566928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보관 주기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11768" y="1600200"/>
            <a:ext cx="841248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용도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53016" y="1600200"/>
            <a:ext cx="566928" cy="36576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FFFFFF"/>
                </a:solidFill>
                <a:latin typeface="Noto Sans CJK KR"/>
              </a:defRPr>
            </a:pPr>
            <a:r>
              <a:rPr sz="1019"/>
              <a:t>MFT서버</a:t>
            </a:r>
            <a:br>
              <a:rPr sz="1019"/>
            </a:br>
            <a:r>
              <a:rPr sz="1019"/>
              <a:t>Mount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90360" y="1965960"/>
            <a:ext cx="5669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③</a:t>
            </a:r>
            <a:br>
              <a:rPr sz="1019"/>
            </a:br>
            <a:r>
              <a:rPr sz="1019"/>
              <a:t>법인간</a:t>
            </a:r>
            <a:br>
              <a:rPr sz="1019"/>
            </a:br>
            <a:r>
              <a:rPr sz="1019"/>
              <a:t>연계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57288" y="1965960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CopDay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44840" y="1965960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57288" y="2167128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Cop3Day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44840" y="2167128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57288" y="2368296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CopWeek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44840" y="2368296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57288" y="2569464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Cop2Week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44840" y="2569464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57288" y="2770632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CopMon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44840" y="2770632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1달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57288" y="2971800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CopBungi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44840" y="2971800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57288" y="3172968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CopBangi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44840" y="3172968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6달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57288" y="3374136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CopYear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44840" y="3374136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1년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11768" y="1965960"/>
            <a:ext cx="84124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중앙회와 은행</a:t>
            </a:r>
            <a:br>
              <a:rPr sz="850"/>
            </a:br>
            <a:r>
              <a:rPr sz="850"/>
              <a:t>간 파일 연계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53016" y="1965960"/>
            <a:ext cx="5669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●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690360" y="3575304"/>
            <a:ext cx="566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④</a:t>
            </a:r>
            <a:br>
              <a:rPr sz="1019"/>
            </a:br>
            <a:r>
              <a:rPr sz="1019"/>
              <a:t>대외 연계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57288" y="3575304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OutsDay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44840" y="3575304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1일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57288" y="3776472"/>
            <a:ext cx="98755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Outs3Day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44840" y="3776472"/>
            <a:ext cx="5669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811768" y="3575304"/>
            <a:ext cx="84124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업무 시스템과</a:t>
            </a:r>
            <a:br>
              <a:rPr sz="830"/>
            </a:br>
            <a:r>
              <a:rPr sz="830"/>
              <a:t>대외MCA 간</a:t>
            </a:r>
            <a:br>
              <a:rPr sz="830"/>
            </a:br>
            <a:r>
              <a:rPr sz="830"/>
              <a:t>파일 공유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53016" y="3575304"/>
            <a:ext cx="566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213353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0350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공유용 테넌트 (obstenant01)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4630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6. FOS</a:t>
            </a:r>
            <a:br>
              <a:rPr sz="800"/>
            </a:br>
            <a:r>
              <a:rPr sz="800"/>
              <a:t>6.2 공유용 테넌트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- 55 -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656" y="1234441"/>
            <a:ext cx="5669280" cy="2185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시스템 간 파일 공유를 위하여 사용되는 FOS 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5792" y="1810512"/>
            <a:ext cx="932688" cy="329184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78480" y="1810512"/>
            <a:ext cx="7333488" cy="329184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5792" y="2139696"/>
            <a:ext cx="9326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경로</a:t>
            </a:r>
            <a:br>
              <a:rPr sz="1050"/>
            </a:br>
            <a:r>
              <a:rPr sz="1050"/>
              <a:t>(디렉토리)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9920" y="2240280"/>
            <a:ext cx="621792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http://</a:t>
            </a:r>
          </a:p>
        </p:txBody>
      </p:sp>
      <p:sp>
        <p:nvSpPr>
          <p:cNvPr id="15" name="Oval 14"/>
          <p:cNvSpPr/>
          <p:nvPr/>
        </p:nvSpPr>
        <p:spPr>
          <a:xfrm>
            <a:off x="3407664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7432" y="2240280"/>
            <a:ext cx="82296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네임스페이스</a:t>
            </a:r>
          </a:p>
        </p:txBody>
      </p:sp>
      <p:sp>
        <p:nvSpPr>
          <p:cNvPr id="17" name="Oval 16"/>
          <p:cNvSpPr/>
          <p:nvPr/>
        </p:nvSpPr>
        <p:spPr>
          <a:xfrm>
            <a:off x="4175760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6112" y="2240280"/>
            <a:ext cx="530352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테넌트</a:t>
            </a:r>
          </a:p>
        </p:txBody>
      </p:sp>
      <p:sp>
        <p:nvSpPr>
          <p:cNvPr id="19" name="Oval 18"/>
          <p:cNvSpPr/>
          <p:nvPr/>
        </p:nvSpPr>
        <p:spPr>
          <a:xfrm>
            <a:off x="4898136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82184" y="2240280"/>
            <a:ext cx="150876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obs.nafc.nonghyup.com/rest</a:t>
            </a:r>
          </a:p>
        </p:txBody>
      </p:sp>
      <p:sp>
        <p:nvSpPr>
          <p:cNvPr id="21" name="Oval 20"/>
          <p:cNvSpPr/>
          <p:nvPr/>
        </p:nvSpPr>
        <p:spPr>
          <a:xfrm>
            <a:off x="5963412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36664" y="2240280"/>
            <a:ext cx="91440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/[업무코드 (송신)]</a:t>
            </a:r>
          </a:p>
        </p:txBody>
      </p:sp>
      <p:sp>
        <p:nvSpPr>
          <p:cNvPr id="23" name="Oval 22"/>
          <p:cNvSpPr/>
          <p:nvPr/>
        </p:nvSpPr>
        <p:spPr>
          <a:xfrm>
            <a:off x="7220712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96784" y="2240280"/>
            <a:ext cx="749808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/[업무코드 (수신)]</a:t>
            </a:r>
          </a:p>
        </p:txBody>
      </p:sp>
      <p:sp>
        <p:nvSpPr>
          <p:cNvPr id="25" name="Oval 24"/>
          <p:cNvSpPr/>
          <p:nvPr/>
        </p:nvSpPr>
        <p:spPr>
          <a:xfrm>
            <a:off x="8098536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2312" y="2240280"/>
            <a:ext cx="658368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/[연월일]</a:t>
            </a:r>
          </a:p>
        </p:txBody>
      </p:sp>
      <p:sp>
        <p:nvSpPr>
          <p:cNvPr id="27" name="Oval 26"/>
          <p:cNvSpPr/>
          <p:nvPr/>
        </p:nvSpPr>
        <p:spPr>
          <a:xfrm>
            <a:off x="8848344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96400" y="2240280"/>
            <a:ext cx="64008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/[파일명]</a:t>
            </a:r>
          </a:p>
        </p:txBody>
      </p:sp>
      <p:sp>
        <p:nvSpPr>
          <p:cNvPr id="29" name="Oval 28"/>
          <p:cNvSpPr/>
          <p:nvPr/>
        </p:nvSpPr>
        <p:spPr>
          <a:xfrm>
            <a:off x="9543288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5792" y="2706624"/>
            <a:ext cx="932688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명명 규칙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78480" y="2706624"/>
            <a:ext cx="1417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1 네임스페이스명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5800" y="2706624"/>
            <a:ext cx="5916168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업무유형(개방식, 용도, 삭제주기)에 따라 생성</a:t>
            </a:r>
            <a:br>
              <a:rPr sz="830"/>
            </a:br>
            <a:r>
              <a:rPr sz="830"/>
              <a:t>  - “obs”+{주기}: 법인 내(內)</a:t>
            </a:r>
            <a:br>
              <a:rPr sz="830"/>
            </a:br>
            <a:r>
              <a:rPr sz="830"/>
              <a:t>  - “cop”+{주기}: 법인 간(間)</a:t>
            </a:r>
            <a:br>
              <a:rPr sz="830"/>
            </a:br>
            <a:r>
              <a:rPr sz="830"/>
              <a:t>  - “outs”+{주기}: 대외MCA 간(間)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78480" y="3401568"/>
            <a:ext cx="14173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2 테넌트 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5800" y="3401568"/>
            <a:ext cx="59161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“obstenant01”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78480" y="3657600"/>
            <a:ext cx="14173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3 기본 도메인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95800" y="3657600"/>
            <a:ext cx="59161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“obs.nafc.nonghyup.com/rest”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78480" y="3913632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4 업무코드 (송신)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5800" y="3913632"/>
            <a:ext cx="591616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연계 대상 업무 코드, 차세대 정보계는 어플리케이션 그룹 코드+어플리케이션 코드+기능 (예시. mpcoa, adcob, rdcoc, bicrd)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78480" y="4389120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5 업무코드 (수신)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95800" y="4389120"/>
            <a:ext cx="591616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연계 대상 업무 코드, 차세대 정보계는 어플리케이션 그룹 코드+어플리케이션 코드+기능 (예시. mpcoa, adcob, rdcoc, bicrd)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78480" y="4864608"/>
            <a:ext cx="1417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6 연월일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95800" y="4864608"/>
            <a:ext cx="59161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YYYYMMDD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78480" y="5084064"/>
            <a:ext cx="1417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7 파일명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95800" y="5084064"/>
            <a:ext cx="59161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해당 파일 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5792" y="5340096"/>
            <a:ext cx="93268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예시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78480" y="5340096"/>
            <a:ext cx="733348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http://obsday.obstenant01.obs.nafc.nonghyup.com/rest/mpcoa/[업무코드(수신)]/20260707/data.dat</a:t>
            </a:r>
            <a:br>
              <a:rPr sz="830"/>
            </a:br>
            <a:r>
              <a:rPr sz="830"/>
              <a:t>• http://obsmon.obstenant01.obs.nafc.nonghyup.com/rest/[업무코드(송신)]/bicrd/20261231/data.dat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5792" y="5779008"/>
            <a:ext cx="9326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고려 사항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78480" y="5779008"/>
            <a:ext cx="73334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파일 삭제는 FOS에서 주기별(네임스페이스명)으로 자동 삭제</a:t>
            </a:r>
          </a:p>
        </p:txBody>
      </p:sp>
    </p:spTree>
    <p:extLst>
      <p:ext uri="{BB962C8B-B14F-4D97-AF65-F5344CB8AC3E}">
        <p14:creationId xmlns:p14="http://schemas.microsoft.com/office/powerpoint/2010/main" val="40794902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0350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업무용 테넌트 (obstenant02)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4630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6. FOS</a:t>
            </a:r>
            <a:br>
              <a:rPr sz="800"/>
            </a:br>
            <a:r>
              <a:rPr sz="800"/>
              <a:t>6.3 업무용 테넌트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- 56 -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656" y="1234441"/>
            <a:ext cx="5669280" cy="2185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동일 업무 내 파일 공유를 위하여 사용되는 FOS 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5792" y="1810512"/>
            <a:ext cx="932688" cy="329184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78480" y="1810512"/>
            <a:ext cx="7333488" cy="329184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5792" y="2139696"/>
            <a:ext cx="9326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경로</a:t>
            </a:r>
            <a:br>
              <a:rPr sz="1050"/>
            </a:br>
            <a:r>
              <a:rPr sz="1050"/>
              <a:t>(디렉토리)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9920" y="2240280"/>
            <a:ext cx="621792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http://</a:t>
            </a:r>
          </a:p>
        </p:txBody>
      </p:sp>
      <p:sp>
        <p:nvSpPr>
          <p:cNvPr id="15" name="Oval 14"/>
          <p:cNvSpPr/>
          <p:nvPr/>
        </p:nvSpPr>
        <p:spPr>
          <a:xfrm>
            <a:off x="3407664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7432" y="2240280"/>
            <a:ext cx="82296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네임스페이스</a:t>
            </a:r>
          </a:p>
        </p:txBody>
      </p:sp>
      <p:sp>
        <p:nvSpPr>
          <p:cNvPr id="17" name="Oval 16"/>
          <p:cNvSpPr/>
          <p:nvPr/>
        </p:nvSpPr>
        <p:spPr>
          <a:xfrm>
            <a:off x="4175760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6112" y="2240280"/>
            <a:ext cx="530352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테넌트</a:t>
            </a:r>
          </a:p>
        </p:txBody>
      </p:sp>
      <p:sp>
        <p:nvSpPr>
          <p:cNvPr id="19" name="Oval 18"/>
          <p:cNvSpPr/>
          <p:nvPr/>
        </p:nvSpPr>
        <p:spPr>
          <a:xfrm>
            <a:off x="4898136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82184" y="2240280"/>
            <a:ext cx="150876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obs.nafc.nonghyup.com/rest</a:t>
            </a:r>
          </a:p>
        </p:txBody>
      </p:sp>
      <p:sp>
        <p:nvSpPr>
          <p:cNvPr id="21" name="Oval 20"/>
          <p:cNvSpPr/>
          <p:nvPr/>
        </p:nvSpPr>
        <p:spPr>
          <a:xfrm>
            <a:off x="5963412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36664" y="2240280"/>
            <a:ext cx="64008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/path</a:t>
            </a:r>
          </a:p>
        </p:txBody>
      </p:sp>
      <p:sp>
        <p:nvSpPr>
          <p:cNvPr id="23" name="Oval 22"/>
          <p:cNvSpPr/>
          <p:nvPr/>
        </p:nvSpPr>
        <p:spPr>
          <a:xfrm>
            <a:off x="7083552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22464" y="2240280"/>
            <a:ext cx="749808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/[연월일]</a:t>
            </a:r>
          </a:p>
        </p:txBody>
      </p:sp>
      <p:sp>
        <p:nvSpPr>
          <p:cNvPr id="25" name="Oval 24"/>
          <p:cNvSpPr/>
          <p:nvPr/>
        </p:nvSpPr>
        <p:spPr>
          <a:xfrm>
            <a:off x="7824216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17992" y="2240280"/>
            <a:ext cx="658368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/[파일명]</a:t>
            </a:r>
          </a:p>
        </p:txBody>
      </p:sp>
      <p:sp>
        <p:nvSpPr>
          <p:cNvPr id="27" name="Oval 26"/>
          <p:cNvSpPr/>
          <p:nvPr/>
        </p:nvSpPr>
        <p:spPr>
          <a:xfrm>
            <a:off x="8574024" y="2057400"/>
            <a:ext cx="146304" cy="146304"/>
          </a:xfrm>
          <a:prstGeom prst="ellipse">
            <a:avLst/>
          </a:prstGeom>
          <a:solidFill>
            <a:srgbClr val="E0E595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latin typeface="Noto Sans CJK KR"/>
              </a:defRPr>
            </a:pPr>
            <a:r>
              <a:rPr sz="800"/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5792" y="2706624"/>
            <a:ext cx="932688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명명 규칙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78480" y="2706624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1 네임스페이스명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95800" y="2706624"/>
            <a:ext cx="591616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대구분 (어플리케이션 그룹) 코드 (2) + 업무구분 (어플리케이션) 코드 (2) (예시. mpco, mpic, bicr)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78480" y="3182112"/>
            <a:ext cx="14173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2 테넌트 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5800" y="3182112"/>
            <a:ext cx="59161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“obstenant02”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78480" y="3438144"/>
            <a:ext cx="14173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3 기본 도메인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5800" y="3438144"/>
            <a:ext cx="59161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“obs.nafc.nonghyup.com/rest”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78480" y="3694176"/>
            <a:ext cx="1417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4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95800" y="3694176"/>
            <a:ext cx="591616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연계 대상 업무 코드, 차세대 정보계는 어플리케이션 그룹 코드+어플리케이션 코드+기능 (예시. mpcoa, adcob, rdcoc, bicrd)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78480" y="4169664"/>
            <a:ext cx="1417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5 연월일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5800" y="4169664"/>
            <a:ext cx="59161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YYYYMMDD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78480" y="4389120"/>
            <a:ext cx="14173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910" b="1">
                <a:solidFill>
                  <a:srgbClr val="000000"/>
                </a:solidFill>
                <a:latin typeface="Noto Sans CJK KR"/>
              </a:defRPr>
            </a:pPr>
            <a:r>
              <a:rPr sz="910"/>
              <a:t>6 파일명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95800" y="4389120"/>
            <a:ext cx="59161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해당 파일 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45792" y="5340096"/>
            <a:ext cx="93268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예시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78480" y="5340096"/>
            <a:ext cx="733348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http://mpco.obstenant02.obs.nafc.nonghyup.com/rest/mpcoa/20260707/data.dat</a:t>
            </a:r>
            <a:br>
              <a:rPr sz="830"/>
            </a:br>
            <a:r>
              <a:rPr sz="830"/>
              <a:t>• http://bicr.obstenant02.obs.nafc.nonghyup.com/rest/bicrd/20261231/data.dat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5792" y="5779008"/>
            <a:ext cx="9326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고려 사항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78480" y="5779008"/>
            <a:ext cx="73334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파일 삭제는 해당 업무팀에서 정의한 주기에 따라 업무팀에서 삭제</a:t>
            </a:r>
          </a:p>
        </p:txBody>
      </p:sp>
    </p:spTree>
    <p:extLst>
      <p:ext uri="{BB962C8B-B14F-4D97-AF65-F5344CB8AC3E}">
        <p14:creationId xmlns:p14="http://schemas.microsoft.com/office/powerpoint/2010/main" val="34643722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685800"/>
            <a:ext cx="91440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7120" y="1938528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7120" y="2322576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2. 어플리케이션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120" y="2706624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3. 명명규칙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7120" y="3090672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4.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120" y="3474720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5.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3240" y="1938528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6. FOS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6079" y="2304288"/>
            <a:ext cx="2971800" cy="256032"/>
          </a:xfrm>
          <a:prstGeom prst="rect">
            <a:avLst/>
          </a:prstGeom>
          <a:solidFill>
            <a:srgbClr val="E3F2E4"/>
          </a:solidFill>
          <a:ln w="9525">
            <a:solidFill>
              <a:srgbClr val="E3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3240" y="2322576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7. Report 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3240" y="2706624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8. 개인 정보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240" y="3090672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9. 주석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3240" y="3474720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10. 로그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240" y="3858768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11. 페이징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- 57 -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11751957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- 58 -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74208" y="3977639"/>
            <a:ext cx="1901952" cy="502920"/>
          </a:xfrm>
          <a:prstGeom prst="rect">
            <a:avLst/>
          </a:prstGeom>
          <a:solidFill>
            <a:srgbClr val="DC9614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4707589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685800"/>
            <a:ext cx="91440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7120" y="1938528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7120" y="2322576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2. 어플리케이션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120" y="2706624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3. 명명규칙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7120" y="3090672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4.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120" y="3474720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5.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3240" y="1938528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6. FOS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3240" y="2322576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7. Report 연계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6079" y="2688336"/>
            <a:ext cx="2971800" cy="256032"/>
          </a:xfrm>
          <a:prstGeom prst="rect">
            <a:avLst/>
          </a:prstGeom>
          <a:solidFill>
            <a:srgbClr val="E3F2E4"/>
          </a:solidFill>
          <a:ln w="9525">
            <a:solidFill>
              <a:srgbClr val="E3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73240" y="2706624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8. 개인 정보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279" y="3021543"/>
            <a:ext cx="2377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8.1 처리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3240" y="3090672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9. 주석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240" y="3474720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10. 로그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3240" y="3858768"/>
            <a:ext cx="23774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11. 페이징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- 59 -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25997478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0350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개인 정보 처리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46304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8. 개인 정보 처리</a:t>
            </a:r>
            <a:br>
              <a:rPr sz="800"/>
            </a:br>
            <a:r>
              <a:rPr sz="800"/>
              <a:t>8.1 처리 기준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8256" y="6519673"/>
            <a:ext cx="475488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- 60 -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55665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55665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2640" y="1371600"/>
            <a:ext cx="8046720" cy="25603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암호화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2640" y="1627632"/>
            <a:ext cx="3429000" cy="27432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1639" y="1627632"/>
            <a:ext cx="4617720" cy="27432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2640" y="1901952"/>
            <a:ext cx="1508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개인(신용)</a:t>
            </a:r>
            <a:br>
              <a:rPr sz="1019"/>
            </a:br>
            <a:r>
              <a:rPr sz="1019"/>
              <a:t>정보 대상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1400" y="1901952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60" b="1">
                <a:solidFill>
                  <a:srgbClr val="000000"/>
                </a:solidFill>
                <a:latin typeface="Noto Sans CJK KR"/>
              </a:defRPr>
            </a:pPr>
            <a:r>
              <a:rPr sz="960"/>
              <a:t>고유 식별 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1639" y="1901952"/>
            <a:ext cx="4617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주민등록번호, 여권번호, 운전면허번호, 외국인등록번호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1400" y="2157984"/>
            <a:ext cx="1920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19" b="1">
                <a:solidFill>
                  <a:srgbClr val="000000"/>
                </a:solidFill>
                <a:latin typeface="Noto Sans CJK KR"/>
              </a:defRPr>
            </a:pPr>
            <a:r>
              <a:rPr sz="919"/>
              <a:t>비밀번호, 바이오 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1639" y="2157984"/>
            <a:ext cx="4617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760" b="0">
                <a:solidFill>
                  <a:srgbClr val="000000"/>
                </a:solidFill>
                <a:latin typeface="Noto Sans CJK KR"/>
              </a:defRPr>
            </a:pPr>
            <a:r>
              <a:rPr sz="760"/>
              <a:t>• 비밀번호는 내부 사용자, 이용자(고객) 비밀번호</a:t>
            </a:r>
            <a:br>
              <a:rPr sz="760"/>
            </a:br>
            <a:r>
              <a:rPr sz="760"/>
              <a:t>• 이용자 비밀번호는 예금거래, 주식거래, 보험청약 등에서 핵심이 되는 정보로서 접속용 비밀번호, 원장비밀번호, 이체비밀번호, 일회용비밀번호, 현금카드비밀번호, 신용카드비밀번호 등 당행이 보관하고 있는 이용자의 모든 비밀번호</a:t>
            </a:r>
            <a:br>
              <a:rPr sz="760"/>
            </a:br>
            <a:r>
              <a:rPr sz="760"/>
              <a:t>• 바이오정보는 식별 및 인증 등의 기능에 사용되는 경우로 한정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2640" y="2999232"/>
            <a:ext cx="3429000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40" b="1">
                <a:solidFill>
                  <a:srgbClr val="000000"/>
                </a:solidFill>
                <a:latin typeface="Noto Sans CJK KR"/>
              </a:defRPr>
            </a:pPr>
            <a:r>
              <a:rPr sz="940"/>
              <a:t>개인(신용)정보 암호화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1639" y="2999232"/>
            <a:ext cx="46177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30" b="0">
                <a:solidFill>
                  <a:srgbClr val="000000"/>
                </a:solidFill>
                <a:latin typeface="Noto Sans CJK KR"/>
              </a:defRPr>
            </a:pPr>
            <a:r>
              <a:rPr sz="830"/>
              <a:t>• 비밀번호 일방향 암호화 (복호화 불가)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72640" y="3383280"/>
            <a:ext cx="8046720" cy="25603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마스킹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72640" y="3639312"/>
            <a:ext cx="3429000" cy="27432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1639" y="3639312"/>
            <a:ext cx="4617720" cy="274320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설명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2640" y="3913632"/>
            <a:ext cx="1508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19" b="1">
                <a:solidFill>
                  <a:srgbClr val="000000"/>
                </a:solidFill>
                <a:latin typeface="Noto Sans CJK KR"/>
              </a:defRPr>
            </a:pPr>
            <a:r>
              <a:rPr sz="1019"/>
              <a:t>개인(신용)</a:t>
            </a:r>
            <a:br>
              <a:rPr sz="1019"/>
            </a:br>
            <a:r>
              <a:rPr sz="1019"/>
              <a:t>정보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1400" y="3913632"/>
            <a:ext cx="1920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40" b="1">
                <a:solidFill>
                  <a:srgbClr val="000000"/>
                </a:solidFill>
                <a:latin typeface="Noto Sans CJK KR"/>
              </a:defRPr>
            </a:pPr>
            <a:r>
              <a:rPr sz="940"/>
              <a:t>고유 식별 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1639" y="3913632"/>
            <a:ext cx="461772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• 주민등록번호, 여권번호, 운전면허번호, 외국인등록번호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1400" y="4133088"/>
            <a:ext cx="1920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40" b="1">
                <a:solidFill>
                  <a:srgbClr val="000000"/>
                </a:solidFill>
                <a:latin typeface="Noto Sans CJK KR"/>
              </a:defRPr>
            </a:pPr>
            <a:r>
              <a:rPr sz="940"/>
              <a:t>개인 식별 정보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1639" y="4133088"/>
            <a:ext cx="4617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• 고유식별정보, 국내거소신고번호, 성명, 주소, 성별, 연락처 등 개인을 식별할 수 있도록 부여된 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1400" y="4425696"/>
            <a:ext cx="640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개인</a:t>
            </a:r>
            <a:br>
              <a:rPr sz="900"/>
            </a:br>
            <a:r>
              <a:rPr sz="900"/>
              <a:t>(신용)</a:t>
            </a:r>
            <a:br>
              <a:rPr sz="900"/>
            </a:br>
            <a:r>
              <a:rPr sz="900"/>
              <a:t>정보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1480" y="4425696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60" b="1">
                <a:solidFill>
                  <a:srgbClr val="000000"/>
                </a:solidFill>
                <a:latin typeface="Noto Sans CJK KR"/>
              </a:defRPr>
            </a:pPr>
            <a:r>
              <a:rPr sz="860"/>
              <a:t>개인신용정보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1639" y="4425696"/>
            <a:ext cx="4617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• 거래 상대방의 신용도 판단에 필요한 개인에 관한 정보</a:t>
            </a:r>
            <a:br>
              <a:rPr sz="800"/>
            </a:br>
            <a:r>
              <a:rPr sz="800"/>
              <a:t>(카드번호, 계좌번호, 연체, 부도, 소득 등)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1480" y="4681728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40" b="1">
                <a:solidFill>
                  <a:srgbClr val="000000"/>
                </a:solidFill>
                <a:latin typeface="Noto Sans CJK KR"/>
              </a:defRPr>
            </a:pPr>
            <a:r>
              <a:rPr sz="840"/>
              <a:t>그 밖의</a:t>
            </a:r>
            <a:br>
              <a:rPr sz="840"/>
            </a:br>
            <a:r>
              <a:rPr sz="840"/>
              <a:t>개인정보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01639" y="4681728"/>
            <a:ext cx="4617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• 신용도 판단과 무관한 정보로서 개인에 관한 정보</a:t>
            </a:r>
            <a:br>
              <a:rPr sz="800"/>
            </a:br>
            <a:r>
              <a:rPr sz="800"/>
              <a:t>(성명, 영상정보, 임직원 정보 등)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72640" y="4937760"/>
            <a:ext cx="3429000" cy="201168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개인(신용)정보 마스킹 기준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1639" y="4937760"/>
            <a:ext cx="4617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• “[Backup] 개인(신용)정보 마스킹 처리 대상 및 기준” 참조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2640" y="5138928"/>
            <a:ext cx="3429000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마스킹 처리 대상 매체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01639" y="5138928"/>
            <a:ext cx="4617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780" b="0">
                <a:solidFill>
                  <a:srgbClr val="000000"/>
                </a:solidFill>
                <a:latin typeface="Noto Sans CJK KR"/>
              </a:defRPr>
            </a:pPr>
            <a:r>
              <a:rPr sz="780"/>
              <a:t>• 화면표시: 모니터 화면 상 출력 상태</a:t>
            </a:r>
            <a:br>
              <a:rPr sz="780"/>
            </a:br>
            <a:r>
              <a:rPr sz="780"/>
              <a:t>• 파일 생성 또는 인쇄 등 출력: 엑셀 전환 또는 인쇄 버튼이 활성화되어 있는 상태 (캡처 기능 제외)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0928" y="6355081"/>
            <a:ext cx="502920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※ 상세 내용은 “NH제공_개인정보 처리 지침(암호화,마스킹 패턴)” 참조</a:t>
            </a:r>
          </a:p>
        </p:txBody>
      </p:sp>
    </p:spTree>
    <p:extLst>
      <p:ext uri="{BB962C8B-B14F-4D97-AF65-F5344CB8AC3E}">
        <p14:creationId xmlns:p14="http://schemas.microsoft.com/office/powerpoint/2010/main" val="27408131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583680" cy="69557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[BackUp] 개인(신용)정보 마스킹 처리 대상 및 기준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5544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8. 개인 정보 처리</a:t>
            </a:r>
            <a:br>
              <a:rPr sz="800"/>
            </a:br>
            <a:r>
              <a:rPr sz="800"/>
              <a:t>8.1 처리 기준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- 61 -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2640" y="1261872"/>
            <a:ext cx="585216" cy="34747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7856" y="1261872"/>
            <a:ext cx="1417320" cy="34747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75176" y="1261872"/>
            <a:ext cx="3063240" cy="34747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개인(신용)정보 마스킹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8416" y="1261872"/>
            <a:ext cx="2194560" cy="34747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2640" y="1609343"/>
            <a:ext cx="585216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고유</a:t>
            </a:r>
            <a:br>
              <a:rPr sz="1200"/>
            </a:br>
            <a:r>
              <a:rPr sz="1200"/>
              <a:t>식별</a:t>
            </a:r>
            <a:br>
              <a:rPr sz="1200"/>
            </a:br>
            <a:r>
              <a:rPr sz="1200"/>
              <a:t>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7856" y="1609343"/>
            <a:ext cx="1417320" cy="38404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주민등록번호 (외국인등록번호 포함)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75176" y="1609343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주민등록번호 뒷자리 중 뒤에서부터 6자리 마스킹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8416" y="1609343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• 180528-4******, 501210-5******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7856" y="1993391"/>
            <a:ext cx="1417320" cy="420624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운전면허번호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5176" y="1993391"/>
            <a:ext cx="30632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운전면허번호 중 뒤에서부터 5자리 마스킹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8416" y="1993391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• 11-12-123**-**</a:t>
            </a:r>
            <a:br>
              <a:rPr sz="860"/>
            </a:br>
            <a:r>
              <a:rPr sz="860"/>
              <a:t>• 11-111***-**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7856" y="2414015"/>
            <a:ext cx="1417320" cy="45720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여권번호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75176" y="2414015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여권번호 중 뒤에서부터 4자리 마스킹 처리</a:t>
            </a:r>
            <a:br>
              <a:rPr sz="860"/>
            </a:br>
            <a:r>
              <a:rPr sz="860"/>
              <a:t>※유형 (9자리): AB1234567, A12345678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8416" y="2414015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• AB123****, A1234****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72640" y="2871215"/>
            <a:ext cx="585216" cy="38770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개인</a:t>
            </a:r>
            <a:br>
              <a:rPr sz="1200"/>
            </a:br>
            <a:r>
              <a:rPr sz="1200"/>
              <a:t>식별</a:t>
            </a:r>
            <a:br>
              <a:rPr sz="1200"/>
            </a:br>
            <a:r>
              <a:rPr sz="1200"/>
              <a:t>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7856" y="2871215"/>
            <a:ext cx="1417320" cy="47548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성명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75176" y="2871215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첫 번째 글자와 마지막 글자를 제외한 나머지 마스킹 처리</a:t>
            </a:r>
            <a:br>
              <a:rPr sz="850"/>
            </a:br>
            <a:r>
              <a:rPr sz="850"/>
              <a:t>(단, 외자의 경우 마지막 글자만 마스킹 처리)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8416" y="2871215"/>
            <a:ext cx="2194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김*, 김*동, 김**동, 김*****리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7856" y="3346703"/>
            <a:ext cx="1417320" cy="38404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성명(영문)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75176" y="3346703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앞 4자리를 제외한 나머지 마스킹 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8416" y="3346703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KIM M*******, JANG *********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7856" y="3730752"/>
            <a:ext cx="1417320" cy="45720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주소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75176" y="3730752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읍·면·동(도로명 주소는 길)을 제외한 나머지 마스킹 처리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8416" y="3730752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서울특별시 중구 통일로7길 ***</a:t>
            </a:r>
            <a:br>
              <a:rPr sz="840"/>
            </a:br>
            <a:r>
              <a:rPr sz="840"/>
              <a:t>• 서울 서대문구 창천동 ***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7856" y="4187952"/>
            <a:ext cx="1417320" cy="38404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전화번호, 휴대폰번호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75176" y="4187952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국번/번호 앞 2자리 이내로 노출, 나머지 마스킹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8416" y="4187952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02-12**-12**, 010-12**-12**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7856" y="4572000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이메일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75176" y="4572000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앞 3자리를 제외한 나머지 마스킹 처리(도메인 제외)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8416" y="457200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abc***@nonghyup.com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7856" y="4882896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아이디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75176" y="4882896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앞 3자리를 제외한 나머지 마스킹 처리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8416" y="4882896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abc*****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7856" y="5193792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I-PIN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75176" y="5193792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I-PIN 중 뒤에서부터 5자리 마스킹 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8416" y="5193792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132*****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7856" y="5504688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고객번호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75176" y="5504688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뒤에서부터 5자리 마스킹 처리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8416" y="550468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12345*****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7856" y="5815583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개인번호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75176" y="5815583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뒤에서부터 4자리 마스킹 처리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8416" y="5815583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1530****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7856" y="6126479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75176" y="6126479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88자리의 숫자 중 앞 7자리 노출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8416" y="6126479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cDR34cv****~****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57856" y="6437375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고객의 IP주소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75176" y="6437375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앞에서부터 3자리 변환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8416" y="6437375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***.1.1.2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72640" y="6748271"/>
            <a:ext cx="585216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50" b="1">
                <a:solidFill>
                  <a:srgbClr val="000000"/>
                </a:solidFill>
                <a:latin typeface="Noto Sans CJK KR"/>
              </a:defRPr>
            </a:pPr>
            <a:r>
              <a:rPr sz="1150"/>
              <a:t>개인</a:t>
            </a:r>
            <a:br>
              <a:rPr sz="1150"/>
            </a:br>
            <a:r>
              <a:rPr sz="1150"/>
              <a:t>(신용)</a:t>
            </a:r>
            <a:br>
              <a:rPr sz="1150"/>
            </a:br>
            <a:r>
              <a:rPr sz="1150"/>
              <a:t>정보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7856" y="6748271"/>
            <a:ext cx="1417320" cy="36576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계좌번호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75176" y="6748271"/>
            <a:ext cx="3063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뒤에서부터 5자리 마스킹 처리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8416" y="6748271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• 430-02-1*****, 301-0000-00**-**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7856" y="7114031"/>
            <a:ext cx="1417320" cy="59436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카드번호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75176" y="7114031"/>
            <a:ext cx="3063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카드번호 중 처음 6자리와 마지막 4자리 이내 노출, 나머지 마스킹 처리</a:t>
            </a:r>
            <a:br>
              <a:rPr sz="810"/>
            </a:br>
            <a:r>
              <a:rPr sz="810"/>
              <a:t>※ 국제카드업계 표준 (PCI-DSS) 준용</a:t>
            </a:r>
            <a:br>
              <a:rPr sz="810"/>
            </a:br>
            <a:r>
              <a:rPr sz="810"/>
              <a:t>※ Amex 15자리 카드는 4시6형식 적용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8416" y="7114031"/>
            <a:ext cx="21945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• [16자리인 경우] 1234-56**-****-3456</a:t>
            </a:r>
            <a:br>
              <a:rPr sz="810"/>
            </a:br>
            <a:r>
              <a:rPr sz="810"/>
              <a:t>• [15자리인 경우] 1234-56**-***-345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57856" y="7708392"/>
            <a:ext cx="1417320" cy="347472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카드유효기간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75176" y="7708392"/>
            <a:ext cx="3063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연/월은 모두 마스킹</a:t>
            </a:r>
            <a:br>
              <a:rPr sz="810"/>
            </a:br>
            <a:r>
              <a:rPr sz="810"/>
              <a:t>※ 매출 시 유효기간 표시제한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8416" y="7708392"/>
            <a:ext cx="2194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• **/**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7856" y="8055864"/>
            <a:ext cx="1417320" cy="38404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00" b="0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CAV2, CVC2,</a:t>
            </a:r>
            <a:br>
              <a:rPr sz="900"/>
            </a:br>
            <a:r>
              <a:rPr sz="900"/>
              <a:t>CVV2, CID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75176" y="8055864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r>
              <a:rPr sz="810"/>
              <a:t>발급된 실물 카드 외 저장, 출력 금지</a:t>
            </a:r>
            <a:br>
              <a:rPr sz="810"/>
            </a:br>
            <a:r>
              <a:rPr sz="810"/>
              <a:t>검증 목적 외 사용 금지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8416" y="8055864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10" b="0">
                <a:solidFill>
                  <a:srgbClr val="000000"/>
                </a:solidFill>
                <a:latin typeface="Noto Sans CJK KR"/>
              </a:defRPr>
            </a:pPr>
            <a:endParaRPr sz="810"/>
          </a:p>
        </p:txBody>
      </p:sp>
    </p:spTree>
    <p:extLst>
      <p:ext uri="{BB962C8B-B14F-4D97-AF65-F5344CB8AC3E}">
        <p14:creationId xmlns:p14="http://schemas.microsoft.com/office/powerpoint/2010/main" val="29661946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583680" cy="69557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[BackUp] 개인(신용)정보 마스킹 처리 대상 및 기준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5544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8. 개인 정보 처리</a:t>
            </a:r>
            <a:br>
              <a:rPr sz="800"/>
            </a:br>
            <a:r>
              <a:rPr sz="800"/>
              <a:t>8.1 처리 기준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- 62 -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2640" y="1261872"/>
            <a:ext cx="585216" cy="34747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7856" y="1261872"/>
            <a:ext cx="1417320" cy="34747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75176" y="1261872"/>
            <a:ext cx="3063240" cy="34747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개인(신용)정보 마스킹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8416" y="1261872"/>
            <a:ext cx="2194560" cy="347472"/>
          </a:xfrm>
          <a:prstGeom prst="rect">
            <a:avLst/>
          </a:prstGeom>
          <a:solidFill>
            <a:srgbClr val="1D6E3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2640" y="1609343"/>
            <a:ext cx="585216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고유</a:t>
            </a:r>
            <a:br>
              <a:rPr sz="1200"/>
            </a:br>
            <a:r>
              <a:rPr sz="1200"/>
              <a:t>식별</a:t>
            </a:r>
            <a:br>
              <a:rPr sz="1200"/>
            </a:br>
            <a:r>
              <a:rPr sz="1200"/>
              <a:t>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7856" y="1609343"/>
            <a:ext cx="1417320" cy="38404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주민등록번호 (외국인등록번호 포함)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75176" y="1609343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주민등록번호 뒷자리 중 뒤에서부터 6자리 마스킹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8416" y="1609343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• 180528-4******, 501210-5******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7856" y="1993391"/>
            <a:ext cx="1417320" cy="420624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운전면허번호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5176" y="1993391"/>
            <a:ext cx="30632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운전면허번호 중 뒤에서부터 5자리 마스킹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8416" y="1993391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• 11-12-123**-**</a:t>
            </a:r>
            <a:br>
              <a:rPr sz="860"/>
            </a:br>
            <a:r>
              <a:rPr sz="860"/>
              <a:t>• 11-111***-**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7856" y="2414015"/>
            <a:ext cx="1417320" cy="45720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여권번호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75176" y="2414015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여권번호 중 뒤에서부터 4자리 마스킹 처리</a:t>
            </a:r>
            <a:br>
              <a:rPr sz="860"/>
            </a:br>
            <a:r>
              <a:rPr sz="860"/>
              <a:t>※유형 (9자리): AB1234567, A12345678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8416" y="2414015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• AB123****, A1234****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72640" y="2871215"/>
            <a:ext cx="585216" cy="38770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개인</a:t>
            </a:r>
            <a:br>
              <a:rPr sz="1200"/>
            </a:br>
            <a:r>
              <a:rPr sz="1200"/>
              <a:t>식별</a:t>
            </a:r>
            <a:br>
              <a:rPr sz="1200"/>
            </a:br>
            <a:r>
              <a:rPr sz="1200"/>
              <a:t>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7856" y="2871215"/>
            <a:ext cx="1417320" cy="47548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성명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75176" y="2871215"/>
            <a:ext cx="3063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첫 번째 글자와 마지막 글자를 제외한 나머지 마스킹 처리</a:t>
            </a:r>
            <a:br>
              <a:rPr sz="850"/>
            </a:br>
            <a:r>
              <a:rPr sz="850"/>
              <a:t>(단, 외자의 경우 마지막 글자만 마스킹 처리)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8416" y="2871215"/>
            <a:ext cx="2194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김*, 김*동, 김**동, 김*****리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7856" y="3346703"/>
            <a:ext cx="1417320" cy="38404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성명(영문)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75176" y="3346703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앞 4자리를 제외한 나머지 마스킹 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8416" y="3346703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KIM M*******, JANG *********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7856" y="3730752"/>
            <a:ext cx="1417320" cy="457200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주소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75176" y="3730752"/>
            <a:ext cx="3063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읍·면·동(도로명 주소는 길)을 제외한 나머지 마스킹 처리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8416" y="3730752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서울특별시 중구 통일로7길 ***</a:t>
            </a:r>
            <a:br>
              <a:rPr sz="840"/>
            </a:br>
            <a:r>
              <a:rPr sz="840"/>
              <a:t>• 서울 서대문구 창천동 ***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7856" y="4187952"/>
            <a:ext cx="1417320" cy="384048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전화번호, 휴대폰번호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75176" y="4187952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국번/번호 앞 2자리 이내로 노출, 나머지 마스킹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8416" y="4187952"/>
            <a:ext cx="2194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02-12**-12**, 010-12**-12**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7856" y="4572000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이메일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75176" y="4572000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앞 3자리를 제외한 나머지 마스킹 처리(도메인 제외)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8416" y="457200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abc***@nonghyup.com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7856" y="4882896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아이디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75176" y="4882896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앞 3자리를 제외한 나머지 마스킹 처리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8416" y="4882896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abc*****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7856" y="5193792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I-PIN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75176" y="5193792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I-PIN 중 뒤에서부터 5자리 마스킹 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8416" y="5193792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132*****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7856" y="5504688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고객번호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75176" y="5504688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뒤에서부터 5자리 마스킹 처리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8416" y="550468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12345*****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7856" y="5815583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개인번호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75176" y="5815583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뒤에서부터 4자리 마스킹 처리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8416" y="5815583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1530****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7856" y="6126479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75176" y="6126479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88자리의 숫자 중 앞 7자리 노출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8416" y="6126479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cDR34cv****~****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57856" y="6437375"/>
            <a:ext cx="1417320" cy="310896"/>
          </a:xfrm>
          <a:prstGeom prst="rect">
            <a:avLst/>
          </a:prstGeom>
          <a:solidFill>
            <a:srgbClr val="E0EFE6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고객의 IP주소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75176" y="6437375"/>
            <a:ext cx="30632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앞에서부터 3자리 변환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8416" y="6437375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t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***.1.1.2</a:t>
            </a:r>
          </a:p>
        </p:txBody>
      </p:sp>
    </p:spTree>
    <p:extLst>
      <p:ext uri="{BB962C8B-B14F-4D97-AF65-F5344CB8AC3E}">
        <p14:creationId xmlns:p14="http://schemas.microsoft.com/office/powerpoint/2010/main" val="32406019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685800"/>
            <a:ext cx="91440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7120" y="1938528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7120" y="2322576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2. 어플리케이션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120" y="2706624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3. 명명규칙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7120" y="3090672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4.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120" y="3474720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5.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3240" y="193852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6. FOS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3240" y="2322576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7. Report 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3240" y="2706624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8. 개인 정보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6079" y="3072385"/>
            <a:ext cx="2971800" cy="203133"/>
          </a:xfrm>
          <a:prstGeom prst="rect">
            <a:avLst/>
          </a:prstGeom>
          <a:solidFill>
            <a:srgbClr val="E3F2E4"/>
          </a:solidFill>
          <a:ln w="9525">
            <a:solidFill>
              <a:srgbClr val="E3F2E4"/>
            </a:solidFill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6873240" y="3090672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9. 주석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559" y="3405591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9.1 정보 단말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559" y="3643335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9.2 온라인 프레임워크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7559" y="3881079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9.3 배치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3240" y="3474720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10. 로그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3240" y="385876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11. 페이징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- 63 -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20562929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58368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파일 주석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5544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9. 주석 처리</a:t>
            </a:r>
            <a:br>
              <a:rPr sz="800"/>
            </a:br>
            <a:r>
              <a:rPr sz="800"/>
              <a:t>9.1 정보 단말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43584"/>
            <a:ext cx="804672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화면에 대한 개요 및 수정 사항을 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- 64 -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8361" y="2029968"/>
            <a:ext cx="8183879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2" name="TextBox 11"/>
          <p:cNvSpPr txBox="1"/>
          <p:nvPr/>
        </p:nvSpPr>
        <p:spPr>
          <a:xfrm>
            <a:off x="2200657" y="2084832"/>
            <a:ext cx="7955279" cy="246529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60" b="0">
                <a:solidFill>
                  <a:srgbClr val="000000"/>
                </a:solidFill>
                <a:latin typeface="Courier New"/>
              </a:defRPr>
            </a:pPr>
            <a:r>
              <a:rPr sz="1060"/>
              <a:t>/*</a:t>
            </a:r>
            <a:br>
              <a:rPr sz="1060"/>
            </a:br>
            <a:r>
              <a:rPr sz="1060"/>
              <a:t>===============================================================================</a:t>
            </a:r>
            <a:br>
              <a:rPr sz="1060"/>
            </a:br>
            <a:r>
              <a:rPr sz="1060"/>
              <a:t>파일명      : index.WEBTOP.xml</a:t>
            </a:r>
            <a:br>
              <a:rPr sz="1060"/>
            </a:br>
            <a:r>
              <a:rPr sz="1060"/>
              <a:t>프로그램명  : 단말 시작 화면</a:t>
            </a:r>
            <a:br>
              <a:rPr sz="1060"/>
            </a:br>
            <a:r>
              <a:rPr sz="1060"/>
              <a:t>설명        : 단말 시작 화면</a:t>
            </a:r>
            <a:br>
              <a:rPr sz="1060"/>
            </a:br>
            <a:r>
              <a:rPr sz="1060"/>
              <a:t>작성자      : 홍길동</a:t>
            </a:r>
            <a:br>
              <a:rPr sz="1060"/>
            </a:br>
            <a:r>
              <a:rPr sz="1060"/>
              <a:t>작성일      : 2026.XX.XX</a:t>
            </a:r>
            <a:br>
              <a:rPr sz="1060"/>
            </a:br>
            <a:r>
              <a:rPr sz="1060"/>
              <a:t/>
            </a:r>
            <a:br>
              <a:rPr sz="1060"/>
            </a:br>
            <a:r>
              <a:rPr sz="1060"/>
              <a:t>순번   수정일자      수정자    수정내용</a:t>
            </a:r>
            <a:br>
              <a:rPr sz="1060"/>
            </a:br>
            <a:r>
              <a:rPr sz="1060"/>
              <a:t>===============================================================================</a:t>
            </a:r>
            <a:br>
              <a:rPr sz="1060"/>
            </a:br>
            <a:r>
              <a:rPr sz="1060"/>
              <a:t>  1   2026.XX.XX    홍길동    최초작성</a:t>
            </a:r>
            <a:br>
              <a:rPr sz="1060"/>
            </a:br>
            <a:r>
              <a:rPr sz="1060"/>
              <a:t>  2   2026.YY.YY    아무개    수정내용 1</a:t>
            </a:r>
            <a:br>
              <a:rPr sz="1060"/>
            </a:br>
            <a:r>
              <a:rPr sz="1060"/>
              <a:t>  3   2026.ZZ.ZZ    아무개    수정내용 2</a:t>
            </a:r>
            <a:br>
              <a:rPr sz="1060"/>
            </a:br>
            <a:r>
              <a:rPr sz="1060"/>
              <a:t>===============================================================================</a:t>
            </a:r>
            <a:br>
              <a:rPr sz="1060"/>
            </a:br>
            <a:r>
              <a:rPr sz="1060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40996176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58368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함수 주석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5544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9. 주석 처리</a:t>
            </a:r>
            <a:br>
              <a:rPr sz="800"/>
            </a:br>
            <a:r>
              <a:rPr sz="800"/>
              <a:t>9.1 정보 단말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43584"/>
            <a:ext cx="804672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함수에 대한 개요 및 파라미터, 리턴 값을 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- 65 -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8361" y="2029968"/>
            <a:ext cx="8183879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2" name="TextBox 11"/>
          <p:cNvSpPr txBox="1"/>
          <p:nvPr/>
        </p:nvSpPr>
        <p:spPr>
          <a:xfrm>
            <a:off x="2200657" y="2084832"/>
            <a:ext cx="7955279" cy="149579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rPr sz="1200"/>
              <a:t>/*</a:t>
            </a:r>
            <a:br>
              <a:rPr sz="1200"/>
            </a:br>
            <a:r>
              <a:rPr sz="1200"/>
              <a:t>--------------------------------------------------------------</a:t>
            </a:r>
            <a:br>
              <a:rPr sz="1200"/>
            </a:br>
            <a:r>
              <a:rPr sz="1200"/>
              <a:t>함수명   : fn_initValue</a:t>
            </a:r>
            <a:br>
              <a:rPr sz="1200"/>
            </a:br>
            <a:r>
              <a:rPr sz="1200"/>
              <a:t>설명     : 함수 설명</a:t>
            </a:r>
            <a:br>
              <a:rPr sz="1200"/>
            </a:br>
            <a:r>
              <a:rPr sz="1200"/>
              <a:t>파라미터 : {타입} 파라미터 명, 파라미터 설명</a:t>
            </a:r>
            <a:br>
              <a:rPr sz="1200"/>
            </a:br>
            <a:r>
              <a:rPr sz="1200"/>
              <a:t>리턴값   : {타입} 리턴값 설명</a:t>
            </a:r>
            <a:br>
              <a:rPr sz="1200"/>
            </a:br>
            <a:r>
              <a:rPr sz="1200"/>
              <a:t>--------------------------------------------------------------</a:t>
            </a:r>
            <a:br>
              <a:rPr sz="1200"/>
            </a:br>
            <a:r>
              <a:rPr sz="1200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33731536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58368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Class 주석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5544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9. 주석 처리</a:t>
            </a:r>
            <a:br>
              <a:rPr sz="800"/>
            </a:br>
            <a:r>
              <a:rPr sz="800"/>
              <a:t>9.2 온라인 프레임워크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43584"/>
            <a:ext cx="804672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Class의 작성자와 기능을 설명하기 위한 주석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- 66 -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8361" y="2029968"/>
            <a:ext cx="8183879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2" name="TextBox 11"/>
          <p:cNvSpPr txBox="1"/>
          <p:nvPr/>
        </p:nvSpPr>
        <p:spPr>
          <a:xfrm>
            <a:off x="2200657" y="2084833"/>
            <a:ext cx="7955279" cy="3527119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50" b="0">
                <a:solidFill>
                  <a:srgbClr val="000000"/>
                </a:solidFill>
                <a:latin typeface="Courier New"/>
              </a:defRPr>
            </a:pPr>
            <a:r>
              <a:rPr sz="950"/>
              <a:t>/**</a:t>
            </a:r>
            <a:br>
              <a:rPr sz="950"/>
            </a:br>
            <a:r>
              <a:rPr sz="950"/>
              <a:t> * @Class       : 프로그램 명</a:t>
            </a:r>
            <a:br>
              <a:rPr sz="950"/>
            </a:br>
            <a:r>
              <a:rPr sz="950"/>
              <a:t> * @Author      : 작성자</a:t>
            </a:r>
            <a:br>
              <a:rPr sz="950"/>
            </a:br>
            <a:r>
              <a:rPr sz="950"/>
              <a:t> * @Date        : 작성일자</a:t>
            </a:r>
            <a:br>
              <a:rPr sz="950"/>
            </a:br>
            <a:r>
              <a:rPr sz="950"/>
              <a:t> * @Description : 프로그램 설명</a:t>
            </a:r>
            <a:br>
              <a:rPr sz="950"/>
            </a:br>
            <a:r>
              <a:rPr sz="950"/>
              <a:t> * ===============================================================</a:t>
            </a:r>
            <a:br>
              <a:rPr sz="950"/>
            </a:br>
            <a:r>
              <a:rPr sz="950"/>
              <a:t> * DATE           AUTHOR        DES</a:t>
            </a:r>
            <a:br>
              <a:rPr sz="950"/>
            </a:br>
            <a:r>
              <a:rPr sz="950"/>
              <a:t> * ===============================================================</a:t>
            </a:r>
            <a:br>
              <a:rPr sz="950"/>
            </a:br>
            <a:r>
              <a:rPr sz="950"/>
              <a:t> */</a:t>
            </a:r>
            <a:br>
              <a:rPr sz="950"/>
            </a:br>
            <a:r>
              <a:rPr sz="950"/>
              <a:t>package abc;</a:t>
            </a:r>
            <a:br>
              <a:rPr sz="950"/>
            </a:br>
            <a:r>
              <a:rPr sz="950"/>
              <a:t/>
            </a:r>
            <a:br>
              <a:rPr sz="950"/>
            </a:br>
            <a:r>
              <a:rPr sz="950"/>
              <a:t>[예시]</a:t>
            </a:r>
            <a:br>
              <a:rPr sz="950"/>
            </a:br>
            <a:r>
              <a:rPr sz="950"/>
              <a:t/>
            </a:r>
            <a:br>
              <a:rPr sz="950"/>
            </a:br>
            <a:r>
              <a:rPr sz="950"/>
              <a:t>/**</a:t>
            </a:r>
            <a:br>
              <a:rPr sz="950"/>
            </a:br>
            <a:r>
              <a:rPr sz="950"/>
              <a:t> * @Class       : MIBI0001S1Service</a:t>
            </a:r>
            <a:br>
              <a:rPr sz="950"/>
            </a:br>
            <a:r>
              <a:rPr sz="950"/>
              <a:t> * @Author      : CS527226</a:t>
            </a:r>
            <a:br>
              <a:rPr sz="950"/>
            </a:br>
            <a:r>
              <a:rPr sz="950"/>
              <a:t> * @Date        : 2022.07.11.</a:t>
            </a:r>
            <a:br>
              <a:rPr sz="950"/>
            </a:br>
            <a:r>
              <a:rPr sz="950"/>
              <a:t> * @Description : 게시판(MySQL) - 게시글 상세 조회</a:t>
            </a:r>
            <a:br>
              <a:rPr sz="950"/>
            </a:br>
            <a:r>
              <a:rPr sz="950"/>
              <a:t> * ================================================</a:t>
            </a:r>
            <a:br>
              <a:rPr sz="950"/>
            </a:br>
            <a:r>
              <a:rPr sz="950"/>
              <a:t> * DATE                 AUTHOR                DES</a:t>
            </a:r>
            <a:br>
              <a:rPr sz="950"/>
            </a:br>
            <a:r>
              <a:rPr sz="950"/>
              <a:t> * ================================================</a:t>
            </a:r>
            <a:br>
              <a:rPr sz="950"/>
            </a:br>
            <a:r>
              <a:rPr sz="950"/>
              <a:t> * 2022.07.11           CS527226              최초 생성</a:t>
            </a:r>
            <a:br>
              <a:rPr sz="950"/>
            </a:br>
            <a:r>
              <a:rPr sz="950"/>
              <a:t> */</a:t>
            </a:r>
            <a:br>
              <a:rPr sz="950"/>
            </a:br>
            <a:r>
              <a:rPr sz="950"/>
              <a:t>package com.nhbank.ins.service.mi.bi;</a:t>
            </a:r>
          </a:p>
        </p:txBody>
      </p:sp>
    </p:spTree>
    <p:extLst>
      <p:ext uri="{BB962C8B-B14F-4D97-AF65-F5344CB8AC3E}">
        <p14:creationId xmlns:p14="http://schemas.microsoft.com/office/powerpoint/2010/main" val="25000187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58368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Method 주석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5544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9. 주석 처리</a:t>
            </a:r>
            <a:br>
              <a:rPr sz="800"/>
            </a:br>
            <a:r>
              <a:rPr sz="800"/>
              <a:t>9.2 온라인 프레임워크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43584"/>
            <a:ext cx="804672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Method의 작성자와 기능을 설명하기 위한 주석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- 67 -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8361" y="2029968"/>
            <a:ext cx="8183879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2" name="TextBox 11"/>
          <p:cNvSpPr txBox="1"/>
          <p:nvPr/>
        </p:nvSpPr>
        <p:spPr>
          <a:xfrm>
            <a:off x="2200657" y="2084832"/>
            <a:ext cx="7955279" cy="349018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40" b="0">
                <a:solidFill>
                  <a:srgbClr val="000000"/>
                </a:solidFill>
                <a:latin typeface="Courier New"/>
              </a:defRPr>
            </a:pPr>
            <a:r>
              <a:rPr sz="940"/>
              <a:t>/**</a:t>
            </a:r>
            <a:br>
              <a:rPr sz="940"/>
            </a:br>
            <a:r>
              <a:rPr sz="940"/>
              <a:t> * @description : 메소드 설명</a:t>
            </a:r>
            <a:br>
              <a:rPr sz="940"/>
            </a:br>
            <a:r>
              <a:rPr sz="940"/>
              <a:t> * @method      : 메소드 명</a:t>
            </a:r>
            <a:br>
              <a:rPr sz="940"/>
            </a:br>
            <a:r>
              <a:rPr sz="940"/>
              <a:t> * @author      : 작성자</a:t>
            </a:r>
            <a:br>
              <a:rPr sz="940"/>
            </a:br>
            <a:r>
              <a:rPr sz="940"/>
              <a:t> * @param       : 파라미터</a:t>
            </a:r>
            <a:br>
              <a:rPr sz="940"/>
            </a:br>
            <a:r>
              <a:rPr sz="940"/>
              <a:t> * @return      : 리턴타입</a:t>
            </a:r>
            <a:br>
              <a:rPr sz="940"/>
            </a:br>
            <a:r>
              <a:rPr sz="940"/>
              <a:t> * @throws      : exception 타입</a:t>
            </a:r>
            <a:br>
              <a:rPr sz="940"/>
            </a:br>
            <a:r>
              <a:rPr sz="940"/>
              <a:t> * @date        : 작성일자</a:t>
            </a:r>
            <a:br>
              <a:rPr sz="940"/>
            </a:br>
            <a:r>
              <a:rPr sz="940"/>
              <a:t> */</a:t>
            </a:r>
            <a:br>
              <a:rPr sz="940"/>
            </a:br>
            <a:r>
              <a:rPr sz="940"/>
              <a:t/>
            </a:r>
            <a:br>
              <a:rPr sz="940"/>
            </a:br>
            <a:r>
              <a:rPr sz="940"/>
              <a:t>[예시]</a:t>
            </a:r>
            <a:br>
              <a:rPr sz="940"/>
            </a:br>
            <a:r>
              <a:rPr sz="940"/>
              <a:t>/**</a:t>
            </a:r>
            <a:br>
              <a:rPr sz="940"/>
            </a:br>
            <a:r>
              <a:rPr sz="940"/>
              <a:t> * @description : 게시판(MySQL) - 게시글 상세 조회</a:t>
            </a:r>
            <a:br>
              <a:rPr sz="940"/>
            </a:br>
            <a:r>
              <a:rPr sz="940"/>
              <a:t> * @method      : service</a:t>
            </a:r>
            <a:br>
              <a:rPr sz="940"/>
            </a:br>
            <a:r>
              <a:rPr sz="940"/>
              <a:t> * @author      : CS527226</a:t>
            </a:r>
            <a:br>
              <a:rPr sz="940"/>
            </a:br>
            <a:r>
              <a:rPr sz="940"/>
              <a:t> * @param       : input MIBI0001S1_IN_MST 입력 (Dummy)</a:t>
            </a:r>
            <a:br>
              <a:rPr sz="940"/>
            </a:br>
            <a:r>
              <a:rPr sz="940"/>
              <a:t> * @return      : Map&lt;String, Object&gt;</a:t>
            </a:r>
            <a:br>
              <a:rPr sz="940"/>
            </a:br>
            <a:r>
              <a:rPr sz="940"/>
              <a:t> * @throws      : Throwable</a:t>
            </a:r>
            <a:br>
              <a:rPr sz="940"/>
            </a:br>
            <a:r>
              <a:rPr sz="940"/>
              <a:t> * @date        : 2022.07.11.</a:t>
            </a:r>
            <a:br>
              <a:rPr sz="940"/>
            </a:br>
            <a:r>
              <a:rPr sz="940"/>
              <a:t> */</a:t>
            </a:r>
            <a:br>
              <a:rPr sz="940"/>
            </a:br>
            <a:r>
              <a:rPr sz="940"/>
              <a:t/>
            </a:r>
            <a:br>
              <a:rPr sz="940"/>
            </a:br>
            <a:r>
              <a:rPr sz="940"/>
              <a:t>@NonAuthenticated</a:t>
            </a:r>
            <a:br>
              <a:rPr sz="940"/>
            </a:br>
            <a:r>
              <a:rPr sz="940"/>
              <a:t>@Override</a:t>
            </a:r>
            <a:br>
              <a:rPr sz="940"/>
            </a:br>
            <a:r>
              <a:rPr sz="940"/>
              <a:t>public Map&lt;String, Object&gt; service(MIBI0001S1_IN_MST input) throws Throwable {</a:t>
            </a:r>
          </a:p>
        </p:txBody>
      </p:sp>
    </p:spTree>
    <p:extLst>
      <p:ext uri="{BB962C8B-B14F-4D97-AF65-F5344CB8AC3E}">
        <p14:creationId xmlns:p14="http://schemas.microsoft.com/office/powerpoint/2010/main" val="42822392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58368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배치 Shell 주석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5544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9. 주석 처리</a:t>
            </a:r>
            <a:br>
              <a:rPr sz="800"/>
            </a:br>
            <a:r>
              <a:rPr sz="800"/>
              <a:t>9.3 배치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43584"/>
            <a:ext cx="804672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배치 프로그램의 작성자와 기능 등을 설명하기 위한 주석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- 68 -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8361" y="2029968"/>
            <a:ext cx="8183879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2" name="TextBox 11"/>
          <p:cNvSpPr txBox="1"/>
          <p:nvPr/>
        </p:nvSpPr>
        <p:spPr>
          <a:xfrm>
            <a:off x="2200657" y="2084833"/>
            <a:ext cx="7955279" cy="2188291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40" b="0">
                <a:solidFill>
                  <a:srgbClr val="000000"/>
                </a:solidFill>
                <a:latin typeface="Courier New"/>
              </a:defRPr>
            </a:pPr>
            <a:r>
              <a:rPr sz="940"/>
              <a:t>#!/bin/sh</a:t>
            </a:r>
            <a:br>
              <a:rPr sz="940"/>
            </a:br>
            <a:r>
              <a:rPr sz="940"/>
              <a:t/>
            </a:r>
            <a:br>
              <a:rPr sz="940"/>
            </a:br>
            <a:r>
              <a:rPr sz="940"/>
              <a:t>########################################################################################</a:t>
            </a:r>
            <a:br>
              <a:rPr sz="940"/>
            </a:br>
            <a:r>
              <a:rPr sz="940"/>
              <a:t># 프로그램 : Shell 프로그램ID</a:t>
            </a:r>
            <a:br>
              <a:rPr sz="940"/>
            </a:br>
            <a:r>
              <a:rPr sz="940"/>
              <a:t># 배치 명 : Spring Batch 프로그램 ID</a:t>
            </a:r>
            <a:br>
              <a:rPr sz="940"/>
            </a:br>
            <a:r>
              <a:rPr sz="940"/>
              <a:t># 설  명 : 해당 Shell 프로그램이 어떠한 작업을 수행하는지 작성</a:t>
            </a:r>
            <a:br>
              <a:rPr sz="940"/>
            </a:br>
            <a:r>
              <a:rPr sz="940"/>
              <a:t># 실행방법 : Spring Batch 실행 방법 작성, 파라미터가 있을 경우 각 파라미터의 설명 명시 필요</a:t>
            </a:r>
            <a:br>
              <a:rPr sz="940"/>
            </a:br>
            <a:r>
              <a:rPr sz="940"/>
              <a:t># 작성자 : [Spring Batch 최초 개발자 작성]</a:t>
            </a:r>
            <a:br>
              <a:rPr sz="940"/>
            </a:br>
            <a:r>
              <a:rPr sz="940"/>
              <a:t># 작성일 : [Spring Batch 최초 배포 (혹은 최초 Shell Script 작성) 일자 작성]</a:t>
            </a:r>
            <a:br>
              <a:rPr sz="940"/>
            </a:br>
            <a:r>
              <a:rPr sz="940"/>
              <a:t># ------------------------------------------------------------------------------</a:t>
            </a:r>
            <a:br>
              <a:rPr sz="940"/>
            </a:br>
            <a:r>
              <a:rPr sz="940"/>
              <a:t># REVISION / 일자 / 작성자 / 변경이력</a:t>
            </a:r>
            <a:br>
              <a:rPr sz="940"/>
            </a:br>
            <a:r>
              <a:rPr sz="940"/>
              <a:t># [1부터 순차적으로 작성] / [REVISION 작성일자] / [작성자 이름] / [프로그램에서 어떠한 사항이 변경되었는지 작성] : 아래는 예시</a:t>
            </a:r>
            <a:br>
              <a:rPr sz="940"/>
            </a:br>
            <a:r>
              <a:rPr sz="940"/>
              <a:t># 1 / 2022.07.04 / 홍길동 / 최초작성</a:t>
            </a:r>
            <a:br>
              <a:rPr sz="940"/>
            </a:br>
            <a:r>
              <a:rPr sz="940"/>
              <a:t>########################################################################################</a:t>
            </a:r>
          </a:p>
        </p:txBody>
      </p:sp>
    </p:spTree>
    <p:extLst>
      <p:ext uri="{BB962C8B-B14F-4D97-AF65-F5344CB8AC3E}">
        <p14:creationId xmlns:p14="http://schemas.microsoft.com/office/powerpoint/2010/main" val="24683265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685800"/>
            <a:ext cx="91440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7120" y="1938528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7120" y="2322576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2. 어플리케이션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120" y="2706624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3. 명명규칙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7120" y="3090672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4.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120" y="3474720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5.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3240" y="193852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6. FOS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3240" y="2322576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7. Report 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3240" y="2706624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8. 개인 정보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3240" y="3090672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9. 주석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6079" y="3456433"/>
            <a:ext cx="2971800" cy="203133"/>
          </a:xfrm>
          <a:prstGeom prst="rect">
            <a:avLst/>
          </a:prstGeom>
          <a:solidFill>
            <a:srgbClr val="E3F2E4"/>
          </a:solidFill>
          <a:ln w="9525">
            <a:solidFill>
              <a:srgbClr val="E3F2E4"/>
            </a:solidFill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6873240" y="3474720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10. 로그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240" y="385876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11. 페이징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- 69 -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33124379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58368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XXXX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5544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10. 로그 처리</a:t>
            </a:r>
            <a:br>
              <a:rPr sz="800"/>
            </a:br>
            <a:r>
              <a:rPr sz="800"/>
              <a:t>10.1 XXXX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1A5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1D6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43584"/>
            <a:ext cx="804672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XXXX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- 70 -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4208" y="3977639"/>
            <a:ext cx="1901952" cy="502920"/>
          </a:xfrm>
          <a:prstGeom prst="rect">
            <a:avLst/>
          </a:prstGeom>
          <a:solidFill>
            <a:srgbClr val="DC9614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0310718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685800"/>
            <a:ext cx="91440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7120" y="1938528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7120" y="2322576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2. 어플리케이션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120" y="2706624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3. 명명규칙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7120" y="3090672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4.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120" y="3474720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5.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3240" y="193852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6. FOS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3240" y="2322576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7. Report 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3240" y="2706624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8. 개인 정보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3240" y="3090672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9. 주석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240" y="3474720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10. 로그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079" y="3840481"/>
            <a:ext cx="2971800" cy="203133"/>
          </a:xfrm>
          <a:prstGeom prst="rect">
            <a:avLst/>
          </a:prstGeom>
          <a:solidFill>
            <a:srgbClr val="E3F2E4"/>
          </a:solidFill>
          <a:ln w="9525">
            <a:solidFill>
              <a:srgbClr val="E3F2E4"/>
            </a:solidFill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6873240" y="385876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11. 페이징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7559" y="4173687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11.1 개요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7559" y="4411431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11.2 스크롤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7559" y="4649175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11.3 Full 페이지네이션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7559" y="4886919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11.4 Half 페이지네이션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559" y="5124663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11.5 페이징 쿼리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- 71 -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4509705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685800"/>
            <a:ext cx="91440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7120" y="1938528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7120" y="2322576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2. 어플리케이션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120" y="2706624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3. 명명규칙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7120" y="3090672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4.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120" y="3474720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5.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3240" y="193852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6. FOS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3240" y="2322576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7. Report 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3240" y="2706624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8. 개인 정보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3240" y="3090672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9. 주석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240" y="3474720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10. 로그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079" y="3840481"/>
            <a:ext cx="2971800" cy="203133"/>
          </a:xfrm>
          <a:prstGeom prst="rect">
            <a:avLst/>
          </a:prstGeom>
          <a:solidFill>
            <a:srgbClr val="E3F2E4"/>
          </a:solidFill>
          <a:ln w="9525">
            <a:solidFill>
              <a:srgbClr val="E3F2E4"/>
            </a:solidFill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6873240" y="385876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11. 페이징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7559" y="4173687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11.1 개요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7559" y="4411431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11.2 스크롤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7559" y="4649175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11.3 Full 페이지네이션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7559" y="4886919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11.4 Half 페이지네이션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559" y="5124663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11.5 페이징 쿼리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- 71 -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38580689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페이징 처리란?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34440"/>
            <a:ext cx="8046720" cy="5262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페이징 처리는 단말 화면에서 대량의 데이터를 한 화면에 보여줄 수 없는 경우, 특정 개수로 부분 분할해서 조회한 데이터를 표시할 수</a:t>
            </a:r>
            <a:br>
              <a:rPr sz="1100"/>
            </a:br>
            <a:r>
              <a:rPr sz="1100"/>
              <a:t>있도록 처리하는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- 72 -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1320" y="1828801"/>
            <a:ext cx="1097280" cy="20313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단말 화면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2680" y="1993392"/>
            <a:ext cx="173736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3" name="TextBox 12"/>
          <p:cNvSpPr txBox="1"/>
          <p:nvPr/>
        </p:nvSpPr>
        <p:spPr>
          <a:xfrm>
            <a:off x="5254752" y="1828801"/>
            <a:ext cx="1600200" cy="20313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어플리케이션 서버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1560" y="1993392"/>
            <a:ext cx="16002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5" name="TextBox 14"/>
          <p:cNvSpPr txBox="1"/>
          <p:nvPr/>
        </p:nvSpPr>
        <p:spPr>
          <a:xfrm>
            <a:off x="7924800" y="1828801"/>
            <a:ext cx="1691640" cy="20313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DB (데이터 조회 결과)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600" y="1993392"/>
            <a:ext cx="239572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7" name="Rectangle 16"/>
          <p:cNvSpPr/>
          <p:nvPr/>
        </p:nvSpPr>
        <p:spPr>
          <a:xfrm>
            <a:off x="3535680" y="2340864"/>
            <a:ext cx="868680" cy="31089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00" b="1">
                <a:solidFill>
                  <a:srgbClr val="BE3C2D"/>
                </a:solidFill>
                <a:latin typeface="Noto Sans CJK KR"/>
              </a:defRPr>
            </a:pPr>
            <a:r>
              <a:rPr sz="1100"/>
              <a:t>페이지 번호 :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680" y="4023360"/>
            <a:ext cx="868680" cy="31089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00" b="1">
                <a:solidFill>
                  <a:srgbClr val="BE3C2D"/>
                </a:solidFill>
                <a:latin typeface="Noto Sans CJK KR"/>
              </a:defRPr>
            </a:pPr>
            <a:r>
              <a:rPr sz="1100"/>
              <a:t>페이지 번호 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11168" y="2724912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2336" y="2724912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7824" y="2724912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김XX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1872" y="2724912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1168" y="2871216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2336" y="2871216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7824" y="2871216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이XX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1872" y="2871216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11168" y="301752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2336" y="3017520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7824" y="3017520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최XX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1872" y="3017520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11168" y="3163824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2336" y="3163824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7824" y="3163824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오XX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1872" y="3163824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1168" y="3310128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12336" y="3310128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7824" y="3310128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심XX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1872" y="3310128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11168" y="3456432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2336" y="3456432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87824" y="3456432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황XX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1872" y="3456432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11168" y="3602736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12336" y="3602736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87824" y="3602736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박XX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1872" y="3602736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1168" y="374904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2336" y="3749040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87824" y="3749040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서XX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1872" y="3749040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11168" y="3895344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12336" y="3895344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87824" y="3895344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한XX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1872" y="3895344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11168" y="4041648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12336" y="4041648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87824" y="4041648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김XX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71872" y="4041648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1168" y="4407408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12336" y="4407408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7824" y="4407408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김XX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71872" y="4407408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11168" y="4553712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12336" y="4553712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87824" y="4553712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이XX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1872" y="4553712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11168" y="4700016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12336" y="4700016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87824" y="4700016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최XX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71872" y="4700016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1168" y="484632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12336" y="4846320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87824" y="4846320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오XX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1872" y="4846320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11168" y="4992624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12336" y="4992624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87824" y="4992624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심XX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71872" y="4992624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11168" y="5138928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12336" y="5138928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87824" y="5138928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황XX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71872" y="5138928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1168" y="5285232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12336" y="5285232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87824" y="5285232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박XX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71872" y="5285232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11168" y="5431536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12336" y="5431536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87824" y="5431536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서XX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71872" y="5431536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11168" y="557784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12336" y="5577840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87824" y="5577840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한XX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71872" y="5577840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11168" y="5724144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12336" y="5724144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20260120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87824" y="5724144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김XX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71872" y="5724144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68768" y="2212848"/>
            <a:ext cx="384048" cy="21031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NO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52816" y="2212848"/>
            <a:ext cx="621792" cy="21031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Col 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74607" y="2212848"/>
            <a:ext cx="502920" cy="21031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Col 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77527" y="2212848"/>
            <a:ext cx="438912" cy="21031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Col 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68768" y="2423160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52816" y="2423160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74607" y="2423160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김XX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77527" y="2423160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668768" y="2555748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52816" y="2555748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74607" y="2555748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이XX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77527" y="2555748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68768" y="2688336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52816" y="2688336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74607" y="2688336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최XX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177527" y="2688336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668768" y="2820924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52816" y="2820924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74607" y="2820924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오XX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177527" y="2820924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68768" y="2953512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52816" y="2953512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74607" y="2953512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심XX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77527" y="2953512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68768" y="3086100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52816" y="3086100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74607" y="3086100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황XX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77527" y="3086100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668768" y="3218688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052816" y="3218688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74607" y="3218688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박XX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77527" y="3218688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68768" y="3351276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52816" y="3351276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74607" y="3351276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서XX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177527" y="3351276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68768" y="3483864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052816" y="3483864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74607" y="3483864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한XX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177527" y="3483864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68768" y="3616452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52816" y="3616452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20260110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74607" y="3616452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김XX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177527" y="3616452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668768" y="3749039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052816" y="3749039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20260111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74607" y="3749039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이XX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177527" y="3749039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68768" y="3881627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052816" y="3881627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20260112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74607" y="3881627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최XX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177527" y="3881627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668768" y="4014215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13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052816" y="4014215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20260113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74607" y="4014215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오XX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177527" y="4014215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55" name="Right Arrow 154"/>
          <p:cNvSpPr/>
          <p:nvPr/>
        </p:nvSpPr>
        <p:spPr>
          <a:xfrm>
            <a:off x="6297168" y="2615184"/>
            <a:ext cx="960120" cy="128016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ight Arrow 155"/>
          <p:cNvSpPr/>
          <p:nvPr/>
        </p:nvSpPr>
        <p:spPr>
          <a:xfrm>
            <a:off x="6297168" y="4343400"/>
            <a:ext cx="960120" cy="128016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Left Arrow 156"/>
          <p:cNvSpPr/>
          <p:nvPr/>
        </p:nvSpPr>
        <p:spPr>
          <a:xfrm>
            <a:off x="6315456" y="3383280"/>
            <a:ext cx="923544" cy="128016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Left Arrow 157"/>
          <p:cNvSpPr/>
          <p:nvPr/>
        </p:nvSpPr>
        <p:spPr>
          <a:xfrm>
            <a:off x="6315456" y="5120640"/>
            <a:ext cx="923544" cy="128016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9" name="Connector 158"/>
          <p:cNvCxnSpPr/>
          <p:nvPr/>
        </p:nvCxnSpPr>
        <p:spPr>
          <a:xfrm>
            <a:off x="7376160" y="2624328"/>
            <a:ext cx="0" cy="90525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357872" y="2542032"/>
            <a:ext cx="109728" cy="8229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357872" y="3529584"/>
            <a:ext cx="109728" cy="8229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376160" y="4343400"/>
            <a:ext cx="0" cy="90525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357872" y="4261104"/>
            <a:ext cx="109728" cy="8229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357872" y="5248656"/>
            <a:ext cx="109728" cy="8229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Arc 164"/>
          <p:cNvSpPr/>
          <p:nvPr/>
        </p:nvSpPr>
        <p:spPr>
          <a:xfrm>
            <a:off x="2667000" y="2487168"/>
            <a:ext cx="1097280" cy="1938528"/>
          </a:xfrm>
          <a:prstGeom prst="arc">
            <a:avLst/>
          </a:prstGeom>
          <a:noFill/>
          <a:ln w="1397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6" name="Connector 165"/>
          <p:cNvCxnSpPr/>
          <p:nvPr/>
        </p:nvCxnSpPr>
        <p:spPr>
          <a:xfrm flipH="1">
            <a:off x="4203192" y="2487168"/>
            <a:ext cx="201168" cy="237744"/>
          </a:xfrm>
          <a:prstGeom prst="line">
            <a:avLst/>
          </a:prstGeom>
          <a:ln w="1016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4203192" y="4178808"/>
            <a:ext cx="201168" cy="237744"/>
          </a:xfrm>
          <a:prstGeom prst="line">
            <a:avLst/>
          </a:prstGeom>
          <a:ln w="1016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2780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페이징 처리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- 73 -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0928" y="1499616"/>
            <a:ext cx="2542032" cy="310896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① 스크롤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9536" y="1499616"/>
            <a:ext cx="2615184" cy="310896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②-1 Full 페이지네이션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9896" y="1499616"/>
            <a:ext cx="2615184" cy="310896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②-2 Half 페이지네이션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96384" y="1499616"/>
            <a:ext cx="0" cy="4279392"/>
          </a:xfrm>
          <a:prstGeom prst="line">
            <a:avLst/>
          </a:prstGeom>
          <a:ln w="1016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67600" y="1499616"/>
            <a:ext cx="0" cy="4279392"/>
          </a:xfrm>
          <a:prstGeom prst="line">
            <a:avLst/>
          </a:prstGeom>
          <a:ln w="1016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749296" y="1920240"/>
            <a:ext cx="10972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C8C8C8"/>
                </a:solidFill>
                <a:latin typeface="Noto Sans CJK KR"/>
              </a:defRPr>
            </a:pPr>
            <a:r>
              <a:rPr sz="2400"/>
              <a:t>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68752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88208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07664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27120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46576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49296" y="2084832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9296" y="2249424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9296" y="2414016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749296" y="2926080"/>
            <a:ext cx="10972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C8C8C8"/>
                </a:solidFill>
                <a:latin typeface="Noto Sans CJK KR"/>
              </a:defRPr>
            </a:pPr>
            <a:r>
              <a:rPr sz="2400"/>
              <a:t>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68752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88208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07664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27120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46576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9296" y="3090672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49296" y="3255264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49296" y="3419856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61360" y="2642617"/>
            <a:ext cx="228600" cy="20313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6960" y="3337560"/>
            <a:ext cx="13716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600" b="0">
                <a:solidFill>
                  <a:srgbClr val="DC9614"/>
                </a:solidFill>
                <a:latin typeface="Noto Sans CJK KR"/>
              </a:defRPr>
            </a:pPr>
            <a:r>
              <a:rPr sz="1600"/>
              <a:t>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1088" y="4114800"/>
            <a:ext cx="27432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DC9614"/>
                </a:solidFill>
                <a:latin typeface="Noto Sans CJK KR"/>
              </a:defRPr>
            </a:pPr>
            <a:r>
              <a:rPr sz="1200"/>
              <a:t>◀▶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3152" y="1865376"/>
            <a:ext cx="914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37" name="Rectangle 36"/>
          <p:cNvSpPr/>
          <p:nvPr/>
        </p:nvSpPr>
        <p:spPr>
          <a:xfrm>
            <a:off x="3910584" y="2240280"/>
            <a:ext cx="36576" cy="109728"/>
          </a:xfrm>
          <a:prstGeom prst="rect">
            <a:avLst/>
          </a:prstGeom>
          <a:solidFill>
            <a:srgbClr val="C8C8C8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38" name="Arc 37"/>
          <p:cNvSpPr/>
          <p:nvPr/>
        </p:nvSpPr>
        <p:spPr>
          <a:xfrm>
            <a:off x="3745992" y="1792224"/>
            <a:ext cx="347472" cy="859536"/>
          </a:xfrm>
          <a:prstGeom prst="arc">
            <a:avLst/>
          </a:prstGeom>
          <a:noFill/>
          <a:ln w="1524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92880" y="1764793"/>
            <a:ext cx="109728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BE3C2D"/>
                </a:solidFill>
                <a:latin typeface="Noto Sans CJK KR"/>
              </a:defRPr>
            </a:pPr>
            <a:r>
              <a:rPr sz="1000"/>
              <a:t>➜</a:t>
            </a:r>
          </a:p>
        </p:txBody>
      </p:sp>
      <p:sp>
        <p:nvSpPr>
          <p:cNvPr id="40" name="Oval 39"/>
          <p:cNvSpPr/>
          <p:nvPr/>
        </p:nvSpPr>
        <p:spPr>
          <a:xfrm>
            <a:off x="3919728" y="3246120"/>
            <a:ext cx="201168" cy="2011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▶</a:t>
            </a:r>
          </a:p>
        </p:txBody>
      </p:sp>
      <p:sp>
        <p:nvSpPr>
          <p:cNvPr id="41" name="Arc 40"/>
          <p:cNvSpPr/>
          <p:nvPr/>
        </p:nvSpPr>
        <p:spPr>
          <a:xfrm>
            <a:off x="3709416" y="3163824"/>
            <a:ext cx="438912" cy="365760"/>
          </a:xfrm>
          <a:prstGeom prst="arc">
            <a:avLst/>
          </a:prstGeom>
          <a:noFill/>
          <a:ln w="1524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66032" y="3054097"/>
            <a:ext cx="109728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BE3C2D"/>
                </a:solidFill>
                <a:latin typeface="Noto Sans CJK KR"/>
              </a:defRPr>
            </a:pPr>
            <a:r>
              <a:rPr sz="1000"/>
              <a:t>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92097" y="4526280"/>
            <a:ext cx="2066543" cy="2259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• 사용자가 스크롤 바를 하단 접점에 맞당으면 다음</a:t>
            </a:r>
            <a:br>
              <a:rPr sz="910"/>
            </a:br>
            <a:r>
              <a:rPr sz="910"/>
              <a:t>  정해진 건수 만큼을 조회해서 화면에 표시 (또는</a:t>
            </a:r>
            <a:br>
              <a:rPr sz="910"/>
            </a:br>
            <a:r>
              <a:rPr sz="910"/>
              <a:t>  “이전”, “다음” 의미의 버튼 클릭)</a:t>
            </a:r>
            <a:br>
              <a:rPr sz="910"/>
            </a:br>
            <a:r>
              <a:rPr sz="910"/>
              <a:t>• 표시할 조회 결과 데이터가 적거나, 최신 데이터의</a:t>
            </a:r>
            <a:br>
              <a:rPr sz="910"/>
            </a:br>
            <a:r>
              <a:rPr sz="910"/>
              <a:t>  추이를 확인하는 용도로 적합</a:t>
            </a:r>
            <a:br>
              <a:rPr sz="910"/>
            </a:br>
            <a:r>
              <a:rPr sz="910"/>
              <a:t>• 전체 건수를 필요로 하지 않기 때문에 시스템 성능</a:t>
            </a:r>
            <a:br>
              <a:rPr sz="910"/>
            </a:br>
            <a:r>
              <a:rPr sz="910"/>
              <a:t>  저하 요소 없음</a:t>
            </a:r>
            <a:br>
              <a:rPr sz="910"/>
            </a:br>
            <a:r>
              <a:rPr sz="910"/>
              <a:t>  (목록을 조회하는 쿼리 성능은 보장되어야 함)</a:t>
            </a:r>
            <a:br>
              <a:rPr sz="910"/>
            </a:br>
            <a:r>
              <a:rPr sz="910"/>
              <a:t>• 일반적인 금융 서비스 데이터 조회 방식 (권장 구현</a:t>
            </a:r>
            <a:br>
              <a:rPr sz="910"/>
            </a:br>
            <a:r>
              <a:rPr sz="910"/>
              <a:t>  방식)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6191" y="2084831"/>
            <a:ext cx="124358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C8C8C8"/>
                </a:solidFill>
                <a:latin typeface="Noto Sans CJK KR"/>
              </a:defRPr>
            </a:pPr>
            <a:r>
              <a:rPr sz="2400"/>
              <a:t>DATA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93079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39968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86856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333744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580631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46192" y="2244851"/>
            <a:ext cx="1243585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46192" y="2404872"/>
            <a:ext cx="1243585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346192" y="2564891"/>
            <a:ext cx="1243585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25184" y="1828800"/>
            <a:ext cx="502920" cy="5262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총 10,000건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36463" y="3182112"/>
            <a:ext cx="17373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0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◀◀ 1 2 3 4 5 6 7 8 9 10 ▶▶</a:t>
            </a:r>
          </a:p>
        </p:txBody>
      </p:sp>
      <p:sp>
        <p:nvSpPr>
          <p:cNvPr id="55" name="Arc 54"/>
          <p:cNvSpPr/>
          <p:nvPr/>
        </p:nvSpPr>
        <p:spPr>
          <a:xfrm>
            <a:off x="5053585" y="3090672"/>
            <a:ext cx="2066543" cy="438912"/>
          </a:xfrm>
          <a:prstGeom prst="arc">
            <a:avLst/>
          </a:prstGeom>
          <a:noFill/>
          <a:ln w="1524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82384" y="3090673"/>
            <a:ext cx="109728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BE3C2D"/>
                </a:solidFill>
                <a:latin typeface="Noto Sans CJK KR"/>
              </a:defRPr>
            </a:pPr>
            <a:r>
              <a:rPr sz="1000"/>
              <a:t>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97552" y="3968497"/>
            <a:ext cx="2359152" cy="266534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• 데이터 목록 하단에 페이지 번호를 표시</a:t>
            </a:r>
            <a:br>
              <a:rPr sz="860"/>
            </a:br>
            <a:r>
              <a:rPr sz="860"/>
              <a:t>• 사용자는 원하는 페이지 번호를 클릭해서 조회 가능</a:t>
            </a:r>
            <a:br>
              <a:rPr sz="860"/>
            </a:br>
            <a:r>
              <a:rPr sz="860"/>
              <a:t>• 데이터 양이 많지 않고, 데이터 증가 추이도 낮을 때</a:t>
            </a:r>
            <a:br>
              <a:rPr sz="860"/>
            </a:br>
            <a:r>
              <a:rPr sz="860"/>
              <a:t>  사용 권장</a:t>
            </a:r>
            <a:br>
              <a:rPr sz="860"/>
            </a:br>
            <a:r>
              <a:rPr sz="860"/>
              <a:t>• 대상 테이블에 데이터가 누적될 수록 처리 성능이</a:t>
            </a:r>
            <a:br>
              <a:rPr sz="860"/>
            </a:br>
            <a:r>
              <a:rPr sz="860"/>
              <a:t>  떨어지고 시스템에 부하를 발생시킴</a:t>
            </a:r>
            <a:br>
              <a:rPr sz="860"/>
            </a:br>
            <a:r>
              <a:rPr sz="860"/>
              <a:t/>
            </a:r>
            <a:br>
              <a:rPr sz="860"/>
            </a:br>
            <a:r>
              <a:rPr sz="860"/>
              <a:t>[ 페이지네이션 방식 고려사항 ]</a:t>
            </a:r>
            <a:br>
              <a:rPr sz="860"/>
            </a:br>
            <a:r>
              <a:rPr sz="860"/>
              <a:t>• 전체 건수가 반드시 필요하고 이때 사용하는 SQL의 Count()</a:t>
            </a:r>
            <a:br>
              <a:rPr sz="860"/>
            </a:br>
            <a:r>
              <a:rPr sz="860"/>
              <a:t>  쿼리 함수가 대상 테이블을 Full Scan 하게 되면</a:t>
            </a:r>
            <a:br>
              <a:rPr sz="860"/>
            </a:br>
            <a:r>
              <a:rPr sz="860"/>
              <a:t>  시스템 성능 저하 요소로 작용</a:t>
            </a:r>
            <a:br>
              <a:rPr sz="860"/>
            </a:br>
            <a:r>
              <a:rPr sz="860"/>
              <a:t>※ 단일 테이블은 Oracle Hint로 인덱스만 처리해서 성능 개선</a:t>
            </a:r>
            <a:br>
              <a:rPr sz="860"/>
            </a:br>
            <a:r>
              <a:rPr sz="860"/>
              <a:t>  요소가 있으나, 조인 테이블은 Full Scan 수행함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89392" y="2084831"/>
            <a:ext cx="124358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C8C8C8"/>
                </a:solidFill>
                <a:latin typeface="Noto Sans CJK KR"/>
              </a:defRPr>
            </a:pPr>
            <a:r>
              <a:rPr sz="2400"/>
              <a:t>DATA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36279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83168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830056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076944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323831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089393" y="2244851"/>
            <a:ext cx="1243583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89393" y="2404872"/>
            <a:ext cx="1243583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89393" y="2564891"/>
            <a:ext cx="1243583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7988808" y="3182112"/>
            <a:ext cx="151790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0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1 2 3 4 5 6 7 8 9 10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6784" y="3136393"/>
            <a:ext cx="128016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Noto Sans CJK KR"/>
              </a:defRPr>
            </a:pPr>
            <a:r>
              <a:rPr sz="2000"/>
              <a:t>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61575" y="3136393"/>
            <a:ext cx="128016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Noto Sans CJK KR"/>
              </a:defRPr>
            </a:pPr>
            <a:r>
              <a:rPr sz="2000"/>
              <a:t>✕</a:t>
            </a:r>
          </a:p>
        </p:txBody>
      </p:sp>
      <p:sp>
        <p:nvSpPr>
          <p:cNvPr id="70" name="Arc 69"/>
          <p:cNvSpPr/>
          <p:nvPr/>
        </p:nvSpPr>
        <p:spPr>
          <a:xfrm>
            <a:off x="7796784" y="3081528"/>
            <a:ext cx="1810512" cy="438912"/>
          </a:xfrm>
          <a:prstGeom prst="arc">
            <a:avLst/>
          </a:prstGeom>
          <a:noFill/>
          <a:ln w="1524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760209" y="4526280"/>
            <a:ext cx="1874519" cy="57862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• 검색 조건을 적용하더라도 표시할 조회 결과 데이터</a:t>
            </a:r>
            <a:br>
              <a:rPr sz="910"/>
            </a:br>
            <a:r>
              <a:rPr sz="910"/>
              <a:t>  가 많고, 과거 데이터까지 조회가 필요한 경우 사용</a:t>
            </a:r>
          </a:p>
        </p:txBody>
      </p:sp>
    </p:spTree>
    <p:extLst>
      <p:ext uri="{BB962C8B-B14F-4D97-AF65-F5344CB8AC3E}">
        <p14:creationId xmlns:p14="http://schemas.microsoft.com/office/powerpoint/2010/main" val="29689324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페이징 처리 예약어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34440"/>
            <a:ext cx="804672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페이징 처리의 일관된 구현 방식을 위해, 본 예약어를 사용해서 프로그램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- 74 -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9488" y="1920240"/>
            <a:ext cx="438912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순번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8400" y="1920240"/>
            <a:ext cx="749808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용도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8207" y="1920240"/>
            <a:ext cx="1463040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형식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1248" y="1920240"/>
            <a:ext cx="548640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①</a:t>
            </a:r>
            <a:br>
              <a:rPr sz="1050"/>
            </a:br>
            <a:r>
              <a:rPr sz="1050"/>
              <a:t>스크롤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9887" y="1920240"/>
            <a:ext cx="640080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②</a:t>
            </a:r>
            <a:br>
              <a:rPr sz="1050"/>
            </a:br>
            <a:r>
              <a:rPr sz="1050"/>
              <a:t>페이지</a:t>
            </a:r>
            <a:br>
              <a:rPr sz="1050"/>
            </a:br>
            <a:r>
              <a:rPr sz="1050"/>
              <a:t>네이션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39968" y="1920240"/>
            <a:ext cx="2651760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사용 방법 및 검증 규칙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9488" y="2359152"/>
            <a:ext cx="438912" cy="402336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8400" y="2359152"/>
            <a:ext cx="749808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Grid 명칭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8207" y="2359152"/>
            <a:ext cx="1463040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식별자]+”_DATAGRID”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1248" y="2359152"/>
            <a:ext cx="548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99887" y="2359152"/>
            <a:ext cx="640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9968" y="2359152"/>
            <a:ext cx="2651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Grid의 명칭</a:t>
            </a:r>
            <a:br>
              <a:rPr sz="840"/>
            </a:br>
            <a:r>
              <a:rPr sz="840"/>
              <a:t>• e.g. CUST_DATAGRID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9488" y="2761488"/>
            <a:ext cx="438912" cy="402336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38400" y="2761488"/>
            <a:ext cx="749808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페이지 번호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8207" y="2761488"/>
            <a:ext cx="1463040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식별자]+”_PAGENO”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51248" y="2761488"/>
            <a:ext cx="548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99887" y="2761488"/>
            <a:ext cx="640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39968" y="2761488"/>
            <a:ext cx="2651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현재 화면에 표시되는 페이지 번호</a:t>
            </a:r>
            <a:br>
              <a:rPr sz="840"/>
            </a:br>
            <a:r>
              <a:rPr sz="840"/>
              <a:t>• e.g. USER_PAGENO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99488" y="3163824"/>
            <a:ext cx="438912" cy="438912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38400" y="3163824"/>
            <a:ext cx="749808" cy="438912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페이지 당 건수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88207" y="3163824"/>
            <a:ext cx="1463040" cy="438912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식별자]+”_PAGEPERCNT”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1248" y="3163824"/>
            <a:ext cx="5486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9887" y="3163824"/>
            <a:ext cx="640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39968" y="3163824"/>
            <a:ext cx="2651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한 페이지에 표시되는 레코드의 수</a:t>
            </a:r>
            <a:br>
              <a:rPr sz="840"/>
            </a:br>
            <a:r>
              <a:rPr sz="840"/>
              <a:t>• e.g. USER_PAGEPERCNT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99488" y="3602736"/>
            <a:ext cx="438912" cy="603504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8400" y="3602736"/>
            <a:ext cx="749808" cy="603504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페이지 번호</a:t>
            </a:r>
            <a:br>
              <a:rPr sz="919"/>
            </a:br>
            <a:r>
              <a:rPr sz="919"/>
              <a:t>개수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88207" y="3602736"/>
            <a:ext cx="1463040" cy="603504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식별자]+”_PAGENOCNT”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51248" y="3602736"/>
            <a:ext cx="548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endParaRPr sz="919"/>
          </a:p>
        </p:txBody>
      </p:sp>
      <p:sp>
        <p:nvSpPr>
          <p:cNvPr id="39" name="Rectangle 38"/>
          <p:cNvSpPr/>
          <p:nvPr/>
        </p:nvSpPr>
        <p:spPr>
          <a:xfrm>
            <a:off x="5199887" y="3602736"/>
            <a:ext cx="640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39968" y="3602736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페이지 네이션 번호 개수</a:t>
            </a:r>
            <a:br>
              <a:rPr sz="840"/>
            </a:br>
            <a:r>
              <a:rPr sz="840"/>
              <a:t>  예시) 5개 ← “1 2 3 4 5”</a:t>
            </a:r>
            <a:br>
              <a:rPr sz="840"/>
            </a:br>
            <a:r>
              <a:rPr sz="840"/>
              <a:t>  예시) 10개 ← “1 2 3 4 5 6 7 8 9 10”</a:t>
            </a:r>
            <a:br>
              <a:rPr sz="840"/>
            </a:br>
            <a:r>
              <a:rPr sz="840"/>
              <a:t>  예시) 15개 ← “1 2 3 4 5 6 7 8 9 10 11 12 13 14 15”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99488" y="4206240"/>
            <a:ext cx="438912" cy="676656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38400" y="4206240"/>
            <a:ext cx="749808" cy="67665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데이터 건수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88207" y="4206240"/>
            <a:ext cx="1463040" cy="67665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식별자]+”_DATACNT”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51248" y="4206240"/>
            <a:ext cx="5486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endParaRPr sz="919"/>
          </a:p>
        </p:txBody>
      </p:sp>
      <p:sp>
        <p:nvSpPr>
          <p:cNvPr id="45" name="Rectangle 44"/>
          <p:cNvSpPr/>
          <p:nvPr/>
        </p:nvSpPr>
        <p:spPr>
          <a:xfrm>
            <a:off x="5199887" y="4206240"/>
            <a:ext cx="6400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39968" y="4206240"/>
            <a:ext cx="26517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전체 데이터의 건수</a:t>
            </a:r>
            <a:br>
              <a:rPr sz="840"/>
            </a:br>
            <a:r>
              <a:rPr sz="840"/>
              <a:t>• 현재 페이지 번호를 넘어서는 데이터가 있는지 여부에 따라 “다</a:t>
            </a:r>
            <a:br>
              <a:rPr sz="840"/>
            </a:br>
            <a:r>
              <a:rPr sz="840"/>
              <a:t>  음”을 의미하는 아이콘을 표시</a:t>
            </a:r>
            <a:br>
              <a:rPr sz="840"/>
            </a:br>
            <a:r>
              <a:rPr sz="840"/>
              <a:t>• e.g. CUST_DATACNT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9488" y="4882896"/>
            <a:ext cx="438912" cy="402336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38400" y="4882896"/>
            <a:ext cx="749808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행 건수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88207" y="4882896"/>
            <a:ext cx="1463040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식별자]+”_ROWCNT”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51248" y="4882896"/>
            <a:ext cx="548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99887" y="4882896"/>
            <a:ext cx="640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39968" y="4882896"/>
            <a:ext cx="2651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현재 조회된 데이터의 건수</a:t>
            </a:r>
            <a:br>
              <a:rPr sz="840"/>
            </a:br>
            <a:r>
              <a:rPr sz="840"/>
              <a:t>• e.g. CUST_ROWCNT</a:t>
            </a:r>
          </a:p>
        </p:txBody>
      </p:sp>
    </p:spTree>
    <p:extLst>
      <p:ext uri="{BB962C8B-B14F-4D97-AF65-F5344CB8AC3E}">
        <p14:creationId xmlns:p14="http://schemas.microsoft.com/office/powerpoint/2010/main" val="38513848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“① 스크롤” 처리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11.2 스크롤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- 75 -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0928" y="1426464"/>
            <a:ext cx="2542032" cy="402336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정보 단말 (WebTopSuit)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2736" y="1426464"/>
            <a:ext cx="2103120" cy="402336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업무 시스템 (NH Cloud FWK)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2368" y="1938528"/>
            <a:ext cx="77724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① 최초 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2368" y="4005072"/>
            <a:ext cx="77724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① 다음 조회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4704" y="2340864"/>
            <a:ext cx="71323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200" b="0">
                <a:solidFill>
                  <a:srgbClr val="C8C8C8"/>
                </a:solidFill>
                <a:latin typeface="Noto Sans CJK KR"/>
              </a:defRPr>
            </a:pPr>
            <a:r>
              <a:rPr sz="2200"/>
              <a:t>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8400" y="2176272"/>
            <a:ext cx="1060704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cxnSp>
        <p:nvCxnSpPr>
          <p:cNvPr id="16" name="Connector 15"/>
          <p:cNvCxnSpPr/>
          <p:nvPr/>
        </p:nvCxnSpPr>
        <p:spPr>
          <a:xfrm>
            <a:off x="2612136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85872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59608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3344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07080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80816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38400" y="2350008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38400" y="2523744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38400" y="2697480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517391" y="2194560"/>
            <a:ext cx="731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6" name="Rectangle 25"/>
          <p:cNvSpPr/>
          <p:nvPr/>
        </p:nvSpPr>
        <p:spPr>
          <a:xfrm>
            <a:off x="3544824" y="2240279"/>
            <a:ext cx="18288" cy="164592"/>
          </a:xfrm>
          <a:prstGeom prst="rect">
            <a:avLst/>
          </a:prstGeom>
          <a:solidFill>
            <a:srgbClr val="C8C8C8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7" name="Rectangle 26"/>
          <p:cNvSpPr/>
          <p:nvPr/>
        </p:nvSpPr>
        <p:spPr>
          <a:xfrm>
            <a:off x="2584704" y="4407407"/>
            <a:ext cx="71323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200" b="0">
                <a:solidFill>
                  <a:srgbClr val="C8C8C8"/>
                </a:solidFill>
                <a:latin typeface="Noto Sans CJK KR"/>
              </a:defRPr>
            </a:pPr>
            <a:r>
              <a:rPr sz="2200"/>
              <a:t>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8400" y="4242816"/>
            <a:ext cx="1060704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cxnSp>
        <p:nvCxnSpPr>
          <p:cNvPr id="29" name="Connector 28"/>
          <p:cNvCxnSpPr/>
          <p:nvPr/>
        </p:nvCxnSpPr>
        <p:spPr>
          <a:xfrm>
            <a:off x="2612136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85872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59608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33344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7080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80816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38400" y="4416552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38400" y="4590288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38400" y="4764024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517391" y="4261103"/>
            <a:ext cx="731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39" name="Rectangle 38"/>
          <p:cNvSpPr/>
          <p:nvPr/>
        </p:nvSpPr>
        <p:spPr>
          <a:xfrm>
            <a:off x="3544824" y="4663440"/>
            <a:ext cx="18288" cy="164592"/>
          </a:xfrm>
          <a:prstGeom prst="rect">
            <a:avLst/>
          </a:prstGeom>
          <a:solidFill>
            <a:srgbClr val="C8C8C8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40" name="Rectangle 39"/>
          <p:cNvSpPr/>
          <p:nvPr/>
        </p:nvSpPr>
        <p:spPr>
          <a:xfrm>
            <a:off x="4175760" y="3383280"/>
            <a:ext cx="91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41" name="Rectangle 40"/>
          <p:cNvSpPr/>
          <p:nvPr/>
        </p:nvSpPr>
        <p:spPr>
          <a:xfrm>
            <a:off x="4203192" y="3557016"/>
            <a:ext cx="36576" cy="109728"/>
          </a:xfrm>
          <a:prstGeom prst="rect">
            <a:avLst/>
          </a:prstGeom>
          <a:solidFill>
            <a:srgbClr val="C8C8C8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42" name="TextBox 41"/>
          <p:cNvSpPr txBox="1"/>
          <p:nvPr/>
        </p:nvSpPr>
        <p:spPr>
          <a:xfrm>
            <a:off x="4276344" y="3685032"/>
            <a:ext cx="73152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DC9614"/>
                </a:solidFill>
                <a:latin typeface="Noto Sans CJK KR"/>
              </a:defRPr>
            </a:pPr>
            <a:r>
              <a:rPr sz="1100"/>
              <a:t>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036064" y="3803904"/>
            <a:ext cx="8028432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181600" y="1956816"/>
            <a:ext cx="1371600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53200" y="1956816"/>
            <a:ext cx="530352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81600" y="2121408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CUST_DATAGRID (Grid 명칭)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53200" y="2121408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"CUST_DATAGRID"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1600" y="2267712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CUST_PAGENO (페이지 번호)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53200" y="2267712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81600" y="2414016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CUST_PAGEPERCNT (페이지 당 건수)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53200" y="2414016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1600" y="2560320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CUST_DATACNT (데이터 건수)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2560320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81600" y="2706624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CUST_ROWCNT (행 건수)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3200" y="2706624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29856" y="2194560"/>
            <a:ext cx="117043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업무 로직</a:t>
            </a:r>
            <a:br>
              <a:rPr sz="1000"/>
            </a:br>
            <a:r>
              <a:rPr sz="1000"/>
              <a:t/>
            </a:r>
            <a:br>
              <a:rPr sz="1000"/>
            </a:br>
            <a:r>
              <a:rPr sz="1000"/>
              <a:t>(1) 1페이지 목록 조회 실행</a:t>
            </a:r>
          </a:p>
        </p:txBody>
      </p:sp>
      <p:sp>
        <p:nvSpPr>
          <p:cNvPr id="57" name="Can 56"/>
          <p:cNvSpPr/>
          <p:nvPr/>
        </p:nvSpPr>
        <p:spPr>
          <a:xfrm>
            <a:off x="8857488" y="2084831"/>
            <a:ext cx="896112" cy="896112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...</a:t>
            </a:r>
            <a:br>
              <a:rPr sz="1100"/>
            </a:br>
            <a:r>
              <a:rPr sz="1100"/>
              <a:t>from ...</a:t>
            </a:r>
            <a:br>
              <a:rPr sz="1100"/>
            </a:br>
            <a:r>
              <a:rPr sz="1100"/>
              <a:t>offset ... rows ...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81600" y="2852928"/>
            <a:ext cx="1371600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53200" y="2852928"/>
            <a:ext cx="530352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1600" y="3017520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CUST_DATAGRID (Grid 명칭)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53200" y="3017520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"CUST_DATAGRID"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81600" y="3163824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CUST_PAGENO (페이지 번호)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53200" y="3163824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81600" y="3310128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CUST_PAGEPERCNT (페이지 당 건수)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53200" y="3310128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81600" y="3456432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CUST_DATACNT (데이터 건수)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53200" y="3456432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81600" y="3602736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CUST_ROWCNT (행 건수)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53200" y="3602736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2D5DAA"/>
                </a:solidFill>
                <a:latin typeface="Noto Sans CJK KR"/>
              </a:defRPr>
            </a:pPr>
            <a:r>
              <a:rPr sz="730"/>
              <a:t>10 ← 실제 건수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81600" y="3749039"/>
            <a:ext cx="1901952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DATA</a:t>
            </a:r>
          </a:p>
        </p:txBody>
      </p:sp>
      <p:sp>
        <p:nvSpPr>
          <p:cNvPr id="71" name="Oval 70"/>
          <p:cNvSpPr/>
          <p:nvPr/>
        </p:nvSpPr>
        <p:spPr>
          <a:xfrm>
            <a:off x="8436864" y="3072384"/>
            <a:ext cx="987552" cy="51206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10건 레코드</a:t>
            </a:r>
            <a:br>
              <a:rPr sz="1000"/>
            </a:br>
            <a:r>
              <a:rPr sz="1000"/>
              <a:t>Return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834128" y="2148840"/>
            <a:ext cx="27432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ight Arrow 72"/>
          <p:cNvSpPr/>
          <p:nvPr/>
        </p:nvSpPr>
        <p:spPr>
          <a:xfrm>
            <a:off x="7001256" y="2596896"/>
            <a:ext cx="18288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Left Arrow 73"/>
          <p:cNvSpPr/>
          <p:nvPr/>
        </p:nvSpPr>
        <p:spPr>
          <a:xfrm>
            <a:off x="8436864" y="2514600"/>
            <a:ext cx="310896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eft Arrow 74"/>
          <p:cNvSpPr/>
          <p:nvPr/>
        </p:nvSpPr>
        <p:spPr>
          <a:xfrm>
            <a:off x="7001256" y="3273552"/>
            <a:ext cx="18288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Left Arrow 75"/>
          <p:cNvSpPr/>
          <p:nvPr/>
        </p:nvSpPr>
        <p:spPr>
          <a:xfrm>
            <a:off x="4834128" y="3648456"/>
            <a:ext cx="27432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181600" y="3931920"/>
            <a:ext cx="1371600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53200" y="3931920"/>
            <a:ext cx="530352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81600" y="4096511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CUST_DATAGRID (Grid 명칭)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53200" y="4096511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"CUST_DATAGRID"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81600" y="4242816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CUST_PAGENO (페이지 번호)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53200" y="4242816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2D5DAA"/>
                </a:solidFill>
                <a:latin typeface="Noto Sans CJK KR"/>
              </a:defRPr>
            </a:pPr>
            <a:r>
              <a:rPr sz="730"/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81600" y="4389120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CUST_PAGEPERCNT (페이지 당 건수)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53200" y="4389120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81600" y="4535424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CUST_DATACNT (데이터 건수)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53200" y="4535424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81600" y="4681728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CUST_ROWCNT (행 건수)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53200" y="4681728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29856" y="4169663"/>
            <a:ext cx="117043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업무 로직</a:t>
            </a:r>
            <a:br>
              <a:rPr sz="1000"/>
            </a:br>
            <a:r>
              <a:rPr sz="1000"/>
              <a:t/>
            </a:r>
            <a:br>
              <a:rPr sz="1000"/>
            </a:br>
            <a:r>
              <a:rPr sz="1000"/>
              <a:t>(1) 2페이지 목록 조회 실행</a:t>
            </a:r>
          </a:p>
        </p:txBody>
      </p:sp>
      <p:sp>
        <p:nvSpPr>
          <p:cNvPr id="90" name="Can 89"/>
          <p:cNvSpPr/>
          <p:nvPr/>
        </p:nvSpPr>
        <p:spPr>
          <a:xfrm>
            <a:off x="8857488" y="4059936"/>
            <a:ext cx="896112" cy="896112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...</a:t>
            </a:r>
            <a:br>
              <a:rPr sz="1100"/>
            </a:br>
            <a:r>
              <a:rPr sz="1100"/>
              <a:t>from ...</a:t>
            </a:r>
            <a:br>
              <a:rPr sz="1100"/>
            </a:br>
            <a:r>
              <a:rPr sz="1100"/>
              <a:t>offset ... rows ...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81600" y="4828032"/>
            <a:ext cx="1371600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53200" y="4828032"/>
            <a:ext cx="530352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81600" y="4992624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CUST_DATAGRID (Grid 명칭)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553200" y="4992624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"CUST_DATAGRID"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81600" y="5138928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CUST_PAGENO (페이지 번호)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53200" y="5138928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81600" y="5285232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CUST_PAGEPERCNT (페이지 당 건수)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53200" y="5285232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81600" y="5431536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CUST_DATACNT (데이터 건수)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53200" y="5431536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181600" y="5577840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CUST_ROWCNT (행 건수)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53200" y="5577840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2D5DAA"/>
                </a:solidFill>
                <a:latin typeface="Noto Sans CJK KR"/>
              </a:defRPr>
            </a:pPr>
            <a:r>
              <a:rPr sz="730"/>
              <a:t>8 ← 실제 건수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81600" y="5724144"/>
            <a:ext cx="1901952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DATA</a:t>
            </a:r>
          </a:p>
        </p:txBody>
      </p:sp>
      <p:sp>
        <p:nvSpPr>
          <p:cNvPr id="104" name="Oval 103"/>
          <p:cNvSpPr/>
          <p:nvPr/>
        </p:nvSpPr>
        <p:spPr>
          <a:xfrm>
            <a:off x="8436864" y="5047488"/>
            <a:ext cx="987552" cy="51206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8건 레코드</a:t>
            </a:r>
            <a:br>
              <a:rPr sz="1000"/>
            </a:br>
            <a:r>
              <a:rPr sz="1000"/>
              <a:t>Return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4834128" y="4123944"/>
            <a:ext cx="27432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ight Arrow 105"/>
          <p:cNvSpPr/>
          <p:nvPr/>
        </p:nvSpPr>
        <p:spPr>
          <a:xfrm>
            <a:off x="7001256" y="4572000"/>
            <a:ext cx="18288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Left Arrow 106"/>
          <p:cNvSpPr/>
          <p:nvPr/>
        </p:nvSpPr>
        <p:spPr>
          <a:xfrm>
            <a:off x="8436864" y="4489704"/>
            <a:ext cx="310896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Left Arrow 107"/>
          <p:cNvSpPr/>
          <p:nvPr/>
        </p:nvSpPr>
        <p:spPr>
          <a:xfrm>
            <a:off x="7001256" y="5248656"/>
            <a:ext cx="18288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Left Arrow 108"/>
          <p:cNvSpPr/>
          <p:nvPr/>
        </p:nvSpPr>
        <p:spPr>
          <a:xfrm>
            <a:off x="4834128" y="5623560"/>
            <a:ext cx="27432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09"/>
          <p:cNvCxnSpPr/>
          <p:nvPr/>
        </p:nvCxnSpPr>
        <p:spPr>
          <a:xfrm>
            <a:off x="4267200" y="3730752"/>
            <a:ext cx="365760" cy="365760"/>
          </a:xfrm>
          <a:prstGeom prst="line">
            <a:avLst/>
          </a:prstGeom>
          <a:ln w="12700">
            <a:solidFill>
              <a:srgbClr val="BE3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267200" y="3401568"/>
            <a:ext cx="365760" cy="329184"/>
          </a:xfrm>
          <a:prstGeom prst="line">
            <a:avLst/>
          </a:prstGeom>
          <a:ln w="12700">
            <a:solidFill>
              <a:srgbClr val="BE3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2345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685800"/>
            <a:ext cx="91440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Noto Sans CJK KR"/>
              </a:defRPr>
            </a:pPr>
            <a:r>
              <a:rPr sz="2400"/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7120" y="1938528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7120" y="2322576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2. 어플리케이션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120" y="2706624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3. 명명규칙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7120" y="3090672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4.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120" y="3474720"/>
            <a:ext cx="201168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5.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3240" y="193852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6. FOS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3240" y="2322576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7. Report 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3240" y="2706624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8. 개인 정보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3240" y="3090672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9. 주석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240" y="3474720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10. 로그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079" y="3840481"/>
            <a:ext cx="2971800" cy="203133"/>
          </a:xfrm>
          <a:prstGeom prst="rect">
            <a:avLst/>
          </a:prstGeom>
          <a:solidFill>
            <a:srgbClr val="E3F2E4"/>
          </a:solidFill>
          <a:ln w="9525">
            <a:solidFill>
              <a:srgbClr val="E3F2E4"/>
            </a:solidFill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6873240" y="3858768"/>
            <a:ext cx="256032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11. 페이징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7559" y="4173687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11.1 개요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7559" y="4411431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11.2 스크롤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7559" y="4649175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11.3 Full 페이지네이션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7559" y="4886919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11.4 Half 페이지네이션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559" y="5124663"/>
            <a:ext cx="274320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11.5 페이징 쿼리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- 71 -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1D6E3A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43723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</p:spTree>
    <p:extLst>
      <p:ext uri="{BB962C8B-B14F-4D97-AF65-F5344CB8AC3E}">
        <p14:creationId xmlns:p14="http://schemas.microsoft.com/office/powerpoint/2010/main" val="16465626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페이징 처리란?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34440"/>
            <a:ext cx="8046720" cy="5262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페이징 처리는 단말 화면에서 대량의 데이터를 한 화면에 보여줄 수 없는 경우, 특정 개수로 부분 분할해서 조회한 데이터를 표시할 수</a:t>
            </a:r>
            <a:br>
              <a:rPr sz="1100"/>
            </a:br>
            <a:r>
              <a:rPr sz="1100"/>
              <a:t>있도록 처리하는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- 72 -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1320" y="1828801"/>
            <a:ext cx="1097280" cy="20313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단말 화면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2680" y="1993392"/>
            <a:ext cx="173736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3" name="TextBox 12"/>
          <p:cNvSpPr txBox="1"/>
          <p:nvPr/>
        </p:nvSpPr>
        <p:spPr>
          <a:xfrm>
            <a:off x="5254752" y="1828801"/>
            <a:ext cx="1600200" cy="20313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어플리케이션 서버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1560" y="1993392"/>
            <a:ext cx="16002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5" name="TextBox 14"/>
          <p:cNvSpPr txBox="1"/>
          <p:nvPr/>
        </p:nvSpPr>
        <p:spPr>
          <a:xfrm>
            <a:off x="7924800" y="1828801"/>
            <a:ext cx="1691640" cy="20313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DB (데이터 조회 결과)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600" y="1993392"/>
            <a:ext cx="2395728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17" name="Rectangle 16"/>
          <p:cNvSpPr/>
          <p:nvPr/>
        </p:nvSpPr>
        <p:spPr>
          <a:xfrm>
            <a:off x="3535680" y="2340864"/>
            <a:ext cx="868680" cy="31089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00" b="1">
                <a:solidFill>
                  <a:srgbClr val="BE3C2D"/>
                </a:solidFill>
                <a:latin typeface="Noto Sans CJK KR"/>
              </a:defRPr>
            </a:pPr>
            <a:r>
              <a:rPr sz="1100"/>
              <a:t>페이지 번호 :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680" y="4023360"/>
            <a:ext cx="868680" cy="31089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100" b="1">
                <a:solidFill>
                  <a:srgbClr val="BE3C2D"/>
                </a:solidFill>
                <a:latin typeface="Noto Sans CJK KR"/>
              </a:defRPr>
            </a:pPr>
            <a:r>
              <a:rPr sz="1100"/>
              <a:t>페이지 번호 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11168" y="2724912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2336" y="2724912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7824" y="2724912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김XX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1872" y="2724912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1168" y="2871216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2336" y="2871216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7824" y="2871216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이XX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1872" y="2871216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11168" y="301752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2336" y="3017520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7824" y="3017520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최XX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1872" y="3017520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11168" y="3163824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2336" y="3163824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7824" y="3163824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오XX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1872" y="3163824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1168" y="3310128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12336" y="3310128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7824" y="3310128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심XX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1872" y="3310128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11168" y="3456432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2336" y="3456432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87824" y="3456432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황XX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1872" y="3456432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11168" y="3602736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12336" y="3602736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87824" y="3602736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박XX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1872" y="3602736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1168" y="374904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2336" y="3749040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87824" y="3749040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서XX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1872" y="3749040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11168" y="3895344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12336" y="3895344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20260109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87824" y="3895344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한XX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1872" y="3895344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11168" y="4041648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12336" y="4041648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87824" y="4041648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김XX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71872" y="4041648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1168" y="4407408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12336" y="4407408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7824" y="4407408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김XX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71872" y="4407408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11168" y="4553712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12336" y="4553712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87824" y="4553712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이XX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1872" y="4553712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11168" y="4700016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12336" y="4700016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87824" y="4700016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최XX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71872" y="4700016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1168" y="484632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12336" y="4846320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87824" y="4846320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오XX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1872" y="4846320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11168" y="4992624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12336" y="4992624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87824" y="4992624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심XX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71872" y="4992624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11168" y="5138928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12336" y="5138928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87824" y="5138928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황XX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71872" y="5138928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1168" y="5285232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12336" y="5285232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87824" y="5285232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박XX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71872" y="5285232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11168" y="5431536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12336" y="5431536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87824" y="5431536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서XX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71872" y="5431536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11168" y="5577840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19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12336" y="5577840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20260119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87824" y="5577840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한XX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71872" y="5577840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11168" y="5724144"/>
            <a:ext cx="20116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12336" y="5724144"/>
            <a:ext cx="47548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20260120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87824" y="5724144"/>
            <a:ext cx="38404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김XX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71872" y="5724144"/>
            <a:ext cx="36576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50" b="0">
                <a:solidFill>
                  <a:srgbClr val="000000"/>
                </a:solidFill>
                <a:latin typeface="Noto Sans CJK KR"/>
              </a:defRPr>
            </a:pPr>
            <a:r>
              <a:rPr sz="850"/>
              <a:t>……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68768" y="2212848"/>
            <a:ext cx="384048" cy="21031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NO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52816" y="2212848"/>
            <a:ext cx="621792" cy="21031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Col 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74607" y="2212848"/>
            <a:ext cx="502920" cy="21031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Col 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77527" y="2212848"/>
            <a:ext cx="438912" cy="21031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00" b="1">
                <a:solidFill>
                  <a:srgbClr val="000000"/>
                </a:solidFill>
                <a:latin typeface="Noto Sans CJK KR"/>
              </a:defRPr>
            </a:pPr>
            <a:r>
              <a:rPr sz="900"/>
              <a:t>Col 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68768" y="2423160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52816" y="2423160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74607" y="2423160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김XX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77527" y="2423160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668768" y="2555748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52816" y="2555748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74607" y="2555748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이XX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77527" y="2555748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68768" y="2688336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52816" y="2688336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74607" y="2688336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최XX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177527" y="2688336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668768" y="2820924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52816" y="2820924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74607" y="2820924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오XX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177527" y="2820924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68768" y="2953512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52816" y="2953512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74607" y="2953512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심XX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77527" y="2953512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68768" y="3086100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52816" y="3086100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74607" y="3086100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황XX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77527" y="3086100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668768" y="3218688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052816" y="3218688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74607" y="3218688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박XX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77527" y="3218688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68768" y="3351276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52816" y="3351276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74607" y="3351276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서XX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177527" y="3351276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68768" y="3483864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052816" y="3483864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20260109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74607" y="3483864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한XX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177527" y="3483864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68768" y="3616452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52816" y="3616452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20260110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74607" y="3616452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김XX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177527" y="3616452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668768" y="3749039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052816" y="3749039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20260111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74607" y="3749039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이XX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177527" y="3749039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68768" y="3881627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052816" y="3881627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20260112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74607" y="3881627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최XX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177527" y="3881627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668768" y="4014215"/>
            <a:ext cx="384048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13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052816" y="4014215"/>
            <a:ext cx="62179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20260113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74607" y="4014215"/>
            <a:ext cx="50292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오XX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177527" y="4014215"/>
            <a:ext cx="438912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819" b="0">
                <a:solidFill>
                  <a:srgbClr val="000000"/>
                </a:solidFill>
                <a:latin typeface="Noto Sans CJK KR"/>
              </a:defRPr>
            </a:pPr>
            <a:r>
              <a:rPr sz="819"/>
              <a:t>……</a:t>
            </a:r>
          </a:p>
        </p:txBody>
      </p:sp>
      <p:sp>
        <p:nvSpPr>
          <p:cNvPr id="155" name="Right Arrow 154"/>
          <p:cNvSpPr/>
          <p:nvPr/>
        </p:nvSpPr>
        <p:spPr>
          <a:xfrm>
            <a:off x="6297168" y="2615184"/>
            <a:ext cx="960120" cy="128016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ight Arrow 155"/>
          <p:cNvSpPr/>
          <p:nvPr/>
        </p:nvSpPr>
        <p:spPr>
          <a:xfrm>
            <a:off x="6297168" y="4343400"/>
            <a:ext cx="960120" cy="128016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Left Arrow 156"/>
          <p:cNvSpPr/>
          <p:nvPr/>
        </p:nvSpPr>
        <p:spPr>
          <a:xfrm>
            <a:off x="6315456" y="3383280"/>
            <a:ext cx="923544" cy="128016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Left Arrow 157"/>
          <p:cNvSpPr/>
          <p:nvPr/>
        </p:nvSpPr>
        <p:spPr>
          <a:xfrm>
            <a:off x="6315456" y="5120640"/>
            <a:ext cx="923544" cy="128016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9" name="Connector 158"/>
          <p:cNvCxnSpPr/>
          <p:nvPr/>
        </p:nvCxnSpPr>
        <p:spPr>
          <a:xfrm>
            <a:off x="7376160" y="2624328"/>
            <a:ext cx="0" cy="90525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357872" y="2542032"/>
            <a:ext cx="109728" cy="8229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357872" y="3529584"/>
            <a:ext cx="109728" cy="8229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376160" y="4343400"/>
            <a:ext cx="0" cy="90525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357872" y="4261104"/>
            <a:ext cx="109728" cy="8229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357872" y="5248656"/>
            <a:ext cx="109728" cy="82296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Arc 164"/>
          <p:cNvSpPr/>
          <p:nvPr/>
        </p:nvSpPr>
        <p:spPr>
          <a:xfrm>
            <a:off x="2667000" y="2487168"/>
            <a:ext cx="1097280" cy="1938528"/>
          </a:xfrm>
          <a:prstGeom prst="arc">
            <a:avLst/>
          </a:prstGeom>
          <a:noFill/>
          <a:ln w="1397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6" name="Connector 165"/>
          <p:cNvCxnSpPr/>
          <p:nvPr/>
        </p:nvCxnSpPr>
        <p:spPr>
          <a:xfrm flipH="1">
            <a:off x="4203192" y="2487168"/>
            <a:ext cx="201168" cy="237744"/>
          </a:xfrm>
          <a:prstGeom prst="line">
            <a:avLst/>
          </a:prstGeom>
          <a:ln w="1016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4203192" y="4178808"/>
            <a:ext cx="201168" cy="237744"/>
          </a:xfrm>
          <a:prstGeom prst="line">
            <a:avLst/>
          </a:prstGeom>
          <a:ln w="1016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8807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페이징 처리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- 73 -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0928" y="1499616"/>
            <a:ext cx="2542032" cy="310896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① 스크롤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9536" y="1499616"/>
            <a:ext cx="2615184" cy="310896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②-1 Full 페이지네이션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9896" y="1499616"/>
            <a:ext cx="2615184" cy="310896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rPr sz="1200"/>
              <a:t>②-2 Half 페이지네이션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96384" y="1499616"/>
            <a:ext cx="0" cy="4279392"/>
          </a:xfrm>
          <a:prstGeom prst="line">
            <a:avLst/>
          </a:prstGeom>
          <a:ln w="1016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67600" y="1499616"/>
            <a:ext cx="0" cy="4279392"/>
          </a:xfrm>
          <a:prstGeom prst="line">
            <a:avLst/>
          </a:prstGeom>
          <a:ln w="1016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749296" y="1920240"/>
            <a:ext cx="10972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C8C8C8"/>
                </a:solidFill>
                <a:latin typeface="Noto Sans CJK KR"/>
              </a:defRPr>
            </a:pPr>
            <a:r>
              <a:rPr sz="2400"/>
              <a:t>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68752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88208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07664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27120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46576" y="192024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49296" y="2084832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9296" y="2249424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9296" y="2414016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749296" y="2926080"/>
            <a:ext cx="10972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C8C8C8"/>
                </a:solidFill>
                <a:latin typeface="Noto Sans CJK KR"/>
              </a:defRPr>
            </a:pPr>
            <a:r>
              <a:rPr sz="2400"/>
              <a:t>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68752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88208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07664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27120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46576" y="2926080"/>
            <a:ext cx="0" cy="658368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9296" y="3090672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49296" y="3255264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49296" y="3419856"/>
            <a:ext cx="1097280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61360" y="2642617"/>
            <a:ext cx="228600" cy="20313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6960" y="3337560"/>
            <a:ext cx="13716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600" b="0">
                <a:solidFill>
                  <a:srgbClr val="DC9614"/>
                </a:solidFill>
                <a:latin typeface="Noto Sans CJK KR"/>
              </a:defRPr>
            </a:pPr>
            <a:r>
              <a:rPr sz="1600"/>
              <a:t>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1088" y="4114800"/>
            <a:ext cx="27432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DC9614"/>
                </a:solidFill>
                <a:latin typeface="Noto Sans CJK KR"/>
              </a:defRPr>
            </a:pPr>
            <a:r>
              <a:rPr sz="1200"/>
              <a:t>◀▶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3152" y="1865376"/>
            <a:ext cx="914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37" name="Rectangle 36"/>
          <p:cNvSpPr/>
          <p:nvPr/>
        </p:nvSpPr>
        <p:spPr>
          <a:xfrm>
            <a:off x="3910584" y="2240280"/>
            <a:ext cx="36576" cy="109728"/>
          </a:xfrm>
          <a:prstGeom prst="rect">
            <a:avLst/>
          </a:prstGeom>
          <a:solidFill>
            <a:srgbClr val="C8C8C8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38" name="Arc 37"/>
          <p:cNvSpPr/>
          <p:nvPr/>
        </p:nvSpPr>
        <p:spPr>
          <a:xfrm>
            <a:off x="3745992" y="1792224"/>
            <a:ext cx="347472" cy="859536"/>
          </a:xfrm>
          <a:prstGeom prst="arc">
            <a:avLst/>
          </a:prstGeom>
          <a:noFill/>
          <a:ln w="1524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92880" y="1764793"/>
            <a:ext cx="109728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BE3C2D"/>
                </a:solidFill>
                <a:latin typeface="Noto Sans CJK KR"/>
              </a:defRPr>
            </a:pPr>
            <a:r>
              <a:rPr sz="1000"/>
              <a:t>➜</a:t>
            </a:r>
          </a:p>
        </p:txBody>
      </p:sp>
      <p:sp>
        <p:nvSpPr>
          <p:cNvPr id="40" name="Oval 39"/>
          <p:cNvSpPr/>
          <p:nvPr/>
        </p:nvSpPr>
        <p:spPr>
          <a:xfrm>
            <a:off x="3919728" y="3246120"/>
            <a:ext cx="201168" cy="20116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▶</a:t>
            </a:r>
          </a:p>
        </p:txBody>
      </p:sp>
      <p:sp>
        <p:nvSpPr>
          <p:cNvPr id="41" name="Arc 40"/>
          <p:cNvSpPr/>
          <p:nvPr/>
        </p:nvSpPr>
        <p:spPr>
          <a:xfrm>
            <a:off x="3709416" y="3163824"/>
            <a:ext cx="438912" cy="365760"/>
          </a:xfrm>
          <a:prstGeom prst="arc">
            <a:avLst/>
          </a:prstGeom>
          <a:noFill/>
          <a:ln w="1524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66032" y="3054097"/>
            <a:ext cx="109728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BE3C2D"/>
                </a:solidFill>
                <a:latin typeface="Noto Sans CJK KR"/>
              </a:defRPr>
            </a:pPr>
            <a:r>
              <a:rPr sz="1000"/>
              <a:t>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92097" y="4526280"/>
            <a:ext cx="2066543" cy="2259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• 사용자가 스크롤 바를 하단 접점에 맞당으면 다음</a:t>
            </a:r>
            <a:br>
              <a:rPr sz="910"/>
            </a:br>
            <a:r>
              <a:rPr sz="910"/>
              <a:t>  정해진 건수 만큼을 조회해서 화면에 표시 (또는</a:t>
            </a:r>
            <a:br>
              <a:rPr sz="910"/>
            </a:br>
            <a:r>
              <a:rPr sz="910"/>
              <a:t>  “이전”, “다음” 의미의 버튼 클릭)</a:t>
            </a:r>
            <a:br>
              <a:rPr sz="910"/>
            </a:br>
            <a:r>
              <a:rPr sz="910"/>
              <a:t>• 표시할 조회 결과 데이터가 적거나, 최신 데이터의</a:t>
            </a:r>
            <a:br>
              <a:rPr sz="910"/>
            </a:br>
            <a:r>
              <a:rPr sz="910"/>
              <a:t>  추이를 확인하는 용도로 적합</a:t>
            </a:r>
            <a:br>
              <a:rPr sz="910"/>
            </a:br>
            <a:r>
              <a:rPr sz="910"/>
              <a:t>• 전체 건수를 필요로 하지 않기 때문에 시스템 성능</a:t>
            </a:r>
            <a:br>
              <a:rPr sz="910"/>
            </a:br>
            <a:r>
              <a:rPr sz="910"/>
              <a:t>  저하 요소 없음</a:t>
            </a:r>
            <a:br>
              <a:rPr sz="910"/>
            </a:br>
            <a:r>
              <a:rPr sz="910"/>
              <a:t>  (목록을 조회하는 쿼리 성능은 보장되어야 함)</a:t>
            </a:r>
            <a:br>
              <a:rPr sz="910"/>
            </a:br>
            <a:r>
              <a:rPr sz="910"/>
              <a:t>• 일반적인 금융 서비스 데이터 조회 방식 (권장 구현</a:t>
            </a:r>
            <a:br>
              <a:rPr sz="910"/>
            </a:br>
            <a:r>
              <a:rPr sz="910"/>
              <a:t>  방식)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6191" y="2084831"/>
            <a:ext cx="124358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C8C8C8"/>
                </a:solidFill>
                <a:latin typeface="Noto Sans CJK KR"/>
              </a:defRPr>
            </a:pPr>
            <a:r>
              <a:rPr sz="2400"/>
              <a:t>DATA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93079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39968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86856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333744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580631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46192" y="2244851"/>
            <a:ext cx="1243585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46192" y="2404872"/>
            <a:ext cx="1243585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346192" y="2564891"/>
            <a:ext cx="1243585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25184" y="1828800"/>
            <a:ext cx="502920" cy="5262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총 10,000건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36463" y="3182112"/>
            <a:ext cx="17373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0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◀◀ 1 2 3 4 5 6 7 8 9 10 ▶▶</a:t>
            </a:r>
          </a:p>
        </p:txBody>
      </p:sp>
      <p:sp>
        <p:nvSpPr>
          <p:cNvPr id="55" name="Arc 54"/>
          <p:cNvSpPr/>
          <p:nvPr/>
        </p:nvSpPr>
        <p:spPr>
          <a:xfrm>
            <a:off x="5053585" y="3090672"/>
            <a:ext cx="2066543" cy="438912"/>
          </a:xfrm>
          <a:prstGeom prst="arc">
            <a:avLst/>
          </a:prstGeom>
          <a:noFill/>
          <a:ln w="1524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82384" y="3090673"/>
            <a:ext cx="109728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BE3C2D"/>
                </a:solidFill>
                <a:latin typeface="Noto Sans CJK KR"/>
              </a:defRPr>
            </a:pPr>
            <a:r>
              <a:rPr sz="1000"/>
              <a:t>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97552" y="3968497"/>
            <a:ext cx="2359152" cy="266534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860" b="0">
                <a:solidFill>
                  <a:srgbClr val="000000"/>
                </a:solidFill>
                <a:latin typeface="Noto Sans CJK KR"/>
              </a:defRPr>
            </a:pPr>
            <a:r>
              <a:rPr sz="860"/>
              <a:t>• 데이터 목록 하단에 페이지 번호를 표시</a:t>
            </a:r>
            <a:br>
              <a:rPr sz="860"/>
            </a:br>
            <a:r>
              <a:rPr sz="860"/>
              <a:t>• 사용자는 원하는 페이지 번호를 클릭해서 조회 가능</a:t>
            </a:r>
            <a:br>
              <a:rPr sz="860"/>
            </a:br>
            <a:r>
              <a:rPr sz="860"/>
              <a:t>• 데이터 양이 많지 않고, 데이터 증가 추이도 낮을 때</a:t>
            </a:r>
            <a:br>
              <a:rPr sz="860"/>
            </a:br>
            <a:r>
              <a:rPr sz="860"/>
              <a:t>  사용 권장</a:t>
            </a:r>
            <a:br>
              <a:rPr sz="860"/>
            </a:br>
            <a:r>
              <a:rPr sz="860"/>
              <a:t>• 대상 테이블에 데이터가 누적될 수록 처리 성능이</a:t>
            </a:r>
            <a:br>
              <a:rPr sz="860"/>
            </a:br>
            <a:r>
              <a:rPr sz="860"/>
              <a:t>  떨어지고 시스템에 부하를 발생시킴</a:t>
            </a:r>
            <a:br>
              <a:rPr sz="860"/>
            </a:br>
            <a:r>
              <a:rPr sz="860"/>
              <a:t/>
            </a:r>
            <a:br>
              <a:rPr sz="860"/>
            </a:br>
            <a:r>
              <a:rPr sz="860"/>
              <a:t>[ 페이지네이션 방식 고려사항 ]</a:t>
            </a:r>
            <a:br>
              <a:rPr sz="860"/>
            </a:br>
            <a:r>
              <a:rPr sz="860"/>
              <a:t>• 전체 건수가 반드시 필요하고 이때 사용하는 SQL의 Count()</a:t>
            </a:r>
            <a:br>
              <a:rPr sz="860"/>
            </a:br>
            <a:r>
              <a:rPr sz="860"/>
              <a:t>  쿼리 함수가 대상 테이블을 Full Scan 하게 되면</a:t>
            </a:r>
            <a:br>
              <a:rPr sz="860"/>
            </a:br>
            <a:r>
              <a:rPr sz="860"/>
              <a:t>  시스템 성능 저하 요소로 작용</a:t>
            </a:r>
            <a:br>
              <a:rPr sz="860"/>
            </a:br>
            <a:r>
              <a:rPr sz="860"/>
              <a:t>※ 단일 테이블은 Oracle Hint로 인덱스만 처리해서 성능 개선</a:t>
            </a:r>
            <a:br>
              <a:rPr sz="860"/>
            </a:br>
            <a:r>
              <a:rPr sz="860"/>
              <a:t>  요소가 있으나, 조인 테이블은 Full Scan 수행함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89392" y="2084831"/>
            <a:ext cx="124358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400" b="0">
                <a:solidFill>
                  <a:srgbClr val="C8C8C8"/>
                </a:solidFill>
                <a:latin typeface="Noto Sans CJK KR"/>
              </a:defRPr>
            </a:pPr>
            <a:r>
              <a:rPr sz="2400"/>
              <a:t>DATA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36279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83168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830056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076944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323831" y="2084832"/>
            <a:ext cx="0" cy="640081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089393" y="2244851"/>
            <a:ext cx="1243583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89393" y="2404872"/>
            <a:ext cx="1243583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89393" y="2564891"/>
            <a:ext cx="1243583" cy="0"/>
          </a:xfrm>
          <a:prstGeom prst="line">
            <a:avLst/>
          </a:prstGeom>
          <a:ln w="63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7988808" y="3182112"/>
            <a:ext cx="151790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0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1 2 3 4 5 6 7 8 9 10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6784" y="3136393"/>
            <a:ext cx="128016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Noto Sans CJK KR"/>
              </a:defRPr>
            </a:pPr>
            <a:r>
              <a:rPr sz="2000"/>
              <a:t>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61575" y="3136393"/>
            <a:ext cx="128016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Noto Sans CJK KR"/>
              </a:defRPr>
            </a:pPr>
            <a:r>
              <a:rPr sz="2000"/>
              <a:t>✕</a:t>
            </a:r>
          </a:p>
        </p:txBody>
      </p:sp>
      <p:sp>
        <p:nvSpPr>
          <p:cNvPr id="70" name="Arc 69"/>
          <p:cNvSpPr/>
          <p:nvPr/>
        </p:nvSpPr>
        <p:spPr>
          <a:xfrm>
            <a:off x="7796784" y="3081528"/>
            <a:ext cx="1810512" cy="438912"/>
          </a:xfrm>
          <a:prstGeom prst="arc">
            <a:avLst/>
          </a:prstGeom>
          <a:noFill/>
          <a:ln w="1524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760209" y="4526280"/>
            <a:ext cx="1874519" cy="57862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910" b="0">
                <a:solidFill>
                  <a:srgbClr val="000000"/>
                </a:solidFill>
                <a:latin typeface="Noto Sans CJK KR"/>
              </a:defRPr>
            </a:pPr>
            <a:r>
              <a:rPr sz="910"/>
              <a:t>• 검색 조건을 적용하더라도 표시할 조회 결과 데이터</a:t>
            </a:r>
            <a:br>
              <a:rPr sz="910"/>
            </a:br>
            <a:r>
              <a:rPr sz="910"/>
              <a:t>  가 많고, 과거 데이터까지 조회가 필요한 경우 사용</a:t>
            </a:r>
          </a:p>
        </p:txBody>
      </p:sp>
    </p:spTree>
    <p:extLst>
      <p:ext uri="{BB962C8B-B14F-4D97-AF65-F5344CB8AC3E}">
        <p14:creationId xmlns:p14="http://schemas.microsoft.com/office/powerpoint/2010/main" val="26265872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페이징 처리 예약어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11.1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34440"/>
            <a:ext cx="804672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페이징 처리의 일관된 구현 방식을 위해, 본 예약어를 사용해서 프로그램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- 74 -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9488" y="1920240"/>
            <a:ext cx="438912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순번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8400" y="1920240"/>
            <a:ext cx="749808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용도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8207" y="1920240"/>
            <a:ext cx="1463040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형식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1248" y="1920240"/>
            <a:ext cx="548640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①</a:t>
            </a:r>
            <a:br>
              <a:rPr sz="1050"/>
            </a:br>
            <a:r>
              <a:rPr sz="1050"/>
              <a:t>스크롤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9887" y="1920240"/>
            <a:ext cx="640080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②</a:t>
            </a:r>
            <a:br>
              <a:rPr sz="1050"/>
            </a:br>
            <a:r>
              <a:rPr sz="1050"/>
              <a:t>페이지</a:t>
            </a:r>
            <a:br>
              <a:rPr sz="1050"/>
            </a:br>
            <a:r>
              <a:rPr sz="1050"/>
              <a:t>네이션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39968" y="1920240"/>
            <a:ext cx="2651760" cy="438912"/>
          </a:xfrm>
          <a:prstGeom prst="rect">
            <a:avLst/>
          </a:prstGeom>
          <a:solidFill>
            <a:srgbClr val="20693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CJK KR"/>
              </a:defRPr>
            </a:pPr>
            <a:r>
              <a:rPr sz="1050"/>
              <a:t>사용 방법 및 검증 규칙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9488" y="2359152"/>
            <a:ext cx="438912" cy="402336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8400" y="2359152"/>
            <a:ext cx="749808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Grid 명칭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8207" y="2359152"/>
            <a:ext cx="1463040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식별자]+”_DATAGRID”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1248" y="2359152"/>
            <a:ext cx="548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99887" y="2359152"/>
            <a:ext cx="640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9968" y="2359152"/>
            <a:ext cx="2651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Grid의 명칭</a:t>
            </a:r>
            <a:br>
              <a:rPr sz="840"/>
            </a:br>
            <a:r>
              <a:rPr sz="840"/>
              <a:t>• e.g. CUST_DATAGRID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9488" y="2761488"/>
            <a:ext cx="438912" cy="402336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38400" y="2761488"/>
            <a:ext cx="749808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페이지 번호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8207" y="2761488"/>
            <a:ext cx="1463040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식별자]+”_PAGENO”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51248" y="2761488"/>
            <a:ext cx="548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99887" y="2761488"/>
            <a:ext cx="640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39968" y="2761488"/>
            <a:ext cx="2651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현재 화면에 표시되는 페이지 번호</a:t>
            </a:r>
            <a:br>
              <a:rPr sz="840"/>
            </a:br>
            <a:r>
              <a:rPr sz="840"/>
              <a:t>• e.g. USER_PAGENO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99488" y="3163824"/>
            <a:ext cx="438912" cy="438912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38400" y="3163824"/>
            <a:ext cx="749808" cy="438912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페이지 당 건수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88207" y="3163824"/>
            <a:ext cx="1463040" cy="438912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식별자]+”_PAGEPERCNT”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1248" y="3163824"/>
            <a:ext cx="5486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9887" y="3163824"/>
            <a:ext cx="640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39968" y="3163824"/>
            <a:ext cx="2651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한 페이지에 표시되는 레코드의 수</a:t>
            </a:r>
            <a:br>
              <a:rPr sz="840"/>
            </a:br>
            <a:r>
              <a:rPr sz="840"/>
              <a:t>• e.g. USER_PAGEPERCNT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99488" y="3602736"/>
            <a:ext cx="438912" cy="603504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8400" y="3602736"/>
            <a:ext cx="749808" cy="603504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페이지 번호</a:t>
            </a:r>
            <a:br>
              <a:rPr sz="919"/>
            </a:br>
            <a:r>
              <a:rPr sz="919"/>
              <a:t>개수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88207" y="3602736"/>
            <a:ext cx="1463040" cy="603504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식별자]+”_PAGENOCNT”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51248" y="3602736"/>
            <a:ext cx="548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endParaRPr sz="919"/>
          </a:p>
        </p:txBody>
      </p:sp>
      <p:sp>
        <p:nvSpPr>
          <p:cNvPr id="39" name="Rectangle 38"/>
          <p:cNvSpPr/>
          <p:nvPr/>
        </p:nvSpPr>
        <p:spPr>
          <a:xfrm>
            <a:off x="5199887" y="3602736"/>
            <a:ext cx="640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39968" y="3602736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페이지 네이션 번호 개수</a:t>
            </a:r>
            <a:br>
              <a:rPr sz="840"/>
            </a:br>
            <a:r>
              <a:rPr sz="840"/>
              <a:t>  예시) 5개 ← “1 2 3 4 5”</a:t>
            </a:r>
            <a:br>
              <a:rPr sz="840"/>
            </a:br>
            <a:r>
              <a:rPr sz="840"/>
              <a:t>  예시) 10개 ← “1 2 3 4 5 6 7 8 9 10”</a:t>
            </a:r>
            <a:br>
              <a:rPr sz="840"/>
            </a:br>
            <a:r>
              <a:rPr sz="840"/>
              <a:t>  예시) 15개 ← “1 2 3 4 5 6 7 8 9 10 11 12 13 14 15”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99488" y="4206240"/>
            <a:ext cx="438912" cy="676656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38400" y="4206240"/>
            <a:ext cx="749808" cy="67665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데이터 건수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88207" y="4206240"/>
            <a:ext cx="1463040" cy="67665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식별자]+”_DATACNT”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51248" y="4206240"/>
            <a:ext cx="5486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endParaRPr sz="919"/>
          </a:p>
        </p:txBody>
      </p:sp>
      <p:sp>
        <p:nvSpPr>
          <p:cNvPr id="45" name="Rectangle 44"/>
          <p:cNvSpPr/>
          <p:nvPr/>
        </p:nvSpPr>
        <p:spPr>
          <a:xfrm>
            <a:off x="5199887" y="4206240"/>
            <a:ext cx="6400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39968" y="4206240"/>
            <a:ext cx="26517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전체 데이터의 건수</a:t>
            </a:r>
            <a:br>
              <a:rPr sz="840"/>
            </a:br>
            <a:r>
              <a:rPr sz="840"/>
              <a:t>• 현재 페이지 번호를 넘어서는 데이터가 있는지 여부에 따라 “다</a:t>
            </a:r>
            <a:br>
              <a:rPr sz="840"/>
            </a:br>
            <a:r>
              <a:rPr sz="840"/>
              <a:t>  음”을 의미하는 아이콘을 표시</a:t>
            </a:r>
            <a:br>
              <a:rPr sz="840"/>
            </a:br>
            <a:r>
              <a:rPr sz="840"/>
              <a:t>• e.g. CUST_DATACNT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9488" y="4882896"/>
            <a:ext cx="438912" cy="402336"/>
          </a:xfrm>
          <a:prstGeom prst="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38400" y="4882896"/>
            <a:ext cx="749808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919" b="0">
                <a:solidFill>
                  <a:srgbClr val="000000"/>
                </a:solidFill>
                <a:latin typeface="Noto Sans CJK KR"/>
              </a:defRPr>
            </a:pPr>
            <a:r>
              <a:rPr sz="919"/>
              <a:t>행 건수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88207" y="4882896"/>
            <a:ext cx="1463040" cy="402336"/>
          </a:xfrm>
          <a:prstGeom prst="rect">
            <a:avLst/>
          </a:prstGeom>
          <a:solidFill>
            <a:srgbClr val="E4EFE5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890" b="0">
                <a:solidFill>
                  <a:srgbClr val="000000"/>
                </a:solidFill>
                <a:latin typeface="Noto Sans CJK KR"/>
              </a:defRPr>
            </a:pPr>
            <a:r>
              <a:rPr sz="890"/>
              <a:t>[Grid 식별자]+”_ROWCNT”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51248" y="4882896"/>
            <a:ext cx="548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99887" y="4882896"/>
            <a:ext cx="640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39968" y="4882896"/>
            <a:ext cx="2651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l">
              <a:defRPr sz="840" b="0">
                <a:solidFill>
                  <a:srgbClr val="000000"/>
                </a:solidFill>
                <a:latin typeface="Noto Sans CJK KR"/>
              </a:defRPr>
            </a:pPr>
            <a:r>
              <a:rPr sz="840"/>
              <a:t>• 현재 조회된 데이터의 건수</a:t>
            </a:r>
            <a:br>
              <a:rPr sz="840"/>
            </a:br>
            <a:r>
              <a:rPr sz="840"/>
              <a:t>• e.g. CUST_ROWCNT</a:t>
            </a:r>
          </a:p>
        </p:txBody>
      </p:sp>
    </p:spTree>
    <p:extLst>
      <p:ext uri="{BB962C8B-B14F-4D97-AF65-F5344CB8AC3E}">
        <p14:creationId xmlns:p14="http://schemas.microsoft.com/office/powerpoint/2010/main" val="25664630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“① 스크롤” 처리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11.2 스크롤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- 75 -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0928" y="1426464"/>
            <a:ext cx="2542032" cy="402336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정보 단말 (WebTopSuit)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2736" y="1426464"/>
            <a:ext cx="2103120" cy="402336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업무 시스템 (NH Cloud FWK)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2368" y="1938528"/>
            <a:ext cx="77724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① 최초 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2368" y="4005072"/>
            <a:ext cx="77724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① 다음 조회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4704" y="2340864"/>
            <a:ext cx="71323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200" b="0">
                <a:solidFill>
                  <a:srgbClr val="C8C8C8"/>
                </a:solidFill>
                <a:latin typeface="Noto Sans CJK KR"/>
              </a:defRPr>
            </a:pPr>
            <a:r>
              <a:rPr sz="2200"/>
              <a:t>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8400" y="2176272"/>
            <a:ext cx="1060704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cxnSp>
        <p:nvCxnSpPr>
          <p:cNvPr id="16" name="Connector 15"/>
          <p:cNvCxnSpPr/>
          <p:nvPr/>
        </p:nvCxnSpPr>
        <p:spPr>
          <a:xfrm>
            <a:off x="2612136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85872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59608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3344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07080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80816" y="2176273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38400" y="2350008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38400" y="2523744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38400" y="2697480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517391" y="2194560"/>
            <a:ext cx="731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6" name="Rectangle 25"/>
          <p:cNvSpPr/>
          <p:nvPr/>
        </p:nvSpPr>
        <p:spPr>
          <a:xfrm>
            <a:off x="3544824" y="2240279"/>
            <a:ext cx="18288" cy="164592"/>
          </a:xfrm>
          <a:prstGeom prst="rect">
            <a:avLst/>
          </a:prstGeom>
          <a:solidFill>
            <a:srgbClr val="C8C8C8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7" name="Rectangle 26"/>
          <p:cNvSpPr/>
          <p:nvPr/>
        </p:nvSpPr>
        <p:spPr>
          <a:xfrm>
            <a:off x="2584704" y="4407407"/>
            <a:ext cx="71323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200" b="0">
                <a:solidFill>
                  <a:srgbClr val="C8C8C8"/>
                </a:solidFill>
                <a:latin typeface="Noto Sans CJK KR"/>
              </a:defRPr>
            </a:pPr>
            <a:r>
              <a:rPr sz="2200"/>
              <a:t>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8400" y="4242816"/>
            <a:ext cx="1060704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cxnSp>
        <p:nvCxnSpPr>
          <p:cNvPr id="29" name="Connector 28"/>
          <p:cNvCxnSpPr/>
          <p:nvPr/>
        </p:nvCxnSpPr>
        <p:spPr>
          <a:xfrm>
            <a:off x="2612136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85872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59608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33344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7080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80816" y="4242817"/>
            <a:ext cx="0" cy="694943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38400" y="4416552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38400" y="4590288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38400" y="4764024"/>
            <a:ext cx="1060704" cy="0"/>
          </a:xfrm>
          <a:prstGeom prst="line">
            <a:avLst/>
          </a:prstGeom>
          <a:ln w="571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517391" y="4261103"/>
            <a:ext cx="731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39" name="Rectangle 38"/>
          <p:cNvSpPr/>
          <p:nvPr/>
        </p:nvSpPr>
        <p:spPr>
          <a:xfrm>
            <a:off x="3544824" y="4663440"/>
            <a:ext cx="18288" cy="164592"/>
          </a:xfrm>
          <a:prstGeom prst="rect">
            <a:avLst/>
          </a:prstGeom>
          <a:solidFill>
            <a:srgbClr val="C8C8C8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40" name="Rectangle 39"/>
          <p:cNvSpPr/>
          <p:nvPr/>
        </p:nvSpPr>
        <p:spPr>
          <a:xfrm>
            <a:off x="4175760" y="3383280"/>
            <a:ext cx="91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41" name="Rectangle 40"/>
          <p:cNvSpPr/>
          <p:nvPr/>
        </p:nvSpPr>
        <p:spPr>
          <a:xfrm>
            <a:off x="4203192" y="3557016"/>
            <a:ext cx="36576" cy="109728"/>
          </a:xfrm>
          <a:prstGeom prst="rect">
            <a:avLst/>
          </a:prstGeom>
          <a:solidFill>
            <a:srgbClr val="C8C8C8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42" name="TextBox 41"/>
          <p:cNvSpPr txBox="1"/>
          <p:nvPr/>
        </p:nvSpPr>
        <p:spPr>
          <a:xfrm>
            <a:off x="4276344" y="3685032"/>
            <a:ext cx="73152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DC9614"/>
                </a:solidFill>
                <a:latin typeface="Noto Sans CJK KR"/>
              </a:defRPr>
            </a:pPr>
            <a:r>
              <a:rPr sz="1100"/>
              <a:t>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036064" y="3803904"/>
            <a:ext cx="8028432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181600" y="1956816"/>
            <a:ext cx="1371600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53200" y="1956816"/>
            <a:ext cx="530352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81600" y="2121408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CUST_DATAGRID (Grid 명칭)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53200" y="2121408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"CUST_DATAGRID"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1600" y="2267712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CUST_PAGENO (페이지 번호)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53200" y="2267712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81600" y="2414016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CUST_PAGEPERCNT (페이지 당 건수)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53200" y="2414016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1600" y="2560320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CUST_DATACNT (데이터 건수)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2560320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81600" y="2706624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CUST_ROWCNT (행 건수)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3200" y="2706624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29856" y="2194560"/>
            <a:ext cx="117043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업무 로직</a:t>
            </a:r>
            <a:br>
              <a:rPr sz="1000"/>
            </a:br>
            <a:r>
              <a:rPr sz="1000"/>
              <a:t/>
            </a:r>
            <a:br>
              <a:rPr sz="1000"/>
            </a:br>
            <a:r>
              <a:rPr sz="1000"/>
              <a:t>(1) 1페이지 목록 조회 실행</a:t>
            </a:r>
          </a:p>
        </p:txBody>
      </p:sp>
      <p:sp>
        <p:nvSpPr>
          <p:cNvPr id="57" name="Can 56"/>
          <p:cNvSpPr/>
          <p:nvPr/>
        </p:nvSpPr>
        <p:spPr>
          <a:xfrm>
            <a:off x="8857488" y="2084831"/>
            <a:ext cx="896112" cy="896112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...</a:t>
            </a:r>
            <a:br>
              <a:rPr sz="1100"/>
            </a:br>
            <a:r>
              <a:rPr sz="1100"/>
              <a:t>from ...</a:t>
            </a:r>
            <a:br>
              <a:rPr sz="1100"/>
            </a:br>
            <a:r>
              <a:rPr sz="1100"/>
              <a:t>offset ... rows ...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81600" y="2852928"/>
            <a:ext cx="1371600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53200" y="2852928"/>
            <a:ext cx="530352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1600" y="3017520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CUST_DATAGRID (Grid 명칭)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53200" y="3017520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"CUST_DATAGRID"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81600" y="3163824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CUST_PAGENO (페이지 번호)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53200" y="3163824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81600" y="3310128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CUST_PAGEPERCNT (페이지 당 건수)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53200" y="3310128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81600" y="3456432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CUST_DATACNT (데이터 건수)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53200" y="3456432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81600" y="3602736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CUST_ROWCNT (행 건수)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53200" y="3602736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2D5DAA"/>
                </a:solidFill>
                <a:latin typeface="Noto Sans CJK KR"/>
              </a:defRPr>
            </a:pPr>
            <a:r>
              <a:rPr sz="730"/>
              <a:t>10 ← 실제 건수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81600" y="3749039"/>
            <a:ext cx="1901952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DATA</a:t>
            </a:r>
          </a:p>
        </p:txBody>
      </p:sp>
      <p:sp>
        <p:nvSpPr>
          <p:cNvPr id="71" name="Oval 70"/>
          <p:cNvSpPr/>
          <p:nvPr/>
        </p:nvSpPr>
        <p:spPr>
          <a:xfrm>
            <a:off x="8436864" y="3072384"/>
            <a:ext cx="987552" cy="51206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10건 레코드</a:t>
            </a:r>
            <a:br>
              <a:rPr sz="1000"/>
            </a:br>
            <a:r>
              <a:rPr sz="1000"/>
              <a:t>Return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834128" y="2148840"/>
            <a:ext cx="27432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ight Arrow 72"/>
          <p:cNvSpPr/>
          <p:nvPr/>
        </p:nvSpPr>
        <p:spPr>
          <a:xfrm>
            <a:off x="7001256" y="2596896"/>
            <a:ext cx="18288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Left Arrow 73"/>
          <p:cNvSpPr/>
          <p:nvPr/>
        </p:nvSpPr>
        <p:spPr>
          <a:xfrm>
            <a:off x="8436864" y="2514600"/>
            <a:ext cx="310896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eft Arrow 74"/>
          <p:cNvSpPr/>
          <p:nvPr/>
        </p:nvSpPr>
        <p:spPr>
          <a:xfrm>
            <a:off x="7001256" y="3273552"/>
            <a:ext cx="18288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Left Arrow 75"/>
          <p:cNvSpPr/>
          <p:nvPr/>
        </p:nvSpPr>
        <p:spPr>
          <a:xfrm>
            <a:off x="4834128" y="3648456"/>
            <a:ext cx="27432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181600" y="3931920"/>
            <a:ext cx="1371600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53200" y="3931920"/>
            <a:ext cx="530352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81600" y="4096511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CUST_DATAGRID (Grid 명칭)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53200" y="4096511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"CUST_DATAGRID"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81600" y="4242816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CUST_PAGENO (페이지 번호)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53200" y="4242816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2D5DAA"/>
                </a:solidFill>
                <a:latin typeface="Noto Sans CJK KR"/>
              </a:defRPr>
            </a:pPr>
            <a:r>
              <a:rPr sz="730"/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81600" y="4389120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CUST_PAGEPERCNT (페이지 당 건수)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53200" y="4389120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81600" y="4535424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CUST_DATACNT (데이터 건수)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53200" y="4535424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81600" y="4681728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CUST_ROWCNT (행 건수)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53200" y="4681728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29856" y="4169663"/>
            <a:ext cx="117043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업무 로직</a:t>
            </a:r>
            <a:br>
              <a:rPr sz="1000"/>
            </a:br>
            <a:r>
              <a:rPr sz="1000"/>
              <a:t/>
            </a:r>
            <a:br>
              <a:rPr sz="1000"/>
            </a:br>
            <a:r>
              <a:rPr sz="1000"/>
              <a:t>(1) 2페이지 목록 조회 실행</a:t>
            </a:r>
          </a:p>
        </p:txBody>
      </p:sp>
      <p:sp>
        <p:nvSpPr>
          <p:cNvPr id="90" name="Can 89"/>
          <p:cNvSpPr/>
          <p:nvPr/>
        </p:nvSpPr>
        <p:spPr>
          <a:xfrm>
            <a:off x="8857488" y="4059936"/>
            <a:ext cx="896112" cy="896112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...</a:t>
            </a:r>
            <a:br>
              <a:rPr sz="1100"/>
            </a:br>
            <a:r>
              <a:rPr sz="1100"/>
              <a:t>from ...</a:t>
            </a:r>
            <a:br>
              <a:rPr sz="1100"/>
            </a:br>
            <a:r>
              <a:rPr sz="1100"/>
              <a:t>offset ... rows ...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81600" y="4828032"/>
            <a:ext cx="1371600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53200" y="4828032"/>
            <a:ext cx="530352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81600" y="4992624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CUST_DATAGRID (Grid 명칭)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553200" y="4992624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"CUST_DATAGRID"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81600" y="5138928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CUST_PAGENO (페이지 번호)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53200" y="5138928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81600" y="5285232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CUST_PAGEPERCNT (페이지 당 건수)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53200" y="5285232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81600" y="5431536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CUST_DATACNT (데이터 건수)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53200" y="5431536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[Empty]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181600" y="5577840"/>
            <a:ext cx="1371600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000000"/>
                </a:solidFill>
                <a:latin typeface="Noto Sans CJK KR"/>
              </a:defRPr>
            </a:pPr>
            <a:r>
              <a:rPr sz="730"/>
              <a:t>CUST_ROWCNT (행 건수)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53200" y="5577840"/>
            <a:ext cx="530352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30" b="0">
                <a:solidFill>
                  <a:srgbClr val="2D5DAA"/>
                </a:solidFill>
                <a:latin typeface="Noto Sans CJK KR"/>
              </a:defRPr>
            </a:pPr>
            <a:r>
              <a:rPr sz="730"/>
              <a:t>8 ← 실제 건수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81600" y="5724144"/>
            <a:ext cx="1901952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DATA</a:t>
            </a:r>
          </a:p>
        </p:txBody>
      </p:sp>
      <p:sp>
        <p:nvSpPr>
          <p:cNvPr id="104" name="Oval 103"/>
          <p:cNvSpPr/>
          <p:nvPr/>
        </p:nvSpPr>
        <p:spPr>
          <a:xfrm>
            <a:off x="8436864" y="5047488"/>
            <a:ext cx="987552" cy="51206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8건 레코드</a:t>
            </a:r>
            <a:br>
              <a:rPr sz="1000"/>
            </a:br>
            <a:r>
              <a:rPr sz="1000"/>
              <a:t>Return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4834128" y="4123944"/>
            <a:ext cx="27432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ight Arrow 105"/>
          <p:cNvSpPr/>
          <p:nvPr/>
        </p:nvSpPr>
        <p:spPr>
          <a:xfrm>
            <a:off x="7001256" y="4572000"/>
            <a:ext cx="18288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Left Arrow 106"/>
          <p:cNvSpPr/>
          <p:nvPr/>
        </p:nvSpPr>
        <p:spPr>
          <a:xfrm>
            <a:off x="8436864" y="4489704"/>
            <a:ext cx="310896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Left Arrow 107"/>
          <p:cNvSpPr/>
          <p:nvPr/>
        </p:nvSpPr>
        <p:spPr>
          <a:xfrm>
            <a:off x="7001256" y="5248656"/>
            <a:ext cx="18288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Left Arrow 108"/>
          <p:cNvSpPr/>
          <p:nvPr/>
        </p:nvSpPr>
        <p:spPr>
          <a:xfrm>
            <a:off x="4834128" y="5623560"/>
            <a:ext cx="27432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09"/>
          <p:cNvCxnSpPr/>
          <p:nvPr/>
        </p:nvCxnSpPr>
        <p:spPr>
          <a:xfrm>
            <a:off x="4267200" y="3730752"/>
            <a:ext cx="365760" cy="365760"/>
          </a:xfrm>
          <a:prstGeom prst="line">
            <a:avLst/>
          </a:prstGeom>
          <a:ln w="12700">
            <a:solidFill>
              <a:srgbClr val="BE3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267200" y="3401568"/>
            <a:ext cx="365760" cy="329184"/>
          </a:xfrm>
          <a:prstGeom prst="line">
            <a:avLst/>
          </a:prstGeom>
          <a:ln w="12700">
            <a:solidFill>
              <a:srgbClr val="BE3C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4066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“① 스크롤” 화면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11.2 스크롤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90928" y="1234440"/>
            <a:ext cx="8046720" cy="5262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※ 스크롤 바 노출을 위해 조회되는 데이터 (XXX_PAGEPERCNT)는 실제 화면에 그려지는 그리드의 크기보다 약 1.5배 크도록 설정</a:t>
            </a:r>
            <a:br>
              <a:rPr sz="1100"/>
            </a:br>
            <a:r>
              <a:rPr sz="1100"/>
              <a:t>(그리드 크기는 px단위 이므로, 적정 ROW 수 조절 필요 : 기본값인 경우 약 20px이 1ROW)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- 76 -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320" y="1792224"/>
            <a:ext cx="1645920" cy="44935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예시 그리드 XXX_DATAGRID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0080" y="2148840"/>
            <a:ext cx="438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순번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8992" y="2148840"/>
            <a:ext cx="1143000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거래일자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1992" y="2148840"/>
            <a:ext cx="74980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입출금구분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1800" y="2148840"/>
            <a:ext cx="71323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금액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5032" y="2148840"/>
            <a:ext cx="868680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잔액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0080" y="240487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8992" y="240487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2026-07-14 13:00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1992" y="240487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81800" y="240487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5032" y="240487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1,220,000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0080" y="258775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8992" y="258775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2026-07-13 12:30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1992" y="258775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81800" y="258775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5032" y="258775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1,210,000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0080" y="277063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8992" y="277063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2026-07-12 13:00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1992" y="277063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1800" y="277063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30,000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5032" y="277063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1,190,000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0080" y="295351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88992" y="295351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2026-07-11 12:30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1992" y="295351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81800" y="295351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5032" y="295351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1,160,000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0080" y="313639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88992" y="313639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2026-07-10 13:00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1992" y="313639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1800" y="313639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5032" y="313639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1,120,000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50080" y="331927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88992" y="331927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2026-07-09 12:30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1992" y="331927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81800" y="331927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60,000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5032" y="331927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1,070,000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0080" y="350215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88992" y="350215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2026-07-08 13:00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1992" y="350215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81800" y="350215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70,000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5032" y="350215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1,010,000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50080" y="368503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88992" y="368503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2026-07-07 12:30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1992" y="368503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81800" y="368503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80,000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5032" y="368503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940,000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50080" y="386791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88992" y="386791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2026-07-06 13:00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1992" y="386791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81800" y="386791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90,000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5032" y="386791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860,000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50080" y="405079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88992" y="405079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2026-07-05 12:30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1992" y="405079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81800" y="405079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5032" y="405079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770,000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50080" y="423367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88992" y="423367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2026-07-04 13:00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1992" y="423367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81800" y="423367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60,000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5032" y="423367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720,000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50080" y="441655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88992" y="441655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2026-07-03 12:30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1992" y="441655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81800" y="441655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70,000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95032" y="441655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660,000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50080" y="459943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88992" y="459943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2026-07-02 13:00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31992" y="459943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81800" y="459943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80,000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5032" y="459943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590,000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50080" y="478231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88992" y="478231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2026-07-01 12:30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31992" y="478231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81800" y="478231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90,000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95032" y="478231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510,000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50080" y="4965192"/>
            <a:ext cx="43891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88992" y="4965192"/>
            <a:ext cx="1143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2026-06-30 13:00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31992" y="4965192"/>
            <a:ext cx="749808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81800" y="4965192"/>
            <a:ext cx="71323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90,000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5032" y="496519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420,000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40352" y="2048256"/>
            <a:ext cx="4133088" cy="2121408"/>
          </a:xfrm>
          <a:prstGeom prst="rect">
            <a:avLst/>
          </a:prstGeom>
          <a:noFill/>
          <a:ln w="19050">
            <a:solidFill>
              <a:srgbClr val="BE3C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cxnSp>
        <p:nvCxnSpPr>
          <p:cNvPr id="93" name="Connector 92"/>
          <p:cNvCxnSpPr/>
          <p:nvPr/>
        </p:nvCxnSpPr>
        <p:spPr>
          <a:xfrm flipH="1">
            <a:off x="4248912" y="2286000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248912" y="2395729"/>
            <a:ext cx="0" cy="1627631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248912" y="4023359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398519" y="2743200"/>
            <a:ext cx="731520" cy="75713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실제 화면의</a:t>
            </a:r>
            <a:br>
              <a:rPr sz="1200"/>
            </a:br>
            <a:r>
              <a:rPr sz="1200"/>
              <a:t>그리드 크기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692896" y="2267712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784336" y="2377440"/>
            <a:ext cx="0" cy="2523744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8692896" y="4901184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884920" y="2606040"/>
            <a:ext cx="1234440" cy="168046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실제 조회된 데이터 건수</a:t>
            </a:r>
            <a:br>
              <a:rPr sz="1200"/>
            </a:br>
            <a:r>
              <a:rPr sz="1200"/>
              <a:t>XXX_ROWCNT = “15”</a:t>
            </a:r>
            <a:br>
              <a:rPr sz="1200"/>
            </a:br>
            <a:r>
              <a:rPr sz="1200"/>
              <a:t/>
            </a:r>
            <a:br>
              <a:rPr sz="1200"/>
            </a:br>
            <a:r>
              <a:rPr sz="1200"/>
              <a:t>한 페이지 당 ROW 개수</a:t>
            </a:r>
            <a:br>
              <a:rPr sz="1200"/>
            </a:br>
            <a:r>
              <a:rPr sz="1200"/>
              <a:t>XXX_PAGEPERCNT = “15”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90928" y="6217921"/>
            <a:ext cx="3840480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※ 이해를 돕기 위한 예시이며, 정확한 가이드는 단말 개발 가이드 참조</a:t>
            </a:r>
          </a:p>
        </p:txBody>
      </p:sp>
    </p:spTree>
    <p:extLst>
      <p:ext uri="{BB962C8B-B14F-4D97-AF65-F5344CB8AC3E}">
        <p14:creationId xmlns:p14="http://schemas.microsoft.com/office/powerpoint/2010/main" val="23661568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“① 스크롤” 전문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11.2 스크롤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- 77 -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0120" y="1325880"/>
            <a:ext cx="960120" cy="530352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정보 단말</a:t>
            </a:r>
            <a:br>
              <a:rPr sz="1300"/>
            </a:br>
            <a:r>
              <a:rPr sz="1300"/>
              <a:t>(WebTopSuit)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6080" y="1325880"/>
            <a:ext cx="1051560" cy="530352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업무 시스템</a:t>
            </a:r>
            <a:br>
              <a:rPr sz="1300"/>
            </a:br>
            <a:r>
              <a:rPr sz="1300"/>
              <a:t>(NH Cloud FWK)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45608" y="1856232"/>
            <a:ext cx="0" cy="4251961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66432" y="1856232"/>
            <a:ext cx="0" cy="4251961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64080" y="2011680"/>
            <a:ext cx="2514600" cy="868680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1</a:t>
            </a:r>
            <a:br>
              <a:rPr sz="1100"/>
            </a:br>
            <a:r>
              <a:rPr sz="1100"/>
              <a:t>{#}_PAGEPERCNT = 10 (단말 프로그램에서 지정한 값)</a:t>
            </a:r>
            <a:br>
              <a:rPr sz="1100"/>
            </a:br>
            <a:r>
              <a:rPr sz="1100"/>
              <a:t>  (※ 그리드의 RowCountPerPage를 활용하거나</a:t>
            </a:r>
            <a:br>
              <a:rPr sz="1100"/>
            </a:br>
            <a:r>
              <a:rPr sz="1100"/>
              <a:t>      그리드 레이아웃보다 큰 임의값 설정)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91328" y="2359152"/>
            <a:ext cx="1755648" cy="109728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48528" y="2249424"/>
            <a:ext cx="841248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[조회 버튼 클릭]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3320" y="2057400"/>
            <a:ext cx="2468880" cy="932688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1 (최초 검색 시는 1)</a:t>
            </a:r>
            <a:br>
              <a:rPr sz="1100"/>
            </a:br>
            <a:r>
              <a:rPr sz="1100"/>
              <a:t>{#}_PAGEPERCNT = 10 (단말 프로그램이 전송한 값 유지)</a:t>
            </a:r>
            <a:br>
              <a:rPr sz="1100"/>
            </a:br>
            <a:r>
              <a:rPr sz="1100"/>
              <a:t/>
            </a:r>
            <a:br>
              <a:rPr sz="1100"/>
            </a:br>
            <a:r>
              <a:rPr sz="1100"/>
              <a:t>■ 쿼리 실행 결과</a:t>
            </a:r>
            <a:br>
              <a:rPr sz="1100"/>
            </a:br>
            <a:r>
              <a:rPr sz="1100"/>
              <a:t>XXX_ROWCNT = 10 (조회된 결과 레코드의 개수)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7220712" y="3108960"/>
            <a:ext cx="182880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164080" y="4279392"/>
            <a:ext cx="2514600" cy="640080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2 (이전 XXX_PAGENO + 1)</a:t>
            </a:r>
            <a:br>
              <a:rPr sz="1100"/>
            </a:br>
            <a:r>
              <a:rPr sz="1100"/>
              <a:t>{#}_PAGEPERCNT = 10 (세팅 값 유지)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91328" y="4663440"/>
            <a:ext cx="1755648" cy="109728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84520" y="4535424"/>
            <a:ext cx="100584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[스크롤링 하단 Event]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3320" y="4343400"/>
            <a:ext cx="2468880" cy="914400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2 (전송한 값 유지)</a:t>
            </a:r>
            <a:br>
              <a:rPr sz="1100"/>
            </a:br>
            <a:r>
              <a:rPr sz="1100"/>
              <a:t>{#}_PAGEPERCNT = 10 (전송한 값 유지)</a:t>
            </a:r>
            <a:br>
              <a:rPr sz="1100"/>
            </a:br>
            <a:r>
              <a:rPr sz="1100"/>
              <a:t/>
            </a:r>
            <a:br>
              <a:rPr sz="1100"/>
            </a:br>
            <a:r>
              <a:rPr sz="1100"/>
              <a:t>■ 쿼리 실행 결과</a:t>
            </a:r>
            <a:br>
              <a:rPr sz="1100"/>
            </a:br>
            <a:r>
              <a:rPr sz="1100"/>
              <a:t>{#}_ROWCNT = 8 (조회된 결과 레코드의 개수)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7220712" y="5394960"/>
            <a:ext cx="182880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61891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“②-1 Full 페이지네이션” 처리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11.3 Full 페이지네이션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- 78 -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8360" y="1426464"/>
            <a:ext cx="2487168" cy="384048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정보 단말 (WebTopSuit)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2736" y="1426464"/>
            <a:ext cx="2103120" cy="384048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업무 시스템 (NH Cloud FWK)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2368" y="1920240"/>
            <a:ext cx="77724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① 최초 조회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0424" y="2368296"/>
            <a:ext cx="676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200" b="0">
                <a:solidFill>
                  <a:srgbClr val="BEBEBE"/>
                </a:solidFill>
                <a:latin typeface="Noto Sans CJK KR"/>
              </a:defRPr>
            </a:pPr>
            <a:r>
              <a:rPr sz="2200"/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8400" y="2221992"/>
            <a:ext cx="1051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cxnSp>
        <p:nvCxnSpPr>
          <p:cNvPr id="15" name="Connector 14"/>
          <p:cNvCxnSpPr/>
          <p:nvPr/>
        </p:nvCxnSpPr>
        <p:spPr>
          <a:xfrm>
            <a:off x="2612136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85872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59608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33344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07080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80816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38400" y="2395728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38400" y="2569464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38400" y="2743200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8248" y="2240280"/>
            <a:ext cx="731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5" name="Rectangle 24"/>
          <p:cNvSpPr/>
          <p:nvPr/>
        </p:nvSpPr>
        <p:spPr>
          <a:xfrm>
            <a:off x="3535680" y="2267712"/>
            <a:ext cx="18288" cy="164592"/>
          </a:xfrm>
          <a:prstGeom prst="rect">
            <a:avLst/>
          </a:prstGeom>
          <a:solidFill>
            <a:srgbClr val="BEBEBE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6" name="TextBox 25"/>
          <p:cNvSpPr txBox="1"/>
          <p:nvPr/>
        </p:nvSpPr>
        <p:spPr>
          <a:xfrm>
            <a:off x="2346960" y="3026664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3264" y="3026664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28" name="Oval 27"/>
          <p:cNvSpPr/>
          <p:nvPr/>
        </p:nvSpPr>
        <p:spPr>
          <a:xfrm>
            <a:off x="2630424" y="3008376"/>
            <a:ext cx="182880" cy="1828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9880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8752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87624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6496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5368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4240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3112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1984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0856" y="3026665"/>
            <a:ext cx="128016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6303" y="3026664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2608" y="3026664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99887" y="1965960"/>
            <a:ext cx="1335024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4912" y="1965960"/>
            <a:ext cx="566928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99887" y="213055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XXX_DATAGRID (Grid 명칭)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4912" y="213055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"XXX_DATAGRID"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9887" y="226771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 (페이지 번호)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4912" y="226771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99887" y="240487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XXX_PAGEPERCNT (페이지 당 건수)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4912" y="240487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99887" y="254203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XXX_PAGENOCNT (페이지 번호 개수)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4912" y="254203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99887" y="2679191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XXX_DATACNT (데이터 건수)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4912" y="2679191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[Empty]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9887" y="2816351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XXX_ROWCNT (행 건수)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4912" y="2816351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[Empty]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99887" y="2852928"/>
            <a:ext cx="1335024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4912" y="2852928"/>
            <a:ext cx="566928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99887" y="301752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XXX_DATAGRID (Grid 명칭)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4912" y="301752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"XXX_DATAGRID"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99887" y="315468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 (페이지 번호)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4912" y="315468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99887" y="329184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XXX_PAGEPERCNT (페이지 당 건수)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4912" y="329184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99887" y="342900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XXX_PAGENOCNT (페이지 번호 개수)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4912" y="342900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99887" y="356616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XXX_DATACNT (데이터 건수)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4912" y="356616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147 (실제 총 건수)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9887" y="370332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XXX_ROWCNT (행 건수)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4912" y="370332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10 ← 실제 건수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99887" y="3840480"/>
            <a:ext cx="1901952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0" b="1">
                <a:solidFill>
                  <a:srgbClr val="000000"/>
                </a:solidFill>
                <a:latin typeface="Noto Sans CJK KR"/>
              </a:defRPr>
            </a:pPr>
            <a:r>
              <a:rPr sz="810"/>
              <a:t>DATA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74992" y="2286000"/>
            <a:ext cx="1353312" cy="1024128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50" b="0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업무 로직</a:t>
            </a:r>
            <a:br>
              <a:rPr sz="1050"/>
            </a:br>
            <a:r>
              <a:rPr sz="1050"/>
              <a:t/>
            </a:r>
            <a:br>
              <a:rPr sz="1050"/>
            </a:br>
            <a:r>
              <a:rPr sz="1050"/>
              <a:t>if (“최초 호출”) {</a:t>
            </a:r>
            <a:br>
              <a:rPr sz="1050"/>
            </a:br>
            <a:r>
              <a:rPr sz="1050"/>
              <a:t>  (1) Total Count 조회</a:t>
            </a:r>
            <a:br>
              <a:rPr sz="1050"/>
            </a:br>
            <a:r>
              <a:rPr sz="1050"/>
              <a:t>  (2) 1페이지 목록 조회 실행</a:t>
            </a:r>
            <a:br>
              <a:rPr sz="1050"/>
            </a:br>
            <a:r>
              <a:rPr sz="1050"/>
              <a:t>} else {</a:t>
            </a:r>
            <a:br>
              <a:rPr sz="1050"/>
            </a:br>
            <a:r>
              <a:rPr sz="1050"/>
              <a:t>  (1) ??페이지 목록 조회 실행</a:t>
            </a:r>
            <a:br>
              <a:rPr sz="1050"/>
            </a:br>
            <a:r>
              <a:rPr sz="1050"/>
              <a:t>}</a:t>
            </a:r>
          </a:p>
        </p:txBody>
      </p:sp>
      <p:sp>
        <p:nvSpPr>
          <p:cNvPr id="70" name="Can 69"/>
          <p:cNvSpPr/>
          <p:nvPr/>
        </p:nvSpPr>
        <p:spPr>
          <a:xfrm>
            <a:off x="8884920" y="2157984"/>
            <a:ext cx="877824" cy="640080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count(*)</a:t>
            </a:r>
            <a:br>
              <a:rPr sz="1100"/>
            </a:br>
            <a:r>
              <a:rPr sz="1100"/>
              <a:t>from ...</a:t>
            </a:r>
          </a:p>
        </p:txBody>
      </p:sp>
      <p:sp>
        <p:nvSpPr>
          <p:cNvPr id="71" name="Can 70"/>
          <p:cNvSpPr/>
          <p:nvPr/>
        </p:nvSpPr>
        <p:spPr>
          <a:xfrm>
            <a:off x="8884920" y="2926080"/>
            <a:ext cx="877824" cy="713232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...</a:t>
            </a:r>
            <a:br>
              <a:rPr sz="1100"/>
            </a:br>
            <a:r>
              <a:rPr sz="1100"/>
              <a:t>from ...</a:t>
            </a:r>
            <a:br>
              <a:rPr sz="1100"/>
            </a:br>
            <a:r>
              <a:rPr sz="1100"/>
              <a:t>offset ... rows ...</a:t>
            </a:r>
          </a:p>
        </p:txBody>
      </p:sp>
      <p:sp>
        <p:nvSpPr>
          <p:cNvPr id="72" name="Oval 71"/>
          <p:cNvSpPr/>
          <p:nvPr/>
        </p:nvSpPr>
        <p:spPr>
          <a:xfrm>
            <a:off x="8427720" y="3511296"/>
            <a:ext cx="932688" cy="42062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10건 레코드</a:t>
            </a:r>
            <a:br>
              <a:rPr sz="1000"/>
            </a:br>
            <a:r>
              <a:rPr sz="1000"/>
              <a:t>Return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4834128" y="2359152"/>
            <a:ext cx="27432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ight Arrow 73"/>
          <p:cNvSpPr/>
          <p:nvPr/>
        </p:nvSpPr>
        <p:spPr>
          <a:xfrm>
            <a:off x="7001256" y="2724912"/>
            <a:ext cx="164592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eft Arrow 74"/>
          <p:cNvSpPr/>
          <p:nvPr/>
        </p:nvSpPr>
        <p:spPr>
          <a:xfrm>
            <a:off x="8354568" y="2395728"/>
            <a:ext cx="475488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Left Arrow 75"/>
          <p:cNvSpPr/>
          <p:nvPr/>
        </p:nvSpPr>
        <p:spPr>
          <a:xfrm>
            <a:off x="8354568" y="3163824"/>
            <a:ext cx="475488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Left Arrow 76"/>
          <p:cNvSpPr/>
          <p:nvPr/>
        </p:nvSpPr>
        <p:spPr>
          <a:xfrm>
            <a:off x="7001256" y="3566160"/>
            <a:ext cx="164592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Left Arrow 77"/>
          <p:cNvSpPr/>
          <p:nvPr/>
        </p:nvSpPr>
        <p:spPr>
          <a:xfrm>
            <a:off x="4834128" y="3685032"/>
            <a:ext cx="27432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9" name="Connector 78"/>
          <p:cNvCxnSpPr/>
          <p:nvPr/>
        </p:nvCxnSpPr>
        <p:spPr>
          <a:xfrm>
            <a:off x="2036064" y="3877056"/>
            <a:ext cx="8010144" cy="0"/>
          </a:xfrm>
          <a:prstGeom prst="line">
            <a:avLst/>
          </a:prstGeom>
          <a:ln w="12700">
            <a:solidFill>
              <a:srgbClr val="BEBEB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182368" y="4096512"/>
            <a:ext cx="123444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② 특정 페이지 번호 클릭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30424" y="4645152"/>
            <a:ext cx="676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200" b="0">
                <a:solidFill>
                  <a:srgbClr val="BEBEBE"/>
                </a:solidFill>
                <a:latin typeface="Noto Sans CJK KR"/>
              </a:defRPr>
            </a:pPr>
            <a:r>
              <a:rPr sz="2200"/>
              <a:t>DATA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38400" y="4498848"/>
            <a:ext cx="1051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cxnSp>
        <p:nvCxnSpPr>
          <p:cNvPr id="83" name="Connector 82"/>
          <p:cNvCxnSpPr/>
          <p:nvPr/>
        </p:nvCxnSpPr>
        <p:spPr>
          <a:xfrm>
            <a:off x="2612136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785872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959608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33344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307080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480816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38400" y="4672584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438400" y="4846320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438400" y="5020056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3508248" y="4517136"/>
            <a:ext cx="731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93" name="Rectangle 92"/>
          <p:cNvSpPr/>
          <p:nvPr/>
        </p:nvSpPr>
        <p:spPr>
          <a:xfrm>
            <a:off x="3535680" y="4544568"/>
            <a:ext cx="18288" cy="164592"/>
          </a:xfrm>
          <a:prstGeom prst="rect">
            <a:avLst/>
          </a:prstGeom>
          <a:solidFill>
            <a:srgbClr val="BEBEBE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94" name="TextBox 93"/>
          <p:cNvSpPr txBox="1"/>
          <p:nvPr/>
        </p:nvSpPr>
        <p:spPr>
          <a:xfrm>
            <a:off x="2346960" y="5303520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493264" y="5303520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39568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58440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77312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96184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4</a:t>
            </a:r>
          </a:p>
        </p:txBody>
      </p:sp>
      <p:sp>
        <p:nvSpPr>
          <p:cNvPr id="100" name="Oval 99"/>
          <p:cNvSpPr/>
          <p:nvPr/>
        </p:nvSpPr>
        <p:spPr>
          <a:xfrm>
            <a:off x="3105912" y="5285232"/>
            <a:ext cx="182880" cy="1828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25368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44240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63112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681984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00856" y="5303521"/>
            <a:ext cx="128016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56303" y="5303520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02608" y="5303520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99887" y="4206240"/>
            <a:ext cx="1335024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34912" y="4206240"/>
            <a:ext cx="566928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9887" y="4370831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XXX_DATAGRID (Grid 명칭)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34912" y="4370831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"XXX_DATAGRID"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99887" y="450799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 (페이지 번호)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534912" y="450799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199887" y="464515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XXX_PAGEPERCNT (페이지 당 건수)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34912" y="464515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199887" y="478231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XXX_PAGENOCNT (페이지 번호 개수)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34912" y="478231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199887" y="491947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XXX_DATACNT (데이터 건수)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34912" y="491947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[Empty]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199887" y="505663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XXX_ROWCNT (행 건수)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534912" y="505663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[Empty]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199887" y="5093208"/>
            <a:ext cx="1335024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534912" y="5093208"/>
            <a:ext cx="566928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199887" y="525780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XXX_DATAGRID (Grid 명칭)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34912" y="525780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"XXX_DATAGRID"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99887" y="539496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 (페이지 번호)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34912" y="539496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199887" y="553212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XXX_PAGEPERCNT (페이지 당 건수)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534912" y="553212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99887" y="566928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XXX_PAGENOCNT (페이지 번호 개수)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34912" y="566928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199887" y="580644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XXX_DATACNT (데이터 건수)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34912" y="580644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147 (실제 총 건수)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199887" y="594360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XXX_ROWCNT (행 건수)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34912" y="594360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7 ← 실제 건수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199887" y="6080760"/>
            <a:ext cx="1901952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0" b="1">
                <a:solidFill>
                  <a:srgbClr val="000000"/>
                </a:solidFill>
                <a:latin typeface="Noto Sans CJK KR"/>
              </a:defRPr>
            </a:pPr>
            <a:r>
              <a:rPr sz="810"/>
              <a:t>DATA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174992" y="4526280"/>
            <a:ext cx="1353312" cy="1024128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50" b="0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업무 로직</a:t>
            </a:r>
            <a:br>
              <a:rPr sz="1050"/>
            </a:br>
            <a:r>
              <a:rPr sz="1050"/>
              <a:t/>
            </a:r>
            <a:br>
              <a:rPr sz="1050"/>
            </a:br>
            <a:r>
              <a:rPr sz="1050"/>
              <a:t>if (“최초 호출”) {</a:t>
            </a:r>
            <a:br>
              <a:rPr sz="1050"/>
            </a:br>
            <a:r>
              <a:rPr sz="1050"/>
              <a:t>  (1) Total Count 조회</a:t>
            </a:r>
            <a:br>
              <a:rPr sz="1050"/>
            </a:br>
            <a:r>
              <a:rPr sz="1050"/>
              <a:t>  (2) 1페이지 목록 조회 실행</a:t>
            </a:r>
            <a:br>
              <a:rPr sz="1050"/>
            </a:br>
            <a:r>
              <a:rPr sz="1050"/>
              <a:t>} else {</a:t>
            </a:r>
            <a:br>
              <a:rPr sz="1050"/>
            </a:br>
            <a:r>
              <a:rPr sz="1050"/>
              <a:t>  (1) ??페이지 목록 조회 실행</a:t>
            </a:r>
            <a:br>
              <a:rPr sz="1050"/>
            </a:br>
            <a:r>
              <a:rPr sz="1050"/>
              <a:t>}</a:t>
            </a:r>
          </a:p>
        </p:txBody>
      </p:sp>
      <p:sp>
        <p:nvSpPr>
          <p:cNvPr id="138" name="Can 137"/>
          <p:cNvSpPr/>
          <p:nvPr/>
        </p:nvSpPr>
        <p:spPr>
          <a:xfrm>
            <a:off x="8884920" y="4846320"/>
            <a:ext cx="877824" cy="713232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...</a:t>
            </a:r>
            <a:br>
              <a:rPr sz="1100"/>
            </a:br>
            <a:r>
              <a:rPr sz="1100"/>
              <a:t>from ...</a:t>
            </a:r>
            <a:br>
              <a:rPr sz="1100"/>
            </a:br>
            <a:r>
              <a:rPr sz="1100"/>
              <a:t>offset ... rows ...</a:t>
            </a:r>
          </a:p>
        </p:txBody>
      </p:sp>
      <p:sp>
        <p:nvSpPr>
          <p:cNvPr id="139" name="Oval 138"/>
          <p:cNvSpPr/>
          <p:nvPr/>
        </p:nvSpPr>
        <p:spPr>
          <a:xfrm>
            <a:off x="8427720" y="5596128"/>
            <a:ext cx="932688" cy="42062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7건 레코드</a:t>
            </a:r>
            <a:br>
              <a:rPr sz="1000"/>
            </a:br>
            <a:r>
              <a:rPr sz="1000"/>
              <a:t>Return</a:t>
            </a:r>
          </a:p>
        </p:txBody>
      </p:sp>
      <p:sp>
        <p:nvSpPr>
          <p:cNvPr id="140" name="Right Arrow 139"/>
          <p:cNvSpPr/>
          <p:nvPr/>
        </p:nvSpPr>
        <p:spPr>
          <a:xfrm>
            <a:off x="4834128" y="4590288"/>
            <a:ext cx="27432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ight Arrow 140"/>
          <p:cNvSpPr/>
          <p:nvPr/>
        </p:nvSpPr>
        <p:spPr>
          <a:xfrm>
            <a:off x="7001256" y="5230368"/>
            <a:ext cx="164592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Left Arrow 141"/>
          <p:cNvSpPr/>
          <p:nvPr/>
        </p:nvSpPr>
        <p:spPr>
          <a:xfrm>
            <a:off x="8354568" y="5102352"/>
            <a:ext cx="475488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Left Arrow 142"/>
          <p:cNvSpPr/>
          <p:nvPr/>
        </p:nvSpPr>
        <p:spPr>
          <a:xfrm>
            <a:off x="7001256" y="5650992"/>
            <a:ext cx="164592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Left Arrow 143"/>
          <p:cNvSpPr/>
          <p:nvPr/>
        </p:nvSpPr>
        <p:spPr>
          <a:xfrm>
            <a:off x="4834128" y="5925312"/>
            <a:ext cx="27432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299752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“②-1 Full 페이지네이션” 화면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11.3 Full 페이지네이션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- 79 -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6191" y="1792224"/>
            <a:ext cx="1554480" cy="44935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예시 그리드 XXX_DATAGRID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4944" y="2148840"/>
            <a:ext cx="438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순번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43856" y="2148840"/>
            <a:ext cx="1143000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거래일자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6856" y="2148840"/>
            <a:ext cx="74980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입출금구분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6664" y="2148840"/>
            <a:ext cx="71323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금액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9896" y="2148840"/>
            <a:ext cx="868680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잔액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4944" y="2404872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3856" y="2404872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2026-07-14 13:00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6856" y="2404872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6664" y="2404872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9896" y="24048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1,220,000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4944" y="2660904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43856" y="2660904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2026-07-13 12:30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6856" y="2660904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6664" y="2660904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9896" y="26609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1,210,000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4944" y="2916936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43856" y="2916936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2026-07-12 13:00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6856" y="2916936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6664" y="2916936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30,000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9896" y="29169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1,190,000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4944" y="3172968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43856" y="3172968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2026-07-11 12:30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6856" y="3172968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6664" y="317296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9896" y="31729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1,160,000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04944" y="3429000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43856" y="3429000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2026-07-10 13:00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6856" y="3429000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6664" y="3429000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9896" y="34290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1,120,000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04944" y="3685032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43856" y="3685032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2026-07-09 12:30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6856" y="3685032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6664" y="3685032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60,000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9896" y="368503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1,070,000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04944" y="3941064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43856" y="3941064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2026-07-08 13:00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6856" y="3941064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6664" y="3941064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70,000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9896" y="394106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1,010,000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04944" y="4197096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43856" y="4197096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2026-07-07 12:30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6856" y="4197096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36664" y="4197096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80,000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49896" y="419709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940,000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04944" y="4453128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43856" y="4453128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2026-07-06 13:00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6856" y="4453128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36664" y="445312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90,000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9896" y="445312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860,000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04944" y="4709160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43856" y="4709160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2026-07-05 12:30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6856" y="4709160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36664" y="4709160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9896" y="470916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770,000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95216" y="2048256"/>
            <a:ext cx="4133088" cy="2926080"/>
          </a:xfrm>
          <a:prstGeom prst="rect">
            <a:avLst/>
          </a:prstGeom>
          <a:noFill/>
          <a:ln w="19050">
            <a:solidFill>
              <a:srgbClr val="BE3C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cxnSp>
        <p:nvCxnSpPr>
          <p:cNvPr id="67" name="Connector 66"/>
          <p:cNvCxnSpPr/>
          <p:nvPr/>
        </p:nvCxnSpPr>
        <p:spPr>
          <a:xfrm flipH="1">
            <a:off x="4294632" y="2286000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294632" y="2395728"/>
            <a:ext cx="0" cy="2395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294632" y="4791456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471672" y="3108960"/>
            <a:ext cx="731520" cy="75713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실제 화면의</a:t>
            </a:r>
            <a:br>
              <a:rPr sz="1200"/>
            </a:br>
            <a:r>
              <a:rPr sz="1200"/>
              <a:t>그리드 크기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74608" y="2286000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66048" y="2395728"/>
            <a:ext cx="0" cy="2395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8674608" y="4791456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912352" y="2852928"/>
            <a:ext cx="1143000" cy="168046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한 페이지 당 ROW 개수</a:t>
            </a:r>
            <a:br>
              <a:rPr sz="1200"/>
            </a:br>
            <a:r>
              <a:rPr sz="1200"/>
              <a:t>XXX_PAGEPERCNT = “10”</a:t>
            </a:r>
            <a:br>
              <a:rPr sz="1200"/>
            </a:br>
            <a:r>
              <a:rPr sz="1200"/>
              <a:t/>
            </a:r>
            <a:br>
              <a:rPr sz="1200"/>
            </a:br>
            <a:r>
              <a:rPr sz="1200"/>
              <a:t>실제 조회된 데이터 건수</a:t>
            </a:r>
            <a:br>
              <a:rPr sz="1200"/>
            </a:br>
            <a:r>
              <a:rPr sz="1200"/>
              <a:t>XXX_ROWCNT = “10”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73039" y="5230368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19344" y="5230368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65648" y="5230369"/>
            <a:ext cx="128016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처음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21096" y="5230369"/>
            <a:ext cx="128016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이전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76544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95416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14288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33159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4</a:t>
            </a:r>
          </a:p>
        </p:txBody>
      </p:sp>
      <p:sp>
        <p:nvSpPr>
          <p:cNvPr id="83" name="Oval 82"/>
          <p:cNvSpPr/>
          <p:nvPr/>
        </p:nvSpPr>
        <p:spPr>
          <a:xfrm>
            <a:off x="6342888" y="5212080"/>
            <a:ext cx="182880" cy="1828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62344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81216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00088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18959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37831" y="5230369"/>
            <a:ext cx="128016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93279" y="5230369"/>
            <a:ext cx="128016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다음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8727" y="5230369"/>
            <a:ext cx="128016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맨끝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04175" y="5230368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50479" y="5230368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5382768" y="5486400"/>
            <a:ext cx="804672" cy="438912"/>
          </a:xfrm>
          <a:prstGeom prst="line">
            <a:avLst/>
          </a:prstGeom>
          <a:ln w="1270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450080" y="5779008"/>
            <a:ext cx="1554480" cy="57246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사용자가 선택한 페이지 번호</a:t>
            </a:r>
            <a:br>
              <a:rPr sz="1200"/>
            </a:br>
            <a:r>
              <a:rPr sz="1200"/>
              <a:t>XXX_PAGENO = “5”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747760" y="5650992"/>
            <a:ext cx="1417320" cy="57246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전체 데이터 건수</a:t>
            </a:r>
            <a:br>
              <a:rPr sz="1200"/>
            </a:br>
            <a:r>
              <a:rPr sz="1200"/>
              <a:t>XXX_DATACNT = 588,939 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90928" y="6217921"/>
            <a:ext cx="3840480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※ 이해를 돕기 위한 예시이며, 정확한 가이드는 단말 개발 가이드 참조</a:t>
            </a:r>
          </a:p>
        </p:txBody>
      </p:sp>
    </p:spTree>
    <p:extLst>
      <p:ext uri="{BB962C8B-B14F-4D97-AF65-F5344CB8AC3E}">
        <p14:creationId xmlns:p14="http://schemas.microsoft.com/office/powerpoint/2010/main" val="11309473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“②-1 Full 페이지네이션” 전문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11.3 Full 페이지네이션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- 80 -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0120" y="1325880"/>
            <a:ext cx="960120" cy="530352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정보 단말</a:t>
            </a:r>
            <a:br>
              <a:rPr sz="1300"/>
            </a:br>
            <a:r>
              <a:rPr sz="1300"/>
              <a:t>(WebTopSuit)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6080" y="1325880"/>
            <a:ext cx="1051560" cy="530352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업무 시스템</a:t>
            </a:r>
            <a:br>
              <a:rPr sz="1300"/>
            </a:br>
            <a:r>
              <a:rPr sz="1300"/>
              <a:t>(NH Cloud FWK)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45608" y="1856232"/>
            <a:ext cx="0" cy="4251961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66432" y="1856232"/>
            <a:ext cx="0" cy="4251961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82368" y="1901952"/>
            <a:ext cx="2468880" cy="749808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0</a:t>
            </a:r>
            <a:br>
              <a:rPr sz="1100"/>
            </a:br>
            <a:r>
              <a:rPr sz="1100"/>
              <a:t>{#}_PAGEPERCNT = 10 (단말 프로그램에서 지정한 값)</a:t>
            </a:r>
            <a:br>
              <a:rPr sz="1100"/>
            </a:br>
            <a:r>
              <a:rPr sz="1100"/>
              <a:t>  (※ 그리드의 RowCountPerPage)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91328" y="2240280"/>
            <a:ext cx="1755648" cy="109728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48528" y="2130552"/>
            <a:ext cx="841248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[조회 버튼 클릭]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3320" y="1828800"/>
            <a:ext cx="2514600" cy="1207008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0 (최초 검색 시는 0)</a:t>
            </a:r>
            <a:br>
              <a:rPr sz="1100"/>
            </a:br>
            <a:r>
              <a:rPr sz="1100"/>
              <a:t>{#}_PAGEPERCNT = 10 (단말 프로그램이 전송한 값 유지)</a:t>
            </a:r>
            <a:br>
              <a:rPr sz="1100"/>
            </a:br>
            <a:r>
              <a:rPr sz="1100"/>
              <a:t/>
            </a:r>
            <a:br>
              <a:rPr sz="1100"/>
            </a:br>
            <a:r>
              <a:rPr sz="1100"/>
              <a:t>■ 쿼리 실행 결과</a:t>
            </a:r>
            <a:br>
              <a:rPr sz="1100"/>
            </a:br>
            <a:r>
              <a:rPr sz="1100"/>
              <a:t>{#}_DATACNT = (예) 147 ← 조회 대상 전체 데이터</a:t>
            </a:r>
            <a:br>
              <a:rPr sz="1100"/>
            </a:br>
            <a:r>
              <a:rPr sz="1100"/>
              <a:t>                        건수 조회 결과값 ({#}_PAGENO=0인 경우만)</a:t>
            </a:r>
            <a:br>
              <a:rPr sz="1100"/>
            </a:br>
            <a:r>
              <a:rPr sz="1100"/>
              <a:t>{#}_ROWCNT = 10 (조회된 결과 레코드의 개수)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7220712" y="3182112"/>
            <a:ext cx="182880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5245608" y="3310128"/>
            <a:ext cx="0" cy="1060704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63312" y="3566160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1" name="Rectangle 20"/>
          <p:cNvSpPr/>
          <p:nvPr/>
        </p:nvSpPr>
        <p:spPr>
          <a:xfrm>
            <a:off x="5163312" y="3822191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2" name="TextBox 21"/>
          <p:cNvSpPr txBox="1"/>
          <p:nvPr/>
        </p:nvSpPr>
        <p:spPr>
          <a:xfrm>
            <a:off x="2849881" y="3493008"/>
            <a:ext cx="1874519" cy="112646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- 단말의 그리드 속성 세팅</a:t>
            </a:r>
            <a:br>
              <a:rPr sz="1200"/>
            </a:br>
            <a:r>
              <a:rPr sz="1200"/>
              <a:t>  TotalRows 세팅 ← {#}_DATACNT 147 세팅</a:t>
            </a:r>
            <a:br>
              <a:rPr sz="1200"/>
            </a:br>
            <a:r>
              <a:rPr sz="1200"/>
              <a:t/>
            </a:r>
            <a:br>
              <a:rPr sz="1200"/>
            </a:br>
            <a:r>
              <a:rPr sz="1200"/>
              <a:t>  (그리드에 Page번호가 세팅됨)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82368" y="4608576"/>
            <a:ext cx="2468880" cy="658368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15 (사용자 클릭)</a:t>
            </a:r>
            <a:br>
              <a:rPr sz="1100"/>
            </a:br>
            <a:r>
              <a:rPr sz="1100"/>
              <a:t>{#}_PAGEPERCNT = 초기 지정값 유지</a:t>
            </a:r>
            <a:br>
              <a:rPr sz="1100"/>
            </a:br>
            <a:r>
              <a:rPr sz="1100"/>
              <a:t>{#}_DATACNT = 유지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91328" y="5010912"/>
            <a:ext cx="1755648" cy="109728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84520" y="4882896"/>
            <a:ext cx="100584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[스크롤링 하단 Event]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3320" y="4498848"/>
            <a:ext cx="2514600" cy="1005840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15 (사용자 클릭)</a:t>
            </a:r>
            <a:br>
              <a:rPr sz="1100"/>
            </a:br>
            <a:r>
              <a:rPr sz="1100"/>
              <a:t>{#}_PAGEPERCNT = 10 (화면에서 설정한 값)</a:t>
            </a:r>
            <a:br>
              <a:rPr sz="1100"/>
            </a:br>
            <a:r>
              <a:rPr sz="1100"/>
              <a:t/>
            </a:r>
            <a:br>
              <a:rPr sz="1100"/>
            </a:br>
            <a:r>
              <a:rPr sz="1100"/>
              <a:t>■ 쿼리 실행 결과</a:t>
            </a:r>
            <a:br>
              <a:rPr sz="1100"/>
            </a:br>
            <a:r>
              <a:rPr sz="1100"/>
              <a:t>{#}_DATACNT = 147 전송된 값 유지</a:t>
            </a:r>
            <a:br>
              <a:rPr sz="1100"/>
            </a:br>
            <a:r>
              <a:rPr sz="1100"/>
              <a:t>{#}_ROWCNT = 7 (조회된 결과 레코드의 개수)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7220712" y="5577840"/>
            <a:ext cx="182880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872624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“②-2 Half 페이지네이션” 처리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11.4 Half 페이지네이션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- 81 -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8360" y="1426464"/>
            <a:ext cx="2487168" cy="384048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정보 단말 (WebTopSuit)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2736" y="1426464"/>
            <a:ext cx="2103120" cy="384048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업무 시스템 (NH Cloud FWK)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2368" y="1920240"/>
            <a:ext cx="77724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① 최초 조회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0424" y="2368296"/>
            <a:ext cx="676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200" b="0">
                <a:solidFill>
                  <a:srgbClr val="BEBEBE"/>
                </a:solidFill>
                <a:latin typeface="Noto Sans CJK KR"/>
              </a:defRPr>
            </a:pPr>
            <a:r>
              <a:rPr sz="2200"/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8400" y="2221992"/>
            <a:ext cx="1051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cxnSp>
        <p:nvCxnSpPr>
          <p:cNvPr id="15" name="Connector 14"/>
          <p:cNvCxnSpPr/>
          <p:nvPr/>
        </p:nvCxnSpPr>
        <p:spPr>
          <a:xfrm>
            <a:off x="2612136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85872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59608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33344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07080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80816" y="2221992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38400" y="2395728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38400" y="2569464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38400" y="2743200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8248" y="2240280"/>
            <a:ext cx="731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5" name="Rectangle 24"/>
          <p:cNvSpPr/>
          <p:nvPr/>
        </p:nvSpPr>
        <p:spPr>
          <a:xfrm>
            <a:off x="3535680" y="2267712"/>
            <a:ext cx="18288" cy="164592"/>
          </a:xfrm>
          <a:prstGeom prst="rect">
            <a:avLst/>
          </a:prstGeom>
          <a:solidFill>
            <a:srgbClr val="BEBEBE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26" name="TextBox 25"/>
          <p:cNvSpPr txBox="1"/>
          <p:nvPr/>
        </p:nvSpPr>
        <p:spPr>
          <a:xfrm>
            <a:off x="2484120" y="3026664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27" name="Oval 26"/>
          <p:cNvSpPr/>
          <p:nvPr/>
        </p:nvSpPr>
        <p:spPr>
          <a:xfrm>
            <a:off x="2621280" y="3008376"/>
            <a:ext cx="182880" cy="1828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0736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9608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8480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7352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6224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5096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3968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2840" y="3026665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1712" y="3026665"/>
            <a:ext cx="128016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7160" y="3026664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99887" y="1965960"/>
            <a:ext cx="1335024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4912" y="1965960"/>
            <a:ext cx="566928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99887" y="213055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XXX_DATAGRID (Grid 명칭)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4912" y="213055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"XXX_DATAGRID"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99887" y="226771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 (페이지 번호)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4912" y="226771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9887" y="240487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XXX_PAGEPERCNT (페이지 당 건수)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4912" y="240487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99887" y="254203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XXX_PAGENOCNT (페이지 번호 개수)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4912" y="254203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99887" y="2679191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XXX_DATACNT (데이터 건수)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4912" y="2679191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[Empty]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99887" y="2816351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XXX_ROWCNT (행 건수)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4912" y="2816351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[Empty]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9887" y="2852928"/>
            <a:ext cx="1335024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4912" y="2852928"/>
            <a:ext cx="566928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99887" y="301752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XXX_DATAGRID (Grid 명칭)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4912" y="301752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"XXX_DATAGRID"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99887" y="315468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 (페이지 번호)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4912" y="315468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99887" y="329184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XXX_PAGEPERCNT (페이지 당 건수)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4912" y="329184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99887" y="342900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XXX_PAGENOCNT (페이지 번호 개수)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4912" y="342900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99887" y="356616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XXX_DATACNT (데이터 건수)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4912" y="356616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101 (실제 총 건수)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99887" y="370332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XXX_ROWCNT (행 건수)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4912" y="370332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10 ← 실제 건수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9887" y="3840480"/>
            <a:ext cx="1901952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0" b="1">
                <a:solidFill>
                  <a:srgbClr val="000000"/>
                </a:solidFill>
                <a:latin typeface="Noto Sans CJK KR"/>
              </a:defRPr>
            </a:pPr>
            <a:r>
              <a:rPr sz="810"/>
              <a:t>DATA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56120" y="2249424"/>
            <a:ext cx="1353312" cy="1133856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50" b="0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업무 로직</a:t>
            </a:r>
            <a:br>
              <a:rPr sz="1050"/>
            </a:br>
            <a:r>
              <a:rPr sz="1050"/>
              <a:t/>
            </a:r>
            <a:br>
              <a:rPr sz="1050"/>
            </a:br>
            <a:r>
              <a:rPr sz="1050"/>
              <a:t>(1) Total Count 조회</a:t>
            </a:r>
            <a:br>
              <a:rPr sz="1050"/>
            </a:br>
            <a:r>
              <a:rPr sz="1050"/>
              <a:t>if (“Y”) {</a:t>
            </a:r>
            <a:br>
              <a:rPr sz="1050"/>
            </a:br>
            <a:r>
              <a:rPr sz="1050"/>
              <a:t>  데이터 건수 = Total Count</a:t>
            </a:r>
            <a:br>
              <a:rPr sz="1050"/>
            </a:br>
            <a:r>
              <a:rPr sz="1050"/>
              <a:t>  (2) 1페이지 목록 조회 실행</a:t>
            </a:r>
            <a:br>
              <a:rPr sz="1050"/>
            </a:br>
            <a:r>
              <a:rPr sz="1050"/>
              <a:t>} else {</a:t>
            </a:r>
            <a:br>
              <a:rPr sz="1050"/>
            </a:br>
            <a:r>
              <a:rPr sz="1050"/>
              <a:t>  (1) 1페이지 목록 조회 실행</a:t>
            </a:r>
            <a:br>
              <a:rPr sz="1050"/>
            </a:br>
            <a:r>
              <a:rPr sz="1050"/>
              <a:t>  데이터 건수 = 목록 조회 건수</a:t>
            </a:r>
            <a:br>
              <a:rPr sz="1050"/>
            </a:br>
            <a:r>
              <a:rPr sz="1050"/>
              <a:t>}</a:t>
            </a:r>
          </a:p>
        </p:txBody>
      </p:sp>
      <p:sp>
        <p:nvSpPr>
          <p:cNvPr id="68" name="Can 67"/>
          <p:cNvSpPr/>
          <p:nvPr/>
        </p:nvSpPr>
        <p:spPr>
          <a:xfrm>
            <a:off x="8884920" y="2048256"/>
            <a:ext cx="877824" cy="841248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latin typeface="Noto Sans CJK KR"/>
              </a:defRPr>
            </a:pPr>
            <a:r>
              <a:rPr sz="1050"/>
              <a:t>Exist</a:t>
            </a:r>
            <a:br>
              <a:rPr sz="1050"/>
            </a:br>
            <a:r>
              <a:rPr sz="1050"/>
              <a:t>select count(*)</a:t>
            </a:r>
            <a:br>
              <a:rPr sz="1050"/>
            </a:br>
            <a:r>
              <a:rPr sz="1050"/>
              <a:t>from ...</a:t>
            </a:r>
            <a:br>
              <a:rPr sz="1050"/>
            </a:br>
            <a:r>
              <a:rPr sz="1050"/>
              <a:t>where rownum</a:t>
            </a:r>
            <a:br>
              <a:rPr sz="1050"/>
            </a:br>
            <a:r>
              <a:rPr sz="1050"/>
              <a:t>&lt; 101</a:t>
            </a:r>
          </a:p>
        </p:txBody>
      </p:sp>
      <p:sp>
        <p:nvSpPr>
          <p:cNvPr id="69" name="Can 68"/>
          <p:cNvSpPr/>
          <p:nvPr/>
        </p:nvSpPr>
        <p:spPr>
          <a:xfrm>
            <a:off x="8884920" y="2999232"/>
            <a:ext cx="877824" cy="694944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...</a:t>
            </a:r>
            <a:br>
              <a:rPr sz="1100"/>
            </a:br>
            <a:r>
              <a:rPr sz="1100"/>
              <a:t>from ...</a:t>
            </a:r>
            <a:br>
              <a:rPr sz="1100"/>
            </a:br>
            <a:r>
              <a:rPr sz="1100"/>
              <a:t>offset ... rows ...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79080" y="1856231"/>
            <a:ext cx="1783080" cy="3200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980" b="0">
                <a:solidFill>
                  <a:srgbClr val="BE3C2D"/>
                </a:solidFill>
                <a:latin typeface="Noto Sans CJK KR"/>
              </a:defRPr>
            </a:pPr>
            <a:r>
              <a:rPr sz="980"/>
              <a:t>화면 페이지 목록 표시의 최대 값(100건)+1</a:t>
            </a:r>
          </a:p>
        </p:txBody>
      </p:sp>
      <p:sp>
        <p:nvSpPr>
          <p:cNvPr id="71" name="Oval 70"/>
          <p:cNvSpPr/>
          <p:nvPr/>
        </p:nvSpPr>
        <p:spPr>
          <a:xfrm>
            <a:off x="8427720" y="3511296"/>
            <a:ext cx="932688" cy="42062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10건 레코드</a:t>
            </a:r>
            <a:br>
              <a:rPr sz="1000"/>
            </a:br>
            <a:r>
              <a:rPr sz="1000"/>
              <a:t>Return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834128" y="2359152"/>
            <a:ext cx="27432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ight Arrow 72"/>
          <p:cNvSpPr/>
          <p:nvPr/>
        </p:nvSpPr>
        <p:spPr>
          <a:xfrm>
            <a:off x="7001256" y="2670048"/>
            <a:ext cx="164592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Left Arrow 73"/>
          <p:cNvSpPr/>
          <p:nvPr/>
        </p:nvSpPr>
        <p:spPr>
          <a:xfrm>
            <a:off x="8354568" y="2377440"/>
            <a:ext cx="475488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eft Arrow 74"/>
          <p:cNvSpPr/>
          <p:nvPr/>
        </p:nvSpPr>
        <p:spPr>
          <a:xfrm>
            <a:off x="8354568" y="3200400"/>
            <a:ext cx="475488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Left Arrow 75"/>
          <p:cNvSpPr/>
          <p:nvPr/>
        </p:nvSpPr>
        <p:spPr>
          <a:xfrm>
            <a:off x="7001256" y="3566160"/>
            <a:ext cx="164592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Left Arrow 76"/>
          <p:cNvSpPr/>
          <p:nvPr/>
        </p:nvSpPr>
        <p:spPr>
          <a:xfrm>
            <a:off x="4834128" y="3685032"/>
            <a:ext cx="27432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2036064" y="3877056"/>
            <a:ext cx="8010144" cy="0"/>
          </a:xfrm>
          <a:prstGeom prst="line">
            <a:avLst/>
          </a:prstGeom>
          <a:ln w="12700">
            <a:solidFill>
              <a:srgbClr val="BEBEB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182368" y="4096512"/>
            <a:ext cx="123444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② 특정 페이지 번호 클릭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30424" y="4645152"/>
            <a:ext cx="676656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2200" b="0">
                <a:solidFill>
                  <a:srgbClr val="BEBEBE"/>
                </a:solidFill>
                <a:latin typeface="Noto Sans CJK KR"/>
              </a:defRPr>
            </a:pPr>
            <a:r>
              <a:rPr sz="2200"/>
              <a:t>DATA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38400" y="4498848"/>
            <a:ext cx="1051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cxnSp>
        <p:nvCxnSpPr>
          <p:cNvPr id="82" name="Connector 81"/>
          <p:cNvCxnSpPr/>
          <p:nvPr/>
        </p:nvCxnSpPr>
        <p:spPr>
          <a:xfrm>
            <a:off x="2612136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785872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959608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133344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307080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480816" y="4498848"/>
            <a:ext cx="0" cy="694944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438400" y="4672584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38400" y="4846320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438400" y="5020056"/>
            <a:ext cx="1051560" cy="0"/>
          </a:xfrm>
          <a:prstGeom prst="line">
            <a:avLst/>
          </a:prstGeom>
          <a:ln w="5715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3508248" y="4517136"/>
            <a:ext cx="731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92" name="Rectangle 91"/>
          <p:cNvSpPr/>
          <p:nvPr/>
        </p:nvSpPr>
        <p:spPr>
          <a:xfrm>
            <a:off x="3535680" y="4544568"/>
            <a:ext cx="18288" cy="164592"/>
          </a:xfrm>
          <a:prstGeom prst="rect">
            <a:avLst/>
          </a:prstGeom>
          <a:solidFill>
            <a:srgbClr val="BEBEBE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endParaRPr sz="1000"/>
          </a:p>
        </p:txBody>
      </p:sp>
      <p:sp>
        <p:nvSpPr>
          <p:cNvPr id="93" name="TextBox 92"/>
          <p:cNvSpPr txBox="1"/>
          <p:nvPr/>
        </p:nvSpPr>
        <p:spPr>
          <a:xfrm>
            <a:off x="2484120" y="5303520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30424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49296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68168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87040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4</a:t>
            </a:r>
          </a:p>
        </p:txBody>
      </p:sp>
      <p:sp>
        <p:nvSpPr>
          <p:cNvPr id="98" name="Oval 97"/>
          <p:cNvSpPr/>
          <p:nvPr/>
        </p:nvSpPr>
        <p:spPr>
          <a:xfrm>
            <a:off x="3096768" y="5285232"/>
            <a:ext cx="182880" cy="1828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16224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35096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53968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72840" y="5303521"/>
            <a:ext cx="9144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91712" y="5303521"/>
            <a:ext cx="128016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10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47160" y="5303520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199887" y="4206240"/>
            <a:ext cx="1335024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534912" y="4206240"/>
            <a:ext cx="566928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99887" y="4370831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XXX_DATAGRID (Grid 명칭)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534912" y="4370831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"XXX_DATAGRID"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99887" y="450799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 (페이지 번호)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534912" y="450799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99887" y="464515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XXX_PAGEPERCNT (페이지 당 건수)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34912" y="464515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199887" y="478231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XXX_PAGENOCNT (페이지 번호 개수)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34912" y="478231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199887" y="491947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XXX_DATACNT (데이터 건수)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534912" y="491947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[Empty]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199887" y="5056632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XXX_ROWCNT (행 건수)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534912" y="5056632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[Empty]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199887" y="5093208"/>
            <a:ext cx="1335024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항목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534912" y="5093208"/>
            <a:ext cx="566928" cy="16459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9" b="1">
                <a:solidFill>
                  <a:srgbClr val="000000"/>
                </a:solidFill>
                <a:latin typeface="Noto Sans CJK KR"/>
              </a:defRPr>
            </a:pPr>
            <a:r>
              <a:rPr sz="819"/>
              <a:t>값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199887" y="525780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XXX_DATAGRID (Grid 명칭)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534912" y="525780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"XXX_DATAGRID"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199887" y="539496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 (페이지 번호)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534912" y="539496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199887" y="553212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XXX_PAGEPERCNT (페이지 당 건수)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534912" y="553212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99887" y="566928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XXX_PAGENOCNT (페이지 번호 개수)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534912" y="566928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199887" y="580644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XXX_DATACNT (데이터 건수)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34912" y="580644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147 (실제 총 건수)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199887" y="5943600"/>
            <a:ext cx="1335024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000000"/>
                </a:solidFill>
                <a:latin typeface="Noto Sans CJK KR"/>
              </a:defRPr>
            </a:pPr>
            <a:r>
              <a:rPr sz="720"/>
              <a:t>XXX_ROWCNT (행 건수)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34912" y="5943600"/>
            <a:ext cx="56692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>
              <a:defRPr sz="720" b="0">
                <a:solidFill>
                  <a:srgbClr val="2D5DAA"/>
                </a:solidFill>
                <a:latin typeface="Noto Sans CJK KR"/>
              </a:defRPr>
            </a:pPr>
            <a:r>
              <a:rPr sz="720"/>
              <a:t>7 ← 실제 건수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99887" y="6080760"/>
            <a:ext cx="1901952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810" b="1">
                <a:solidFill>
                  <a:srgbClr val="000000"/>
                </a:solidFill>
                <a:latin typeface="Noto Sans CJK KR"/>
              </a:defRPr>
            </a:pPr>
            <a:r>
              <a:rPr sz="810"/>
              <a:t>DATA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056120" y="4489704"/>
            <a:ext cx="1353312" cy="1133856"/>
          </a:xfrm>
          <a:prstGeom prst="roundRect">
            <a:avLst/>
          </a:prstGeom>
          <a:noFill/>
          <a:ln w="12700">
            <a:solidFill>
              <a:srgbClr val="BEBE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50" b="0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업무 로직</a:t>
            </a:r>
            <a:br>
              <a:rPr sz="1050"/>
            </a:br>
            <a:r>
              <a:rPr sz="1050"/>
              <a:t/>
            </a:r>
            <a:br>
              <a:rPr sz="1050"/>
            </a:br>
            <a:r>
              <a:rPr sz="1050"/>
              <a:t>(1) Total Count 조회</a:t>
            </a:r>
            <a:br>
              <a:rPr sz="1050"/>
            </a:br>
            <a:r>
              <a:rPr sz="1050"/>
              <a:t>if (“Y”) {</a:t>
            </a:r>
            <a:br>
              <a:rPr sz="1050"/>
            </a:br>
            <a:r>
              <a:rPr sz="1050"/>
              <a:t>  데이터 건수 = Total Count</a:t>
            </a:r>
            <a:br>
              <a:rPr sz="1050"/>
            </a:br>
            <a:r>
              <a:rPr sz="1050"/>
              <a:t>  (2) 1페이지 목록 조회 실행</a:t>
            </a:r>
            <a:br>
              <a:rPr sz="1050"/>
            </a:br>
            <a:r>
              <a:rPr sz="1050"/>
              <a:t>} else {</a:t>
            </a:r>
            <a:br>
              <a:rPr sz="1050"/>
            </a:br>
            <a:r>
              <a:rPr sz="1050"/>
              <a:t>  (1) 1페이지 목록 조회 실행</a:t>
            </a:r>
            <a:br>
              <a:rPr sz="1050"/>
            </a:br>
            <a:r>
              <a:rPr sz="1050"/>
              <a:t>  데이터 건수 = 목록 조회 건수</a:t>
            </a:r>
            <a:br>
              <a:rPr sz="1050"/>
            </a:br>
            <a:r>
              <a:rPr sz="1050"/>
              <a:t>}</a:t>
            </a:r>
          </a:p>
        </p:txBody>
      </p:sp>
      <p:sp>
        <p:nvSpPr>
          <p:cNvPr id="135" name="Can 134"/>
          <p:cNvSpPr/>
          <p:nvPr/>
        </p:nvSpPr>
        <p:spPr>
          <a:xfrm>
            <a:off x="8884920" y="4297680"/>
            <a:ext cx="877824" cy="841248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latin typeface="Noto Sans CJK KR"/>
              </a:defRPr>
            </a:pPr>
            <a:r>
              <a:rPr sz="1050"/>
              <a:t>Exist</a:t>
            </a:r>
            <a:br>
              <a:rPr sz="1050"/>
            </a:br>
            <a:r>
              <a:rPr sz="1050"/>
              <a:t>select count(*)</a:t>
            </a:r>
            <a:br>
              <a:rPr sz="1050"/>
            </a:br>
            <a:r>
              <a:rPr sz="1050"/>
              <a:t>from ...</a:t>
            </a:r>
            <a:br>
              <a:rPr sz="1050"/>
            </a:br>
            <a:r>
              <a:rPr sz="1050"/>
              <a:t>where rownum</a:t>
            </a:r>
            <a:br>
              <a:rPr sz="1050"/>
            </a:br>
            <a:r>
              <a:rPr sz="1050"/>
              <a:t>&lt; 201</a:t>
            </a:r>
          </a:p>
        </p:txBody>
      </p:sp>
      <p:sp>
        <p:nvSpPr>
          <p:cNvPr id="136" name="Can 135"/>
          <p:cNvSpPr/>
          <p:nvPr/>
        </p:nvSpPr>
        <p:spPr>
          <a:xfrm>
            <a:off x="8884920" y="5248656"/>
            <a:ext cx="877824" cy="694944"/>
          </a:xfrm>
          <a:prstGeom prst="can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Noto Sans CJK KR"/>
              </a:defRPr>
            </a:pPr>
            <a:r>
              <a:rPr sz="1100"/>
              <a:t>select ...</a:t>
            </a:r>
            <a:br>
              <a:rPr sz="1100"/>
            </a:br>
            <a:r>
              <a:rPr sz="1100"/>
              <a:t>from ...</a:t>
            </a:r>
            <a:br>
              <a:rPr sz="1100"/>
            </a:br>
            <a:r>
              <a:rPr sz="1100"/>
              <a:t>offset ... rows ...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79080" y="4078224"/>
            <a:ext cx="1783080" cy="3200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980" b="0">
                <a:solidFill>
                  <a:srgbClr val="BE3C2D"/>
                </a:solidFill>
                <a:latin typeface="Noto Sans CJK KR"/>
              </a:defRPr>
            </a:pPr>
            <a:r>
              <a:rPr sz="980"/>
              <a:t>화면 페이지 목록 표시의 최대 값(200건)+1</a:t>
            </a:r>
          </a:p>
        </p:txBody>
      </p:sp>
      <p:sp>
        <p:nvSpPr>
          <p:cNvPr id="138" name="Oval 137"/>
          <p:cNvSpPr/>
          <p:nvPr/>
        </p:nvSpPr>
        <p:spPr>
          <a:xfrm>
            <a:off x="8427720" y="5779008"/>
            <a:ext cx="932688" cy="42062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7건 레코드</a:t>
            </a:r>
            <a:br>
              <a:rPr sz="1000"/>
            </a:br>
            <a:r>
              <a:rPr sz="1000"/>
              <a:t>Return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4834128" y="4590288"/>
            <a:ext cx="274320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ight Arrow 139"/>
          <p:cNvSpPr/>
          <p:nvPr/>
        </p:nvSpPr>
        <p:spPr>
          <a:xfrm>
            <a:off x="7001256" y="4919472"/>
            <a:ext cx="164592" cy="91440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Left Arrow 140"/>
          <p:cNvSpPr/>
          <p:nvPr/>
        </p:nvSpPr>
        <p:spPr>
          <a:xfrm>
            <a:off x="8354568" y="4617720"/>
            <a:ext cx="475488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Left Arrow 141"/>
          <p:cNvSpPr/>
          <p:nvPr/>
        </p:nvSpPr>
        <p:spPr>
          <a:xfrm>
            <a:off x="8354568" y="5413248"/>
            <a:ext cx="475488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Left Arrow 142"/>
          <p:cNvSpPr/>
          <p:nvPr/>
        </p:nvSpPr>
        <p:spPr>
          <a:xfrm>
            <a:off x="7001256" y="5650992"/>
            <a:ext cx="164592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Left Arrow 143"/>
          <p:cNvSpPr/>
          <p:nvPr/>
        </p:nvSpPr>
        <p:spPr>
          <a:xfrm>
            <a:off x="4834128" y="5925312"/>
            <a:ext cx="27432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585155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“②-2 Half 페이지네이션” 화면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11.4 Half 페이지네이션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- 82 -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6191" y="1792224"/>
            <a:ext cx="1554480" cy="44935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예시 그리드 XXX_DATAGRID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4944" y="2148840"/>
            <a:ext cx="438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순번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43856" y="2148840"/>
            <a:ext cx="1143000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거래일자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6856" y="2148840"/>
            <a:ext cx="749808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입출금구분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6664" y="2148840"/>
            <a:ext cx="71323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금액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9896" y="2148840"/>
            <a:ext cx="868680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잔액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4944" y="2404872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3856" y="2404872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2026-07-14 13:00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6856" y="2404872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6664" y="2404872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9896" y="24048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1,220,000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4944" y="2660904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43856" y="2660904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2026-07-13 12:30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6856" y="2660904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6664" y="2660904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9896" y="26609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1,210,000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4944" y="2916936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43856" y="2916936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2026-07-12 13:00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6856" y="2916936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6664" y="2916936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30,000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9896" y="29169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1,190,000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4944" y="3172968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43856" y="3172968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2026-07-11 12:30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6856" y="3172968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6664" y="317296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9896" y="31729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1,160,000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04944" y="3429000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43856" y="3429000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2026-07-10 13:00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6856" y="3429000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6664" y="3429000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9896" y="34290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1,120,000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04944" y="3685032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43856" y="3685032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2026-07-09 12:30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6856" y="3685032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6664" y="3685032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60,000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9896" y="368503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1,070,000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04944" y="3941064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43856" y="3941064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2026-07-08 13:00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6856" y="3941064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6664" y="3941064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70,000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9896" y="394106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1,010,000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04944" y="4197096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43856" y="4197096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2026-07-07 12:30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6856" y="4197096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36664" y="4197096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80,000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49896" y="419709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940,000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04944" y="4453128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49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43856" y="4453128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2026-07-06 13:00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6856" y="4453128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36664" y="445312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90,000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9896" y="445312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860,000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04944" y="4709160"/>
            <a:ext cx="4389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43856" y="4709160"/>
            <a:ext cx="1143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2026-07-05 12:30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6856" y="4709160"/>
            <a:ext cx="74980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입금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36664" y="4709160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50,000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9896" y="470916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>
              <a:defRPr sz="950" b="0">
                <a:solidFill>
                  <a:srgbClr val="000000"/>
                </a:solidFill>
                <a:latin typeface="Noto Sans CJK KR"/>
              </a:defRPr>
            </a:pPr>
            <a:r>
              <a:rPr sz="950"/>
              <a:t>770,000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95216" y="2048256"/>
            <a:ext cx="4133088" cy="2926080"/>
          </a:xfrm>
          <a:prstGeom prst="rect">
            <a:avLst/>
          </a:prstGeom>
          <a:noFill/>
          <a:ln w="19050">
            <a:solidFill>
              <a:srgbClr val="BE3C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cxnSp>
        <p:nvCxnSpPr>
          <p:cNvPr id="67" name="Connector 66"/>
          <p:cNvCxnSpPr/>
          <p:nvPr/>
        </p:nvCxnSpPr>
        <p:spPr>
          <a:xfrm flipH="1">
            <a:off x="4294632" y="2286000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294632" y="2395728"/>
            <a:ext cx="0" cy="2395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294632" y="4791456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471672" y="3108960"/>
            <a:ext cx="731520" cy="75713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실제 화면의</a:t>
            </a:r>
            <a:br>
              <a:rPr sz="1200"/>
            </a:br>
            <a:r>
              <a:rPr sz="1200"/>
              <a:t>그리드 크기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74608" y="2286000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66048" y="2395728"/>
            <a:ext cx="0" cy="2395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8674608" y="4791456"/>
            <a:ext cx="91440" cy="109728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912352" y="2834640"/>
            <a:ext cx="1143000" cy="168046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한 페이지 당 ROW 개수</a:t>
            </a:r>
            <a:br>
              <a:rPr sz="1200"/>
            </a:br>
            <a:r>
              <a:rPr sz="1200"/>
              <a:t>XXX_PAGEPERCNT = “10”</a:t>
            </a:r>
            <a:br>
              <a:rPr sz="1200"/>
            </a:br>
            <a:r>
              <a:rPr sz="1200"/>
              <a:t/>
            </a:r>
            <a:br>
              <a:rPr sz="1200"/>
            </a:br>
            <a:r>
              <a:rPr sz="1200"/>
              <a:t>실제 조회된 데이터 건수</a:t>
            </a:r>
            <a:br>
              <a:rPr sz="1200"/>
            </a:br>
            <a:r>
              <a:rPr sz="1200"/>
              <a:t>XXX_ROWCNT = “10”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92496" y="5230368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38800" y="5230369"/>
            <a:ext cx="128016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이전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94248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13120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1992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50864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4</a:t>
            </a:r>
          </a:p>
        </p:txBody>
      </p:sp>
      <p:sp>
        <p:nvSpPr>
          <p:cNvPr id="81" name="Oval 80"/>
          <p:cNvSpPr/>
          <p:nvPr/>
        </p:nvSpPr>
        <p:spPr>
          <a:xfrm>
            <a:off x="6260592" y="5212080"/>
            <a:ext cx="182880" cy="18288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E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80048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98920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17792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36664" y="5230368"/>
            <a:ext cx="91440" cy="18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55536" y="5230369"/>
            <a:ext cx="128016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10983" y="5230369"/>
            <a:ext cx="128016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다음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66431" y="5230368"/>
            <a:ext cx="128016" cy="29546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800" b="1">
                <a:solidFill>
                  <a:srgbClr val="DC9614"/>
                </a:solidFill>
                <a:latin typeface="Noto Sans CJK KR"/>
              </a:defRPr>
            </a:pPr>
            <a:r>
              <a:t>▶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5382768" y="5486400"/>
            <a:ext cx="768096" cy="438912"/>
          </a:xfrm>
          <a:prstGeom prst="line">
            <a:avLst/>
          </a:prstGeom>
          <a:ln w="1270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450080" y="5779008"/>
            <a:ext cx="1554480" cy="57246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사용자가 선택한 페이지 번호</a:t>
            </a:r>
            <a:br>
              <a:rPr sz="1200"/>
            </a:br>
            <a:r>
              <a:rPr sz="1200"/>
              <a:t>XXX_PAGENO = “5”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84336" y="5650992"/>
            <a:ext cx="1234440" cy="57246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전체 데이터 건수</a:t>
            </a:r>
            <a:br>
              <a:rPr sz="1200"/>
            </a:br>
            <a:r>
              <a:rPr sz="1200"/>
              <a:t>XXX_DATACNT = “501”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90928" y="6217921"/>
            <a:ext cx="3840480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※ 이해를 돕기 위한 예시이며, 정확한 가이드는 단말 개발 가이드 참조</a:t>
            </a:r>
          </a:p>
        </p:txBody>
      </p:sp>
    </p:spTree>
    <p:extLst>
      <p:ext uri="{BB962C8B-B14F-4D97-AF65-F5344CB8AC3E}">
        <p14:creationId xmlns:p14="http://schemas.microsoft.com/office/powerpoint/2010/main" val="26816896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“②-2 Half 페이지네이션” 전문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11.4 Half 페이지네이션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- 83 -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0120" y="1325880"/>
            <a:ext cx="960120" cy="530352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정보 단말</a:t>
            </a:r>
            <a:br>
              <a:rPr sz="1300"/>
            </a:br>
            <a:r>
              <a:rPr sz="1300"/>
              <a:t>(WebTopSuit)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6080" y="1325880"/>
            <a:ext cx="1051560" cy="530352"/>
          </a:xfrm>
          <a:prstGeom prst="roundRect">
            <a:avLst/>
          </a:prstGeom>
          <a:solidFill>
            <a:srgbClr val="ECF6EE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업무 시스템</a:t>
            </a:r>
            <a:br>
              <a:rPr sz="1300"/>
            </a:br>
            <a:r>
              <a:rPr sz="1300"/>
              <a:t>(NH Cloud FWK)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45608" y="1856232"/>
            <a:ext cx="0" cy="4251961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66432" y="1856232"/>
            <a:ext cx="0" cy="4251961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82368" y="2011680"/>
            <a:ext cx="2514600" cy="713232"/>
          </a:xfrm>
          <a:prstGeom prst="roundRect">
            <a:avLst/>
          </a:prstGeom>
          <a:noFill/>
          <a:ln w="12700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0</a:t>
            </a:r>
            <a:br>
              <a:rPr sz="1100"/>
            </a:br>
            <a:r>
              <a:rPr sz="1100"/>
              <a:t>{#}_PAGEPERCNT = 10 (단말 프로그램에서 지정한 값)</a:t>
            </a:r>
            <a:br>
              <a:rPr sz="1100"/>
            </a:br>
            <a:r>
              <a:rPr sz="1100"/>
              <a:t>(※ 그리드의 RowCountPerPage)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91328" y="2359152"/>
            <a:ext cx="1755648" cy="109728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48528" y="2249424"/>
            <a:ext cx="841248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[조회 버튼 클릭]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3320" y="2011680"/>
            <a:ext cx="2514600" cy="1234440"/>
          </a:xfrm>
          <a:prstGeom prst="roundRect">
            <a:avLst/>
          </a:prstGeom>
          <a:noFill/>
          <a:ln w="12700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80" b="0">
                <a:solidFill>
                  <a:srgbClr val="000000"/>
                </a:solidFill>
                <a:latin typeface="Noto Sans CJK KR"/>
              </a:defRPr>
            </a:pPr>
            <a:r>
              <a:rPr sz="1080"/>
              <a:t>{#}_PAGENO = 0 (최초 검색 시는 0)</a:t>
            </a:r>
            <a:br>
              <a:rPr sz="1080"/>
            </a:br>
            <a:r>
              <a:rPr sz="1080"/>
              <a:t>{#}_PAGEPERCNT = 10 (단말 프로그램이 전송한 값</a:t>
            </a:r>
            <a:br>
              <a:rPr sz="1080"/>
            </a:br>
            <a:r>
              <a:rPr sz="1080"/>
              <a:t>유지)</a:t>
            </a:r>
            <a:br>
              <a:rPr sz="1080"/>
            </a:br>
            <a:r>
              <a:rPr sz="1080"/>
              <a:t/>
            </a:r>
            <a:br>
              <a:rPr sz="1080"/>
            </a:br>
            <a:r>
              <a:rPr sz="1080"/>
              <a:t>■ 쿼리 실행 결과</a:t>
            </a:r>
            <a:br>
              <a:rPr sz="1080"/>
            </a:br>
            <a:r>
              <a:rPr sz="1080"/>
              <a:t>{#}_DATACNT = (예) 101 ← 조회 대상 전체 데이터</a:t>
            </a:r>
            <a:br>
              <a:rPr sz="1080"/>
            </a:br>
            <a:r>
              <a:rPr sz="1080"/>
              <a:t>건수 조회 결과값 ({#}_PAGENO=0인 경우만)</a:t>
            </a:r>
            <a:br>
              <a:rPr sz="1080"/>
            </a:br>
            <a:r>
              <a:rPr sz="1080"/>
              <a:t>{#}_ROWCNT = 10 (조회된 결과 레코드의 개수)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7220712" y="3401568"/>
            <a:ext cx="182880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67000" y="3511296"/>
            <a:ext cx="1965960" cy="112646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- 단말의 그리드 속성 세팅</a:t>
            </a:r>
            <a:br>
              <a:rPr sz="1200"/>
            </a:br>
            <a:r>
              <a:rPr sz="1200"/>
              <a:t>  TotalRows 세팅 ← {#}_DATACNT 101 세팅</a:t>
            </a:r>
            <a:br>
              <a:rPr sz="1200"/>
            </a:br>
            <a:r>
              <a:rPr sz="1200"/>
              <a:t/>
            </a:r>
            <a:br>
              <a:rPr sz="1200"/>
            </a:br>
            <a:r>
              <a:rPr sz="1200"/>
              <a:t>  (그리드에 Page번호가 세팅됨)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45608" y="3273552"/>
            <a:ext cx="0" cy="1133856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81600" y="3456432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sp>
        <p:nvSpPr>
          <p:cNvPr id="22" name="Rectangle 21"/>
          <p:cNvSpPr/>
          <p:nvPr/>
        </p:nvSpPr>
        <p:spPr>
          <a:xfrm>
            <a:off x="5181600" y="4005072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cxnSp>
        <p:nvCxnSpPr>
          <p:cNvPr id="23" name="Connector 22"/>
          <p:cNvCxnSpPr/>
          <p:nvPr/>
        </p:nvCxnSpPr>
        <p:spPr>
          <a:xfrm flipH="1">
            <a:off x="5053584" y="3502152"/>
            <a:ext cx="128016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053584" y="4050791"/>
            <a:ext cx="128016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82368" y="4425696"/>
            <a:ext cx="2514600" cy="640080"/>
          </a:xfrm>
          <a:prstGeom prst="roundRect">
            <a:avLst/>
          </a:prstGeom>
          <a:noFill/>
          <a:ln w="12700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{#}_PAGENO = 15 (사용자 클릭)</a:t>
            </a:r>
            <a:br>
              <a:rPr sz="1100"/>
            </a:br>
            <a:r>
              <a:rPr sz="1100"/>
              <a:t>{#}_PAGEPERCNT = 초기 지정값 유지</a:t>
            </a:r>
            <a:br>
              <a:rPr sz="1100"/>
            </a:br>
            <a:r>
              <a:rPr sz="1100"/>
              <a:t>{#}_DATACNT = 201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291328" y="4736592"/>
            <a:ext cx="1755648" cy="109728"/>
          </a:xfrm>
          <a:prstGeom prst="rightArrow">
            <a:avLst/>
          </a:prstGeom>
          <a:solidFill>
            <a:srgbClr val="FFFFFF"/>
          </a:solidFill>
          <a:ln w="1143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84520" y="4608576"/>
            <a:ext cx="1005840" cy="38779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[스크롤링 하단 Event]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13320" y="4590288"/>
            <a:ext cx="2514600" cy="914400"/>
          </a:xfrm>
          <a:prstGeom prst="roundRect">
            <a:avLst/>
          </a:prstGeom>
          <a:noFill/>
          <a:ln w="12700">
            <a:solidFill>
              <a:srgbClr val="B4B4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80" b="0">
                <a:solidFill>
                  <a:srgbClr val="000000"/>
                </a:solidFill>
                <a:latin typeface="Noto Sans CJK KR"/>
              </a:defRPr>
            </a:pPr>
            <a:r>
              <a:rPr sz="1080"/>
              <a:t>{#}_PAGENO = 15 (사용자 클릭)</a:t>
            </a:r>
            <a:br>
              <a:rPr sz="1080"/>
            </a:br>
            <a:r>
              <a:rPr sz="1080"/>
              <a:t>{#}_PAGEPERCNT = 10 (화면에서 설정한 값)</a:t>
            </a:r>
            <a:br>
              <a:rPr sz="1080"/>
            </a:br>
            <a:r>
              <a:rPr sz="1080"/>
              <a:t/>
            </a:r>
            <a:br>
              <a:rPr sz="1080"/>
            </a:br>
            <a:r>
              <a:rPr sz="1080"/>
              <a:t>■ 쿼리 실행 결과</a:t>
            </a:r>
            <a:br>
              <a:rPr sz="1080"/>
            </a:br>
            <a:r>
              <a:rPr sz="1080"/>
              <a:t>{#}_DATACNT = 201 전송된 값 유지</a:t>
            </a:r>
            <a:br>
              <a:rPr sz="1080"/>
            </a:br>
            <a:r>
              <a:rPr sz="1080"/>
              <a:t>{#}_ROWCNT = 7 (조회된 결과 레코드의 개수)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7220712" y="5577840"/>
            <a:ext cx="1828800" cy="91440"/>
          </a:xfrm>
          <a:prstGeom prst="leftArrow">
            <a:avLst/>
          </a:prstGeom>
          <a:solidFill>
            <a:srgbClr val="FFFFFF"/>
          </a:solidFill>
          <a:ln w="1143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67000" y="5486400"/>
            <a:ext cx="1965960" cy="112646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Noto Sans CJK KR"/>
              </a:defRPr>
            </a:pPr>
            <a:r>
              <a:rPr sz="1200"/>
              <a:t>- 단말의 그리드 속성 세팅</a:t>
            </a:r>
            <a:br>
              <a:rPr sz="1200"/>
            </a:br>
            <a:r>
              <a:rPr sz="1200"/>
              <a:t>  TotalRows 세팅 ← {#}_DATACNT 101 세팅</a:t>
            </a:r>
            <a:br>
              <a:rPr sz="1200"/>
            </a:br>
            <a:r>
              <a:rPr sz="1200"/>
              <a:t/>
            </a:r>
            <a:br>
              <a:rPr sz="1200"/>
            </a:br>
            <a:r>
              <a:rPr sz="1200"/>
              <a:t>  (그리드에 Page번호가 세팅됨)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45608" y="5248656"/>
            <a:ext cx="0" cy="91440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81600" y="5413248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sp>
        <p:nvSpPr>
          <p:cNvPr id="33" name="Rectangle 32"/>
          <p:cNvSpPr/>
          <p:nvPr/>
        </p:nvSpPr>
        <p:spPr>
          <a:xfrm>
            <a:off x="5181600" y="5934456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cxnSp>
        <p:nvCxnSpPr>
          <p:cNvPr id="34" name="Connector 33"/>
          <p:cNvCxnSpPr/>
          <p:nvPr/>
        </p:nvCxnSpPr>
        <p:spPr>
          <a:xfrm flipH="1">
            <a:off x="5053584" y="5458968"/>
            <a:ext cx="128016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053584" y="5980176"/>
            <a:ext cx="128016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873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페이징 쿼리 처리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11.5 페이징 쿼리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- 84 -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800" y="1508760"/>
            <a:ext cx="6949440" cy="131112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▪ 대상 테이블은 반드시 Unique Index를 포함하여야 함</a:t>
            </a:r>
            <a:br>
              <a:rPr sz="1400"/>
            </a:br>
            <a:r>
              <a:rPr sz="1400"/>
              <a:t>▪ 조인 시 조인된 결과값이 Unique한 컬럼으로 조회 조건 구성</a:t>
            </a:r>
            <a:br>
              <a:rPr sz="1400"/>
            </a:br>
            <a:r>
              <a:rPr sz="1400"/>
              <a:t>▪ 조인 시 선행 테이블의 인덱스 컬럼을 조인 조건 컬럼으로 구성</a:t>
            </a:r>
            <a:br>
              <a:rPr sz="1400"/>
            </a:br>
            <a:r>
              <a:rPr sz="1400"/>
              <a:t>▪ ORDER BY 절은 Index를 드라이빙하는 Oracle Hint를 사용해서 구현 (order by 절 사용 금지)</a:t>
            </a:r>
            <a:br>
              <a:rPr sz="1400"/>
            </a:br>
            <a:r>
              <a:rPr sz="1400"/>
              <a:t>   - 대상 인덱스가 없는 경우 신규 생성</a:t>
            </a:r>
          </a:p>
        </p:txBody>
      </p:sp>
    </p:spTree>
    <p:extLst>
      <p:ext uri="{BB962C8B-B14F-4D97-AF65-F5344CB8AC3E}">
        <p14:creationId xmlns:p14="http://schemas.microsoft.com/office/powerpoint/2010/main" val="27340003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전체 건수 (Total Count) 쿼리 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11.5 페이징 쿼리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- 85 -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4080" y="1207008"/>
            <a:ext cx="4023360" cy="44935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② 페이지네이션 방식만 전체 건수 쿼리 필요함 (최초 1회)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2680" y="1444752"/>
            <a:ext cx="3474720" cy="44935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→ 전문 예약어 {GRID 명}_DATACNT에 해당하는 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5072" y="1463041"/>
            <a:ext cx="2057400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※ 성능 관련 튜닝은 DBA 담당자에게 문의 바랍니다.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4080" y="1828800"/>
            <a:ext cx="74523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sp>
        <p:nvSpPr>
          <p:cNvPr id="14" name="TextBox 13"/>
          <p:cNvSpPr txBox="1"/>
          <p:nvPr/>
        </p:nvSpPr>
        <p:spPr>
          <a:xfrm>
            <a:off x="2392680" y="1993393"/>
            <a:ext cx="1554480" cy="51090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■ 단일 테이블 쿼리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400" y="2359152"/>
            <a:ext cx="2240280" cy="152657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>
              <a:defRPr sz="1400" b="0">
                <a:solidFill>
                  <a:srgbClr val="3C50C8"/>
                </a:solidFill>
                <a:latin typeface="Courier New"/>
              </a:defRPr>
            </a:pPr>
            <a:r>
              <a:rPr sz="1400"/>
              <a:t>SELECT /*+ INDEX_FFS(A PK_XXXXX) */</a:t>
            </a:r>
          </a:p>
          <a:p>
            <a:pPr>
              <a:defRPr sz="1400" b="0">
                <a:solidFill>
                  <a:srgbClr val="3C50C8"/>
                </a:solidFill>
                <a:latin typeface="Courier New"/>
              </a:defRPr>
            </a:pPr>
            <a:r>
              <a:rPr sz="1400"/>
              <a:t>COUNT (*)</a:t>
            </a:r>
          </a:p>
          <a:p>
            <a:pPr>
              <a:defRPr sz="1400" b="0">
                <a:solidFill>
                  <a:srgbClr val="A06E28"/>
                </a:solidFill>
                <a:latin typeface="Courier New"/>
              </a:defRPr>
            </a:pPr>
            <a:r>
              <a:rPr sz="1400"/>
              <a:t>FROM tb_rd_co_am_cus_base_01 A;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21031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100" b="0">
                <a:solidFill>
                  <a:srgbClr val="000000"/>
                </a:solidFill>
                <a:latin typeface="Noto Sans CJK KR"/>
              </a:defRPr>
            </a:pPr>
            <a:r>
              <a:rPr sz="1100"/>
              <a:t>■ 가이드</a:t>
            </a:r>
            <a:br>
              <a:rPr sz="1100"/>
            </a:br>
            <a:r>
              <a:rPr sz="1100"/>
              <a:t>▪ 단일 테이블 쿼리인 경우와 조인 쿼리인 경우를 각각 별도로 처리</a:t>
            </a:r>
            <a:br>
              <a:rPr sz="1100"/>
            </a:br>
            <a:r>
              <a:rPr sz="1100"/>
              <a:t/>
            </a:r>
            <a:br>
              <a:rPr sz="1100"/>
            </a:br>
            <a:r>
              <a:rPr sz="1100"/>
              <a:t>■ INDEX 정렬 방식</a:t>
            </a:r>
            <a:br>
              <a:rPr sz="1100"/>
            </a:br>
            <a:r>
              <a:rPr sz="1100"/>
              <a:t>▪ 단일 쿼리의 경우 INDEX_FFS (A (PK인덱스))를 반드시 참조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78680" y="2715768"/>
            <a:ext cx="137160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821680" y="2514600"/>
            <a:ext cx="228600" cy="20116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821680" y="2715768"/>
            <a:ext cx="228600" cy="210312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92680" y="3456433"/>
            <a:ext cx="1097280" cy="51090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Noto Sans CJK KR"/>
              </a:defRPr>
            </a:pPr>
            <a:r>
              <a:rPr sz="1600"/>
              <a:t>■ 조인 쿼리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400" y="3794761"/>
            <a:ext cx="2240280" cy="88024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>
              <a:defRPr sz="1400" b="0">
                <a:solidFill>
                  <a:srgbClr val="3C50C8"/>
                </a:solidFill>
                <a:latin typeface="Courier New"/>
              </a:defRPr>
            </a:pPr>
            <a:r>
              <a:rPr sz="1400"/>
              <a:t>SELECT COUNT (*)</a:t>
            </a:r>
          </a:p>
          <a:p>
            <a:pPr>
              <a:defRPr sz="1400" b="0">
                <a:solidFill>
                  <a:srgbClr val="3C50C8"/>
                </a:solidFill>
                <a:latin typeface="Courier New"/>
              </a:defRPr>
            </a:pPr>
            <a:r>
              <a:rPr sz="1400"/>
              <a:t>  FROM tb_aaaa A, tb_bbbb B</a:t>
            </a:r>
          </a:p>
          <a:p>
            <a:pPr>
              <a:defRPr sz="1400" b="0">
                <a:solidFill>
                  <a:srgbClr val="3C50C8"/>
                </a:solidFill>
                <a:latin typeface="Courier New"/>
              </a:defRPr>
            </a:pPr>
            <a:r>
              <a:rPr sz="1400"/>
              <a:t>  WHERE A.pk = B.pk;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96768" y="4800600"/>
            <a:ext cx="237744" cy="621792"/>
          </a:xfrm>
          <a:prstGeom prst="rightArrow">
            <a:avLst/>
          </a:prstGeom>
          <a:solidFill>
            <a:srgbClr val="DC9614"/>
          </a:solidFill>
          <a:ln w="11430">
            <a:solidFill>
              <a:srgbClr val="DC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4240" y="4882896"/>
            <a:ext cx="1280160" cy="4185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Noto Sans CJK KR"/>
              </a:defRPr>
            </a:pPr>
            <a:r>
              <a:rPr sz="1300"/>
              <a:t>성능 저하 시 (예시)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8400" y="5285233"/>
            <a:ext cx="2468880" cy="121879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>
              <a:defRPr sz="1300" b="0">
                <a:solidFill>
                  <a:srgbClr val="3C50C8"/>
                </a:solidFill>
                <a:latin typeface="Courier New"/>
              </a:defRPr>
            </a:pPr>
            <a:r>
              <a:rPr sz="1300"/>
              <a:t>SELECT /*+ FULL(A) parallel(A 4) */</a:t>
            </a:r>
          </a:p>
          <a:p>
            <a:pPr>
              <a:defRPr sz="1300" b="0">
                <a:solidFill>
                  <a:srgbClr val="3C50C8"/>
                </a:solidFill>
                <a:latin typeface="Courier New"/>
              </a:defRPr>
            </a:pPr>
            <a:r>
              <a:rPr sz="1300"/>
              <a:t>COUNT (*)</a:t>
            </a:r>
          </a:p>
          <a:p>
            <a:pPr>
              <a:defRPr sz="1300" b="0">
                <a:solidFill>
                  <a:srgbClr val="3C50C8"/>
                </a:solidFill>
                <a:latin typeface="Courier New"/>
              </a:defRPr>
            </a:pPr>
            <a:r>
              <a:rPr sz="1300"/>
              <a:t>FROM tb_aaaa A, tb_bbbb B</a:t>
            </a:r>
          </a:p>
          <a:p>
            <a:pPr>
              <a:defRPr sz="1300" b="0">
                <a:solidFill>
                  <a:srgbClr val="3C50C8"/>
                </a:solidFill>
                <a:latin typeface="Courier New"/>
              </a:defRPr>
            </a:pPr>
            <a:r>
              <a:rPr sz="1300"/>
              <a:t>WHERE A.pk = B.pk;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0" y="46177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50" b="0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■ 가이드</a:t>
            </a:r>
            <a:br>
              <a:rPr sz="1050"/>
            </a:br>
            <a:r>
              <a:rPr sz="1050"/>
              <a:t>▪ 조인 테이블 쿼리의 경우, 성능이 확보되지 않을 때 기준 테이블의 조회 성능을 높여서 처리 속도를 개선할 수 있음</a:t>
            </a:r>
            <a:br>
              <a:rPr sz="1050"/>
            </a:br>
            <a:r>
              <a:rPr sz="1050"/>
              <a:t>※ 데이터의 분포 상태나 조인 방식에 따라 다를 수 있으므로 반드시 사전에 DBA와 협의 후 처리 필요</a:t>
            </a:r>
            <a:br>
              <a:rPr sz="1050"/>
            </a:br>
            <a:r>
              <a:rPr sz="1050"/>
              <a:t/>
            </a:r>
            <a:br>
              <a:rPr sz="1050"/>
            </a:br>
            <a:r>
              <a:rPr sz="1050"/>
              <a:t>■ 기준 테이블 우선 조회</a:t>
            </a:r>
            <a:br>
              <a:rPr sz="1050"/>
            </a:br>
            <a:r>
              <a:rPr sz="1050"/>
              <a:t>▪ 기준 테이블 조회 성능을 높이기 위한 Oracle Hint 드라이빙 사용</a:t>
            </a:r>
            <a:br>
              <a:rPr sz="1050"/>
            </a:br>
            <a:r>
              <a:rPr sz="1050"/>
              <a:t>▪ 시스템 퍼포먼스에 영향을 줄 수 있으므로 구현 시 반드시 DBA에 협의 필요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79848" y="5632704"/>
            <a:ext cx="1170432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821680" y="5431536"/>
            <a:ext cx="228600" cy="20116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821680" y="5632704"/>
            <a:ext cx="228600" cy="20116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73254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920" y="438913"/>
            <a:ext cx="6949440" cy="35702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Noto Sans CJK KR"/>
              </a:defRPr>
            </a:pPr>
            <a:r>
              <a:rPr sz="2200"/>
              <a:t>목록 쿼리 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4920" y="219456"/>
            <a:ext cx="1600200" cy="26468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11. 페이징 처리</a:t>
            </a:r>
            <a:br>
              <a:rPr sz="800"/>
            </a:br>
            <a:r>
              <a:rPr sz="800"/>
              <a:t>11.5 페이징 쿼리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98320" y="1042415"/>
            <a:ext cx="1627632" cy="0"/>
          </a:xfrm>
          <a:prstGeom prst="line">
            <a:avLst/>
          </a:prstGeom>
          <a:ln w="57150">
            <a:solidFill>
              <a:srgbClr val="2D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25952" y="1042415"/>
            <a:ext cx="402336" cy="0"/>
          </a:xfrm>
          <a:prstGeom prst="line">
            <a:avLst/>
          </a:prstGeom>
          <a:ln w="57150">
            <a:solidFill>
              <a:srgbClr val="91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28288" y="1042415"/>
            <a:ext cx="6428232" cy="0"/>
          </a:xfrm>
          <a:prstGeom prst="line">
            <a:avLst/>
          </a:prstGeom>
          <a:ln w="57150">
            <a:solidFill>
              <a:srgbClr val="206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39968" y="6501385"/>
            <a:ext cx="512064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Noto Sans CJK KR"/>
              </a:defRPr>
            </a:pPr>
            <a:r>
              <a:rPr sz="800"/>
              <a:t>- 86 -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6437377"/>
            <a:ext cx="868680" cy="17235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1">
                <a:solidFill>
                  <a:srgbClr val="20693D"/>
                </a:solidFill>
                <a:latin typeface="Noto Sans CJK KR"/>
              </a:defRPr>
            </a:pPr>
            <a:r>
              <a:rPr sz="1000"/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437377"/>
            <a:ext cx="731520" cy="14157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>
              <a:defRPr sz="800" b="1">
                <a:solidFill>
                  <a:srgbClr val="BE3C2D"/>
                </a:solidFill>
                <a:latin typeface="Noto Sans CJK KR"/>
              </a:defRPr>
            </a:pPr>
            <a:r>
              <a:rPr sz="800"/>
              <a:t>SK 주식회사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521" y="1207009"/>
            <a:ext cx="3749039" cy="66479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Noto Sans CJK KR"/>
              </a:defRPr>
            </a:pPr>
            <a:r>
              <a:rPr sz="1400"/>
              <a:t>{GRID명}_DATAGRID에 해당하는 데이터</a:t>
            </a:r>
            <a:br>
              <a:rPr sz="1400"/>
            </a:br>
            <a:r>
              <a:rPr sz="1400"/>
              <a:t>→ {GRID명}_ROWCNT에 해당 결과의 ROW수에 해당함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6512" y="1463041"/>
            <a:ext cx="2011680" cy="326243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Noto Sans CJK KR"/>
              </a:defRPr>
            </a:pPr>
            <a:r>
              <a:rPr sz="1000"/>
              <a:t>※ 성능 관련 튜닝은 DBA 담당자에게 문의 바랍니다.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73808" y="1810512"/>
            <a:ext cx="7360920" cy="4407408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sp>
        <p:nvSpPr>
          <p:cNvPr id="13" name="TextBox 12"/>
          <p:cNvSpPr txBox="1"/>
          <p:nvPr/>
        </p:nvSpPr>
        <p:spPr>
          <a:xfrm>
            <a:off x="2621280" y="2377441"/>
            <a:ext cx="3017520" cy="441967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>
              <a:defRPr sz="1500" b="0">
                <a:solidFill>
                  <a:srgbClr val="3C50C8"/>
                </a:solidFill>
                <a:latin typeface="Courier New"/>
              </a:defRPr>
            </a:pPr>
            <a:r>
              <a:rPr sz="1500"/>
              <a:t>SELECT</a:t>
            </a:r>
          </a:p>
          <a:p>
            <a:pPr>
              <a:defRPr sz="1500" b="0">
                <a:solidFill>
                  <a:srgbClr val="20693D"/>
                </a:solidFill>
                <a:latin typeface="Courier New"/>
              </a:defRPr>
            </a:pPr>
            <a:r>
              <a:rPr sz="1500"/>
              <a:t>/*+ INDEX_DESC(A, IX_XXXXX) */</a:t>
            </a:r>
          </a:p>
          <a:p>
            <a:pPr>
              <a:defRPr sz="1500" b="0">
                <a:solidFill>
                  <a:srgbClr val="000000"/>
                </a:solidFill>
                <a:latin typeface="Courier New"/>
              </a:defRPr>
            </a:pPr>
            <a:r>
              <a:rPr sz="1500"/>
              <a:t>ROWNUM RNUM,</a:t>
            </a:r>
          </a:p>
          <a:p>
            <a:pPr>
              <a:defRPr sz="1500" b="0">
                <a:solidFill>
                  <a:srgbClr val="000000"/>
                </a:solidFill>
                <a:latin typeface="Courier New"/>
              </a:defRPr>
            </a:pPr>
            <a:r>
              <a:rPr sz="1500"/>
              <a:t>TX_DATE,</a:t>
            </a:r>
          </a:p>
          <a:p>
            <a:pPr>
              <a:defRPr sz="1500" b="0">
                <a:solidFill>
                  <a:srgbClr val="000000"/>
                </a:solidFill>
                <a:latin typeface="Courier New"/>
              </a:defRPr>
            </a:pPr>
            <a:r>
              <a:rPr sz="1500"/>
              <a:t>TX_BRN_CODE,</a:t>
            </a:r>
          </a:p>
          <a:p>
            <a:pPr>
              <a:defRPr sz="1500" b="0">
                <a:solidFill>
                  <a:srgbClr val="000000"/>
                </a:solidFill>
                <a:latin typeface="Courier New"/>
              </a:defRPr>
            </a:pPr>
            <a:r>
              <a:rPr sz="1500"/>
              <a:t>TX_SQNU,</a:t>
            </a:r>
          </a:p>
          <a:p>
            <a:pPr>
              <a:defRPr sz="1500" b="0">
                <a:solidFill>
                  <a:srgbClr val="000000"/>
                </a:solidFill>
                <a:latin typeface="Courier New"/>
              </a:defRPr>
            </a:pPr>
            <a:r>
              <a:rPr sz="1500"/>
              <a:t>TX_TODY,</a:t>
            </a:r>
          </a:p>
          <a:p>
            <a:pPr>
              <a:defRPr sz="1500" b="0">
                <a:solidFill>
                  <a:srgbClr val="000000"/>
                </a:solidFill>
                <a:latin typeface="Courier New"/>
              </a:defRPr>
            </a:pPr>
            <a:r>
              <a:rPr sz="1500"/>
              <a:t>RMTN_ARVL_DVSN,</a:t>
            </a:r>
          </a:p>
          <a:p>
            <a:pPr>
              <a:defRPr sz="1500" b="0">
                <a:solidFill>
                  <a:srgbClr val="000000"/>
                </a:solidFill>
                <a:latin typeface="Courier New"/>
              </a:defRPr>
            </a:pPr>
            <a:r>
              <a:rPr sz="1500"/>
              <a:t>EXCG_GIRO_DVSN</a:t>
            </a:r>
          </a:p>
          <a:p>
            <a:pPr>
              <a:defRPr sz="1500" b="0">
                <a:solidFill>
                  <a:srgbClr val="3C50C8"/>
                </a:solidFill>
                <a:latin typeface="Courier New"/>
              </a:defRPr>
            </a:pPr>
            <a:r>
              <a:rPr sz="1500"/>
              <a:t>FROM tb_aaaa A</a:t>
            </a:r>
          </a:p>
          <a:p>
            <a:pPr>
              <a:defRPr sz="1500" b="0">
                <a:solidFill>
                  <a:srgbClr val="3C50C8"/>
                </a:solidFill>
                <a:latin typeface="Courier New"/>
              </a:defRPr>
            </a:pPr>
            <a:r>
              <a:rPr sz="1500"/>
              <a:t>ORDER BY EXCG_GIRO_DVSN DESC</a:t>
            </a:r>
          </a:p>
          <a:p>
            <a:pPr>
              <a:defRPr sz="1300" b="0">
                <a:solidFill>
                  <a:srgbClr val="BE3C2D"/>
                </a:solidFill>
                <a:latin typeface="Courier New"/>
              </a:defRPr>
            </a:pPr>
            <a:r>
              <a:rPr sz="1300"/>
              <a:t>OFFSET ( ?_PAGENO * ?_PAGEPERCNT ) - ?_PAGEPERCNT ROWS FETCH NEXT ?_PAGEPERCNT ROWS</a:t>
            </a:r>
          </a:p>
          <a:p>
            <a:pPr>
              <a:defRPr sz="1300" b="0">
                <a:solidFill>
                  <a:srgbClr val="3C50C8"/>
                </a:solidFill>
                <a:latin typeface="Courier New"/>
              </a:defRPr>
            </a:pPr>
            <a:r>
              <a:rPr sz="1300"/>
              <a:t>ONLY    e.g.) OFFSET (5*10)-10 ROWS FETCH NEXT 10 ROWS</a:t>
            </a:r>
          </a:p>
          <a:p>
            <a:pPr>
              <a:defRPr sz="1300" b="0">
                <a:solidFill>
                  <a:srgbClr val="3C50C8"/>
                </a:solidFill>
                <a:latin typeface="Courier New"/>
              </a:defRPr>
            </a:pPr>
            <a:r>
              <a:rPr sz="1300"/>
              <a:t>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78480" y="2505456"/>
            <a:ext cx="1828800" cy="228600"/>
          </a:xfrm>
          <a:prstGeom prst="rect">
            <a:avLst/>
          </a:prstGeom>
          <a:noFill/>
          <a:ln w="15240">
            <a:solidFill>
              <a:srgbClr val="BE3C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sp>
        <p:nvSpPr>
          <p:cNvPr id="15" name="Rectangle 14"/>
          <p:cNvSpPr/>
          <p:nvPr/>
        </p:nvSpPr>
        <p:spPr>
          <a:xfrm>
            <a:off x="2667000" y="4480560"/>
            <a:ext cx="4663440" cy="201168"/>
          </a:xfrm>
          <a:prstGeom prst="rect">
            <a:avLst/>
          </a:prstGeom>
          <a:noFill/>
          <a:ln w="15240">
            <a:solidFill>
              <a:srgbClr val="BE3C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defRPr sz="100" b="0">
                <a:solidFill>
                  <a:srgbClr val="000000"/>
                </a:solidFill>
                <a:latin typeface="Noto Sans CJK KR"/>
              </a:defRPr>
            </a:pPr>
            <a:endParaRPr sz="100"/>
          </a:p>
        </p:txBody>
      </p:sp>
      <p:sp>
        <p:nvSpPr>
          <p:cNvPr id="16" name="Rounded Rectangle 15"/>
          <p:cNvSpPr/>
          <p:nvPr/>
        </p:nvSpPr>
        <p:spPr>
          <a:xfrm>
            <a:off x="6571488" y="2029968"/>
            <a:ext cx="283464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50" b="0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■ 가이드</a:t>
            </a:r>
            <a:br>
              <a:rPr sz="1050"/>
            </a:br>
            <a:r>
              <a:rPr sz="1050"/>
              <a:t>▪ 레코드 정렬 시 반드시 인덱스를 사용</a:t>
            </a:r>
            <a:br>
              <a:rPr sz="1050"/>
            </a:br>
            <a:r>
              <a:rPr sz="1050"/>
              <a:t>▪ 조건에 맞는 인덱스가 없는 경우 신규 생성</a:t>
            </a:r>
            <a:br>
              <a:rPr sz="1050"/>
            </a:br>
            <a:r>
              <a:rPr sz="1050"/>
              <a:t/>
            </a:r>
            <a:br>
              <a:rPr sz="1050"/>
            </a:br>
            <a:r>
              <a:rPr sz="1050"/>
              <a:t>■ INDEX 정렬 방식</a:t>
            </a:r>
            <a:br>
              <a:rPr sz="1050"/>
            </a:br>
            <a:r>
              <a:rPr sz="1050"/>
              <a:t>▪ 오름차순 정렬: INDEX (또는 INDEX_ASC)</a:t>
            </a:r>
            <a:br>
              <a:rPr sz="1050"/>
            </a:br>
            <a:r>
              <a:rPr sz="1050"/>
              <a:t>▪ 내림차순 정렬: INDEX_DESC</a:t>
            </a:r>
            <a:br>
              <a:rPr sz="1050"/>
            </a:br>
            <a:r>
              <a:rPr sz="1050"/>
              <a:t/>
            </a:r>
            <a:br>
              <a:rPr sz="1050"/>
            </a:br>
            <a:r>
              <a:rPr sz="1050"/>
              <a:t>■ 표기 형식</a:t>
            </a:r>
            <a:br>
              <a:rPr sz="1050"/>
            </a:br>
            <a:r>
              <a:rPr sz="1050"/>
              <a:t>▪ /*+ INDEX((테이블 별칭 또는 테이블 명) [인덱스명]) */</a:t>
            </a:r>
            <a:br>
              <a:rPr sz="1050"/>
            </a:br>
            <a:r>
              <a:rPr sz="1050"/>
              <a:t/>
            </a:r>
            <a:br>
              <a:rPr sz="1050"/>
            </a:br>
            <a:r>
              <a:rPr sz="1050"/>
              <a:t>■ 참고 사항</a:t>
            </a:r>
            <a:br>
              <a:rPr sz="1050"/>
            </a:br>
            <a:r>
              <a:rPr sz="1050"/>
              <a:t>▪ 복합 인덱스 힌트 사용 가능</a:t>
            </a:r>
            <a:br>
              <a:rPr sz="1050"/>
            </a:br>
            <a:r>
              <a:rPr sz="1050"/>
              <a:t>▪ /*+ INDEX(A --) INDEX_DESC(B --) */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44440" y="2615184"/>
            <a:ext cx="1490472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6297168" y="2450592"/>
            <a:ext cx="237744" cy="164592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297168" y="2615184"/>
            <a:ext cx="237744" cy="164592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48128" y="4919472"/>
            <a:ext cx="4343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/>
          <a:lstStyle/>
          <a:p>
            <a:pPr algn="l">
              <a:defRPr sz="1050" b="0">
                <a:solidFill>
                  <a:srgbClr val="000000"/>
                </a:solidFill>
                <a:latin typeface="Noto Sans CJK KR"/>
              </a:defRPr>
            </a:pPr>
            <a:r>
              <a:rPr sz="1050"/>
              <a:t>■ 가이드</a:t>
            </a:r>
            <a:br>
              <a:rPr sz="1050"/>
            </a:br>
            <a:r>
              <a:rPr sz="1050"/>
              <a:t>▪ Oracle 12c부터 적용된 OFFSET ~ FETCH 문을 사용</a:t>
            </a:r>
            <a:br>
              <a:rPr sz="1050"/>
            </a:br>
            <a:r>
              <a:rPr sz="1050"/>
              <a:t>■ 표기 형식</a:t>
            </a:r>
            <a:br>
              <a:rPr sz="1050"/>
            </a:br>
            <a:r>
              <a:rPr sz="1050"/>
              <a:t>▪ OFFSET {시작위치 ※주의: 다음 레코드부터 포함됨} FETCH NEXT {조회 건수} ROWS ONLY</a:t>
            </a:r>
            <a:br>
              <a:rPr sz="1050"/>
            </a:br>
            <a:r>
              <a:rPr sz="1050"/>
              <a:t>▪ e.g. OFFSET 0 ROWS FETCH NEXT 10 ROWS ONLY → 조회 결과: 1부터 10까지 레코드 조회</a:t>
            </a:r>
            <a:br>
              <a:rPr sz="1050"/>
            </a:br>
            <a:r>
              <a:rPr sz="1050"/>
              <a:t>▪ e.g. OFFSET 25 ROWS FETCH NEXT 5 ROWS ONLY → 조회 결과: 26부터 30까지 레코드 조회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224785" y="4626864"/>
            <a:ext cx="384047" cy="27432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8832" y="4626864"/>
            <a:ext cx="201169" cy="27432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75047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2880" y="288036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>
              <a:defRPr sz="3400" b="0">
                <a:solidFill>
                  <a:srgbClr val="000000"/>
                </a:solidFill>
                <a:latin typeface="Noto Sans CJK KR"/>
              </a:defRPr>
            </a:pPr>
            <a:r>
              <a:rPr sz="3400"/>
              <a:t>End Of Document</a:t>
            </a:r>
          </a:p>
        </p:txBody>
      </p:sp>
    </p:spTree>
    <p:extLst>
      <p:ext uri="{BB962C8B-B14F-4D97-AF65-F5344CB8AC3E}">
        <p14:creationId xmlns:p14="http://schemas.microsoft.com/office/powerpoint/2010/main" val="298394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12009</Words>
  <Application>Microsoft Office PowerPoint</Application>
  <PresentationFormat>와이드스크린</PresentationFormat>
  <Paragraphs>4498</Paragraphs>
  <Slides>94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94</vt:i4>
      </vt:variant>
    </vt:vector>
  </HeadingPairs>
  <TitlesOfParts>
    <vt:vector size="101" baseType="lpstr">
      <vt:lpstr>Noto Sans CJK KR</vt:lpstr>
      <vt:lpstr>맑은 고딕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장우승</cp:lastModifiedBy>
  <cp:revision>5</cp:revision>
  <dcterms:created xsi:type="dcterms:W3CDTF">2013-01-27T09:14:16Z</dcterms:created>
  <dcterms:modified xsi:type="dcterms:W3CDTF">2026-08-23T23:14:47Z</dcterms:modified>
  <cp:category/>
</cp:coreProperties>
</file>