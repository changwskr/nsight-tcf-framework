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algun Gothic"/>
              </a:rPr>
              <a:t>BI 포탈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32688" cy="36576"/>
          </a:xfrm>
          <a:prstGeom prst="rect">
            <a:avLst/>
          </a:prstGeom>
          <a:solidFill>
            <a:srgbClr val="395D9A"/>
          </a:solidFill>
          <a:ln w="12700">
            <a:solidFill>
              <a:srgbClr val="39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685800"/>
            <a:ext cx="1124712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</a:rPr>
              <a:t>인터페이스 구성도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461772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17320"/>
            <a:ext cx="1005840" cy="3611880"/>
          </a:xfrm>
          <a:prstGeom prst="rect">
            <a:avLst/>
          </a:prstGeom>
          <a:solidFill>
            <a:srgbClr val="1C212A"/>
          </a:solidFill>
          <a:ln w="12700">
            <a:solidFill>
              <a:srgbClr val="1C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BI
포탈
BL
BP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417320"/>
            <a:ext cx="2788920" cy="585216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55648" y="1709928"/>
            <a:ext cx="210312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65960" y="2148840"/>
            <a:ext cx="2788920" cy="585216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엑셀 다운로드 전용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55648" y="2441448"/>
            <a:ext cx="210312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965960" y="2880360"/>
            <a:ext cx="2788920" cy="585216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빅데이터 시각화포탈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55648" y="3172968"/>
            <a:ext cx="210312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965960" y="3611880"/>
            <a:ext cx="2788920" cy="585216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빅데이터 시각화포탈
(웹정형 보고서)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55648" y="3904488"/>
            <a:ext cx="210312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965960" y="4343400"/>
            <a:ext cx="2788920" cy="585216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데이터 거버넌스관리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55648" y="4636008"/>
            <a:ext cx="210312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49808" y="5239512"/>
            <a:ext cx="1005840" cy="932688"/>
          </a:xfrm>
          <a:prstGeom prst="rect">
            <a:avLst/>
          </a:prstGeom>
          <a:solidFill>
            <a:srgbClr val="1C212A"/>
          </a:solidFill>
          <a:ln w="12700">
            <a:solidFill>
              <a:srgbClr val="1C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BI
포탈
BL
BC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5468112"/>
            <a:ext cx="2697480" cy="502920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55648" y="5715000"/>
            <a:ext cx="301752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92240" y="2176272"/>
            <a:ext cx="1097280" cy="1755648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API G/W
(CruzAPIM)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1463040"/>
            <a:ext cx="35204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5544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주요 연계 시스템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828800"/>
            <a:ext cx="269748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</a:rPr>
              <a:t>OLAP (MSTR)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487168"/>
            <a:ext cx="269748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</a:rPr>
              <a:t>데이터품질관리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145536"/>
            <a:ext cx="269748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</a:rPr>
              <a:t>빅데이터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3803904"/>
            <a:ext cx="269748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</a:rPr>
              <a:t>코어뱅크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4846320"/>
            <a:ext cx="3749039" cy="1005840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000000"/>
                </a:solidFill>
                <a:latin typeface="Malgun Gothic"/>
              </a:rPr>
              <a:t>Object Storage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54880" y="1709928"/>
            <a:ext cx="36576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55080" y="15087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UI Link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54880" y="2441448"/>
            <a:ext cx="173736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532120" y="2258568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89520" y="2441448"/>
            <a:ext cx="822960" cy="265176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54880" y="3172968"/>
            <a:ext cx="173736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32120" y="2990087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89520" y="3172968"/>
            <a:ext cx="822960" cy="192023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80" y="3904488"/>
            <a:ext cx="173736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532120" y="3721608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89520" y="3904488"/>
            <a:ext cx="822960" cy="118872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754880" y="4636008"/>
            <a:ext cx="3063240" cy="713232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577840" y="4471416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algun Gothic"/>
              </a:rPr>
              <a:t>마케팅플랫폼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32688" cy="36576"/>
          </a:xfrm>
          <a:prstGeom prst="rect">
            <a:avLst/>
          </a:prstGeom>
          <a:solidFill>
            <a:srgbClr val="395D9A"/>
          </a:solidFill>
          <a:ln w="12700">
            <a:solidFill>
              <a:srgbClr val="39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685800"/>
            <a:ext cx="1124712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Malgun Gothic"/>
              </a:rPr>
              <a:t>시스템컨텍스트 구성도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47548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17320"/>
            <a:ext cx="1005840" cy="4315968"/>
          </a:xfrm>
          <a:prstGeom prst="rect">
            <a:avLst/>
          </a:prstGeom>
          <a:solidFill>
            <a:srgbClr val="1C212A"/>
          </a:solidFill>
          <a:ln w="12700">
            <a:solidFill>
              <a:srgbClr val="1C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마케팅
플랫폼
MP
MC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417320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 공통 MC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55648" y="1568196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874519" y="1755648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 상담판매 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55648" y="1906524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874519" y="2093976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마케팅통합상품 MO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55648" y="2244852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874519" y="2432304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마케팅통합고객 MN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55648" y="2583180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74519" y="2770632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마케팅개인고객 MR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55648" y="2921508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874519" y="3108960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마케팅기업고객 MU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55648" y="3259836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874519" y="3447288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마케팅행동정보 ME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55648" y="3598164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874519" y="3785616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마케팅캠페인 MA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55648" y="3936492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874519" y="4123944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마케팅컨텐츠 MT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55648" y="4274820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874519" y="4462272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마케팅메시지 MM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55648" y="4613148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874519" y="4800600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마케팅영업지원 ML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55648" y="4951476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874519" y="5138928"/>
            <a:ext cx="2926080" cy="301752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마케팅 CS  MV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755648" y="5289804"/>
            <a:ext cx="118871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49808" y="5806440"/>
            <a:ext cx="1005840" cy="868680"/>
          </a:xfrm>
          <a:prstGeom prst="rect">
            <a:avLst/>
          </a:prstGeom>
          <a:solidFill>
            <a:srgbClr val="1C212A"/>
          </a:solidFill>
          <a:ln w="12700">
            <a:solidFill>
              <a:srgbClr val="1C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마케팅
플랫폼
MP
MB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5925312"/>
            <a:ext cx="2743200" cy="411480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50" b="1">
                <a:solidFill>
                  <a:srgbClr val="FFFFFF"/>
                </a:solidFill>
                <a:latin typeface="Malgun Gothic"/>
              </a:rPr>
              <a:t>마케팅 미니싱글뷰 MB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755648" y="6135624"/>
            <a:ext cx="256032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583680" y="1874519"/>
            <a:ext cx="1005840" cy="1554480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API G/W
(CruzAPIM)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1600200"/>
            <a:ext cx="3474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169164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주요 연계 시스템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2011680"/>
            <a:ext cx="269748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</a:rPr>
              <a:t>채널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2697480"/>
            <a:ext cx="269748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</a:rPr>
              <a:t>대외 기관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3383280"/>
            <a:ext cx="269748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</a:rPr>
              <a:t>코어뱅크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60" y="4069080"/>
            <a:ext cx="269748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</a:rPr>
              <a:t>상호 금융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4892040"/>
            <a:ext cx="3657600" cy="914400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000000"/>
                </a:solidFill>
                <a:latin typeface="Malgun Gothic"/>
              </a:rPr>
              <a:t>Object Storage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00600" y="1906524"/>
            <a:ext cx="178308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0" y="1741932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89520" y="1906524"/>
            <a:ext cx="777240" cy="333756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00600" y="2921508"/>
            <a:ext cx="178308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0" y="2756916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589520" y="2921508"/>
            <a:ext cx="777240" cy="4572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00600" y="3936492"/>
            <a:ext cx="178308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86400" y="377190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7589520" y="3611880"/>
            <a:ext cx="777240" cy="324612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00600" y="4613148"/>
            <a:ext cx="178308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86400" y="4448556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UI Link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7589520" y="4297680"/>
            <a:ext cx="777240" cy="315468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800600" y="4754880"/>
            <a:ext cx="3566160" cy="534924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86400" y="5125212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GSE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4754880" y="5349240"/>
            <a:ext cx="3108960" cy="786384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532120" y="5971032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algun Gothic"/>
              </a:rPr>
              <a:t>데이터거버넌스 - 비즈메타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32688" cy="36576"/>
          </a:xfrm>
          <a:prstGeom prst="rect">
            <a:avLst/>
          </a:prstGeom>
          <a:solidFill>
            <a:srgbClr val="395D9A"/>
          </a:solidFill>
          <a:ln w="12700">
            <a:solidFill>
              <a:srgbClr val="39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685800"/>
            <a:ext cx="1124712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60520" y="1783080"/>
            <a:ext cx="374903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2011680"/>
            <a:ext cx="3200400" cy="2286000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데이터거버넌스
비즈메타</a:t>
            </a:r>
          </a:p>
        </p:txBody>
      </p:sp>
      <p:sp>
        <p:nvSpPr>
          <p:cNvPr id="7" name="Can 6"/>
          <p:cNvSpPr/>
          <p:nvPr/>
        </p:nvSpPr>
        <p:spPr>
          <a:xfrm>
            <a:off x="5074920" y="5138928"/>
            <a:ext cx="1965960" cy="384048"/>
          </a:xfrm>
          <a:prstGeom prst="can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BI 포탈/비즈메타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743200"/>
            <a:ext cx="155448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OLAP (MSTR)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980944"/>
            <a:ext cx="141732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54680" y="269748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UI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0507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실시간 배치 필요에 따라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4224528"/>
            <a:ext cx="164592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BI 포탈 배치
(주기적, 실시간)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82803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IaaS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0360" y="4507992"/>
            <a:ext cx="128016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91840" y="420624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Malgun Gothic"/>
              </a:rPr>
              <a:t>실시간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21208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>
            <a:off x="1325880" y="5340096"/>
            <a:ext cx="640080" cy="274320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데이터허브</a:t>
            </a:r>
          </a:p>
        </p:txBody>
      </p:sp>
      <p:sp>
        <p:nvSpPr>
          <p:cNvPr id="18" name="Can 17"/>
          <p:cNvSpPr/>
          <p:nvPr/>
        </p:nvSpPr>
        <p:spPr>
          <a:xfrm>
            <a:off x="2057400" y="5340096"/>
            <a:ext cx="640080" cy="274320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HR시스템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1800" y="5486400"/>
            <a:ext cx="210312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83280" y="521208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DB Batch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331720"/>
            <a:ext cx="2240280" cy="685800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700" b="1">
                <a:solidFill>
                  <a:srgbClr val="000000"/>
                </a:solidFill>
                <a:latin typeface="Malgun Gothic"/>
              </a:rPr>
              <a:t>Object Storage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09560" y="2697480"/>
            <a:ext cx="96012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01000" y="248716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3749039"/>
            <a:ext cx="960120" cy="1143000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1">
                <a:solidFill>
                  <a:srgbClr val="000000"/>
                </a:solidFill>
                <a:latin typeface="Malgun Gothic"/>
              </a:rPr>
              <a:t>API G/W
(CruzAPIM)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041648"/>
            <a:ext cx="146304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0">
                <a:solidFill>
                  <a:srgbClr val="000000"/>
                </a:solidFill>
                <a:latin typeface="Malgun Gothic"/>
              </a:rPr>
              <a:t>코어뱅크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9560" y="4315968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01000" y="4096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18320" y="4315968"/>
            <a:ext cx="27432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72600" y="5102352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9555480" y="5303520"/>
            <a:ext cx="749808" cy="274320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데이터품질관리</a:t>
            </a:r>
          </a:p>
        </p:txBody>
      </p:sp>
      <p:sp>
        <p:nvSpPr>
          <p:cNvPr id="31" name="Can 30"/>
          <p:cNvSpPr/>
          <p:nvPr/>
        </p:nvSpPr>
        <p:spPr>
          <a:xfrm>
            <a:off x="10424160" y="5303520"/>
            <a:ext cx="640080" cy="274320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IT 메타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5486400"/>
            <a:ext cx="233172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43800" y="521208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DB Batch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algun Gothic"/>
              </a:rPr>
              <a:t>BI포탈 신용실적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32688" cy="36576"/>
          </a:xfrm>
          <a:prstGeom prst="rect">
            <a:avLst/>
          </a:prstGeom>
          <a:solidFill>
            <a:srgbClr val="395D9A"/>
          </a:solidFill>
          <a:ln w="12700">
            <a:solidFill>
              <a:srgbClr val="39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685800"/>
            <a:ext cx="1124712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1691640" cy="1463040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BI포탈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78308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2194560"/>
            <a:ext cx="3108960" cy="1737360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BI포탈
웹정형보고서
(신용실적)</a:t>
            </a:r>
          </a:p>
        </p:txBody>
      </p:sp>
      <p:sp>
        <p:nvSpPr>
          <p:cNvPr id="8" name="Can 7"/>
          <p:cNvSpPr/>
          <p:nvPr/>
        </p:nvSpPr>
        <p:spPr>
          <a:xfrm>
            <a:off x="4572000" y="4800600"/>
            <a:ext cx="1005840" cy="347472"/>
          </a:xfrm>
          <a:prstGeom prst="can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BI포탈/비즈메타</a:t>
            </a:r>
          </a:p>
        </p:txBody>
      </p:sp>
      <p:sp>
        <p:nvSpPr>
          <p:cNvPr id="9" name="Can 8"/>
          <p:cNvSpPr/>
          <p:nvPr/>
        </p:nvSpPr>
        <p:spPr>
          <a:xfrm>
            <a:off x="5806440" y="4800600"/>
            <a:ext cx="868680" cy="347472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ADW</a:t>
            </a:r>
          </a:p>
        </p:txBody>
      </p:sp>
      <p:sp>
        <p:nvSpPr>
          <p:cNvPr id="10" name="Can 9"/>
          <p:cNvSpPr/>
          <p:nvPr/>
        </p:nvSpPr>
        <p:spPr>
          <a:xfrm>
            <a:off x="6812280" y="4800600"/>
            <a:ext cx="868680" cy="347472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RDW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72600" y="1920240"/>
            <a:ext cx="1737360" cy="1554480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데이터거버넌스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788920" y="2926080"/>
            <a:ext cx="123444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46120" y="265176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Malgun Gothic"/>
              </a:rPr>
              <a:t>보고서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0" y="2926080"/>
            <a:ext cx="178308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92440" y="265176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Malgun Gothic"/>
              </a:rPr>
              <a:t>대시보드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algun Gothic"/>
              </a:rPr>
              <a:t>마케팅플랫폼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32688" cy="36576"/>
          </a:xfrm>
          <a:prstGeom prst="rect">
            <a:avLst/>
          </a:prstGeom>
          <a:solidFill>
            <a:srgbClr val="395D9A"/>
          </a:solidFill>
          <a:ln w="12700">
            <a:solidFill>
              <a:srgbClr val="39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685800"/>
            <a:ext cx="1124712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521440" cy="292608"/>
          </a:xfrm>
          <a:prstGeom prst="rect">
            <a:avLst/>
          </a:prstGeom>
          <a:solidFill>
            <a:srgbClr val="1B3A5B"/>
          </a:solidFill>
          <a:ln w="12700">
            <a:solidFill>
              <a:srgbClr val="1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고객활용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19202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0">
                <a:solidFill>
                  <a:srgbClr val="000000"/>
                </a:solidFill>
                <a:latin typeface="Malgun Gothic"/>
              </a:rPr>
              <a:t>계정계
(영업점)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715768"/>
            <a:ext cx="19202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0">
                <a:solidFill>
                  <a:srgbClr val="000000"/>
                </a:solidFill>
                <a:latin typeface="Malgun Gothic"/>
              </a:rPr>
              <a:t>디지털채널
(금상물)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465575"/>
            <a:ext cx="19202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0">
                <a:solidFill>
                  <a:srgbClr val="000000"/>
                </a:solidFill>
                <a:latin typeface="Malgun Gothic"/>
              </a:rPr>
              <a:t>고객행복센터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215383"/>
            <a:ext cx="19202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0">
                <a:solidFill>
                  <a:srgbClr val="000000"/>
                </a:solidFill>
                <a:latin typeface="Malgun Gothic"/>
              </a:rPr>
              <a:t>지주사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2331720"/>
            <a:ext cx="1143000" cy="2423160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API G/W
(CruzAPIM)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783080"/>
            <a:ext cx="4251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2011680"/>
            <a:ext cx="3794760" cy="3063240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고객 활용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2606040"/>
            <a:ext cx="0" cy="2286000"/>
          </a:xfrm>
          <a:prstGeom prst="line">
            <a:avLst/>
          </a:prstGeom>
          <a:ln w="254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14600" y="2240280"/>
            <a:ext cx="22860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37560" y="207568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UI Link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240280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14600" y="2990088"/>
            <a:ext cx="22860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37560" y="2825496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2990088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14600" y="3739896"/>
            <a:ext cx="22860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37560" y="3575303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0" y="3739896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514600" y="4489704"/>
            <a:ext cx="22860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37560" y="432511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0" y="4489704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5532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계정계(코어뱅크, 연계뱅킹, 카드),
디지털채널(인터넷/스뱅/올원/금상물),
마이데이터, 빅데이터 등 상품정보</a:t>
            </a:r>
          </a:p>
        </p:txBody>
      </p:sp>
      <p:sp>
        <p:nvSpPr>
          <p:cNvPr id="27" name="Can 26"/>
          <p:cNvSpPr/>
          <p:nvPr/>
        </p:nvSpPr>
        <p:spPr>
          <a:xfrm>
            <a:off x="548640" y="5989320"/>
            <a:ext cx="1051560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디지털채널</a:t>
            </a:r>
          </a:p>
        </p:txBody>
      </p:sp>
      <p:sp>
        <p:nvSpPr>
          <p:cNvPr id="28" name="Can 27"/>
          <p:cNvSpPr/>
          <p:nvPr/>
        </p:nvSpPr>
        <p:spPr>
          <a:xfrm>
            <a:off x="1783080" y="5989320"/>
            <a:ext cx="1051560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싱글뷰 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34640" y="6153912"/>
            <a:ext cx="109728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49039" y="594360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수집/배포</a:t>
            </a:r>
          </a:p>
        </p:txBody>
      </p:sp>
      <p:sp>
        <p:nvSpPr>
          <p:cNvPr id="31" name="Can 30"/>
          <p:cNvSpPr/>
          <p:nvPr/>
        </p:nvSpPr>
        <p:spPr>
          <a:xfrm>
            <a:off x="4160520" y="5577840"/>
            <a:ext cx="1051560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추천상품</a:t>
            </a:r>
          </a:p>
        </p:txBody>
      </p:sp>
      <p:sp>
        <p:nvSpPr>
          <p:cNvPr id="32" name="Can 31"/>
          <p:cNvSpPr/>
          <p:nvPr/>
        </p:nvSpPr>
        <p:spPr>
          <a:xfrm>
            <a:off x="5440680" y="5577840"/>
            <a:ext cx="1325880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상담판매 통합DB</a:t>
            </a:r>
          </a:p>
        </p:txBody>
      </p:sp>
      <p:sp>
        <p:nvSpPr>
          <p:cNvPr id="33" name="Can 32"/>
          <p:cNvSpPr/>
          <p:nvPr/>
        </p:nvSpPr>
        <p:spPr>
          <a:xfrm>
            <a:off x="4160520" y="5989320"/>
            <a:ext cx="1325880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마케팅상품 통합DB</a:t>
            </a:r>
          </a:p>
        </p:txBody>
      </p:sp>
      <p:sp>
        <p:nvSpPr>
          <p:cNvPr id="34" name="Can 33"/>
          <p:cNvSpPr/>
          <p:nvPr/>
        </p:nvSpPr>
        <p:spPr>
          <a:xfrm>
            <a:off x="5623560" y="5989320"/>
            <a:ext cx="1097280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추천/EBM MART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5650992"/>
            <a:ext cx="1325880" cy="256032"/>
          </a:xfrm>
          <a:prstGeom prst="rect">
            <a:avLst/>
          </a:prstGeom>
          <a:solidFill>
            <a:srgbClr val="2C80BA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고객행동정보</a:t>
            </a:r>
          </a:p>
        </p:txBody>
      </p:sp>
      <p:sp>
        <p:nvSpPr>
          <p:cNvPr id="36" name="Can 35"/>
          <p:cNvSpPr/>
          <p:nvPr/>
        </p:nvSpPr>
        <p:spPr>
          <a:xfrm>
            <a:off x="7635240" y="5989320"/>
            <a:ext cx="1188720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고객경험 MART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5650992"/>
            <a:ext cx="1280160" cy="256032"/>
          </a:xfrm>
          <a:prstGeom prst="rect">
            <a:avLst/>
          </a:prstGeom>
          <a:solidFill>
            <a:srgbClr val="2C80BA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데이터플랫폼</a:t>
            </a:r>
          </a:p>
        </p:txBody>
      </p:sp>
      <p:sp>
        <p:nvSpPr>
          <p:cNvPr id="38" name="Can 37"/>
          <p:cNvSpPr/>
          <p:nvPr/>
        </p:nvSpPr>
        <p:spPr>
          <a:xfrm>
            <a:off x="9582912" y="5989320"/>
            <a:ext cx="1097280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RDW/ADW 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algun Gothic"/>
              </a:rPr>
              <a:t>마케팅플랫폼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32688" cy="36576"/>
          </a:xfrm>
          <a:prstGeom prst="rect">
            <a:avLst/>
          </a:prstGeom>
          <a:solidFill>
            <a:srgbClr val="395D9A"/>
          </a:solidFill>
          <a:ln w="12700">
            <a:solidFill>
              <a:srgbClr val="39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685800"/>
            <a:ext cx="1124712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521440" cy="292608"/>
          </a:xfrm>
          <a:prstGeom prst="rect">
            <a:avLst/>
          </a:prstGeom>
          <a:solidFill>
            <a:srgbClr val="1B3A5B"/>
          </a:solidFill>
          <a:ln w="12700">
            <a:solidFill>
              <a:srgbClr val="1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고객 기본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132588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</a:rPr>
              <a:t>코어뱅킹
연계뱅킹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88920"/>
            <a:ext cx="132588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e금융(올원포함)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874519"/>
            <a:ext cx="960120" cy="2514600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1">
                <a:solidFill>
                  <a:srgbClr val="000000"/>
                </a:solidFill>
                <a:latin typeface="Malgun Gothic"/>
              </a:rPr>
              <a:t>API G/W
(CruzAPIM)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78308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2011680"/>
            <a:ext cx="3474720" cy="2926080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고객 기본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2340864"/>
            <a:ext cx="59436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57400" y="2066543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2980944"/>
            <a:ext cx="59436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57400" y="270662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6160" y="2340864"/>
            <a:ext cx="18287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66160" y="2980944"/>
            <a:ext cx="18287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92640" y="1737360"/>
            <a:ext cx="178308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외부연계시스템
- KIS-Line,
- CRETOP,
- DART,
- 수출입통계
- 인포케어
- 국앤비
- 공시/휴폐업정보
- NH산업정보시스템
- TE시스템 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4754880"/>
            <a:ext cx="1965960" cy="914400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700" b="1">
                <a:solidFill>
                  <a:srgbClr val="000000"/>
                </a:solidFill>
                <a:latin typeface="Malgun Gothic"/>
              </a:rPr>
              <a:t>Object Storage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2651760"/>
            <a:ext cx="18288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01000" y="240487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63840" y="3246120"/>
            <a:ext cx="1508760" cy="196596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92440" y="420624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00600"/>
            <a:ext cx="132588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고객 정보대상
(코어/연계뱅킹)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49240"/>
            <a:ext cx="132588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고객 정보대상
(e금융/NH멤버스)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897880"/>
            <a:ext cx="132588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고객대상
(코어/연계뱅킹)</a:t>
            </a:r>
          </a:p>
        </p:txBody>
      </p:sp>
      <p:sp>
        <p:nvSpPr>
          <p:cNvPr id="26" name="Can 25"/>
          <p:cNvSpPr/>
          <p:nvPr/>
        </p:nvSpPr>
        <p:spPr>
          <a:xfrm>
            <a:off x="2423160" y="4773168"/>
            <a:ext cx="1051560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고객정보</a:t>
            </a:r>
          </a:p>
        </p:txBody>
      </p:sp>
      <p:sp>
        <p:nvSpPr>
          <p:cNvPr id="27" name="Can 26"/>
          <p:cNvSpPr/>
          <p:nvPr/>
        </p:nvSpPr>
        <p:spPr>
          <a:xfrm>
            <a:off x="2423160" y="5321808"/>
            <a:ext cx="1051560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고객세분화</a:t>
            </a:r>
          </a:p>
        </p:txBody>
      </p:sp>
      <p:sp>
        <p:nvSpPr>
          <p:cNvPr id="28" name="Can 27"/>
          <p:cNvSpPr/>
          <p:nvPr/>
        </p:nvSpPr>
        <p:spPr>
          <a:xfrm>
            <a:off x="2423160" y="5870448"/>
            <a:ext cx="1051560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기업고객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4983480"/>
            <a:ext cx="10515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</a:rPr>
              <a:t>빅데이터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965960" y="4937760"/>
            <a:ext cx="457200" cy="4572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11680" y="4599432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CDC, ETL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965960" y="5486400"/>
            <a:ext cx="457200" cy="457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057400" y="5212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ETL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965960" y="6035040"/>
            <a:ext cx="457200" cy="4572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11680" y="5715000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CDC, ETL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474720" y="4937760"/>
            <a:ext cx="41148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11880" y="461772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ETL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3474720" y="5175504"/>
            <a:ext cx="411480" cy="310896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algun Gothic"/>
              </a:rPr>
              <a:t>마케팅플랫폼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32688" cy="36576"/>
          </a:xfrm>
          <a:prstGeom prst="rect">
            <a:avLst/>
          </a:prstGeom>
          <a:solidFill>
            <a:srgbClr val="395D9A"/>
          </a:solidFill>
          <a:ln w="12700">
            <a:solidFill>
              <a:srgbClr val="39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685800"/>
            <a:ext cx="1124712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521440" cy="292608"/>
          </a:xfrm>
          <a:prstGeom prst="rect">
            <a:avLst/>
          </a:prstGeom>
          <a:solidFill>
            <a:srgbClr val="1B3A5B"/>
          </a:solidFill>
          <a:ln w="12700">
            <a:solidFill>
              <a:srgbClr val="1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고객 지원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554480" cy="438912"/>
          </a:xfrm>
          <a:prstGeom prst="rect">
            <a:avLst/>
          </a:prstGeom>
          <a:solidFill>
            <a:srgbClr val="2C80BA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행동정보 수집
(Kafka)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68880"/>
            <a:ext cx="1600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706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Malgun Gothic"/>
              </a:rPr>
              <a:t>마케팅 허브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154680"/>
            <a:ext cx="1051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실시간
감지 엔진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749039"/>
            <a:ext cx="1051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행동정보
처리 엔진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2359152"/>
            <a:ext cx="0" cy="27432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508760" y="2359152"/>
            <a:ext cx="0" cy="27432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46320" y="1783080"/>
            <a:ext cx="33832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2057400"/>
            <a:ext cx="2651760" cy="2834640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고객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1920240"/>
            <a:ext cx="1005840" cy="2880360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1">
                <a:solidFill>
                  <a:srgbClr val="000000"/>
                </a:solidFill>
                <a:latin typeface="Malgun Gothic"/>
              </a:rPr>
              <a:t>API G/W
(CruzAPIM)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12680" y="2240280"/>
            <a:ext cx="178308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금융소비자보호/
준법심의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12680" y="2990088"/>
            <a:ext cx="178308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UMS
(디지털금융)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80" y="3739896"/>
            <a:ext cx="178308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디지털금융
(인터넷/스뱅 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12680" y="4489704"/>
            <a:ext cx="178308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대외 기관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3657600"/>
            <a:ext cx="246888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46120" y="342900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0" y="2514600"/>
            <a:ext cx="32004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18120" y="2350008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55480" y="2514600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29600" y="3264408"/>
            <a:ext cx="32004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18120" y="3099815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55480" y="3264408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29600" y="4014215"/>
            <a:ext cx="32004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18120" y="384962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4014215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29600" y="4764024"/>
            <a:ext cx="32004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18120" y="4599432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55480" y="4764024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22960" y="5440680"/>
            <a:ext cx="210312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리워드원천시스템
(계정계, 연계뱅킹, e뱅킹, WM)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926080" y="5705856"/>
            <a:ext cx="164592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86200" y="546811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수집</a:t>
            </a:r>
          </a:p>
        </p:txBody>
      </p:sp>
      <p:sp>
        <p:nvSpPr>
          <p:cNvPr id="37" name="Can 36"/>
          <p:cNvSpPr/>
          <p:nvPr/>
        </p:nvSpPr>
        <p:spPr>
          <a:xfrm>
            <a:off x="4800600" y="5532120"/>
            <a:ext cx="1463040" cy="347472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리워드통합DB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algun Gothic"/>
              </a:rPr>
              <a:t>마케팅플랫폼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32688" cy="36576"/>
          </a:xfrm>
          <a:prstGeom prst="rect">
            <a:avLst/>
          </a:prstGeom>
          <a:solidFill>
            <a:srgbClr val="395D9A"/>
          </a:solidFill>
          <a:ln w="12700">
            <a:solidFill>
              <a:srgbClr val="39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685800"/>
            <a:ext cx="1124712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521440" cy="292608"/>
          </a:xfrm>
          <a:prstGeom prst="rect">
            <a:avLst/>
          </a:prstGeom>
          <a:solidFill>
            <a:srgbClr val="1B3A5B"/>
          </a:solidFill>
          <a:ln w="12700">
            <a:solidFill>
              <a:srgbClr val="1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마케팅누리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1783080"/>
            <a:ext cx="3063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32120" y="1874519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마케팅플랫폼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2148840"/>
            <a:ext cx="2514600" cy="2880360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마케팅누리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3154680"/>
            <a:ext cx="2011680" cy="777240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000000"/>
                </a:solidFill>
                <a:latin typeface="Malgun Gothic"/>
              </a:rPr>
              <a:t>Object Storage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79" y="3547872"/>
            <a:ext cx="960121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26679" y="329184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Rest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5559552"/>
            <a:ext cx="182880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0">
                <a:solidFill>
                  <a:srgbClr val="000000"/>
                </a:solidFill>
                <a:latin typeface="Malgun Gothic"/>
              </a:rPr>
              <a:t>[Exadata]
ADW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5559552"/>
            <a:ext cx="192024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0">
                <a:solidFill>
                  <a:srgbClr val="000000"/>
                </a:solidFill>
                <a:latin typeface="Malgun Gothic"/>
              </a:rPr>
              <a:t>[IaaS-배치 AP 서버]
마케팅누리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9160" y="5824728"/>
            <a:ext cx="9144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709160" y="5824728"/>
            <a:ext cx="9144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83480" y="557784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MFT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algun Gothic"/>
              </a:rPr>
              <a:t>마케팅플랫폼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32688" cy="36576"/>
          </a:xfrm>
          <a:prstGeom prst="rect">
            <a:avLst/>
          </a:prstGeom>
          <a:solidFill>
            <a:srgbClr val="395D9A"/>
          </a:solidFill>
          <a:ln w="12700">
            <a:solidFill>
              <a:srgbClr val="39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685800"/>
            <a:ext cx="11247120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521440" cy="292608"/>
          </a:xfrm>
          <a:prstGeom prst="rect">
            <a:avLst/>
          </a:prstGeom>
          <a:solidFill>
            <a:srgbClr val="1B3A5B"/>
          </a:solidFill>
          <a:ln w="12700">
            <a:solidFill>
              <a:srgbClr val="1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미니 싱글뷰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2743200"/>
            <a:ext cx="132588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0">
                <a:solidFill>
                  <a:srgbClr val="000000"/>
                </a:solidFill>
                <a:latin typeface="Malgun Gothic"/>
              </a:rPr>
              <a:t>계정계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514600"/>
            <a:ext cx="1143000" cy="822960"/>
          </a:xfrm>
          <a:prstGeom prst="rect">
            <a:avLst/>
          </a:prstGeom>
          <a:solidFill>
            <a:srgbClr val="E9F7F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1">
                <a:solidFill>
                  <a:srgbClr val="000000"/>
                </a:solidFill>
                <a:latin typeface="Malgun Gothic"/>
              </a:rPr>
              <a:t>API G/W
(CruzAPIM)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2057400"/>
            <a:ext cx="3886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2331720"/>
            <a:ext cx="3108960" cy="1965960"/>
          </a:xfrm>
          <a:prstGeom prst="rect">
            <a:avLst/>
          </a:prstGeom>
          <a:solidFill>
            <a:srgbClr val="1E60A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미니 싱글뷰</a:t>
            </a:r>
          </a:p>
        </p:txBody>
      </p:sp>
      <p:sp>
        <p:nvSpPr>
          <p:cNvPr id="10" name="Can 9"/>
          <p:cNvSpPr/>
          <p:nvPr/>
        </p:nvSpPr>
        <p:spPr>
          <a:xfrm>
            <a:off x="7086600" y="4526280"/>
            <a:ext cx="868680" cy="347472"/>
          </a:xfrm>
          <a:prstGeom prst="can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RDW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971800"/>
            <a:ext cx="9144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00600" y="2971800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