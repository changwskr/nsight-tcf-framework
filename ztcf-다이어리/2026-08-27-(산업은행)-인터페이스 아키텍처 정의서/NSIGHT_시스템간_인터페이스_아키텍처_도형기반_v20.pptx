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</p:sldIdLst>
  <p:notesMasterIdLst>
    <p:notesMasterId r:id="rId4"/>
  </p:notesMasterIdLst>
  <p:sldSz cx="12191999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D1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1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10896"/>
            <a:ext cx="11384280" cy="0"/>
          </a:xfrm>
          <a:prstGeom prst="line">
            <a:avLst/>
          </a:prstGeom>
          <a:noFill/>
          <a:ln w="13970">
            <a:solidFill>
              <a:srgbClr val="5A62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428232"/>
            <a:ext cx="11384280" cy="0"/>
          </a:xfrm>
          <a:prstGeom prst="line">
            <a:avLst/>
          </a:prstGeom>
          <a:noFill/>
          <a:ln w="12700">
            <a:solidFill>
              <a:srgbClr val="5A62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32336" y="713232"/>
            <a:ext cx="0" cy="5230368"/>
          </a:xfrm>
          <a:prstGeom prst="line">
            <a:avLst/>
          </a:prstGeom>
          <a:noFill/>
          <a:ln w="10160">
            <a:solidFill>
              <a:srgbClr val="5A6268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30352"/>
            <a:ext cx="5056632" cy="310896"/>
          </a:xfrm>
          <a:prstGeom prst="rect">
            <a:avLst/>
          </a:prstGeom>
          <a:solidFill>
            <a:srgbClr val="AEB6BF"/>
          </a:solidFill>
          <a:ln w="6350">
            <a:solidFill>
              <a:srgbClr val="8C969E">
                <a:alpha val="7500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인터페이스 기본정책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941832"/>
            <a:ext cx="4005072" cy="292608"/>
          </a:xfrm>
          <a:prstGeom prst="rect">
            <a:avLst/>
          </a:prstGeom>
          <a:solidFill>
            <a:srgbClr val="C1C8CF"/>
          </a:solidFill>
          <a:ln w="6350">
            <a:solidFill>
              <a:srgbClr val="A0AAB3">
                <a:alpha val="6500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 개요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1335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 원칙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1700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설계 기준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32688" y="2075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 예외 사항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02920" y="26609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연계 아키텍처 구성도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302666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시스템인터페이스 대상 및 상세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932688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502920" y="3959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연계 표준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4325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표준전문 레이아웃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932688" y="4681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인터페이스 ID 구성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502920" y="5285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유형별 인터페이스 방식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5641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4.1 인터페이스 유형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932688" y="5980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 거래처리 패턴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5486400" y="57607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로그 관리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16168" y="950976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5.1 로그 구성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916168" y="1325880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 로그 생성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916168" y="1700784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 로그 관리 정책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486400" y="2651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연계 아키텍처 관리체계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916168" y="3026664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6.1 개발 프로세스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916168" y="3401568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6.2 표준전문 관리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84048" y="6437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〈 KDB산업은행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230368" y="6473952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시스템간 인터페이스 아키텍처</a:t>
            </a:r>
            <a:endParaRPr lang="en-US" sz="550" dirty="0"/>
          </a:p>
        </p:txBody>
      </p:sp>
      <p:sp>
        <p:nvSpPr>
          <p:cNvPr id="28" name="Text 26"/>
          <p:cNvSpPr/>
          <p:nvPr/>
        </p:nvSpPr>
        <p:spPr>
          <a:xfrm>
            <a:off x="5980176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1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383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28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1.1.1 아키텍처 정의 목적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9034272" y="3474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8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인터페이스 기본정책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76688" y="566928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8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 개요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9184" y="832104"/>
            <a:ext cx="10927080" cy="0"/>
          </a:xfrm>
          <a:prstGeom prst="line">
            <a:avLst/>
          </a:prstGeom>
          <a:noFill/>
          <a:ln w="13335">
            <a:solidFill>
              <a:srgbClr val="5A62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024128"/>
            <a:ext cx="109728" cy="109728"/>
          </a:xfrm>
          <a:prstGeom prst="rect">
            <a:avLst/>
          </a:prstGeom>
          <a:solidFill>
            <a:srgbClr val="D1D7DD">
              <a:alpha val="0"/>
            </a:srgbClr>
          </a:solidFill>
          <a:ln w="8255">
            <a:solidFill>
              <a:srgbClr val="5A62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41832"/>
            <a:ext cx="1001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3137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시스템 모델을 인터페이스 아키텍처 관점에서 상세히 기술하고, 관리체계를 정의하여 차세대 시스템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3137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구현에 있어 기준 데이터로 활용함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393192" y="1536192"/>
            <a:ext cx="10899648" cy="4919472"/>
          </a:xfrm>
          <a:prstGeom prst="rect">
            <a:avLst/>
          </a:prstGeom>
          <a:solidFill>
            <a:srgbClr val="D1D7DD">
              <a:alpha val="0"/>
            </a:srgbClr>
          </a:solidFill>
          <a:ln w="12700">
            <a:solidFill>
              <a:srgbClr val="7A82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011680"/>
            <a:ext cx="1627632" cy="4041648"/>
          </a:xfrm>
          <a:prstGeom prst="rect">
            <a:avLst/>
          </a:prstGeom>
          <a:solidFill>
            <a:srgbClr val="D1D7DD">
              <a:alpha val="0"/>
            </a:srgbClr>
          </a:solidFill>
          <a:ln w="25400">
            <a:solidFill>
              <a:srgbClr val="2F34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57984"/>
            <a:ext cx="106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i="1" u="sng" dirty="0">
                <a:solidFill>
                  <a:srgbClr val="3F4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기본정책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50392" y="2907792"/>
            <a:ext cx="1060704" cy="1207008"/>
          </a:xfrm>
          <a:prstGeom prst="rect">
            <a:avLst/>
          </a:prstGeom>
          <a:solidFill>
            <a:srgbClr val="E0E6EB"/>
          </a:solidFill>
          <a:ln w="11430">
            <a:solidFill>
              <a:srgbClr val="7A82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2926080"/>
            <a:ext cx="9509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380744" y="4096512"/>
            <a:ext cx="0" cy="310896"/>
          </a:xfrm>
          <a:prstGeom prst="line">
            <a:avLst/>
          </a:prstGeom>
          <a:noFill/>
          <a:ln w="11430">
            <a:solidFill>
              <a:srgbClr val="7A82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1248" y="4443984"/>
            <a:ext cx="1088136" cy="1207008"/>
          </a:xfrm>
          <a:prstGeom prst="rect">
            <a:avLst/>
          </a:prstGeom>
          <a:solidFill>
            <a:srgbClr val="E0E6EB"/>
          </a:solidFill>
          <a:ln w="11430">
            <a:solidFill>
              <a:srgbClr val="7A82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462272"/>
            <a:ext cx="978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설계기준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441448" y="1993392"/>
            <a:ext cx="4224528" cy="4096512"/>
          </a:xfrm>
          <a:prstGeom prst="rect">
            <a:avLst/>
          </a:prstGeom>
          <a:solidFill>
            <a:srgbClr val="D1D7DD">
              <a:alpha val="0"/>
            </a:srgbClr>
          </a:solidFill>
          <a:ln w="25400">
            <a:solidFill>
              <a:srgbClr val="2F34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214884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i="1" u="sng" dirty="0">
                <a:solidFill>
                  <a:srgbClr val="3F4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2697480" y="2697480"/>
            <a:ext cx="2359152" cy="658368"/>
          </a:xfrm>
          <a:prstGeom prst="rect">
            <a:avLst/>
          </a:prstGeom>
          <a:solidFill>
            <a:srgbClr val="E0E6EB"/>
          </a:solidFill>
          <a:ln w="11430">
            <a:solidFill>
              <a:srgbClr val="7A82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52344" y="2715768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아키텍처 구성</a:t>
            </a:r>
            <a:endParaRPr lang="en-US" sz="1290" dirty="0"/>
          </a:p>
        </p:txBody>
      </p:sp>
      <p:sp>
        <p:nvSpPr>
          <p:cNvPr id="21" name="Shape 19"/>
          <p:cNvSpPr/>
          <p:nvPr/>
        </p:nvSpPr>
        <p:spPr>
          <a:xfrm>
            <a:off x="3877056" y="3355848"/>
            <a:ext cx="0" cy="210312"/>
          </a:xfrm>
          <a:prstGeom prst="line">
            <a:avLst/>
          </a:prstGeom>
          <a:noFill/>
          <a:ln w="11430">
            <a:solidFill>
              <a:srgbClr val="7A82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697480" y="3547872"/>
            <a:ext cx="2359152" cy="658368"/>
          </a:xfrm>
          <a:prstGeom prst="rect">
            <a:avLst/>
          </a:prstGeom>
          <a:solidFill>
            <a:srgbClr val="E0E6EB"/>
          </a:solidFill>
          <a:ln w="11430">
            <a:solidFill>
              <a:srgbClr val="7A82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52344" y="3566160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표준</a:t>
            </a:r>
            <a:endParaRPr lang="en-US" sz="1290" dirty="0"/>
          </a:p>
        </p:txBody>
      </p:sp>
      <p:sp>
        <p:nvSpPr>
          <p:cNvPr id="24" name="Shape 22"/>
          <p:cNvSpPr/>
          <p:nvPr/>
        </p:nvSpPr>
        <p:spPr>
          <a:xfrm>
            <a:off x="3877056" y="4206240"/>
            <a:ext cx="0" cy="210312"/>
          </a:xfrm>
          <a:prstGeom prst="line">
            <a:avLst/>
          </a:prstGeom>
          <a:noFill/>
          <a:ln w="11430">
            <a:solidFill>
              <a:srgbClr val="7A82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97480" y="4398264"/>
            <a:ext cx="2359152" cy="658368"/>
          </a:xfrm>
          <a:prstGeom prst="rect">
            <a:avLst/>
          </a:prstGeom>
          <a:solidFill>
            <a:srgbClr val="E0E6EB"/>
          </a:solidFill>
          <a:ln w="11430">
            <a:solidFill>
              <a:srgbClr val="7A82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52344" y="4416552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패턴</a:t>
            </a:r>
            <a:endParaRPr lang="en-US" sz="1290" dirty="0"/>
          </a:p>
        </p:txBody>
      </p:sp>
      <p:sp>
        <p:nvSpPr>
          <p:cNvPr id="27" name="Shape 25"/>
          <p:cNvSpPr/>
          <p:nvPr/>
        </p:nvSpPr>
        <p:spPr>
          <a:xfrm>
            <a:off x="3877056" y="5056632"/>
            <a:ext cx="0" cy="210312"/>
          </a:xfrm>
          <a:prstGeom prst="line">
            <a:avLst/>
          </a:prstGeom>
          <a:noFill/>
          <a:ln w="11430">
            <a:solidFill>
              <a:srgbClr val="7A828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697480" y="5230368"/>
            <a:ext cx="2359152" cy="658368"/>
          </a:xfrm>
          <a:prstGeom prst="rect">
            <a:avLst/>
          </a:prstGeom>
          <a:solidFill>
            <a:srgbClr val="E0E6EB"/>
          </a:solidFill>
          <a:ln w="11430">
            <a:solidFill>
              <a:srgbClr val="7A82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5248656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아키텍처</a:t>
            </a:r>
            <a:endParaRPr lang="en-US" sz="1290" dirty="0"/>
          </a:p>
        </p:txBody>
      </p:sp>
      <p:sp>
        <p:nvSpPr>
          <p:cNvPr id="30" name="Shape 28"/>
          <p:cNvSpPr/>
          <p:nvPr/>
        </p:nvSpPr>
        <p:spPr>
          <a:xfrm>
            <a:off x="5056632" y="5559552"/>
            <a:ext cx="384048" cy="0"/>
          </a:xfrm>
          <a:prstGeom prst="line">
            <a:avLst/>
          </a:prstGeom>
          <a:noFill/>
          <a:ln w="11430">
            <a:solidFill>
              <a:srgbClr val="7A82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0680" y="4352544"/>
            <a:ext cx="0" cy="1225296"/>
          </a:xfrm>
          <a:prstGeom prst="line">
            <a:avLst/>
          </a:prstGeom>
          <a:noFill/>
          <a:ln w="11430">
            <a:solidFill>
              <a:srgbClr val="7A82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0680" y="4352544"/>
            <a:ext cx="256032" cy="0"/>
          </a:xfrm>
          <a:prstGeom prst="line">
            <a:avLst/>
          </a:prstGeom>
          <a:noFill/>
          <a:ln w="11430">
            <a:solidFill>
              <a:srgbClr val="7A82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40680" y="5577840"/>
            <a:ext cx="274320" cy="0"/>
          </a:xfrm>
          <a:prstGeom prst="line">
            <a:avLst/>
          </a:prstGeom>
          <a:noFill/>
          <a:ln w="11430">
            <a:solidFill>
              <a:srgbClr val="7A82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59552" y="4261104"/>
            <a:ext cx="987552" cy="694944"/>
          </a:xfrm>
          <a:prstGeom prst="rect">
            <a:avLst/>
          </a:prstGeom>
          <a:solidFill>
            <a:srgbClr val="E0E6EB"/>
          </a:solidFill>
          <a:ln w="11430">
            <a:solidFill>
              <a:srgbClr val="7A82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4279392"/>
            <a:ext cx="877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577840" y="5248656"/>
            <a:ext cx="987552" cy="768096"/>
          </a:xfrm>
          <a:prstGeom prst="rect">
            <a:avLst/>
          </a:prstGeom>
          <a:solidFill>
            <a:srgbClr val="E0E6EB"/>
          </a:solidFill>
          <a:ln w="11430">
            <a:solidFill>
              <a:srgbClr val="7A82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32704" y="5266944"/>
            <a:ext cx="87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로그관리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040880" y="1993392"/>
            <a:ext cx="1719072" cy="4096512"/>
          </a:xfrm>
          <a:prstGeom prst="rect">
            <a:avLst/>
          </a:prstGeom>
          <a:solidFill>
            <a:srgbClr val="D1D7DD">
              <a:alpha val="0"/>
            </a:srgbClr>
          </a:solidFill>
          <a:ln w="25400">
            <a:solidFill>
              <a:srgbClr val="2F34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2632" y="2130552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i="1" u="sng" dirty="0">
                <a:solidFill>
                  <a:srgbClr val="3F4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i="1" u="sng" dirty="0">
                <a:solidFill>
                  <a:srgbClr val="3F4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체계</a:t>
            </a:r>
            <a:endParaRPr lang="en-US" sz="1230" dirty="0"/>
          </a:p>
        </p:txBody>
      </p:sp>
      <p:sp>
        <p:nvSpPr>
          <p:cNvPr id="40" name="Shape 38"/>
          <p:cNvSpPr/>
          <p:nvPr/>
        </p:nvSpPr>
        <p:spPr>
          <a:xfrm>
            <a:off x="7333488" y="2670048"/>
            <a:ext cx="1097280" cy="3127248"/>
          </a:xfrm>
          <a:prstGeom prst="rect">
            <a:avLst/>
          </a:prstGeom>
          <a:solidFill>
            <a:srgbClr val="E0E6EB"/>
          </a:solidFill>
          <a:ln w="11430">
            <a:solidFill>
              <a:srgbClr val="7A82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88352" y="2688336"/>
            <a:ext cx="98755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체계</a:t>
            </a:r>
            <a:endParaRPr lang="en-US" sz="1260" dirty="0"/>
          </a:p>
        </p:txBody>
      </p:sp>
      <p:sp>
        <p:nvSpPr>
          <p:cNvPr id="42" name="Shape 40"/>
          <p:cNvSpPr/>
          <p:nvPr/>
        </p:nvSpPr>
        <p:spPr>
          <a:xfrm>
            <a:off x="9006840" y="2011680"/>
            <a:ext cx="1737360" cy="4041648"/>
          </a:xfrm>
          <a:prstGeom prst="rect">
            <a:avLst/>
          </a:prstGeom>
          <a:solidFill>
            <a:srgbClr val="D1D7DD">
              <a:alpha val="0"/>
            </a:srgbClr>
          </a:solidFill>
          <a:ln w="11430">
            <a:solidFill>
              <a:srgbClr val="9AA2AA">
                <a:alpha val="9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82912" y="2157984"/>
            <a:ext cx="566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i="1" u="sng" dirty="0">
                <a:solidFill>
                  <a:srgbClr val="3F4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460" dirty="0"/>
          </a:p>
        </p:txBody>
      </p:sp>
      <p:sp>
        <p:nvSpPr>
          <p:cNvPr id="44" name="Shape 42"/>
          <p:cNvSpPr/>
          <p:nvPr/>
        </p:nvSpPr>
        <p:spPr>
          <a:xfrm>
            <a:off x="9363456" y="2651760"/>
            <a:ext cx="1143000" cy="3145536"/>
          </a:xfrm>
          <a:prstGeom prst="rect">
            <a:avLst/>
          </a:prstGeom>
          <a:solidFill>
            <a:srgbClr val="E0E6EB"/>
          </a:solidFill>
          <a:ln w="11430">
            <a:solidFill>
              <a:srgbClr val="7A82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18320" y="2670048"/>
            <a:ext cx="10332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F3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65760" y="6565392"/>
            <a:ext cx="10927080" cy="0"/>
          </a:xfrm>
          <a:prstGeom prst="line">
            <a:avLst/>
          </a:prstGeom>
          <a:noFill/>
          <a:ln w="11430">
            <a:solidFill>
              <a:srgbClr val="5A626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82880"/>
            <a:ext cx="5303520" cy="34747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91919"/>
                </a:solidFill>
                <a:latin typeface="Malgun Gothic"/>
              </a:rPr>
              <a:t>1.1.2 아키텍처 구성 개요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89720" y="146304"/>
            <a:ext cx="2514600" cy="41148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191919"/>
                </a:solidFill>
                <a:latin typeface="Malgun Gothic"/>
              </a:rPr>
              <a:t>1. 인터페이스 기본정책</a:t>
            </a:r>
            <a:br/>
            <a:r>
              <a:rPr sz="900" b="1" i="0">
                <a:solidFill>
                  <a:srgbClr val="191919"/>
                </a:solidFill>
                <a:latin typeface="Malgun Gothic"/>
              </a:rPr>
              <a:t>1.1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12648"/>
            <a:ext cx="11521440" cy="0"/>
          </a:xfrm>
          <a:prstGeom prst="line">
            <a:avLst/>
          </a:prstGeom>
          <a:ln w="1143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676656"/>
            <a:ext cx="11292840" cy="41148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191919"/>
                </a:solidFill>
                <a:latin typeface="Malgun Gothic"/>
              </a:rPr>
              <a:t>□ 차세대 인터페이스 아키텍처는 연계 특성과 용도에 따라서 인터페이스 레이어를 분리해 확장성과 안정성을</a:t>
            </a:r>
            <a:br/>
            <a:r>
              <a:rPr sz="1050" b="1" i="0">
                <a:solidFill>
                  <a:srgbClr val="191919"/>
                </a:solidFill>
                <a:latin typeface="Malgun Gothic"/>
              </a:rPr>
              <a:t>   지향하도록 구성함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70432"/>
            <a:ext cx="11750040" cy="5376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243584"/>
            <a:ext cx="2240280" cy="228600"/>
          </a:xfrm>
          <a:prstGeom prst="rect">
            <a:avLst/>
          </a:prstGeom>
          <a:solidFill>
            <a:srgbClr val="32373A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채널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43584"/>
            <a:ext cx="1645920" cy="228600"/>
          </a:xfrm>
          <a:prstGeom prst="rect">
            <a:avLst/>
          </a:prstGeom>
          <a:solidFill>
            <a:srgbClr val="32373A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채널통합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243584"/>
            <a:ext cx="3840480" cy="228600"/>
          </a:xfrm>
          <a:prstGeom prst="rect">
            <a:avLst/>
          </a:prstGeom>
          <a:solidFill>
            <a:srgbClr val="32373A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비즈니스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79408" y="1243584"/>
            <a:ext cx="1627632" cy="228600"/>
          </a:xfrm>
          <a:prstGeom prst="rect">
            <a:avLst/>
          </a:prstGeom>
          <a:solidFill>
            <a:srgbClr val="32373A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인터페이스 Layer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1152144"/>
            <a:ext cx="0" cy="5294376"/>
          </a:xfrm>
          <a:prstGeom prst="line">
            <a:avLst/>
          </a:prstGeom>
          <a:ln w="1270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83480" y="1152144"/>
            <a:ext cx="0" cy="5294376"/>
          </a:xfrm>
          <a:prstGeom prst="line">
            <a:avLst/>
          </a:prstGeom>
          <a:ln w="1270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87968" y="1152144"/>
            <a:ext cx="0" cy="5294376"/>
          </a:xfrm>
          <a:prstGeom prst="line">
            <a:avLst/>
          </a:prstGeom>
          <a:ln w="1270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716768" y="1152144"/>
            <a:ext cx="0" cy="5294376"/>
          </a:xfrm>
          <a:prstGeom prst="line">
            <a:avLst/>
          </a:prstGeom>
          <a:ln w="8890">
            <a:solidFill>
              <a:srgbClr val="282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400" y="1865376"/>
            <a:ext cx="347472" cy="0"/>
          </a:xfrm>
          <a:prstGeom prst="line">
            <a:avLst/>
          </a:prstGeom>
          <a:ln w="1016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06040" y="1865376"/>
            <a:ext cx="6675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" y="2331720"/>
            <a:ext cx="347472" cy="0"/>
          </a:xfrm>
          <a:prstGeom prst="line">
            <a:avLst/>
          </a:prstGeom>
          <a:ln w="1016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06040" y="2331720"/>
            <a:ext cx="6675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" y="2743200"/>
            <a:ext cx="347472" cy="0"/>
          </a:xfrm>
          <a:prstGeom prst="line">
            <a:avLst/>
          </a:prstGeom>
          <a:ln w="1016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06040" y="2743200"/>
            <a:ext cx="6675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" y="3182112"/>
            <a:ext cx="347472" cy="0"/>
          </a:xfrm>
          <a:prstGeom prst="line">
            <a:avLst/>
          </a:prstGeom>
          <a:ln w="1016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06040" y="3182112"/>
            <a:ext cx="6675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" y="3767328"/>
            <a:ext cx="347472" cy="0"/>
          </a:xfrm>
          <a:prstGeom prst="line">
            <a:avLst/>
          </a:prstGeom>
          <a:ln w="1016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06040" y="3767328"/>
            <a:ext cx="6675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4160520"/>
            <a:ext cx="347472" cy="0"/>
          </a:xfrm>
          <a:prstGeom prst="line">
            <a:avLst/>
          </a:prstGeom>
          <a:ln w="1016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4160520"/>
            <a:ext cx="6675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" y="4663440"/>
            <a:ext cx="347472" cy="0"/>
          </a:xfrm>
          <a:prstGeom prst="line">
            <a:avLst/>
          </a:prstGeom>
          <a:ln w="1016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06040" y="4663440"/>
            <a:ext cx="6675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" y="5102352"/>
            <a:ext cx="347472" cy="0"/>
          </a:xfrm>
          <a:prstGeom prst="line">
            <a:avLst/>
          </a:prstGeom>
          <a:ln w="1016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06040" y="5102352"/>
            <a:ext cx="6675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" y="5623560"/>
            <a:ext cx="347472" cy="0"/>
          </a:xfrm>
          <a:prstGeom prst="line">
            <a:avLst/>
          </a:prstGeom>
          <a:ln w="1016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06040" y="5623560"/>
            <a:ext cx="6675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81728" y="1874519"/>
            <a:ext cx="4389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81728" y="2944368"/>
            <a:ext cx="4389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681728" y="4041648"/>
            <a:ext cx="4389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681728" y="4828032"/>
            <a:ext cx="4389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681728" y="5669280"/>
            <a:ext cx="43891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05088" y="2148840"/>
            <a:ext cx="39319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05088" y="3035808"/>
            <a:ext cx="39319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05088" y="3977639"/>
            <a:ext cx="39319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705088" y="4919472"/>
            <a:ext cx="39319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705088" y="5742432"/>
            <a:ext cx="393192" cy="0"/>
          </a:xfrm>
          <a:prstGeom prst="line">
            <a:avLst/>
          </a:prstGeom>
          <a:ln w="8890">
            <a:solidFill>
              <a:srgbClr val="282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38528" y="1463040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650" b="1" i="0">
                <a:solidFill>
                  <a:srgbClr val="191919"/>
                </a:solidFill>
                <a:latin typeface="Malgun Gothic"/>
              </a:rPr>
              <a:t>내부채널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" y="1618488"/>
            <a:ext cx="676656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550" b="0" i="0">
                <a:solidFill>
                  <a:srgbClr val="191919"/>
                </a:solidFill>
                <a:latin typeface="Malgun Gothic"/>
              </a:rPr>
              <a:t>본부/영업점</a:t>
            </a:r>
            <a:br/>
            <a:r>
              <a:rPr sz="550" b="0" i="0">
                <a:solidFill>
                  <a:srgbClr val="191919"/>
                </a:solidFill>
                <a:latin typeface="Malgun Gothic"/>
              </a:rPr>
              <a:t>솔루션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" y="2148840"/>
            <a:ext cx="676656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550" b="0" i="0">
                <a:solidFill>
                  <a:srgbClr val="191919"/>
                </a:solidFill>
                <a:latin typeface="Malgun Gothic"/>
              </a:rPr>
              <a:t>비대면/고객채널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" y="2596896"/>
            <a:ext cx="676656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550" b="0" i="0">
                <a:solidFill>
                  <a:srgbClr val="191919"/>
                </a:solidFill>
                <a:latin typeface="Malgun Gothic"/>
              </a:rPr>
              <a:t>전고객</a:t>
            </a:r>
            <a:br/>
            <a:r>
              <a:rPr sz="550" b="0" i="0">
                <a:solidFill>
                  <a:srgbClr val="191919"/>
                </a:solidFill>
                <a:latin typeface="Malgun Gothic"/>
              </a:rPr>
              <a:t>스마트폰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3172968"/>
            <a:ext cx="676656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550" b="0" i="0">
                <a:solidFill>
                  <a:srgbClr val="191919"/>
                </a:solidFill>
                <a:latin typeface="Malgun Gothic"/>
              </a:rPr>
              <a:t>인터넷/입출</a:t>
            </a:r>
            <a:br/>
            <a:r>
              <a:rPr sz="550" b="0" i="0">
                <a:solidFill>
                  <a:srgbClr val="191919"/>
                </a:solidFill>
                <a:latin typeface="Malgun Gothic"/>
              </a:rPr>
              <a:t>전자금융망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" y="3703320"/>
            <a:ext cx="676656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550" b="0" i="0">
                <a:solidFill>
                  <a:srgbClr val="191919"/>
                </a:solidFill>
                <a:latin typeface="Malgun Gothic"/>
              </a:rPr>
              <a:t>핀테크기업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" y="4041648"/>
            <a:ext cx="676656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550" b="0" i="0">
                <a:solidFill>
                  <a:srgbClr val="191919"/>
                </a:solidFill>
                <a:latin typeface="Malgun Gothic"/>
              </a:rPr>
              <a:t>자동화기기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" y="4471416"/>
            <a:ext cx="676656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550" b="0" i="0">
                <a:solidFill>
                  <a:srgbClr val="191919"/>
                </a:solidFill>
                <a:latin typeface="Malgun Gothic"/>
              </a:rPr>
              <a:t>FAX</a:t>
            </a:r>
            <a:br/>
            <a:r>
              <a:rPr sz="550" b="0" i="0">
                <a:solidFill>
                  <a:srgbClr val="191919"/>
                </a:solidFill>
                <a:latin typeface="Malgun Gothic"/>
              </a:rPr>
              <a:t>E-Mail</a:t>
            </a:r>
            <a:br/>
            <a:r>
              <a:rPr sz="550" b="0" i="0">
                <a:solidFill>
                  <a:srgbClr val="191919"/>
                </a:solidFill>
                <a:latin typeface="Malgun Gothic"/>
              </a:rPr>
              <a:t>SMS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" y="4864608"/>
            <a:ext cx="676656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550" b="0" i="0">
                <a:solidFill>
                  <a:srgbClr val="191919"/>
                </a:solidFill>
                <a:latin typeface="Malgun Gothic"/>
              </a:rPr>
              <a:t>기관채널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" y="5239512"/>
            <a:ext cx="676656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550" b="0" i="0">
                <a:solidFill>
                  <a:srgbClr val="191919"/>
                </a:solidFill>
                <a:latin typeface="Malgun Gothic"/>
              </a:rPr>
              <a:t>정부기관</a:t>
            </a:r>
            <a:br/>
            <a:r>
              <a:rPr sz="550" b="0" i="0">
                <a:solidFill>
                  <a:srgbClr val="191919"/>
                </a:solidFill>
                <a:latin typeface="Malgun Gothic"/>
              </a:rPr>
              <a:t>금융기관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5596128"/>
            <a:ext cx="676656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550" b="0" i="0">
                <a:solidFill>
                  <a:srgbClr val="191919"/>
                </a:solidFill>
                <a:latin typeface="Malgun Gothic"/>
              </a:rPr>
              <a:t>보험사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" y="5934456"/>
            <a:ext cx="676656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550" b="0" i="0">
                <a:solidFill>
                  <a:srgbClr val="191919"/>
                </a:solidFill>
                <a:latin typeface="Malgun Gothic"/>
              </a:rPr>
              <a:t>전용회선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25880" y="1627632"/>
            <a:ext cx="932688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0">
                <a:solidFill>
                  <a:srgbClr val="191919"/>
                </a:solidFill>
                <a:latin typeface="Malgun Gothic"/>
              </a:rPr>
              <a:t>IBOS 통합단말</a:t>
            </a:r>
            <a:br/>
            <a:r>
              <a:rPr sz="550" b="0">
                <a:solidFill>
                  <a:srgbClr val="191919"/>
                </a:solidFill>
                <a:latin typeface="Malgun Gothic"/>
              </a:rPr>
              <a:t>영업점담당</a:t>
            </a:r>
            <a:br/>
            <a:r>
              <a:rPr sz="550" b="0">
                <a:solidFill>
                  <a:srgbClr val="191919"/>
                </a:solidFill>
                <a:latin typeface="Malgun Gothic"/>
              </a:rPr>
              <a:t>담당업무</a:t>
            </a:r>
            <a:br/>
            <a:r>
              <a:rPr sz="550" b="0">
                <a:solidFill>
                  <a:srgbClr val="191919"/>
                </a:solidFill>
                <a:latin typeface="Malgun Gothic"/>
              </a:rPr>
              <a:t>판독필요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61872" y="2313432"/>
            <a:ext cx="868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0">
                <a:solidFill>
                  <a:srgbClr val="191919"/>
                </a:solidFill>
                <a:latin typeface="Malgun Gothic"/>
              </a:rPr>
              <a:t>폰뱅킹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61872" y="2514600"/>
            <a:ext cx="868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0">
                <a:solidFill>
                  <a:srgbClr val="191919"/>
                </a:solidFill>
                <a:latin typeface="Malgun Gothic"/>
              </a:rPr>
              <a:t>웹채널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61872" y="2724912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30" b="0">
                <a:solidFill>
                  <a:srgbClr val="191919"/>
                </a:solidFill>
                <a:latin typeface="Malgun Gothic"/>
              </a:rPr>
              <a:t>스마트뱅킹</a:t>
            </a:r>
            <a:br/>
            <a:r>
              <a:rPr sz="530" b="0">
                <a:solidFill>
                  <a:srgbClr val="191919"/>
                </a:solidFill>
                <a:latin typeface="Malgun Gothic"/>
              </a:rPr>
              <a:t>(Push포함)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61872" y="3035808"/>
            <a:ext cx="9601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00" b="0">
                <a:solidFill>
                  <a:srgbClr val="191919"/>
                </a:solidFill>
                <a:latin typeface="Malgun Gothic"/>
              </a:rPr>
              <a:t>인터넷뱅킹</a:t>
            </a:r>
            <a:br/>
            <a:r>
              <a:rPr sz="500" b="0">
                <a:solidFill>
                  <a:srgbClr val="191919"/>
                </a:solidFill>
                <a:latin typeface="Malgun Gothic"/>
              </a:rPr>
              <a:t>비대면</a:t>
            </a:r>
            <a:br/>
            <a:r>
              <a:rPr sz="500" b="0">
                <a:solidFill>
                  <a:srgbClr val="191919"/>
                </a:solidFill>
                <a:latin typeface="Malgun Gothic"/>
              </a:rPr>
              <a:t>사이버브랜치</a:t>
            </a:r>
            <a:br/>
            <a:r>
              <a:rPr sz="500" b="0">
                <a:solidFill>
                  <a:srgbClr val="191919"/>
                </a:solidFill>
                <a:latin typeface="Malgun Gothic"/>
              </a:rPr>
              <a:t>및 판독필요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53312" y="3840480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0">
                <a:solidFill>
                  <a:srgbClr val="191919"/>
                </a:solidFill>
                <a:latin typeface="Malgun Gothic"/>
              </a:rPr>
              <a:t>OpenAPI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34440" y="4169663"/>
            <a:ext cx="1024128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20" b="0">
                <a:solidFill>
                  <a:srgbClr val="191919"/>
                </a:solidFill>
                <a:latin typeface="Malgun Gothic"/>
              </a:rPr>
              <a:t>자동화기기관리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0" y="4590288"/>
            <a:ext cx="75895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60" b="0">
                <a:solidFill>
                  <a:srgbClr val="191919"/>
                </a:solidFill>
                <a:latin typeface="Malgun Gothic"/>
              </a:rPr>
              <a:t>UMS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16736" y="4965192"/>
            <a:ext cx="868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40" b="0">
                <a:solidFill>
                  <a:srgbClr val="191919"/>
                </a:solidFill>
                <a:latin typeface="Malgun Gothic"/>
              </a:rPr>
              <a:t>기관채널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98448" y="5330952"/>
            <a:ext cx="868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40" b="0">
                <a:solidFill>
                  <a:srgbClr val="191919"/>
                </a:solidFill>
                <a:latin typeface="Malgun Gothic"/>
              </a:rPr>
              <a:t>SWIFT/CD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61872" y="5669280"/>
            <a:ext cx="93268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20" b="0">
                <a:solidFill>
                  <a:srgbClr val="191919"/>
                </a:solidFill>
                <a:latin typeface="Malgun Gothic"/>
              </a:rPr>
              <a:t>대외기관</a:t>
            </a:r>
            <a:br/>
            <a:r>
              <a:rPr sz="520" b="0">
                <a:solidFill>
                  <a:srgbClr val="191919"/>
                </a:solidFill>
                <a:latin typeface="Malgun Gothic"/>
              </a:rPr>
              <a:t>연계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80160" y="6016752"/>
            <a:ext cx="868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30" b="0">
                <a:solidFill>
                  <a:srgbClr val="191919"/>
                </a:solidFill>
                <a:latin typeface="Malgun Gothic"/>
              </a:rPr>
              <a:t>판독필요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46704" y="1691640"/>
            <a:ext cx="347472" cy="4389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0">
                <a:solidFill>
                  <a:srgbClr val="191919"/>
                </a:solidFill>
                <a:latin typeface="Malgun Gothic"/>
              </a:rPr>
              <a:t>중앙</a:t>
            </a:r>
            <a:br/>
            <a:r>
              <a:rPr sz="550" b="0">
                <a:solidFill>
                  <a:srgbClr val="191919"/>
                </a:solidFill>
                <a:latin typeface="Malgun Gothic"/>
              </a:rPr>
              <a:t>접속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0" y="1691640"/>
            <a:ext cx="71323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40" b="0">
                <a:solidFill>
                  <a:srgbClr val="191919"/>
                </a:solidFill>
                <a:latin typeface="Malgun Gothic"/>
              </a:rPr>
              <a:t>단말로그인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22191" y="1975104"/>
            <a:ext cx="777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00" b="0">
                <a:solidFill>
                  <a:srgbClr val="191919"/>
                </a:solidFill>
                <a:latin typeface="Malgun Gothic"/>
              </a:rPr>
              <a:t>통합화면연동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84448" y="2468880"/>
            <a:ext cx="777240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0">
                <a:solidFill>
                  <a:srgbClr val="191919"/>
                </a:solidFill>
                <a:latin typeface="Malgun Gothic"/>
              </a:rPr>
              <a:t>대내MCI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21608" y="267004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480" b="0">
                <a:solidFill>
                  <a:srgbClr val="191919"/>
                </a:solidFill>
                <a:latin typeface="Malgun Gothic"/>
              </a:rPr>
              <a:t>거래중계</a:t>
            </a:r>
            <a:br/>
            <a:r>
              <a:rPr sz="480" b="0">
                <a:solidFill>
                  <a:srgbClr val="191919"/>
                </a:solidFill>
                <a:latin typeface="Malgun Gothic"/>
              </a:rPr>
              <a:t>인증중계</a:t>
            </a:r>
            <a:br/>
            <a:r>
              <a:rPr sz="480" b="0">
                <a:solidFill>
                  <a:srgbClr val="191919"/>
                </a:solidFill>
                <a:latin typeface="Malgun Gothic"/>
              </a:rPr>
              <a:t>자료서비스</a:t>
            </a:r>
          </a:p>
        </p:txBody>
      </p:sp>
      <p:sp>
        <p:nvSpPr>
          <p:cNvPr id="72" name="Rectangle 71"/>
          <p:cNvSpPr/>
          <p:nvPr/>
        </p:nvSpPr>
        <p:spPr>
          <a:xfrm rot="16200000">
            <a:off x="3529584" y="2724912"/>
            <a:ext cx="274320" cy="25603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459" b="1">
                <a:solidFill>
                  <a:srgbClr val="191919"/>
                </a:solidFill>
                <a:latin typeface="Malgun Gothic"/>
              </a:rPr>
              <a:t>G/W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21024" y="3310128"/>
            <a:ext cx="786384" cy="274320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480" b="0">
                <a:solidFill>
                  <a:srgbClr val="191919"/>
                </a:solidFill>
                <a:latin typeface="Malgun Gothic"/>
              </a:rPr>
              <a:t>통합인터페이스</a:t>
            </a:r>
            <a:br/>
            <a:r>
              <a:rPr sz="480" b="0">
                <a:solidFill>
                  <a:srgbClr val="191919"/>
                </a:solidFill>
                <a:latin typeface="Malgun Gothic"/>
              </a:rPr>
              <a:t>DB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39312" y="3685032"/>
            <a:ext cx="786384" cy="658368"/>
          </a:xfrm>
          <a:prstGeom prst="rect">
            <a:avLst/>
          </a:prstGeom>
          <a:solidFill>
            <a:srgbClr val="F4F5F6"/>
          </a:solidFill>
          <a:ln w="12700">
            <a:solidFill>
              <a:srgbClr val="282D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700" b="0">
                <a:solidFill>
                  <a:srgbClr val="191919"/>
                </a:solidFill>
                <a:latin typeface="Malgun Gothic"/>
              </a:rPr>
              <a:t>EAI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21024" y="4626864"/>
            <a:ext cx="74980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30" b="0">
                <a:solidFill>
                  <a:srgbClr val="191919"/>
                </a:solidFill>
                <a:latin typeface="Malgun Gothic"/>
              </a:rPr>
              <a:t>SWIFT/CD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02736" y="4956048"/>
            <a:ext cx="822960" cy="603504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470" b="0">
                <a:solidFill>
                  <a:srgbClr val="191919"/>
                </a:solidFill>
                <a:latin typeface="Malgun Gothic"/>
              </a:rPr>
              <a:t>대외MCI</a:t>
            </a:r>
            <a:br/>
            <a:r>
              <a:rPr sz="470" b="0">
                <a:solidFill>
                  <a:srgbClr val="191919"/>
                </a:solidFill>
                <a:latin typeface="Malgun Gothic"/>
              </a:rPr>
              <a:t>거래중계</a:t>
            </a:r>
            <a:br/>
            <a:r>
              <a:rPr sz="470" b="0">
                <a:solidFill>
                  <a:srgbClr val="191919"/>
                </a:solidFill>
                <a:latin typeface="Malgun Gothic"/>
              </a:rPr>
              <a:t>자료중계</a:t>
            </a:r>
            <a:br/>
            <a:r>
              <a:rPr sz="470" b="0">
                <a:solidFill>
                  <a:srgbClr val="191919"/>
                </a:solidFill>
                <a:latin typeface="Malgun Gothic"/>
              </a:rPr>
              <a:t>자료서비스</a:t>
            </a:r>
          </a:p>
        </p:txBody>
      </p:sp>
      <p:sp>
        <p:nvSpPr>
          <p:cNvPr id="77" name="Rectangle 76"/>
          <p:cNvSpPr/>
          <p:nvPr/>
        </p:nvSpPr>
        <p:spPr>
          <a:xfrm rot="16200000">
            <a:off x="3493008" y="5074920"/>
            <a:ext cx="274320" cy="25603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459" b="1">
                <a:solidFill>
                  <a:srgbClr val="191919"/>
                </a:solidFill>
                <a:latin typeface="Malgun Gothic"/>
              </a:rPr>
              <a:t>G/W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39312" y="5650992"/>
            <a:ext cx="749808" cy="25603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480" b="0">
                <a:solidFill>
                  <a:srgbClr val="191919"/>
                </a:solidFill>
                <a:latin typeface="Malgun Gothic"/>
              </a:rPr>
              <a:t>통합인터페이스</a:t>
            </a:r>
            <a:br/>
            <a:r>
              <a:rPr sz="480" b="0">
                <a:solidFill>
                  <a:srgbClr val="191919"/>
                </a:solidFill>
                <a:latin typeface="Malgun Gothic"/>
              </a:rPr>
              <a:t>DB</a:t>
            </a:r>
          </a:p>
        </p:txBody>
      </p:sp>
      <p:sp>
        <p:nvSpPr>
          <p:cNvPr id="79" name="Rectangle 78"/>
          <p:cNvSpPr/>
          <p:nvPr/>
        </p:nvSpPr>
        <p:spPr>
          <a:xfrm rot="16200000">
            <a:off x="4828032" y="3145536"/>
            <a:ext cx="237744" cy="841248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1">
                <a:solidFill>
                  <a:srgbClr val="191919"/>
                </a:solidFill>
                <a:latin typeface="Malgun Gothic"/>
              </a:rPr>
              <a:t>S/W X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0" y="1627632"/>
            <a:ext cx="2852928" cy="1325880"/>
          </a:xfrm>
          <a:prstGeom prst="rect">
            <a:avLst/>
          </a:prstGeom>
          <a:solidFill>
            <a:srgbClr val="F4F5F6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640" b="1">
                <a:solidFill>
                  <a:srgbClr val="191919"/>
                </a:solidFill>
                <a:latin typeface="Malgun Gothic"/>
              </a:rPr>
              <a:t>계정계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32704" y="2039112"/>
            <a:ext cx="841248" cy="2103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40" b="0">
                <a:solidFill>
                  <a:srgbClr val="191919"/>
                </a:solidFill>
                <a:latin typeface="Malgun Gothic"/>
              </a:rPr>
              <a:t>고객신용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20840" y="2039112"/>
            <a:ext cx="841248" cy="2103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40" b="0">
                <a:solidFill>
                  <a:srgbClr val="191919"/>
                </a:solidFill>
                <a:latin typeface="Malgun Gothic"/>
              </a:rPr>
              <a:t>채널관리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32704" y="2350008"/>
            <a:ext cx="841248" cy="2103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40" b="0">
                <a:solidFill>
                  <a:srgbClr val="191919"/>
                </a:solidFill>
                <a:latin typeface="Malgun Gothic"/>
              </a:rPr>
              <a:t>자금통합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20840" y="2350008"/>
            <a:ext cx="841248" cy="2103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40" b="0">
                <a:solidFill>
                  <a:srgbClr val="191919"/>
                </a:solidFill>
                <a:latin typeface="Malgun Gothic"/>
              </a:rPr>
              <a:t>자금운용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32704" y="2660904"/>
            <a:ext cx="841248" cy="2103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40" b="0">
                <a:solidFill>
                  <a:srgbClr val="191919"/>
                </a:solidFill>
                <a:latin typeface="Malgun Gothic"/>
              </a:rPr>
              <a:t>자료처리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20840" y="2660904"/>
            <a:ext cx="841248" cy="2103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40" b="0">
                <a:solidFill>
                  <a:srgbClr val="191919"/>
                </a:solidFill>
                <a:latin typeface="Malgun Gothic"/>
              </a:rPr>
              <a:t>국외송금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632704" y="2971800"/>
            <a:ext cx="841248" cy="2103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40" b="0">
                <a:solidFill>
                  <a:srgbClr val="191919"/>
                </a:solidFill>
                <a:latin typeface="Malgun Gothic"/>
              </a:rPr>
              <a:t>자동공급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720840" y="2971800"/>
            <a:ext cx="841248" cy="2103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40" b="0">
                <a:solidFill>
                  <a:srgbClr val="191919"/>
                </a:solidFill>
                <a:latin typeface="Malgun Gothic"/>
              </a:rPr>
              <a:t>제신/세대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394192" y="1737360"/>
            <a:ext cx="420624" cy="64008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20" b="0">
                <a:solidFill>
                  <a:srgbClr val="191919"/>
                </a:solidFill>
                <a:latin typeface="Malgun Gothic"/>
              </a:rPr>
              <a:t>코어뱅킹</a:t>
            </a:r>
            <a:br/>
            <a:r>
              <a:rPr sz="520" b="0">
                <a:solidFill>
                  <a:srgbClr val="191919"/>
                </a:solidFill>
                <a:latin typeface="Malgun Gothic"/>
              </a:rPr>
              <a:t>DB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22392" y="3182112"/>
            <a:ext cx="2962656" cy="228600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1">
                <a:solidFill>
                  <a:srgbClr val="191919"/>
                </a:solidFill>
                <a:latin typeface="Malgun Gothic"/>
              </a:rPr>
              <a:t>대내인터페이스통합(EAI)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04688" y="3584448"/>
            <a:ext cx="2542032" cy="713232"/>
          </a:xfrm>
          <a:prstGeom prst="rect">
            <a:avLst/>
          </a:prstGeom>
          <a:solidFill>
            <a:srgbClr val="F4F5F6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600" b="1">
                <a:solidFill>
                  <a:srgbClr val="191919"/>
                </a:solidFill>
                <a:latin typeface="Malgun Gothic"/>
              </a:rPr>
              <a:t>인프라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15000" y="3913632"/>
            <a:ext cx="1051560" cy="219456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70" b="0">
                <a:solidFill>
                  <a:srgbClr val="191919"/>
                </a:solidFill>
                <a:latin typeface="Malgun Gothic"/>
              </a:rPr>
              <a:t>DW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812280" y="3913632"/>
            <a:ext cx="1051560" cy="219456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70" b="0">
                <a:solidFill>
                  <a:srgbClr val="191919"/>
                </a:solidFill>
                <a:latin typeface="Malgun Gothic"/>
              </a:rPr>
              <a:t>IT포털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22392" y="4443984"/>
            <a:ext cx="2962656" cy="228600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1">
                <a:solidFill>
                  <a:srgbClr val="191919"/>
                </a:solidFill>
                <a:latin typeface="Malgun Gothic"/>
              </a:rPr>
              <a:t>대내인터페이스통합(EAI)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04688" y="4809744"/>
            <a:ext cx="2542032" cy="658368"/>
          </a:xfrm>
          <a:prstGeom prst="rect">
            <a:avLst/>
          </a:prstGeom>
          <a:solidFill>
            <a:srgbClr val="F4F5F6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600" b="1">
                <a:solidFill>
                  <a:srgbClr val="191919"/>
                </a:solidFill>
                <a:latin typeface="Malgun Gothic"/>
              </a:rPr>
              <a:t>정보계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15000" y="5102352"/>
            <a:ext cx="1005840" cy="2103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0">
                <a:solidFill>
                  <a:srgbClr val="191919"/>
                </a:solidFill>
                <a:latin typeface="Malgun Gothic"/>
              </a:rPr>
              <a:t>엑스포탈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858000" y="5102352"/>
            <a:ext cx="1005840" cy="2103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0">
                <a:solidFill>
                  <a:srgbClr val="191919"/>
                </a:solidFill>
                <a:latin typeface="Malgun Gothic"/>
              </a:rPr>
              <a:t>정보분석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339327" y="4956048"/>
            <a:ext cx="457200" cy="512064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20" b="0">
                <a:solidFill>
                  <a:srgbClr val="191919"/>
                </a:solidFill>
                <a:latin typeface="Malgun Gothic"/>
              </a:rPr>
              <a:t>정보계</a:t>
            </a:r>
            <a:br/>
            <a:r>
              <a:rPr sz="520" b="0">
                <a:solidFill>
                  <a:srgbClr val="191919"/>
                </a:solidFill>
                <a:latin typeface="Malgun Gothic"/>
              </a:rPr>
              <a:t>DB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22392" y="5577840"/>
            <a:ext cx="2962656" cy="210312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50" b="1">
                <a:solidFill>
                  <a:srgbClr val="191919"/>
                </a:solidFill>
                <a:latin typeface="Malgun Gothic"/>
              </a:rPr>
              <a:t>대내인터페이스통합(EAI)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504688" y="5897880"/>
            <a:ext cx="2724912" cy="475488"/>
          </a:xfrm>
          <a:prstGeom prst="rect">
            <a:avLst/>
          </a:prstGeom>
          <a:solidFill>
            <a:srgbClr val="F4F5F6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80" b="1">
                <a:solidFill>
                  <a:srgbClr val="191919"/>
                </a:solidFill>
                <a:latin typeface="Malgun Gothic"/>
              </a:rPr>
              <a:t>신용지원 및 용역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50992" y="6117336"/>
            <a:ext cx="777240" cy="182880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09" b="0">
                <a:solidFill>
                  <a:srgbClr val="191919"/>
                </a:solidFill>
                <a:latin typeface="Malgun Gothic"/>
              </a:rPr>
              <a:t>협업지원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510528" y="6117336"/>
            <a:ext cx="777240" cy="182880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09" b="0">
                <a:solidFill>
                  <a:srgbClr val="191919"/>
                </a:solidFill>
                <a:latin typeface="Malgun Gothic"/>
              </a:rPr>
              <a:t>IT지원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360920" y="6117336"/>
            <a:ext cx="777240" cy="182880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470" b="0">
                <a:solidFill>
                  <a:srgbClr val="191919"/>
                </a:solidFill>
                <a:latin typeface="Malgun Gothic"/>
              </a:rPr>
              <a:t>통합인터페이스</a:t>
            </a:r>
          </a:p>
        </p:txBody>
      </p:sp>
      <p:sp>
        <p:nvSpPr>
          <p:cNvPr id="104" name="Rectangle 103"/>
          <p:cNvSpPr/>
          <p:nvPr/>
        </p:nvSpPr>
        <p:spPr>
          <a:xfrm rot="16200000">
            <a:off x="8668512" y="1828800"/>
            <a:ext cx="237744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480" b="1">
                <a:solidFill>
                  <a:srgbClr val="191919"/>
                </a:solidFill>
                <a:latin typeface="Malgun Gothic"/>
              </a:rPr>
              <a:t>코어시스템 인터페이스</a:t>
            </a:r>
          </a:p>
        </p:txBody>
      </p:sp>
      <p:sp>
        <p:nvSpPr>
          <p:cNvPr id="105" name="Rectangle 104"/>
          <p:cNvSpPr/>
          <p:nvPr/>
        </p:nvSpPr>
        <p:spPr>
          <a:xfrm rot="16200000">
            <a:off x="8668512" y="3767328"/>
            <a:ext cx="237744" cy="960120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480" b="1">
                <a:solidFill>
                  <a:srgbClr val="191919"/>
                </a:solidFill>
                <a:latin typeface="Malgun Gothic"/>
              </a:rPr>
              <a:t>T초/CD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26880" y="1645920"/>
            <a:ext cx="1042415" cy="585216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30" b="0">
                <a:solidFill>
                  <a:srgbClr val="191919"/>
                </a:solidFill>
                <a:latin typeface="Malgun Gothic"/>
              </a:rPr>
              <a:t>EAI</a:t>
            </a:r>
            <a:br/>
            <a:r>
              <a:rPr sz="530" b="0">
                <a:solidFill>
                  <a:srgbClr val="191919"/>
                </a:solidFill>
                <a:latin typeface="Malgun Gothic"/>
              </a:rPr>
              <a:t>대용량</a:t>
            </a:r>
            <a:br/>
            <a:r>
              <a:rPr sz="530" b="0">
                <a:solidFill>
                  <a:srgbClr val="191919"/>
                </a:solidFill>
                <a:latin typeface="Malgun Gothic"/>
              </a:rPr>
              <a:t>G/W관리</a:t>
            </a:r>
            <a:br/>
            <a:r>
              <a:rPr sz="530" b="0">
                <a:solidFill>
                  <a:srgbClr val="191919"/>
                </a:solidFill>
                <a:latin typeface="Malgun Gothic"/>
              </a:rPr>
              <a:t>[판독필요]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326880" y="2395728"/>
            <a:ext cx="1042415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20" b="0">
                <a:solidFill>
                  <a:srgbClr val="191919"/>
                </a:solidFill>
                <a:latin typeface="Malgun Gothic"/>
              </a:rPr>
              <a:t>통합인터페이스</a:t>
            </a:r>
            <a:br/>
            <a:r>
              <a:rPr sz="520" b="0">
                <a:solidFill>
                  <a:srgbClr val="191919"/>
                </a:solidFill>
                <a:latin typeface="Malgun Gothic"/>
              </a:rPr>
              <a:t>DB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308592" y="3017520"/>
            <a:ext cx="1051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620" b="0">
                <a:solidFill>
                  <a:srgbClr val="191919"/>
                </a:solidFill>
                <a:latin typeface="Malgun Gothic"/>
              </a:rPr>
              <a:t>COC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308592" y="3493008"/>
            <a:ext cx="1051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620" b="0">
                <a:solidFill>
                  <a:srgbClr val="191919"/>
                </a:solidFill>
                <a:latin typeface="Malgun Gothic"/>
              </a:rPr>
              <a:t>ETL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99448" y="4892040"/>
            <a:ext cx="1060704" cy="749808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09" b="0">
                <a:solidFill>
                  <a:srgbClr val="191919"/>
                </a:solidFill>
                <a:latin typeface="Malgun Gothic"/>
              </a:rPr>
              <a:t>신용정보관리</a:t>
            </a:r>
            <a:br/>
            <a:r>
              <a:rPr sz="509" b="0">
                <a:solidFill>
                  <a:srgbClr val="191919"/>
                </a:solidFill>
                <a:latin typeface="Malgun Gothic"/>
              </a:rPr>
              <a:t>시스템</a:t>
            </a:r>
            <a:br/>
            <a:r>
              <a:rPr sz="509" b="0">
                <a:solidFill>
                  <a:srgbClr val="191919"/>
                </a:solidFill>
                <a:latin typeface="Malgun Gothic"/>
              </a:rPr>
              <a:t>(EIMS)</a:t>
            </a:r>
            <a:br/>
            <a:r>
              <a:rPr sz="509" b="0">
                <a:solidFill>
                  <a:srgbClr val="191919"/>
                </a:solidFill>
                <a:latin typeface="Malgun Gothic"/>
              </a:rPr>
              <a:t>전문관리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281160" y="5943600"/>
            <a:ext cx="1078992" cy="384048"/>
          </a:xfrm>
          <a:prstGeom prst="rect">
            <a:avLst/>
          </a:prstGeom>
          <a:solidFill>
            <a:srgbClr val="ECEFF1"/>
          </a:solidFill>
          <a:ln w="12700">
            <a:solidFill>
              <a:srgbClr val="28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500" b="0">
                <a:solidFill>
                  <a:srgbClr val="191919"/>
                </a:solidFill>
                <a:latin typeface="Malgun Gothic"/>
              </a:rPr>
              <a:t>채널/인터페이스</a:t>
            </a:r>
            <a:br/>
            <a:r>
              <a:rPr sz="500" b="0">
                <a:solidFill>
                  <a:srgbClr val="191919"/>
                </a:solidFill>
                <a:latin typeface="Malgun Gothic"/>
              </a:rPr>
              <a:t>통합관리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808208" y="1444752"/>
            <a:ext cx="502920" cy="22860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850" b="1" i="1">
                <a:solidFill>
                  <a:srgbClr val="191919"/>
                </a:solidFill>
                <a:latin typeface="Malgun Gothic"/>
              </a:rPr>
              <a:t>구현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808208" y="1938528"/>
            <a:ext cx="6400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E94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1300" b="1">
                <a:solidFill>
                  <a:srgbClr val="191919"/>
                </a:solidFill>
                <a:latin typeface="Malgun Gothic"/>
              </a:rPr>
              <a:t>기초</a:t>
            </a:r>
            <a:br/>
            <a:r>
              <a:rPr sz="1300" b="1">
                <a:solidFill>
                  <a:srgbClr val="191919"/>
                </a:solidFill>
                <a:latin typeface="Malgun Gothic"/>
              </a:rPr>
              <a:t>데이터</a:t>
            </a:r>
            <a:br/>
            <a:r>
              <a:rPr sz="1300" b="1">
                <a:solidFill>
                  <a:srgbClr val="191919"/>
                </a:solidFill>
                <a:latin typeface="Malgun Gothic"/>
              </a:rPr>
              <a:t>활용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1576304" y="1444752"/>
            <a:ext cx="0" cy="4818888"/>
          </a:xfrm>
          <a:prstGeom prst="line">
            <a:avLst/>
          </a:prstGeom>
          <a:ln w="8890">
            <a:solidFill>
              <a:srgbClr val="282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5120640" y="6428232"/>
            <a:ext cx="5669280" cy="11887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450" b="0" i="0">
                <a:solidFill>
                  <a:srgbClr val="780000"/>
                </a:solidFill>
                <a:latin typeface="Malgun Gothic"/>
              </a:rPr>
              <a:t>주) 원본 이미지의 최하단 주석은 해상도상 대부분 판독 불가 — 세부 용어 확인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82880"/>
            <a:ext cx="4663440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>
              <a:defRPr sz="2000" b="1" i="0">
                <a:solidFill>
                  <a:srgbClr val="2D3037"/>
                </a:solidFill>
                <a:latin typeface="Malgun Gothic"/>
              </a:defRPr>
            </a:pPr>
            <a:r>
              <a:t>1.1.2 아키텍처 구성 개요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15400" y="91440"/>
            <a:ext cx="2606040" cy="47548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r">
              <a:defRPr sz="1100" b="1" i="0">
                <a:solidFill>
                  <a:srgbClr val="2D3037"/>
                </a:solidFill>
                <a:latin typeface="Malgun Gothic"/>
              </a:defRPr>
            </a:pPr>
            <a:r>
              <a:t>1. 인터페이스 기본정책</a:t>
            </a:r>
            <a:br/>
            <a:r>
              <a:t>1.1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21792"/>
            <a:ext cx="11338560" cy="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56032" y="749808"/>
            <a:ext cx="109728" cy="109728"/>
          </a:xfrm>
          <a:prstGeom prst="rect">
            <a:avLst/>
          </a:prstGeom>
          <a:solidFill>
            <a:srgbClr val="EBEFF2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1000" b="0" i="0">
                <a:solidFill>
                  <a:srgbClr val="1E1E1E"/>
                </a:solidFill>
                <a:latin typeface="Malgun Gothi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38912" y="694944"/>
            <a:ext cx="10789920" cy="4297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>
              <a:defRPr sz="1300" b="1" i="0">
                <a:solidFill>
                  <a:srgbClr val="2D2D2D"/>
                </a:solidFill>
                <a:latin typeface="Malgun Gothic"/>
              </a:defRPr>
            </a:pPr>
            <a:r>
              <a:t>차세대 인터페이스 아키텍처는 연계 특성과 용도에 따라서 대내 MCI, 대외 MCI, EAI 솔루션을 도입하여 영역별</a:t>
            </a:r>
            <a:br/>
            <a:r>
              <a:t>인터페이스를 구성함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261872"/>
            <a:ext cx="11356848" cy="5285232"/>
          </a:xfrm>
          <a:prstGeom prst="rect">
            <a:avLst/>
          </a:prstGeom>
          <a:solidFill>
            <a:srgbClr val="F2F4F6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100" b="0" i="0">
                <a:solidFill>
                  <a:srgbClr val="1E1E1E"/>
                </a:solidFill>
                <a:latin typeface="Malgun Gothi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21792" y="1444752"/>
            <a:ext cx="2514600" cy="237744"/>
          </a:xfrm>
          <a:prstGeom prst="rect">
            <a:avLst/>
          </a:prstGeom>
          <a:solidFill>
            <a:srgbClr val="4A4B4E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1000" b="1" i="0">
                <a:solidFill>
                  <a:srgbClr val="1E1E1E"/>
                </a:solidFill>
                <a:latin typeface="Malgun Gothic"/>
              </a:defRPr>
            </a:pPr>
            <a:r>
              <a:t>채널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1444752"/>
            <a:ext cx="1645920" cy="237744"/>
          </a:xfrm>
          <a:prstGeom prst="rect">
            <a:avLst/>
          </a:prstGeom>
          <a:solidFill>
            <a:srgbClr val="4A4B4E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1000" b="1" i="0">
                <a:solidFill>
                  <a:srgbClr val="1E1E1E"/>
                </a:solidFill>
                <a:latin typeface="Malgun Gothic"/>
              </a:defRPr>
            </a:pPr>
            <a:r>
              <a:t>채널통합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5192" y="1444752"/>
            <a:ext cx="4297680" cy="237744"/>
          </a:xfrm>
          <a:prstGeom prst="rect">
            <a:avLst/>
          </a:prstGeom>
          <a:solidFill>
            <a:srgbClr val="4A4B4E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1000" b="1" i="0">
                <a:solidFill>
                  <a:srgbClr val="1E1E1E"/>
                </a:solidFill>
                <a:latin typeface="Malgun Gothic"/>
              </a:defRPr>
            </a:pPr>
            <a:r>
              <a:t>비즈니스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81744" y="1444752"/>
            <a:ext cx="1737360" cy="237744"/>
          </a:xfrm>
          <a:prstGeom prst="rect">
            <a:avLst/>
          </a:prstGeom>
          <a:solidFill>
            <a:srgbClr val="4A4B4E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1000" b="1" i="0">
                <a:solidFill>
                  <a:srgbClr val="1E1E1E"/>
                </a:solidFill>
                <a:latin typeface="Malgun Gothic"/>
              </a:defRPr>
            </a:pPr>
            <a:r>
              <a:t>인터페이스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1792224"/>
            <a:ext cx="4206240" cy="2057400"/>
          </a:xfrm>
          <a:prstGeom prst="rect">
            <a:avLst/>
          </a:prstGeom>
          <a:solidFill>
            <a:srgbClr val="F8F8F8"/>
          </a:solidFill>
          <a:ln w="12700">
            <a:solidFill>
              <a:srgbClr val="3C3C3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1000" b="0" i="0">
                <a:solidFill>
                  <a:srgbClr val="1E1E1E"/>
                </a:solidFill>
                <a:latin typeface="Malgun Gothic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21792" y="4032504"/>
            <a:ext cx="4206240" cy="2331720"/>
          </a:xfrm>
          <a:prstGeom prst="rect">
            <a:avLst/>
          </a:prstGeom>
          <a:solidFill>
            <a:srgbClr val="F8F8F8"/>
          </a:solidFill>
          <a:ln w="12700">
            <a:solidFill>
              <a:srgbClr val="3C3C3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1000" b="0" i="0">
                <a:solidFill>
                  <a:srgbClr val="1E1E1E"/>
                </a:solidFill>
                <a:latin typeface="Malgun Gothi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463040" y="2615184"/>
            <a:ext cx="1828800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>
              <a:defRPr sz="2400" b="1" i="0">
                <a:solidFill>
                  <a:srgbClr val="232323"/>
                </a:solidFill>
                <a:latin typeface="Malgun Gothic"/>
              </a:defRPr>
            </a:pPr>
            <a:r>
              <a:t>대내 MCI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3639312"/>
            <a:ext cx="822960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>
              <a:defRPr sz="1900" b="1" i="0">
                <a:solidFill>
                  <a:srgbClr val="232323"/>
                </a:solidFill>
                <a:latin typeface="Malgun Gothic"/>
              </a:defRPr>
            </a:pPr>
            <a:r>
              <a:t>EAI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4764024"/>
            <a:ext cx="2011680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>
              <a:defRPr sz="2300" b="1" i="0">
                <a:solidFill>
                  <a:srgbClr val="232323"/>
                </a:solidFill>
                <a:latin typeface="Malgun Gothic"/>
              </a:defRPr>
            </a:pPr>
            <a:r>
              <a:t>대외 MCI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084831"/>
            <a:ext cx="658368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문서/영업점</a:t>
            </a:r>
            <a:br/>
            <a:r>
              <a:t>문서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2871215"/>
            <a:ext cx="658368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전자기</a:t>
            </a:r>
            <a:br/>
            <a:r>
              <a:t>스마트폰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465576"/>
            <a:ext cx="658368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인터넷/모바일</a:t>
            </a:r>
            <a:br/>
            <a:r>
              <a:t>인터넷기업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059935"/>
            <a:ext cx="658368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콜뱅킹/</a:t>
            </a:r>
            <a:br/>
            <a:r>
              <a:t>자동화기기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562856"/>
            <a:ext cx="658368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E-Mail</a:t>
            </a:r>
            <a:br/>
            <a:r>
              <a:t>SMS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038344"/>
            <a:ext cx="658368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기관계</a:t>
            </a:r>
            <a:br/>
            <a:r>
              <a:t>SWIFT/EDI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513832"/>
            <a:ext cx="658368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은행/기관</a:t>
            </a:r>
            <a:br/>
            <a:r>
              <a:t>VPN기관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998464"/>
            <a:ext cx="658368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외부기관</a:t>
            </a:r>
            <a:br/>
            <a:r>
              <a:t>기타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36192" y="1938528"/>
            <a:ext cx="960120" cy="530352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50" b="0" i="0">
                <a:solidFill>
                  <a:srgbClr val="1E1E1E"/>
                </a:solidFill>
                <a:latin typeface="Malgun Gothic"/>
              </a:defRPr>
            </a:pPr>
            <a:r>
              <a:t>IBOS 통합단말</a:t>
            </a:r>
            <a:br/>
            <a:r>
              <a:t>영업점 / 창구</a:t>
            </a:r>
            <a:br/>
            <a:r>
              <a:t>통합단말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36192" y="2615184"/>
            <a:ext cx="96012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800" b="0" i="0">
                <a:solidFill>
                  <a:srgbClr val="1E1E1E"/>
                </a:solidFill>
                <a:latin typeface="Malgun Gothic"/>
              </a:defRPr>
            </a:pPr>
            <a:r>
              <a:t>콜센터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36192" y="2935224"/>
            <a:ext cx="960120" cy="530352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30" b="0" i="0">
                <a:solidFill>
                  <a:srgbClr val="1E1E1E"/>
                </a:solidFill>
                <a:latin typeface="Malgun Gothic"/>
              </a:defRPr>
            </a:pPr>
            <a:r>
              <a:t>웹채널</a:t>
            </a:r>
            <a:br/>
            <a:r>
              <a:t>스마트뱅킹</a:t>
            </a:r>
            <a:br/>
            <a:r>
              <a:t>Push포탈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36192" y="3511296"/>
            <a:ext cx="960120" cy="713232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680" b="0" i="0">
                <a:solidFill>
                  <a:srgbClr val="1E1E1E"/>
                </a:solidFill>
                <a:latin typeface="Malgun Gothic"/>
              </a:defRPr>
            </a:pPr>
            <a:r>
              <a:t>인터넷뱅킹</a:t>
            </a:r>
            <a:br/>
            <a:r>
              <a:t>사이버브랜치</a:t>
            </a:r>
            <a:br/>
            <a:r>
              <a:t>퇴직연금</a:t>
            </a:r>
            <a:br/>
            <a:r>
              <a:t>홈페이지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36192" y="4297680"/>
            <a:ext cx="96012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800" b="0" i="0">
                <a:solidFill>
                  <a:srgbClr val="1E1E1E"/>
                </a:solidFill>
                <a:latin typeface="Malgun Gothic"/>
              </a:defRPr>
            </a:pPr>
            <a:r>
              <a:t>OpenAPI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36192" y="4700016"/>
            <a:ext cx="96012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50" b="0" i="0">
                <a:solidFill>
                  <a:srgbClr val="1E1E1E"/>
                </a:solidFill>
                <a:latin typeface="Malgun Gothic"/>
              </a:defRPr>
            </a:pPr>
            <a:r>
              <a:t>자동화기기관리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90472" y="5120640"/>
            <a:ext cx="1097280" cy="292608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800" b="0" i="0">
                <a:solidFill>
                  <a:srgbClr val="1E1E1E"/>
                </a:solidFill>
                <a:latin typeface="Malgun Gothic"/>
              </a:defRPr>
            </a:pPr>
            <a:r>
              <a:t>UMS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90472" y="5632704"/>
            <a:ext cx="109728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20" b="0" i="0">
                <a:solidFill>
                  <a:srgbClr val="1E1E1E"/>
                </a:solidFill>
                <a:latin typeface="Malgun Gothic"/>
              </a:defRPr>
            </a:pPr>
            <a:r>
              <a:t>인터넷/카드/</a:t>
            </a:r>
            <a:br/>
            <a:r>
              <a:t>외부기관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92424" y="1975104"/>
            <a:ext cx="1024128" cy="438912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50" b="0" i="0">
                <a:solidFill>
                  <a:srgbClr val="1E1E1E"/>
                </a:solidFill>
                <a:latin typeface="Malgun Gothic"/>
              </a:defRPr>
            </a:pPr>
            <a:r>
              <a:t>단말로그인</a:t>
            </a:r>
            <a:br/>
            <a:r>
              <a:t>통합화면인증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92424" y="2660904"/>
            <a:ext cx="1024128" cy="804672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50" b="0" i="0">
                <a:solidFill>
                  <a:srgbClr val="1E1E1E"/>
                </a:solidFill>
                <a:latin typeface="Malgun Gothic"/>
              </a:defRPr>
            </a:pPr>
            <a:r>
              <a:t>대내MCI</a:t>
            </a:r>
            <a:br/>
            <a:r>
              <a:t>저장통합</a:t>
            </a:r>
            <a:br/>
            <a:r>
              <a:t>매핑관리</a:t>
            </a:r>
            <a:br/>
            <a:r>
              <a:t>전문서비스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92424" y="3602736"/>
            <a:ext cx="1024128" cy="438912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30" b="0" i="0">
                <a:solidFill>
                  <a:srgbClr val="1E1E1E"/>
                </a:solidFill>
                <a:latin typeface="Malgun Gothic"/>
              </a:defRPr>
            </a:pPr>
            <a:r>
              <a:t>통합인터페이스</a:t>
            </a:r>
            <a:br/>
            <a:r>
              <a:t>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92424" y="4187952"/>
            <a:ext cx="1024128" cy="960120"/>
          </a:xfrm>
          <a:prstGeom prst="rect">
            <a:avLst/>
          </a:prstGeom>
          <a:solidFill>
            <a:srgbClr val="F8F8F8"/>
          </a:solidFill>
          <a:ln w="12700">
            <a:solidFill>
              <a:srgbClr val="46464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1000" b="0" i="0">
                <a:solidFill>
                  <a:srgbClr val="1E1E1E"/>
                </a:solidFill>
                <a:latin typeface="Malgun Gothic"/>
              </a:defRPr>
            </a:pPr>
            <a:r>
              <a:t>EAI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92424" y="5312664"/>
            <a:ext cx="1024128" cy="292608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50" b="0" i="0">
                <a:solidFill>
                  <a:srgbClr val="1E1E1E"/>
                </a:solidFill>
                <a:latin typeface="Malgun Gothic"/>
              </a:defRPr>
            </a:pPr>
            <a:r>
              <a:t>SWIFT/EDI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92424" y="5678424"/>
            <a:ext cx="1024128" cy="640080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대외MCI</a:t>
            </a:r>
            <a:br/>
            <a:r>
              <a:t>저장통합</a:t>
            </a:r>
            <a:br/>
            <a:r>
              <a:t>매핑관리</a:t>
            </a:r>
            <a:br/>
            <a:r>
              <a:t>전문서비스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5264" y="2505456"/>
            <a:ext cx="146304" cy="7772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defRPr sz="700" b="1" i="0">
                <a:solidFill>
                  <a:srgbClr val="232323"/>
                </a:solidFill>
                <a:latin typeface="Malgun Gothic"/>
              </a:defRPr>
            </a:pPr>
            <a:r>
              <a:t>대내연계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55264" y="5632704"/>
            <a:ext cx="146304" cy="6400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defRPr sz="700" b="1" i="0">
                <a:solidFill>
                  <a:srgbClr val="232323"/>
                </a:solidFill>
                <a:latin typeface="Malgun Gothic"/>
              </a:defRPr>
            </a:pPr>
            <a:r>
              <a:t>대외연계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10912" y="1792224"/>
            <a:ext cx="4297680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3C3C3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1000" b="0" i="0">
                <a:solidFill>
                  <a:srgbClr val="1E1E1E"/>
                </a:solidFill>
                <a:latin typeface="Malgun Gothic"/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8869680" y="2020824"/>
            <a:ext cx="228600" cy="3520440"/>
          </a:xfrm>
          <a:prstGeom prst="rect">
            <a:avLst/>
          </a:prstGeom>
          <a:solidFill>
            <a:srgbClr val="DCDCDC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내부인터페이스통합(EAI)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3941064"/>
            <a:ext cx="228600" cy="1051560"/>
          </a:xfrm>
          <a:prstGeom prst="rect">
            <a:avLst/>
          </a:prstGeom>
          <a:solidFill>
            <a:srgbClr val="D7D7D7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CDC/ETL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02752" y="1993392"/>
            <a:ext cx="585216" cy="658368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코어정보</a:t>
            </a:r>
            <a:br/>
            <a:r>
              <a:t>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02752" y="4626864"/>
            <a:ext cx="585216" cy="658368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정보계</a:t>
            </a:r>
            <a:br/>
            <a:r>
              <a:t>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5232" y="1956816"/>
            <a:ext cx="2816352" cy="301752"/>
          </a:xfrm>
          <a:prstGeom prst="rect">
            <a:avLst/>
          </a:prstGeom>
          <a:solidFill>
            <a:srgbClr val="EBEBEB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900" b="1" i="0">
                <a:solidFill>
                  <a:srgbClr val="1E1E1E"/>
                </a:solidFill>
                <a:latin typeface="Malgun Gothic"/>
              </a:defRPr>
            </a:pPr>
            <a:r>
              <a:t>계정계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40680" y="2359152"/>
            <a:ext cx="1143000" cy="228600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고객신용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2359152"/>
            <a:ext cx="1143000" cy="228600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채널관리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2660904"/>
            <a:ext cx="1143000" cy="228600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자금중개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2660904"/>
            <a:ext cx="1143000" cy="228600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자금운용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962656"/>
            <a:ext cx="1143000" cy="228600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재무회계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2962656"/>
            <a:ext cx="1143000" cy="228600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국외종합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3264408"/>
            <a:ext cx="1143000" cy="228600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지점공급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3264408"/>
            <a:ext cx="1143000" cy="228600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재무/투자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39512" y="3666744"/>
            <a:ext cx="2971800" cy="274320"/>
          </a:xfrm>
          <a:prstGeom prst="rect">
            <a:avLst/>
          </a:prstGeom>
          <a:solidFill>
            <a:srgbClr val="EBEBEB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800" b="1" i="0">
                <a:solidFill>
                  <a:srgbClr val="1E1E1E"/>
                </a:solidFill>
                <a:latin typeface="Malgun Gothic"/>
              </a:defRPr>
            </a:pPr>
            <a:r>
              <a:t>대내인터페이스통합(EAI)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85232" y="4151376"/>
            <a:ext cx="2816352" cy="292608"/>
          </a:xfrm>
          <a:prstGeom prst="rect">
            <a:avLst/>
          </a:prstGeom>
          <a:solidFill>
            <a:srgbClr val="EBEBEB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900" b="1" i="0">
                <a:solidFill>
                  <a:srgbClr val="1E1E1E"/>
                </a:solidFill>
                <a:latin typeface="Malgun Gothic"/>
              </a:defRPr>
            </a:pPr>
            <a:r>
              <a:t>인프라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4553712"/>
            <a:ext cx="1115568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800" b="0" i="0">
                <a:solidFill>
                  <a:srgbClr val="1E1E1E"/>
                </a:solidFill>
                <a:latin typeface="Malgun Gothic"/>
              </a:defRPr>
            </a:pPr>
            <a:r>
              <a:t>DW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4553712"/>
            <a:ext cx="1115568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800" b="0" i="0">
                <a:solidFill>
                  <a:srgbClr val="1E1E1E"/>
                </a:solidFill>
                <a:latin typeface="Malgun Gothic"/>
              </a:defRPr>
            </a:pPr>
            <a:r>
              <a:t>IT포탈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39512" y="5038344"/>
            <a:ext cx="2971800" cy="274320"/>
          </a:xfrm>
          <a:prstGeom prst="rect">
            <a:avLst/>
          </a:prstGeom>
          <a:solidFill>
            <a:srgbClr val="EBEBEB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800" b="1" i="0">
                <a:solidFill>
                  <a:srgbClr val="1E1E1E"/>
                </a:solidFill>
                <a:latin typeface="Malgun Gothic"/>
              </a:defRPr>
            </a:pPr>
            <a:r>
              <a:t>대내인터페이스통합(EAI)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85232" y="5477256"/>
            <a:ext cx="2816352" cy="292608"/>
          </a:xfrm>
          <a:prstGeom prst="rect">
            <a:avLst/>
          </a:prstGeom>
          <a:solidFill>
            <a:srgbClr val="EBEBEB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900" b="1" i="0">
                <a:solidFill>
                  <a:srgbClr val="1E1E1E"/>
                </a:solidFill>
                <a:latin typeface="Malgun Gothic"/>
              </a:defRPr>
            </a:pPr>
            <a:r>
              <a:t>정보계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0" y="5843016"/>
            <a:ext cx="1115568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50" b="0" i="0">
                <a:solidFill>
                  <a:srgbClr val="1E1E1E"/>
                </a:solidFill>
                <a:latin typeface="Malgun Gothic"/>
              </a:defRPr>
            </a:pPr>
            <a:r>
              <a:t>리스크관리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0" y="5843016"/>
            <a:ext cx="1115568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50" b="0" i="0">
                <a:solidFill>
                  <a:srgbClr val="1E1E1E"/>
                </a:solidFill>
                <a:latin typeface="Malgun Gothic"/>
              </a:defRPr>
            </a:pPr>
            <a:r>
              <a:t>정보분석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85232" y="6272784"/>
            <a:ext cx="2816352" cy="292608"/>
          </a:xfrm>
          <a:prstGeom prst="rect">
            <a:avLst/>
          </a:prstGeom>
          <a:solidFill>
            <a:srgbClr val="EBEBEB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850" b="1" i="0">
                <a:solidFill>
                  <a:srgbClr val="1E1E1E"/>
                </a:solidFill>
                <a:latin typeface="Malgun Gothic"/>
              </a:defRPr>
            </a:pPr>
            <a:r>
              <a:t>경영지원 및 통제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93224" y="2103120"/>
            <a:ext cx="960120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EAI</a:t>
            </a:r>
            <a:br/>
            <a:r>
              <a:t>Adapter</a:t>
            </a:r>
            <a:br/>
            <a:r>
              <a:t>기간계</a:t>
            </a:r>
            <a:br/>
            <a:r>
              <a:t>DW/ERP</a:t>
            </a:r>
            <a:br/>
            <a:r>
              <a:t>IF서비스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93224" y="3090672"/>
            <a:ext cx="960120" cy="411480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30" b="0" i="0">
                <a:solidFill>
                  <a:srgbClr val="1E1E1E"/>
                </a:solidFill>
                <a:latin typeface="Malgun Gothic"/>
              </a:defRPr>
            </a:pPr>
            <a:r>
              <a:t>통합인터페이스</a:t>
            </a:r>
            <a:br/>
            <a:r>
              <a:t>DB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93224" y="3895344"/>
            <a:ext cx="960120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850" b="0" i="0">
                <a:solidFill>
                  <a:srgbClr val="1E1E1E"/>
                </a:solidFill>
                <a:latin typeface="Malgun Gothic"/>
              </a:defRPr>
            </a:pPr>
            <a:r>
              <a:t>CDC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93224" y="4425696"/>
            <a:ext cx="960120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850" b="0" i="0">
                <a:solidFill>
                  <a:srgbClr val="1E1E1E"/>
                </a:solidFill>
                <a:latin typeface="Malgun Gothic"/>
              </a:defRPr>
            </a:pPr>
            <a:r>
              <a:t>ETL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93224" y="5495544"/>
            <a:ext cx="96012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700" b="0" i="0">
                <a:solidFill>
                  <a:srgbClr val="1E1E1E"/>
                </a:solidFill>
                <a:latin typeface="Malgun Gothic"/>
              </a:defRPr>
            </a:pPr>
            <a:r>
              <a:t>전문통합관리</a:t>
            </a:r>
            <a:br/>
            <a:r>
              <a:t>시스템</a:t>
            </a:r>
            <a:br/>
            <a:r>
              <a:t>(EIMS)</a:t>
            </a:r>
            <a:br/>
            <a:r>
              <a:t>전문관리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93224" y="6364224"/>
            <a:ext cx="960120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>
              <a:defRPr sz="680" b="0" i="0">
                <a:solidFill>
                  <a:srgbClr val="1E1E1E"/>
                </a:solidFill>
                <a:latin typeface="Malgun Gothic"/>
              </a:defRPr>
            </a:pPr>
            <a:r>
              <a:t>전문/인터페이스</a:t>
            </a:r>
            <a:br/>
            <a:r>
              <a:t>전문관리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416552" y="3026664"/>
            <a:ext cx="86868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416552" y="4489704"/>
            <a:ext cx="86868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16552" y="5952744"/>
            <a:ext cx="86868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119872" y="2478024"/>
            <a:ext cx="1673352" cy="132588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119872" y="4059935"/>
            <a:ext cx="1673352" cy="1115569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119872" y="5833872"/>
            <a:ext cx="1673352" cy="118872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58368" y="6291072"/>
            <a:ext cx="10241280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>
              <a:defRPr sz="650" b="0" i="0">
                <a:solidFill>
                  <a:srgbClr val="373737"/>
                </a:solidFill>
                <a:latin typeface="Malgun Gothic"/>
              </a:defRPr>
            </a:pPr>
            <a:r>
              <a:t>※ 일부 세부 시스템명은 원본 이미지 해상도상 판독 어려움: 원본 식별 가능한 구조·레이어·핵심 연계명 중심으로 도형화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28600" y="6601968"/>
            <a:ext cx="11384280" cy="0"/>
          </a:xfrm>
          <a:prstGeom prst="line">
            <a:avLst/>
          </a:prstGeom>
          <a:ln w="762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58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71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46304"/>
            <a:ext cx="11750040" cy="6473952"/>
          </a:xfrm>
          <a:prstGeom prst="rect">
            <a:avLst/>
          </a:prstGeom>
          <a:solidFill>
            <a:srgbClr val="76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29184" y="310896"/>
            <a:ext cx="11311128" cy="0"/>
          </a:xfrm>
          <a:prstGeom prst="line">
            <a:avLst/>
          </a:prstGeom>
          <a:ln w="10160">
            <a:solidFill>
              <a:srgbClr val="282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" y="6537960"/>
            <a:ext cx="11311128" cy="0"/>
          </a:xfrm>
          <a:prstGeom prst="line">
            <a:avLst/>
          </a:prstGeom>
          <a:ln w="5715">
            <a:solidFill>
              <a:srgbClr val="3E4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502920"/>
            <a:ext cx="4983480" cy="329184"/>
          </a:xfrm>
          <a:prstGeom prst="rect">
            <a:avLst/>
          </a:prstGeom>
          <a:solidFill>
            <a:srgbClr val="575A5E"/>
          </a:solidFill>
          <a:ln w="6350">
            <a:solidFill>
              <a:srgbClr val="3C3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3474720" cy="256032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820" b="1" i="0">
                <a:solidFill>
                  <a:srgbClr val="0A0A0A"/>
                </a:solidFill>
                <a:latin typeface="Malgun Gothic"/>
              </a:rPr>
              <a:t>1.  인터페이스 기본정책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923544"/>
            <a:ext cx="146304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50" b="1" i="0">
                <a:solidFill>
                  <a:srgbClr val="0C0C0C"/>
                </a:solidFill>
                <a:latin typeface="Malgun Gothic"/>
              </a:rPr>
              <a:t>1.1 개요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4434840" cy="329184"/>
          </a:xfrm>
          <a:prstGeom prst="rect">
            <a:avLst/>
          </a:prstGeom>
          <a:solidFill>
            <a:srgbClr val="90979D"/>
          </a:solidFill>
          <a:ln w="5080">
            <a:solidFill>
              <a:srgbClr val="6E7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307592"/>
            <a:ext cx="146304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80" b="1" i="0">
                <a:solidFill>
                  <a:srgbClr val="0C0C0C"/>
                </a:solidFill>
                <a:latin typeface="Malgun Gothic"/>
              </a:rPr>
              <a:t>1.2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82496"/>
            <a:ext cx="237744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20" b="1" i="0">
                <a:solidFill>
                  <a:srgbClr val="0C0C0C"/>
                </a:solidFill>
                <a:latin typeface="Malgun Gothic"/>
              </a:rPr>
              <a:t>1.3 설계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66543"/>
            <a:ext cx="228600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20" b="1" i="0">
                <a:solidFill>
                  <a:srgbClr val="0C0C0C"/>
                </a:solidFill>
                <a:latin typeface="Malgun Gothic"/>
              </a:rPr>
              <a:t>1.4 예외 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61488"/>
            <a:ext cx="379476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00" b="1" i="0">
                <a:solidFill>
                  <a:srgbClr val="0C0C0C"/>
                </a:solidFill>
                <a:latin typeface="Malgun Gothic"/>
              </a:rPr>
              <a:t>2.  연계 아키텍처 구성도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154680"/>
            <a:ext cx="402336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630" b="1" i="0">
                <a:solidFill>
                  <a:srgbClr val="0C0C0C"/>
                </a:solidFill>
                <a:latin typeface="Malgun Gothic"/>
              </a:rPr>
              <a:t>2.1 시스템인터페이스 대상 및 상세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502152"/>
            <a:ext cx="118872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630" b="1" i="0">
                <a:solidFill>
                  <a:srgbClr val="0C0C0C"/>
                </a:solidFill>
                <a:latin typeface="Malgun Gothic"/>
              </a:rPr>
              <a:t>범위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274320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00" b="1" i="0">
                <a:solidFill>
                  <a:srgbClr val="0C0C0C"/>
                </a:solidFill>
                <a:latin typeface="Malgun Gothic"/>
              </a:rPr>
              <a:t>3.  연계 표준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645152"/>
            <a:ext cx="320040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630" b="1" i="0">
                <a:solidFill>
                  <a:srgbClr val="0C0C0C"/>
                </a:solidFill>
                <a:latin typeface="Malgun Gothic"/>
              </a:rPr>
              <a:t>3.1 표준전문 레이아웃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5020056"/>
            <a:ext cx="329184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630" b="1" i="0">
                <a:solidFill>
                  <a:srgbClr val="0C0C0C"/>
                </a:solidFill>
                <a:latin typeface="Malgun Gothic"/>
              </a:rPr>
              <a:t>3.2 인터페이스 ID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87568"/>
            <a:ext cx="402336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00" b="1" i="0">
                <a:solidFill>
                  <a:srgbClr val="0C0C0C"/>
                </a:solidFill>
                <a:latin typeface="Malgun Gothic"/>
              </a:rPr>
              <a:t>4.  유형별 인터페이스 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6053328"/>
            <a:ext cx="2926080" cy="283464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630" b="1" i="0">
                <a:solidFill>
                  <a:srgbClr val="0C0C0C"/>
                </a:solidFill>
                <a:latin typeface="Malgun Gothic"/>
              </a:rPr>
              <a:t>4.1 인터페이스 유형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6391656"/>
            <a:ext cx="2926080" cy="256032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610" b="1" i="0">
                <a:solidFill>
                  <a:srgbClr val="0C0C0C"/>
                </a:solidFill>
                <a:latin typeface="Malgun Gothic"/>
              </a:rPr>
              <a:t>4.2 거래처리 패턴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539496"/>
            <a:ext cx="2926080" cy="292608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800" b="1" i="0">
                <a:solidFill>
                  <a:srgbClr val="080808"/>
                </a:solidFill>
                <a:latin typeface="Malgun Gothic"/>
              </a:rPr>
              <a:t>5.  로그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987552"/>
            <a:ext cx="2743200" cy="292608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00" b="1" i="0">
                <a:solidFill>
                  <a:srgbClr val="080808"/>
                </a:solidFill>
                <a:latin typeface="Malgun Gothic"/>
              </a:rPr>
              <a:t>5.1 로그 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1389888"/>
            <a:ext cx="2743200" cy="292608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00" b="1" i="0">
                <a:solidFill>
                  <a:srgbClr val="080808"/>
                </a:solidFill>
                <a:latin typeface="Malgun Gothic"/>
              </a:rPr>
              <a:t>5.2 로그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1783080"/>
            <a:ext cx="3657600" cy="292608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00" b="1" i="0">
                <a:solidFill>
                  <a:srgbClr val="080808"/>
                </a:solidFill>
                <a:latin typeface="Malgun Gothic"/>
              </a:rPr>
              <a:t>5.3 로그 관리 정책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2505456"/>
            <a:ext cx="4663440" cy="310896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800" b="1" i="0">
                <a:solidFill>
                  <a:srgbClr val="080808"/>
                </a:solidFill>
                <a:latin typeface="Malgun Gothic"/>
              </a:rPr>
              <a:t>6.  연계 아키텍처 관리체계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926080"/>
            <a:ext cx="3291840" cy="292608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00" b="1" i="0">
                <a:solidFill>
                  <a:srgbClr val="080808"/>
                </a:solidFill>
                <a:latin typeface="Malgun Gothic"/>
              </a:rPr>
              <a:t>6.1 개발 프로세스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346704"/>
            <a:ext cx="3291840" cy="292608"/>
          </a:xfrm>
          <a:prstGeom prst="rect">
            <a:avLst/>
          </a:prstGeom>
          <a:noFill/>
        </p:spPr>
        <p:txBody>
          <a:bodyPr wrap="none" lIns="0" rIns="0" tIns="4572" bIns="4572" anchor="ctr">
            <a:spAutoFit/>
          </a:bodyPr>
          <a:lstStyle/>
          <a:p>
            <a:pPr algn="l"/>
            <a:r>
              <a:rPr sz="1700" b="1" i="0">
                <a:solidFill>
                  <a:srgbClr val="080808"/>
                </a:solidFill>
                <a:latin typeface="Malgun Gothic"/>
              </a:rPr>
              <a:t>6.2 표준전문 관리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18872"/>
            <a:ext cx="11850624" cy="6547104"/>
          </a:xfrm>
          <a:prstGeom prst="rect">
            <a:avLst/>
          </a:prstGeom>
          <a:solidFill>
            <a:srgbClr val="DE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9260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l"/>
            <a:r>
              <a:rPr sz="1900" b="1" i="0" u="none">
                <a:solidFill>
                  <a:srgbClr val="22272C"/>
                </a:solidFill>
                <a:latin typeface="Malgun Gothic"/>
              </a:rPr>
              <a:t>1.2.1 인터페이스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182880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r"/>
            <a:r>
              <a:rPr sz="1050" b="1" i="0" u="none">
                <a:solidFill>
                  <a:srgbClr val="24262A"/>
                </a:solidFill>
                <a:latin typeface="Malgun Gothic"/>
              </a:rPr>
              <a:t>1. 인터페이스 기본정책
1.2 원칙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749808"/>
            <a:ext cx="11521440" cy="0"/>
          </a:xfrm>
          <a:prstGeom prst="line">
            <a:avLst/>
          </a:prstGeom>
          <a:ln w="10160">
            <a:solidFill>
              <a:srgbClr val="3C3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92608" y="932688"/>
            <a:ext cx="128016" cy="128016"/>
          </a:xfrm>
          <a:prstGeom prst="rect">
            <a:avLst/>
          </a:prstGeom>
          <a:solidFill>
            <a:srgbClr val="EEF1F3"/>
          </a:solidFill>
          <a:ln w="8890">
            <a:solidFill>
              <a:srgbClr val="37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813816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310" b="1" i="0" u="none">
                <a:solidFill>
                  <a:srgbClr val="23262A"/>
                </a:solidFill>
                <a:latin typeface="Malgun Gothic"/>
              </a:rPr>
              <a:t>인터페이스는 다른 서버 또는 동일 서버 내 다른 미들웨어에 있는 다른 어플리케이션(업무)과의 메시지(데이터)
연계를 의미함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517904"/>
            <a:ext cx="6967728" cy="5102352"/>
          </a:xfrm>
          <a:prstGeom prst="rect">
            <a:avLst/>
          </a:prstGeom>
          <a:solidFill>
            <a:srgbClr val="D5DAD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0064" y="1344168"/>
            <a:ext cx="4443984" cy="5138928"/>
          </a:xfrm>
          <a:prstGeom prst="rect">
            <a:avLst/>
          </a:prstGeom>
          <a:solidFill>
            <a:srgbClr val="D5DADF"/>
          </a:solidFill>
          <a:ln w="1143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" y="1618488"/>
            <a:ext cx="2331720" cy="3429000"/>
          </a:xfrm>
          <a:prstGeom prst="rect">
            <a:avLst/>
          </a:prstGeom>
          <a:solidFill>
            <a:srgbClr val="E1E5E8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16642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720" b="1" i="0" u="none">
                <a:solidFill>
                  <a:srgbClr val="141414"/>
                </a:solidFill>
                <a:latin typeface="Malgun Gothic"/>
              </a:rPr>
              <a:t>대내채널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65376"/>
            <a:ext cx="1417320" cy="274320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74519"/>
            <a:ext cx="1380744" cy="256031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740" b="0" i="0" u="none">
                <a:solidFill>
                  <a:srgbClr val="141414"/>
                </a:solidFill>
                <a:latin typeface="Malgun Gothic"/>
              </a:rPr>
              <a:t>단말 클라이언트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286000"/>
            <a:ext cx="1874519" cy="365760"/>
          </a:xfrm>
          <a:prstGeom prst="rect">
            <a:avLst/>
          </a:prstGeom>
          <a:solidFill>
            <a:srgbClr val="F0F3F5"/>
          </a:solidFill>
          <a:ln w="698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13432"/>
            <a:ext cx="1773936" cy="310896"/>
          </a:xfrm>
          <a:prstGeom prst="rect">
            <a:avLst/>
          </a:prstGeom>
          <a:noFill/>
          <a:ln>
            <a:noFill/>
          </a:ln>
        </p:spPr>
        <p:txBody>
          <a:bodyPr wrap="none" lIns="4572" rIns="4572" tIns="9144" bIns="9144" anchor="ctr">
            <a:spAutoFit/>
          </a:bodyPr>
          <a:lstStyle/>
          <a:p>
            <a:pPr algn="ctr"/>
            <a:r>
              <a:rPr sz="540" b="1" i="0" u="none">
                <a:solidFill>
                  <a:srgbClr val="141414"/>
                </a:solidFill>
                <a:latin typeface="Malgun Gothic"/>
              </a:rPr>
              <a:t>Web 통합단말
통합단말업무(IBOS통합단말)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2267712"/>
            <a:ext cx="201168" cy="237744"/>
          </a:xfrm>
          <a:prstGeom prst="rect">
            <a:avLst/>
          </a:prstGeom>
          <a:solidFill>
            <a:srgbClr val="484B4E"/>
          </a:solidFill>
          <a:ln w="8255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" y="227685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80" b="1" i="0" u="none">
                <a:solidFill>
                  <a:srgbClr val="141414"/>
                </a:solidFill>
                <a:latin typeface="Malgun Gothic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2304" y="2194560"/>
            <a:ext cx="201168" cy="237744"/>
          </a:xfrm>
          <a:prstGeom prst="rect">
            <a:avLst/>
          </a:prstGeom>
          <a:solidFill>
            <a:srgbClr val="484B4E"/>
          </a:solidFill>
          <a:ln w="8255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0592" y="2203703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80" b="1" i="0" u="none">
                <a:solidFill>
                  <a:srgbClr val="141414"/>
                </a:solidFill>
                <a:latin typeface="Malgun Gothic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" y="2889504"/>
            <a:ext cx="2139696" cy="1408176"/>
          </a:xfrm>
          <a:prstGeom prst="rect">
            <a:avLst/>
          </a:prstGeom>
          <a:solidFill>
            <a:srgbClr val="E6EAED"/>
          </a:solidFill>
          <a:ln w="889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29352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700" b="1" i="0" u="none">
                <a:solidFill>
                  <a:srgbClr val="141414"/>
                </a:solidFill>
                <a:latin typeface="Malgun Gothic"/>
              </a:rPr>
              <a:t>고객채널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218688"/>
            <a:ext cx="749808" cy="804672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227832"/>
            <a:ext cx="713231" cy="786384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490" b="0" i="0" u="none">
                <a:solidFill>
                  <a:srgbClr val="141414"/>
                </a:solidFill>
                <a:latin typeface="Malgun Gothic"/>
              </a:rPr>
              <a:t>인터넷뱅킹
스마트뱅킹
사이버브랜치
퇴직연금
홈페이지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36192" y="3218688"/>
            <a:ext cx="749808" cy="210312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3227832"/>
            <a:ext cx="713231" cy="192024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80" b="0" i="0" u="none">
                <a:solidFill>
                  <a:srgbClr val="141414"/>
                </a:solidFill>
                <a:latin typeface="Malgun Gothic"/>
              </a:rPr>
              <a:t>텔레뱅킹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36192" y="3493008"/>
            <a:ext cx="749808" cy="210312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02151"/>
            <a:ext cx="713231" cy="192024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80" b="0" i="0" u="none">
                <a:solidFill>
                  <a:srgbClr val="141414"/>
                </a:solidFill>
                <a:latin typeface="Malgun Gothic"/>
              </a:rPr>
              <a:t>모바일뱅킹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36192" y="3776472"/>
            <a:ext cx="749808" cy="210312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3785615"/>
            <a:ext cx="713231" cy="192024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80" b="0" i="0" u="none">
                <a:solidFill>
                  <a:srgbClr val="141414"/>
                </a:solidFill>
                <a:latin typeface="Malgun Gothic"/>
              </a:rPr>
              <a:t>자동화기기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087368"/>
            <a:ext cx="694944" cy="201168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096511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40" b="0" i="0" u="none">
                <a:solidFill>
                  <a:srgbClr val="141414"/>
                </a:solidFill>
                <a:latin typeface="Malgun Gothic"/>
              </a:rPr>
              <a:t>OpenAPI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4087368"/>
            <a:ext cx="512064" cy="201168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64208" y="4096511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40" b="0" i="0" u="none">
                <a:solidFill>
                  <a:srgbClr val="141414"/>
                </a:solidFill>
                <a:latin typeface="Malgun Gothic"/>
              </a:rPr>
              <a:t>IVR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" y="4526280"/>
            <a:ext cx="2011680" cy="411480"/>
          </a:xfrm>
          <a:prstGeom prst="rect">
            <a:avLst/>
          </a:prstGeom>
          <a:solidFill>
            <a:srgbClr val="5F6368"/>
          </a:solidFill>
          <a:ln w="1016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645152"/>
            <a:ext cx="123444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750" b="1" i="0" u="none">
                <a:solidFill>
                  <a:srgbClr val="FFFFFF"/>
                </a:solidFill>
                <a:latin typeface="Malgun Gothic"/>
              </a:rPr>
              <a:t>EAI or MFT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90288"/>
            <a:ext cx="201168" cy="219456"/>
          </a:xfrm>
          <a:prstGeom prst="rect">
            <a:avLst/>
          </a:prstGeom>
          <a:solidFill>
            <a:srgbClr val="484B4E"/>
          </a:solidFill>
          <a:ln w="8255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599431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60" b="1" i="0" u="none">
                <a:solidFill>
                  <a:srgbClr val="141414"/>
                </a:solidFill>
                <a:latin typeface="Malgun Gothic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1720" y="4681728"/>
            <a:ext cx="201168" cy="219456"/>
          </a:xfrm>
          <a:prstGeom prst="rect">
            <a:avLst/>
          </a:prstGeom>
          <a:solidFill>
            <a:srgbClr val="484B4E"/>
          </a:solidFill>
          <a:ln w="8255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0008" y="4690872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60" b="1" i="0" u="none">
                <a:solidFill>
                  <a:srgbClr val="141414"/>
                </a:solidFill>
                <a:latin typeface="Malgun Gothic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5248656"/>
            <a:ext cx="2139696" cy="932688"/>
          </a:xfrm>
          <a:prstGeom prst="rect">
            <a:avLst/>
          </a:prstGeom>
          <a:solidFill>
            <a:srgbClr val="E2E6E9"/>
          </a:solidFill>
          <a:ln w="889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" y="530352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730" b="1" i="0" u="none">
                <a:solidFill>
                  <a:srgbClr val="141414"/>
                </a:solidFill>
                <a:latin typeface="Malgun Gothic"/>
              </a:rPr>
              <a:t>대외기관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" y="5687568"/>
            <a:ext cx="1051560" cy="228600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" y="5696712"/>
            <a:ext cx="1014983" cy="21031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30" b="0" i="0" u="none">
                <a:solidFill>
                  <a:srgbClr val="141414"/>
                </a:solidFill>
                <a:latin typeface="Malgun Gothic"/>
              </a:rPr>
              <a:t>대외 기관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" y="6144768"/>
            <a:ext cx="868680" cy="210312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" y="6153912"/>
            <a:ext cx="832103" cy="192024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20" b="0" i="0" u="none">
                <a:solidFill>
                  <a:srgbClr val="141414"/>
                </a:solidFill>
                <a:latin typeface="Malgun Gothic"/>
              </a:rPr>
              <a:t>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" y="6400800"/>
            <a:ext cx="868680" cy="192024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6409944"/>
            <a:ext cx="832103" cy="173736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80" b="0" i="0" u="none">
                <a:solidFill>
                  <a:srgbClr val="141414"/>
                </a:solidFill>
                <a:latin typeface="Malgun Gothic"/>
              </a:rPr>
              <a:t>인터넷PC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" y="5961888"/>
            <a:ext cx="201168" cy="219456"/>
          </a:xfrm>
          <a:prstGeom prst="rect">
            <a:avLst/>
          </a:prstGeom>
          <a:solidFill>
            <a:srgbClr val="484B4E"/>
          </a:solidFill>
          <a:ln w="8255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971031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60" b="1" i="0" u="none">
                <a:solidFill>
                  <a:srgbClr val="141414"/>
                </a:solidFill>
                <a:latin typeface="Malgun Gothic"/>
              </a:rPr>
              <a:t>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1709928"/>
            <a:ext cx="310896" cy="4279392"/>
          </a:xfrm>
          <a:prstGeom prst="rect">
            <a:avLst/>
          </a:prstGeom>
          <a:solidFill>
            <a:srgbClr val="C4CBD1"/>
          </a:solidFill>
          <a:ln w="825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71800" y="2340864"/>
            <a:ext cx="192024" cy="1371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00" b="1" i="0" u="none">
                <a:solidFill>
                  <a:srgbClr val="141414"/>
                </a:solidFill>
                <a:latin typeface="Malgun Gothic"/>
              </a:rPr>
              <a:t>대
내
M
C
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1682496"/>
            <a:ext cx="219456" cy="246888"/>
          </a:xfrm>
          <a:prstGeom prst="rect">
            <a:avLst/>
          </a:prstGeom>
          <a:solidFill>
            <a:srgbClr val="484B4E"/>
          </a:solidFill>
          <a:ln w="8255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07208" y="1691640"/>
            <a:ext cx="182879" cy="22860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70" b="1" i="0" u="none">
                <a:solidFill>
                  <a:srgbClr val="141414"/>
                </a:solidFill>
                <a:latin typeface="Malgun Gothic"/>
              </a:rP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82112" y="4882896"/>
            <a:ext cx="301752" cy="1737360"/>
          </a:xfrm>
          <a:prstGeom prst="rect">
            <a:avLst/>
          </a:prstGeom>
          <a:solidFill>
            <a:srgbClr val="C6CDD3"/>
          </a:solidFill>
          <a:ln w="825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27832" y="5239512"/>
            <a:ext cx="192024" cy="8686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00" b="1" i="0" u="none">
                <a:solidFill>
                  <a:srgbClr val="141414"/>
                </a:solidFill>
                <a:latin typeface="Malgun Gothic"/>
              </a:rPr>
              <a:t>대
외
M
C
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26664" y="5376672"/>
            <a:ext cx="219456" cy="246888"/>
          </a:xfrm>
          <a:prstGeom prst="rect">
            <a:avLst/>
          </a:prstGeom>
          <a:solidFill>
            <a:srgbClr val="484B4E"/>
          </a:solidFill>
          <a:ln w="8255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44952" y="5385816"/>
            <a:ext cx="182879" cy="22860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70" b="1" i="0" u="none">
                <a:solidFill>
                  <a:srgbClr val="141414"/>
                </a:solidFill>
                <a:latin typeface="Malgun Gothic"/>
              </a:rPr>
              <a:t>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514600" y="2377440"/>
            <a:ext cx="411480" cy="0"/>
          </a:xfrm>
          <a:prstGeom prst="line">
            <a:avLst/>
          </a:prstGeom>
          <a:ln w="889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514600" y="3493008"/>
            <a:ext cx="411480" cy="0"/>
          </a:xfrm>
          <a:prstGeom prst="line">
            <a:avLst/>
          </a:prstGeom>
          <a:ln w="889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514600" y="4718304"/>
            <a:ext cx="411480" cy="0"/>
          </a:xfrm>
          <a:prstGeom prst="line">
            <a:avLst/>
          </a:prstGeom>
          <a:ln w="889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514600" y="5779008"/>
            <a:ext cx="411480" cy="0"/>
          </a:xfrm>
          <a:prstGeom prst="line">
            <a:avLst/>
          </a:prstGeom>
          <a:ln w="889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514600" y="6245352"/>
            <a:ext cx="411480" cy="0"/>
          </a:xfrm>
          <a:prstGeom prst="line">
            <a:avLst/>
          </a:prstGeom>
          <a:ln w="889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514600" y="6473952"/>
            <a:ext cx="411480" cy="0"/>
          </a:xfrm>
          <a:prstGeom prst="line">
            <a:avLst/>
          </a:prstGeom>
          <a:ln w="889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236976" y="2971800"/>
            <a:ext cx="466344" cy="0"/>
          </a:xfrm>
          <a:prstGeom prst="line">
            <a:avLst/>
          </a:prstGeom>
          <a:ln w="889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483864" y="5696712"/>
            <a:ext cx="219456" cy="0"/>
          </a:xfrm>
          <a:prstGeom prst="line">
            <a:avLst/>
          </a:prstGeom>
          <a:ln w="889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3566160" y="1627632"/>
            <a:ext cx="3547872" cy="4873752"/>
          </a:xfrm>
          <a:prstGeom prst="rect">
            <a:avLst/>
          </a:prstGeom>
          <a:solidFill>
            <a:srgbClr val="D8DEE3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63440" y="1691640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700" b="1" i="0" u="none">
                <a:solidFill>
                  <a:srgbClr val="141414"/>
                </a:solidFill>
                <a:latin typeface="Malgun Gothic"/>
              </a:rPr>
              <a:t>대내인터페이스통합(EAI)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69080" y="20116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l"/>
            <a:r>
              <a:rPr sz="800" b="1" i="0" u="none">
                <a:solidFill>
                  <a:srgbClr val="141414"/>
                </a:solidFill>
                <a:latin typeface="Malgun Gothic"/>
              </a:rPr>
              <a:t>백엔드 시스템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86200" y="2331720"/>
            <a:ext cx="2468880" cy="1024128"/>
          </a:xfrm>
          <a:prstGeom prst="rect">
            <a:avLst/>
          </a:prstGeom>
          <a:solidFill>
            <a:srgbClr val="DEE4E9"/>
          </a:solidFill>
          <a:ln w="952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28032" y="2395728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680" b="1" i="0" u="none">
                <a:solidFill>
                  <a:srgbClr val="141414"/>
                </a:solidFill>
                <a:latin typeface="Malgun Gothic"/>
              </a:rPr>
              <a:t>계정계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23360" y="2615184"/>
            <a:ext cx="886968" cy="173736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41648" y="2624327"/>
            <a:ext cx="850392" cy="15544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60" b="0" i="0" u="none">
                <a:solidFill>
                  <a:srgbClr val="141414"/>
                </a:solidFill>
                <a:latin typeface="Malgun Gothic"/>
              </a:rPr>
              <a:t>고객상품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56632" y="2615184"/>
            <a:ext cx="886968" cy="173736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74920" y="2624327"/>
            <a:ext cx="850392" cy="15544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60" b="0" i="0" u="none">
                <a:solidFill>
                  <a:srgbClr val="141414"/>
                </a:solidFill>
                <a:latin typeface="Malgun Gothic"/>
              </a:rPr>
              <a:t>채널관리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23360" y="2852928"/>
            <a:ext cx="886968" cy="173736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41648" y="2862072"/>
            <a:ext cx="850392" cy="15544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60" b="0" i="0" u="none">
                <a:solidFill>
                  <a:srgbClr val="141414"/>
                </a:solidFill>
                <a:latin typeface="Malgun Gothic"/>
              </a:rPr>
              <a:t>자금조달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56632" y="2852928"/>
            <a:ext cx="886968" cy="173736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74920" y="2862072"/>
            <a:ext cx="850392" cy="15544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60" b="0" i="0" u="none">
                <a:solidFill>
                  <a:srgbClr val="141414"/>
                </a:solidFill>
                <a:latin typeface="Malgun Gothic"/>
              </a:rPr>
              <a:t>자금운용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23360" y="3090672"/>
            <a:ext cx="886968" cy="173736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41648" y="3099815"/>
            <a:ext cx="850392" cy="15544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60" b="0" i="0" u="none">
                <a:solidFill>
                  <a:srgbClr val="141414"/>
                </a:solidFill>
                <a:latin typeface="Malgun Gothic"/>
              </a:rPr>
              <a:t>지우회계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56632" y="3090672"/>
            <a:ext cx="886968" cy="173736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74920" y="3099815"/>
            <a:ext cx="850392" cy="15544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60" b="0" i="0" u="none">
                <a:solidFill>
                  <a:srgbClr val="141414"/>
                </a:solidFill>
                <a:latin typeface="Malgun Gothic"/>
              </a:rPr>
              <a:t>국외점포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23360" y="3328415"/>
            <a:ext cx="886968" cy="173736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41648" y="3337559"/>
            <a:ext cx="850392" cy="15544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60" b="0" i="0" u="none">
                <a:solidFill>
                  <a:srgbClr val="141414"/>
                </a:solidFill>
                <a:latin typeface="Malgun Gothic"/>
              </a:rPr>
              <a:t>자금공급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56632" y="3328415"/>
            <a:ext cx="886968" cy="173736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74920" y="3337559"/>
            <a:ext cx="850392" cy="15544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60" b="0" i="0" u="none">
                <a:solidFill>
                  <a:srgbClr val="141414"/>
                </a:solidFill>
                <a:latin typeface="Malgun Gothic"/>
              </a:rPr>
              <a:t>제휴/제휴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2999232"/>
            <a:ext cx="210312" cy="237744"/>
          </a:xfrm>
          <a:prstGeom prst="rect">
            <a:avLst/>
          </a:prstGeom>
          <a:solidFill>
            <a:srgbClr val="484B4E"/>
          </a:solidFill>
          <a:ln w="8255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27648" y="3008375"/>
            <a:ext cx="173736" cy="219456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40" b="1" i="0" u="none">
                <a:solidFill>
                  <a:srgbClr val="141414"/>
                </a:solidFill>
                <a:latin typeface="Malgun Gothic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86200" y="3584448"/>
            <a:ext cx="2468880" cy="594360"/>
          </a:xfrm>
          <a:prstGeom prst="rect">
            <a:avLst/>
          </a:prstGeom>
          <a:solidFill>
            <a:srgbClr val="DEE4E9"/>
          </a:solidFill>
          <a:ln w="952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92040" y="363931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670" b="1" i="0" u="none">
                <a:solidFill>
                  <a:srgbClr val="141414"/>
                </a:solidFill>
                <a:latin typeface="Malgun Gothic"/>
              </a:rPr>
              <a:t>정보계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069080" y="3886200"/>
            <a:ext cx="896112" cy="182880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087368" y="3895344"/>
            <a:ext cx="859536" cy="16459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50" b="0" i="0" u="none">
                <a:solidFill>
                  <a:srgbClr val="141414"/>
                </a:solidFill>
                <a:latin typeface="Malgun Gothic"/>
              </a:rPr>
              <a:t>리스크관리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38928" y="3886200"/>
            <a:ext cx="896112" cy="182880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157216" y="3895344"/>
            <a:ext cx="859536" cy="16459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50" b="0" i="0" u="none">
                <a:solidFill>
                  <a:srgbClr val="141414"/>
                </a:solidFill>
                <a:latin typeface="Malgun Gothic"/>
              </a:rPr>
              <a:t>정보분석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86200" y="4434840"/>
            <a:ext cx="2468880" cy="1170432"/>
          </a:xfrm>
          <a:prstGeom prst="rect">
            <a:avLst/>
          </a:prstGeom>
          <a:solidFill>
            <a:srgbClr val="DEE4E9"/>
          </a:solidFill>
          <a:ln w="952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919472" y="4480560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670" b="1" i="0" u="none">
                <a:solidFill>
                  <a:srgbClr val="141414"/>
                </a:solidFill>
                <a:latin typeface="Malgun Gothic"/>
              </a:rPr>
              <a:t>인프라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41648" y="4736592"/>
            <a:ext cx="932688" cy="201168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059935" y="4745736"/>
            <a:ext cx="89611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60" b="0" i="0" u="none">
                <a:solidFill>
                  <a:srgbClr val="141414"/>
                </a:solidFill>
                <a:latin typeface="Malgun Gothic"/>
              </a:rPr>
              <a:t>DW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38928" y="4736592"/>
            <a:ext cx="932688" cy="201168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157216" y="4745736"/>
            <a:ext cx="89611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60" b="0" i="0" u="none">
                <a:solidFill>
                  <a:srgbClr val="141414"/>
                </a:solidFill>
                <a:latin typeface="Malgun Gothic"/>
              </a:rPr>
              <a:t>IT보안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041648" y="5157216"/>
            <a:ext cx="1097280" cy="292608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059935" y="5166359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00" b="0" i="0" u="none">
                <a:solidFill>
                  <a:srgbClr val="141414"/>
                </a:solidFill>
                <a:latin typeface="Malgun Gothic"/>
              </a:rPr>
              <a:t>ESSO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358384" y="5102352"/>
            <a:ext cx="713232" cy="201168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76672" y="5111496"/>
            <a:ext cx="676656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40" b="0" i="0" u="none">
                <a:solidFill>
                  <a:srgbClr val="141414"/>
                </a:solidFill>
                <a:latin typeface="Malgun Gothic"/>
              </a:rPr>
              <a:t>UMS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358384" y="5358384"/>
            <a:ext cx="713232" cy="201168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376672" y="5367528"/>
            <a:ext cx="676656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40" b="0" i="0" u="none">
                <a:solidFill>
                  <a:srgbClr val="141414"/>
                </a:solidFill>
                <a:latin typeface="Malgun Gothic"/>
              </a:rPr>
              <a:t>BPM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53912" y="5321808"/>
            <a:ext cx="210312" cy="237744"/>
          </a:xfrm>
          <a:prstGeom prst="rect">
            <a:avLst/>
          </a:prstGeom>
          <a:solidFill>
            <a:srgbClr val="484B4E"/>
          </a:solidFill>
          <a:ln w="8255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72200" y="5330952"/>
            <a:ext cx="173736" cy="219456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40" b="1" i="0" u="none">
                <a:solidFill>
                  <a:srgbClr val="141414"/>
                </a:solidFill>
                <a:latin typeface="Malgun Gothic"/>
              </a:rPr>
              <a:t>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886200" y="5824728"/>
            <a:ext cx="2468880" cy="548640"/>
          </a:xfrm>
          <a:prstGeom prst="rect">
            <a:avLst/>
          </a:prstGeom>
          <a:solidFill>
            <a:srgbClr val="DEE4E9"/>
          </a:solidFill>
          <a:ln w="952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36592" y="5852160"/>
            <a:ext cx="86868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580" b="1" i="0" u="none">
                <a:solidFill>
                  <a:srgbClr val="141414"/>
                </a:solidFill>
                <a:latin typeface="Malgun Gothic"/>
              </a:rPr>
              <a:t>진행지원 및 통제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041648" y="6080760"/>
            <a:ext cx="896112" cy="182880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059935" y="6089904"/>
            <a:ext cx="859536" cy="16459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50" b="0" i="0" u="none">
                <a:solidFill>
                  <a:srgbClr val="141414"/>
                </a:solidFill>
                <a:latin typeface="Malgun Gothic"/>
              </a:rPr>
              <a:t>진행지원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102352" y="6080760"/>
            <a:ext cx="896112" cy="182880"/>
          </a:xfrm>
          <a:prstGeom prst="rect">
            <a:avLst/>
          </a:prstGeom>
          <a:solidFill>
            <a:srgbClr val="E6EBEF"/>
          </a:solidFill>
          <a:ln w="8255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120640" y="6089904"/>
            <a:ext cx="859536" cy="164592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550" b="0" i="0" u="none">
                <a:solidFill>
                  <a:srgbClr val="141414"/>
                </a:solidFill>
                <a:latin typeface="Malgun Gothic"/>
              </a:rPr>
              <a:t>IT지원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3703320" y="2990088"/>
            <a:ext cx="182880" cy="0"/>
          </a:xfrm>
          <a:prstGeom prst="line">
            <a:avLst/>
          </a:prstGeom>
          <a:ln w="9525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03320" y="3886200"/>
            <a:ext cx="182880" cy="0"/>
          </a:xfrm>
          <a:prstGeom prst="line">
            <a:avLst/>
          </a:prstGeom>
          <a:ln w="9525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03320" y="5102352"/>
            <a:ext cx="182880" cy="0"/>
          </a:xfrm>
          <a:prstGeom prst="line">
            <a:avLst/>
          </a:prstGeom>
          <a:ln w="9525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03320" y="6089904"/>
            <a:ext cx="182880" cy="0"/>
          </a:xfrm>
          <a:prstGeom prst="line">
            <a:avLst/>
          </a:prstGeom>
          <a:ln w="9525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617720" y="6419088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700" b="1" i="0" u="none">
                <a:solidFill>
                  <a:srgbClr val="141414"/>
                </a:solidFill>
                <a:latin typeface="Malgun Gothic"/>
              </a:rPr>
              <a:t>대내인터페이스통합(EAI)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32688" y="30358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2000" b="1" i="0" u="none">
                <a:solidFill>
                  <a:srgbClr val="3A3C3F"/>
                </a:solidFill>
                <a:latin typeface="Malgun Gothic"/>
              </a:rPr>
              <a:t>대내 MCI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" y="4480560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2000" b="1" i="0" u="none">
                <a:solidFill>
                  <a:srgbClr val="3A3C3F"/>
                </a:solidFill>
                <a:latin typeface="Malgun Gothic"/>
              </a:rPr>
              <a:t>EAI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8680" y="5989320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1900" b="1" i="0" u="none">
                <a:solidFill>
                  <a:srgbClr val="3A3C3F"/>
                </a:solidFill>
                <a:latin typeface="Malgun Gothic"/>
              </a:rPr>
              <a:t>대외 MCI</a:t>
            </a:r>
          </a:p>
        </p:txBody>
      </p:sp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7370064" y="1344168"/>
          <a:ext cx="4443984" cy="5134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/>
                <a:gridCol w="530352"/>
                <a:gridCol w="548640"/>
                <a:gridCol w="2926080"/>
              </a:tblGrid>
              <a:tr h="256032">
                <a:tc>
                  <a:txBody>
                    <a:bodyPr lIns="9144" rIns="9144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570" b="1">
                          <a:solidFill>
                            <a:srgbClr val="141414"/>
                          </a:solidFill>
                          <a:latin typeface="Malgun Gothic"/>
                        </a:rPr>
                        <a:t>번호</a:t>
                      </a:r>
                    </a:p>
                  </a:txBody>
                  <a:tcPr>
                    <a:solidFill>
                      <a:srgbClr val="E2E6EA"/>
                    </a:solidFill>
                  </a:tcPr>
                </a:tc>
                <a:tc>
                  <a:txBody>
                    <a:bodyPr lIns="9144" rIns="9144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570" b="1">
                          <a:solidFill>
                            <a:srgbClr val="141414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E2E6EA"/>
                    </a:solidFill>
                  </a:tcPr>
                </a:tc>
                <a:tc>
                  <a:txBody>
                    <a:bodyPr lIns="9144" rIns="9144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570" b="1">
                          <a:solidFill>
                            <a:srgbClr val="141414"/>
                          </a:solidFill>
                          <a:latin typeface="Malgun Gothic"/>
                        </a:rPr>
                        <a:t>화면번호</a:t>
                      </a:r>
                    </a:p>
                  </a:txBody>
                  <a:tcPr>
                    <a:solidFill>
                      <a:srgbClr val="E2E6EA"/>
                    </a:solidFill>
                  </a:tcPr>
                </a:tc>
                <a:tc>
                  <a:txBody>
                    <a:bodyPr lIns="9144" rIns="9144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570" b="1">
                          <a:solidFill>
                            <a:srgbClr val="141414"/>
                          </a:solidFill>
                          <a:latin typeface="Malgun Gothic"/>
                        </a:rPr>
                        <a:t>원칙</a:t>
                      </a:r>
                    </a:p>
                  </a:txBody>
                  <a:tcPr>
                    <a:solidFill>
                      <a:srgbClr val="E2E6EA"/>
                    </a:solidFill>
                  </a:tcPr>
                </a:tc>
              </a:tr>
              <a:tr h="443484"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41414"/>
                          </a:solidFill>
                          <a:latin typeface="Malgun Gothic"/>
                        </a:rPr>
                        <a:t>연계 솔루션의 효율성을 고려하여 하나의 거래 도메인은 하나의 연계 솔루션( MCA, EAI, MFT, BPM 등) 중 하나의 공통화된 것을 원칙으로 한다.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</a:tr>
              <a:tr h="443484"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대내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MCI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41414"/>
                          </a:solidFill>
                          <a:latin typeface="Malgun Gothic"/>
                        </a:rPr>
                        <a:t>대내MCI는 내부채널 및 고객채널 시스템과 백엔드 시스템간의 온라인 인터페이스를 담당한다.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</a:tr>
              <a:tr h="443484"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대외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MCI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41414"/>
                          </a:solidFill>
                          <a:latin typeface="Malgun Gothic"/>
                        </a:rPr>
                        <a:t>대외MCI는 대외기관과 백엔드 시스템간의 온라인/배치 인터페이스를 담당한다.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</a:tr>
              <a:tr h="443484"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EAI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41414"/>
                          </a:solidFill>
                          <a:latin typeface="Malgun Gothic"/>
                        </a:rPr>
                        <a:t>EAI는 백엔드 시스템간의 인터페이스를 담당한다.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</a:tr>
              <a:tr h="443484"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EAI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41414"/>
                          </a:solidFill>
                          <a:latin typeface="Malgun Gothic"/>
                        </a:rPr>
                        <a:t>내부채널 및 고객채널 시스템과 백엔드 시스템간의 배치 인터페이스(File/DB)는 EAI가 담당한다.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</a:tr>
              <a:tr h="443484"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EAI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41414"/>
                          </a:solidFill>
                          <a:latin typeface="Malgun Gothic"/>
                        </a:rPr>
                        <a:t>백엔드 시스템에서 대외로 송신할 File은 대외MCI로 전송 시 MFT를 이용한다. 단 MFT Agent 미설치 시스템은 EAI와 SFTP를 이용한다.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</a:tr>
              <a:tr h="443484"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EAI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41414"/>
                          </a:solidFill>
                          <a:latin typeface="Malgun Gothic"/>
                        </a:rPr>
                        <a:t>시스템간 연계방식으로 DB-LINK는 허용하지 않는다.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</a:tr>
              <a:tr h="443484"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EAI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41414"/>
                          </a:solidFill>
                          <a:latin typeface="Malgun Gothic"/>
                        </a:rPr>
                        <a:t>통합단말과 ESSO 어플리케이션 구간은 직접 연계한다.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</a:tr>
              <a:tr h="443484"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예외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41414"/>
                          </a:solidFill>
                          <a:latin typeface="Malgun Gothic"/>
                        </a:rPr>
                        <a:t>워크플로우와 차세대포털시스템간은 업무서버-BPM서버 간 API방식으로 처리한다. (* 프로세스 처리의 업무서버는 BPM서버와 연계솔루션의 하나로 간주함)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</a:tr>
              <a:tr h="443484"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예외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41414"/>
                          </a:solidFill>
                          <a:latin typeface="Malgun Gothic"/>
                        </a:rPr>
                        <a:t>통합단말 솔루션 클라이언트가 통신되는 경우, 단말업무 솔루션 서버에서 직접 연계한다.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</a:tr>
              <a:tr h="443484"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141414"/>
                          </a:solidFill>
                          <a:latin typeface="Malgun Gothic"/>
                        </a:rPr>
                        <a:t>예외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DFE4E8"/>
                    </a:solidFill>
                  </a:tcPr>
                </a:tc>
                <a:tc>
                  <a:txBody>
                    <a:bodyPr lIns="13716" rIns="13716" tIns="4572" bIns="4572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41414"/>
                          </a:solidFill>
                          <a:latin typeface="Malgun Gothic"/>
                        </a:rPr>
                        <a:t>유지시스템은 AS-IS 연계방식을 사용할 수 있다.</a:t>
                      </a:r>
                    </a:p>
                  </a:txBody>
                  <a:tcPr>
                    <a:solidFill>
                      <a:srgbClr val="DFE4E8"/>
                    </a:solidFill>
                  </a:tcPr>
                </a:tc>
              </a:tr>
            </a:tbl>
          </a:graphicData>
        </a:graphic>
      </p:graphicFrame>
      <p:sp>
        <p:nvSpPr>
          <p:cNvPr id="124" name="Rectangle 123"/>
          <p:cNvSpPr/>
          <p:nvPr/>
        </p:nvSpPr>
        <p:spPr>
          <a:xfrm>
            <a:off x="7370064" y="1106424"/>
            <a:ext cx="4443984" cy="228600"/>
          </a:xfrm>
          <a:prstGeom prst="rect">
            <a:avLst/>
          </a:prstGeom>
          <a:solidFill>
            <a:srgbClr val="525458"/>
          </a:solidFill>
          <a:ln w="889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370064" y="1120140"/>
            <a:ext cx="4443984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9144" bIns="9144" anchor="ctr">
            <a:spAutoFit/>
          </a:bodyPr>
          <a:lstStyle/>
          <a:p>
            <a:pPr algn="ctr"/>
            <a:r>
              <a:rPr sz="860" b="1" i="0" u="none">
                <a:solidFill>
                  <a:srgbClr val="FFFFFF"/>
                </a:solidFill>
                <a:latin typeface="Malgun Gothic"/>
              </a:rPr>
              <a:t>기본 원칙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522208" y="2162556"/>
            <a:ext cx="201168" cy="201168"/>
          </a:xfrm>
          <a:prstGeom prst="rect">
            <a:avLst/>
          </a:prstGeom>
          <a:solidFill>
            <a:srgbClr val="505357"/>
          </a:solidFill>
          <a:ln w="8255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540496" y="2171699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50" b="1" i="0" u="none">
                <a:solidFill>
                  <a:srgbClr val="141414"/>
                </a:solidFill>
                <a:latin typeface="Malgun Gothic"/>
              </a:rPr>
              <a:t>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22208" y="2606039"/>
            <a:ext cx="201168" cy="201168"/>
          </a:xfrm>
          <a:prstGeom prst="rect">
            <a:avLst/>
          </a:prstGeom>
          <a:solidFill>
            <a:srgbClr val="505357"/>
          </a:solidFill>
          <a:ln w="8255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540496" y="2615183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50" b="1" i="0" u="none">
                <a:solidFill>
                  <a:srgbClr val="141414"/>
                </a:solidFill>
                <a:latin typeface="Malgun Gothic"/>
              </a:rPr>
              <a:t>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522208" y="3049524"/>
            <a:ext cx="201168" cy="201168"/>
          </a:xfrm>
          <a:prstGeom prst="rect">
            <a:avLst/>
          </a:prstGeom>
          <a:solidFill>
            <a:srgbClr val="505357"/>
          </a:solidFill>
          <a:ln w="8255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540496" y="3058668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50" b="1" i="0" u="none">
                <a:solidFill>
                  <a:srgbClr val="141414"/>
                </a:solidFill>
                <a:latin typeface="Malgun Gothic"/>
              </a:rPr>
              <a:t>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522208" y="3493008"/>
            <a:ext cx="201168" cy="201168"/>
          </a:xfrm>
          <a:prstGeom prst="rect">
            <a:avLst/>
          </a:prstGeom>
          <a:solidFill>
            <a:srgbClr val="505357"/>
          </a:solidFill>
          <a:ln w="8255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540496" y="3502151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50" b="1" i="0" u="none">
                <a:solidFill>
                  <a:srgbClr val="141414"/>
                </a:solidFill>
                <a:latin typeface="Malgun Gothic"/>
              </a:rPr>
              <a:t>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522208" y="3936491"/>
            <a:ext cx="201168" cy="201168"/>
          </a:xfrm>
          <a:prstGeom prst="rect">
            <a:avLst/>
          </a:prstGeom>
          <a:solidFill>
            <a:srgbClr val="505357"/>
          </a:solidFill>
          <a:ln w="8255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540496" y="3945635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50" b="1" i="0" u="none">
                <a:solidFill>
                  <a:srgbClr val="141414"/>
                </a:solidFill>
                <a:latin typeface="Malgun Gothic"/>
              </a:rPr>
              <a:t>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522208" y="4379976"/>
            <a:ext cx="201168" cy="201168"/>
          </a:xfrm>
          <a:prstGeom prst="rect">
            <a:avLst/>
          </a:prstGeom>
          <a:solidFill>
            <a:srgbClr val="505357"/>
          </a:solidFill>
          <a:ln w="8255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540496" y="438912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50" b="1" i="0" u="none">
                <a:solidFill>
                  <a:srgbClr val="141414"/>
                </a:solidFill>
                <a:latin typeface="Malgun Gothic"/>
              </a:rPr>
              <a:t>7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522208" y="4823459"/>
            <a:ext cx="201168" cy="201168"/>
          </a:xfrm>
          <a:prstGeom prst="rect">
            <a:avLst/>
          </a:prstGeom>
          <a:solidFill>
            <a:srgbClr val="505357"/>
          </a:solidFill>
          <a:ln w="8255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540496" y="4832603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50" b="1" i="0" u="none">
                <a:solidFill>
                  <a:srgbClr val="141414"/>
                </a:solidFill>
                <a:latin typeface="Malgun Gothic"/>
              </a:rPr>
              <a:t>8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522208" y="5266944"/>
            <a:ext cx="201168" cy="201168"/>
          </a:xfrm>
          <a:prstGeom prst="rect">
            <a:avLst/>
          </a:prstGeom>
          <a:solidFill>
            <a:srgbClr val="505357"/>
          </a:solidFill>
          <a:ln w="8255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540496" y="5276088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50" b="1" i="0" u="none">
                <a:solidFill>
                  <a:srgbClr val="141414"/>
                </a:solidFill>
                <a:latin typeface="Malgun Gothic"/>
              </a:rPr>
              <a:t>9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522208" y="5710428"/>
            <a:ext cx="201168" cy="201168"/>
          </a:xfrm>
          <a:prstGeom prst="rect">
            <a:avLst/>
          </a:prstGeom>
          <a:solidFill>
            <a:srgbClr val="505357"/>
          </a:solidFill>
          <a:ln w="8255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540496" y="571957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50" b="1" i="0" u="none">
                <a:solidFill>
                  <a:srgbClr val="141414"/>
                </a:solidFill>
                <a:latin typeface="Malgun Gothic"/>
              </a:rPr>
              <a:t>10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522208" y="6153912"/>
            <a:ext cx="201168" cy="201168"/>
          </a:xfrm>
          <a:prstGeom prst="rect">
            <a:avLst/>
          </a:prstGeom>
          <a:solidFill>
            <a:srgbClr val="505357"/>
          </a:solidFill>
          <a:ln w="8255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540496" y="6163055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650" b="1" i="0" u="none">
                <a:solidFill>
                  <a:srgbClr val="141414"/>
                </a:solidFill>
                <a:latin typeface="Malgun Gothic"/>
              </a:rPr>
              <a:t>11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274320" y="6647688"/>
            <a:ext cx="11539728" cy="0"/>
          </a:xfrm>
          <a:prstGeom prst="line">
            <a:avLst/>
          </a:prstGeom>
          <a:ln w="8255">
            <a:solidFill>
              <a:srgbClr val="3E41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35C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5B6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64592"/>
            <a:ext cx="11704320" cy="6419088"/>
          </a:xfrm>
          <a:prstGeom prst="rect">
            <a:avLst/>
          </a:prstGeom>
          <a:solidFill>
            <a:srgbClr val="6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29184" y="283464"/>
            <a:ext cx="11329416" cy="0"/>
          </a:xfrm>
          <a:prstGeom prst="line">
            <a:avLst/>
          </a:prstGeom>
          <a:ln w="10795">
            <a:solidFill>
              <a:srgbClr val="2427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" y="6601968"/>
            <a:ext cx="11338560" cy="0"/>
          </a:xfrm>
          <a:prstGeom prst="line">
            <a:avLst/>
          </a:prstGeom>
          <a:ln w="6350">
            <a:solidFill>
              <a:srgbClr val="373C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21207" y="502920"/>
            <a:ext cx="4983480" cy="310896"/>
          </a:xfrm>
          <a:prstGeom prst="rect">
            <a:avLst/>
          </a:prstGeom>
          <a:solidFill>
            <a:srgbClr val="3A3D41"/>
          </a:solidFill>
          <a:ln w="6350">
            <a:solidFill>
              <a:srgbClr val="2D3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30352"/>
            <a:ext cx="3611880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780" b="1" i="0">
                <a:solidFill>
                  <a:srgbClr val="050505"/>
                </a:solidFill>
                <a:latin typeface="Malgun Gothic"/>
              </a:rPr>
              <a:t>1.  인터페이스 기본정책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4183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700" b="1" i="0">
                <a:solidFill>
                  <a:srgbClr val="080808"/>
                </a:solidFill>
                <a:latin typeface="Malgun Gothic"/>
              </a:rPr>
              <a:t>1.1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4416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700" b="1" i="0">
                <a:solidFill>
                  <a:srgbClr val="080808"/>
                </a:solidFill>
                <a:latin typeface="Malgun Gothic"/>
              </a:rPr>
              <a:t>1.2 원칙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746504"/>
            <a:ext cx="4370832" cy="329184"/>
          </a:xfrm>
          <a:prstGeom prst="rect">
            <a:avLst/>
          </a:prstGeom>
          <a:solidFill>
            <a:srgbClr val="91999F"/>
          </a:solidFill>
          <a:ln w="5080">
            <a:solidFill>
              <a:srgbClr val="6E7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73936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689" b="1" i="0">
                <a:solidFill>
                  <a:srgbClr val="080808"/>
                </a:solidFill>
                <a:latin typeface="Malgun Gothic"/>
              </a:rPr>
              <a:t>1.3 설계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762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689" b="1" i="0">
                <a:solidFill>
                  <a:srgbClr val="080808"/>
                </a:solidFill>
                <a:latin typeface="Malgun Gothic"/>
              </a:rPr>
              <a:t>1.4 예외 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61488"/>
            <a:ext cx="393192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670" b="1" i="0">
                <a:solidFill>
                  <a:srgbClr val="080808"/>
                </a:solidFill>
                <a:latin typeface="Malgun Gothic"/>
              </a:rPr>
              <a:t>2.  연계 아키텍처 구성도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172968"/>
            <a:ext cx="420624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590" b="1" i="0">
                <a:solidFill>
                  <a:srgbClr val="080808"/>
                </a:solidFill>
                <a:latin typeface="Malgun Gothic"/>
              </a:rPr>
              <a:t>2.1 시스템인터페이스 대상 및 상세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1129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590" b="1" i="0">
                <a:solidFill>
                  <a:srgbClr val="080808"/>
                </a:solidFill>
                <a:latin typeface="Malgun Gothic"/>
              </a:rPr>
              <a:t>범위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61104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670" b="1" i="0">
                <a:solidFill>
                  <a:srgbClr val="080808"/>
                </a:solidFill>
                <a:latin typeface="Malgun Gothic"/>
              </a:rPr>
              <a:t>3.  연계 표준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4654296"/>
            <a:ext cx="329184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590" b="1" i="0">
                <a:solidFill>
                  <a:srgbClr val="080808"/>
                </a:solidFill>
                <a:latin typeface="Malgun Gothic"/>
              </a:rPr>
              <a:t>3.1 표준전문 레이아웃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5020056"/>
            <a:ext cx="338328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590" b="1" i="0">
                <a:solidFill>
                  <a:srgbClr val="080808"/>
                </a:solidFill>
                <a:latin typeface="Malgun Gothic"/>
              </a:rPr>
              <a:t>3.2 인터페이스 ID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670" b="1" i="0">
                <a:solidFill>
                  <a:srgbClr val="080808"/>
                </a:solidFill>
                <a:latin typeface="Malgun Gothic"/>
              </a:rPr>
              <a:t>4.  유형별 인터페이스 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606247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590" b="1" i="0">
                <a:solidFill>
                  <a:srgbClr val="080808"/>
                </a:solidFill>
                <a:latin typeface="Malgun Gothic"/>
              </a:rPr>
              <a:t>4.1 인터페이스 유형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6272784"/>
            <a:ext cx="2926080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570" b="1" i="0">
                <a:solidFill>
                  <a:srgbClr val="080808"/>
                </a:solidFill>
                <a:latin typeface="Malgun Gothic"/>
              </a:rPr>
              <a:t>4.2 거래처리 패턴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0992" y="521207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750" b="1" i="0">
                <a:solidFill>
                  <a:srgbClr val="050505"/>
                </a:solidFill>
                <a:latin typeface="Malgun Gothic"/>
              </a:rPr>
              <a:t>5.  로그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978408"/>
            <a:ext cx="274320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660" b="1" i="0">
                <a:solidFill>
                  <a:srgbClr val="050505"/>
                </a:solidFill>
                <a:latin typeface="Malgun Gothic"/>
              </a:rPr>
              <a:t>5.1 로그 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1389888"/>
            <a:ext cx="274320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660" b="1" i="0">
                <a:solidFill>
                  <a:srgbClr val="050505"/>
                </a:solidFill>
                <a:latin typeface="Malgun Gothic"/>
              </a:rPr>
              <a:t>5.2 로그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1792224"/>
            <a:ext cx="365760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660" b="1" i="0">
                <a:solidFill>
                  <a:srgbClr val="050505"/>
                </a:solidFill>
                <a:latin typeface="Malgun Gothic"/>
              </a:rPr>
              <a:t>5.3 로그 관리 정책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2532888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750" b="1" i="0">
                <a:solidFill>
                  <a:srgbClr val="050505"/>
                </a:solidFill>
                <a:latin typeface="Malgun Gothic"/>
              </a:rPr>
              <a:t>6.  연계 아키텍처 관리체계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2962656"/>
            <a:ext cx="329184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660" b="1" i="0">
                <a:solidFill>
                  <a:srgbClr val="050505"/>
                </a:solidFill>
                <a:latin typeface="Malgun Gothic"/>
              </a:rPr>
              <a:t>6.1 개발 프로세스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1616" y="3374136"/>
            <a:ext cx="3291840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660" b="1" i="0">
                <a:solidFill>
                  <a:srgbClr val="050505"/>
                </a:solidFill>
                <a:latin typeface="Malgun Gothic"/>
              </a:rPr>
              <a:t>6.2 표준전문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21305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3657" bIns="3657" anchor="ctr">
            <a:spAutoFit/>
          </a:bodyPr>
          <a:lstStyle/>
          <a:p>
            <a:pPr algn="l"/>
            <a:r>
              <a:rPr sz="1400" b="0" i="1">
                <a:solidFill>
                  <a:srgbClr val="50555A"/>
                </a:solidFill>
                <a:latin typeface="Malgun Gothic"/>
              </a:rPr>
              <a:t>시스템 운영 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D6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CE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11841480" cy="6583680"/>
          </a:xfrm>
          <a:prstGeom prst="rect">
            <a:avLst/>
          </a:prstGeom>
          <a:solidFill>
            <a:srgbClr val="DB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19456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4171A"/>
                </a:solidFill>
                <a:latin typeface="Malgun Gothic"/>
              </a:rPr>
              <a:t>1.3.1 온라인 연계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46304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14171A"/>
                </a:solidFill>
                <a:latin typeface="Malgun Gothic"/>
              </a:rPr>
              <a:t>1. 인터페이스 기본정책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35661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14171A"/>
                </a:solidFill>
                <a:latin typeface="Malgun Gothic"/>
              </a:rPr>
              <a:t>1.3 설계기준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676656"/>
            <a:ext cx="11384280" cy="0"/>
          </a:xfrm>
          <a:prstGeom prst="line">
            <a:avLst/>
          </a:prstGeom>
          <a:ln w="10160">
            <a:solidFill>
              <a:srgbClr val="464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7472" y="832104"/>
            <a:ext cx="82296" cy="82296"/>
          </a:xfrm>
          <a:prstGeom prst="rect">
            <a:avLst/>
          </a:prstGeom>
          <a:noFill/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86384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890" b="1" i="0">
                <a:solidFill>
                  <a:srgbClr val="14171A"/>
                </a:solidFill>
                <a:latin typeface="Malgun Gothic"/>
              </a:rPr>
              <a:t>내부 시스템간 온라인 인터페이스 프로토콜은 HTTP를 기준으로 정의하며, 구간별 상세를 정의함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" y="1143000"/>
            <a:ext cx="11475720" cy="5193792"/>
          </a:xfrm>
          <a:prstGeom prst="rect">
            <a:avLst/>
          </a:prstGeom>
          <a:solidFill>
            <a:srgbClr val="E0E5E9"/>
          </a:solidFill>
          <a:ln w="10160">
            <a:solidFill>
              <a:srgbClr val="32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61872"/>
            <a:ext cx="2148840" cy="265176"/>
          </a:xfrm>
          <a:prstGeom prst="rect">
            <a:avLst/>
          </a:prstGeom>
          <a:solidFill>
            <a:srgbClr val="35393F"/>
          </a:solidFill>
          <a:ln w="508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F5F5F5"/>
                </a:solidFill>
                <a:latin typeface="Malgun Gothic"/>
              </a:rPr>
              <a:t>채널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8064" y="1261872"/>
            <a:ext cx="1581912" cy="265176"/>
          </a:xfrm>
          <a:prstGeom prst="rect">
            <a:avLst/>
          </a:prstGeom>
          <a:solidFill>
            <a:srgbClr val="35393F"/>
          </a:solidFill>
          <a:ln w="508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4" y="1280160"/>
            <a:ext cx="1581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F5F5F5"/>
                </a:solidFill>
                <a:latin typeface="Malgun Gothic"/>
              </a:rPr>
              <a:t>내부 채널통합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261872"/>
            <a:ext cx="4233672" cy="265176"/>
          </a:xfrm>
          <a:prstGeom prst="rect">
            <a:avLst/>
          </a:prstGeom>
          <a:solidFill>
            <a:srgbClr val="35393F"/>
          </a:solidFill>
          <a:ln w="508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280160"/>
            <a:ext cx="42336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F5F5F5"/>
                </a:solidFill>
                <a:latin typeface="Malgun Gothic"/>
              </a:rPr>
              <a:t>내부 시스템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61872"/>
            <a:ext cx="1463040" cy="265176"/>
          </a:xfrm>
          <a:prstGeom prst="rect">
            <a:avLst/>
          </a:prstGeom>
          <a:solidFill>
            <a:srgbClr val="35393F"/>
          </a:solidFill>
          <a:ln w="508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28016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F5F5F5"/>
                </a:solidFill>
                <a:latin typeface="Malgun Gothic"/>
              </a:rPr>
              <a:t>내부 인터페이스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3904487"/>
            <a:ext cx="1463040" cy="265176"/>
          </a:xfrm>
          <a:prstGeom prst="rect">
            <a:avLst/>
          </a:prstGeom>
          <a:solidFill>
            <a:srgbClr val="35393F"/>
          </a:solidFill>
          <a:ln w="508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392277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F5F5F5"/>
                </a:solidFill>
                <a:latin typeface="Malgun Gothic"/>
              </a:rPr>
              <a:t>대외 채널통합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7480" y="1554480"/>
            <a:ext cx="0" cy="4590288"/>
          </a:xfrm>
          <a:prstGeom prst="line">
            <a:avLst/>
          </a:prstGeom>
          <a:ln w="6985">
            <a:solidFill>
              <a:srgbClr val="60666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80560" y="1554480"/>
            <a:ext cx="0" cy="4590288"/>
          </a:xfrm>
          <a:prstGeom prst="line">
            <a:avLst/>
          </a:prstGeom>
          <a:ln w="6985">
            <a:solidFill>
              <a:srgbClr val="60666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88552" y="1554480"/>
            <a:ext cx="0" cy="4590288"/>
          </a:xfrm>
          <a:prstGeom prst="line">
            <a:avLst/>
          </a:prstGeom>
          <a:ln w="6985">
            <a:solidFill>
              <a:srgbClr val="60666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771632" y="1554480"/>
            <a:ext cx="0" cy="4590288"/>
          </a:xfrm>
          <a:prstGeom prst="line">
            <a:avLst/>
          </a:prstGeom>
          <a:ln w="6985">
            <a:solidFill>
              <a:srgbClr val="60666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77440" y="2057400"/>
            <a:ext cx="548640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24528" y="2057400"/>
            <a:ext cx="438912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759952" y="2057400"/>
            <a:ext cx="429768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77440" y="2926080"/>
            <a:ext cx="548640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224528" y="2926080"/>
            <a:ext cx="438912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759952" y="2926080"/>
            <a:ext cx="429768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77440" y="3794760"/>
            <a:ext cx="548640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24528" y="3794760"/>
            <a:ext cx="438912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59952" y="3794760"/>
            <a:ext cx="429768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77440" y="4617720"/>
            <a:ext cx="548640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24528" y="4617720"/>
            <a:ext cx="438912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59952" y="4617720"/>
            <a:ext cx="429768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77440" y="5440680"/>
            <a:ext cx="548640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224528" y="5440680"/>
            <a:ext cx="438912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59952" y="5440680"/>
            <a:ext cx="429768" cy="0"/>
          </a:xfrm>
          <a:prstGeom prst="line">
            <a:avLst/>
          </a:prstGeom>
          <a:ln w="6985">
            <a:solidFill>
              <a:srgbClr val="4B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1572768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80" b="1" i="0">
                <a:solidFill>
                  <a:srgbClr val="14171A"/>
                </a:solidFill>
                <a:latin typeface="Malgun Gothic"/>
              </a:rPr>
              <a:t>(채널/업무)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1783080"/>
            <a:ext cx="1143000" cy="329184"/>
          </a:xfrm>
          <a:prstGeom prst="rect">
            <a:avLst/>
          </a:prstGeom>
          <a:solidFill>
            <a:srgbClr val="EBEFF2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1792224"/>
            <a:ext cx="11247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70" b="0" i="0">
                <a:solidFill>
                  <a:srgbClr val="14171A"/>
                </a:solidFill>
                <a:latin typeface="Malgun Gothic"/>
              </a:rPr>
              <a:t>인터넷뱅킹
모바일뱅킹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1952" y="1847088"/>
            <a:ext cx="347472" cy="146304"/>
          </a:xfrm>
          <a:prstGeom prst="rect">
            <a:avLst/>
          </a:prstGeom>
          <a:solidFill>
            <a:srgbClr val="E6E9EC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11095" y="1856231"/>
            <a:ext cx="329184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HTTP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2276856"/>
            <a:ext cx="1143000" cy="329184"/>
          </a:xfrm>
          <a:prstGeom prst="rect">
            <a:avLst/>
          </a:prstGeom>
          <a:solidFill>
            <a:srgbClr val="EBEFF2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2286000"/>
            <a:ext cx="11247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70" b="0" i="0">
                <a:solidFill>
                  <a:srgbClr val="14171A"/>
                </a:solidFill>
                <a:latin typeface="Malgun Gothic"/>
              </a:rPr>
              <a:t>단위 단말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01952" y="2340864"/>
            <a:ext cx="347472" cy="146304"/>
          </a:xfrm>
          <a:prstGeom prst="rect">
            <a:avLst/>
          </a:prstGeom>
          <a:solidFill>
            <a:srgbClr val="E6E9EC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11095" y="2350008"/>
            <a:ext cx="329184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TCP/IP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2770632"/>
            <a:ext cx="1143000" cy="329184"/>
          </a:xfrm>
          <a:prstGeom prst="rect">
            <a:avLst/>
          </a:prstGeom>
          <a:solidFill>
            <a:srgbClr val="EBEFF2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2779776"/>
            <a:ext cx="11247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70" b="0" i="0">
                <a:solidFill>
                  <a:srgbClr val="14171A"/>
                </a:solidFill>
                <a:latin typeface="Malgun Gothic"/>
              </a:rPr>
              <a:t>스마트뱅킹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01952" y="2834640"/>
            <a:ext cx="347472" cy="146304"/>
          </a:xfrm>
          <a:prstGeom prst="rect">
            <a:avLst/>
          </a:prstGeom>
          <a:solidFill>
            <a:srgbClr val="E6E9EC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11095" y="2843784"/>
            <a:ext cx="329184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TCP/IP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264408"/>
            <a:ext cx="1143000" cy="329184"/>
          </a:xfrm>
          <a:prstGeom prst="rect">
            <a:avLst/>
          </a:prstGeom>
          <a:solidFill>
            <a:srgbClr val="EBEFF2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3273552"/>
            <a:ext cx="11247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70" b="0" i="0">
                <a:solidFill>
                  <a:srgbClr val="14171A"/>
                </a:solidFill>
                <a:latin typeface="Malgun Gothic"/>
              </a:rPr>
              <a:t>통합 단말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01952" y="3328416"/>
            <a:ext cx="347472" cy="146304"/>
          </a:xfrm>
          <a:prstGeom prst="rect">
            <a:avLst/>
          </a:prstGeom>
          <a:solidFill>
            <a:srgbClr val="E6E9EC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1095" y="3337560"/>
            <a:ext cx="329184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TCP/IP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3758184"/>
            <a:ext cx="1143000" cy="329184"/>
          </a:xfrm>
          <a:prstGeom prst="rect">
            <a:avLst/>
          </a:prstGeom>
          <a:solidFill>
            <a:srgbClr val="EBEFF2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" y="3767328"/>
            <a:ext cx="11247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70" b="0" i="0">
                <a:solidFill>
                  <a:srgbClr val="14171A"/>
                </a:solidFill>
                <a:latin typeface="Malgun Gothic"/>
              </a:rPr>
              <a:t>Pioneer Bank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01952" y="3822192"/>
            <a:ext cx="347472" cy="146304"/>
          </a:xfrm>
          <a:prstGeom prst="rect">
            <a:avLst/>
          </a:prstGeom>
          <a:solidFill>
            <a:srgbClr val="E6E9EC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11095" y="3831336"/>
            <a:ext cx="329184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TCP/IP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4251960"/>
            <a:ext cx="1143000" cy="329184"/>
          </a:xfrm>
          <a:prstGeom prst="rect">
            <a:avLst/>
          </a:prstGeom>
          <a:solidFill>
            <a:srgbClr val="EBEFF2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" y="4261104"/>
            <a:ext cx="11247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70" b="0" i="0">
                <a:solidFill>
                  <a:srgbClr val="14171A"/>
                </a:solidFill>
                <a:latin typeface="Malgun Gothic"/>
              </a:rPr>
              <a:t>내부 포털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01952" y="4315968"/>
            <a:ext cx="347472" cy="146304"/>
          </a:xfrm>
          <a:prstGeom prst="rect">
            <a:avLst/>
          </a:prstGeom>
          <a:solidFill>
            <a:srgbClr val="E6E9EC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11095" y="4325112"/>
            <a:ext cx="329184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HTTP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4745736"/>
            <a:ext cx="1143000" cy="329184"/>
          </a:xfrm>
          <a:prstGeom prst="rect">
            <a:avLst/>
          </a:prstGeom>
          <a:solidFill>
            <a:srgbClr val="EBEFF2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" y="4754880"/>
            <a:ext cx="11247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70" b="0" i="0">
                <a:solidFill>
                  <a:srgbClr val="14171A"/>
                </a:solidFill>
                <a:latin typeface="Malgun Gothic"/>
              </a:rPr>
              <a:t>IBOS 통합단말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01952" y="4809744"/>
            <a:ext cx="347472" cy="146304"/>
          </a:xfrm>
          <a:prstGeom prst="rect">
            <a:avLst/>
          </a:prstGeom>
          <a:solidFill>
            <a:srgbClr val="E6E9EC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11095" y="4818888"/>
            <a:ext cx="329184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TCP/IP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9512"/>
            <a:ext cx="1143000" cy="329184"/>
          </a:xfrm>
          <a:prstGeom prst="rect">
            <a:avLst/>
          </a:prstGeom>
          <a:solidFill>
            <a:srgbClr val="EBEFF2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" y="5248656"/>
            <a:ext cx="112471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70" b="0" i="0">
                <a:solidFill>
                  <a:srgbClr val="14171A"/>
                </a:solidFill>
                <a:latin typeface="Malgun Gothic"/>
              </a:rPr>
              <a:t>Web Browser
(접속 페이지)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01952" y="5303520"/>
            <a:ext cx="347472" cy="146304"/>
          </a:xfrm>
          <a:prstGeom prst="rect">
            <a:avLst/>
          </a:prstGeom>
          <a:solidFill>
            <a:srgbClr val="E6E9EC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11095" y="5312664"/>
            <a:ext cx="329184" cy="12801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HTTP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6" y="5833872"/>
            <a:ext cx="16916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40" b="0" i="0">
                <a:solidFill>
                  <a:srgbClr val="505050"/>
                </a:solidFill>
                <a:latin typeface="Malgun Gothic"/>
              </a:rPr>
              <a:t>※ 세부 채널명 일부 판독 어려움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99232" y="1627632"/>
            <a:ext cx="1097280" cy="4434840"/>
          </a:xfrm>
          <a:prstGeom prst="rect">
            <a:avLst/>
          </a:prstGeom>
          <a:solidFill>
            <a:srgbClr val="DAE1E6"/>
          </a:solidFill>
          <a:ln w="10160">
            <a:solidFill>
              <a:srgbClr val="46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72384" y="1764792"/>
            <a:ext cx="9509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14171A"/>
                </a:solidFill>
                <a:latin typeface="Malgun Gothic"/>
              </a:rPr>
              <a:t>대내MCI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92424" y="3218688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14171A"/>
                </a:solidFill>
                <a:latin typeface="Malgun Gothic"/>
              </a:rPr>
              <a:t>MCI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27248" y="2240280"/>
            <a:ext cx="822960" cy="219456"/>
          </a:xfrm>
          <a:prstGeom prst="rect">
            <a:avLst/>
          </a:prstGeom>
          <a:solidFill>
            <a:srgbClr val="EFF3F6"/>
          </a:solidFill>
          <a:ln w="5080">
            <a:solidFill>
              <a:srgbClr val="64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127248" y="2944368"/>
            <a:ext cx="822960" cy="219456"/>
          </a:xfrm>
          <a:prstGeom prst="rect">
            <a:avLst/>
          </a:prstGeom>
          <a:solidFill>
            <a:srgbClr val="EFF3F6"/>
          </a:solidFill>
          <a:ln w="5080">
            <a:solidFill>
              <a:srgbClr val="64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127248" y="3694176"/>
            <a:ext cx="822960" cy="219456"/>
          </a:xfrm>
          <a:prstGeom prst="rect">
            <a:avLst/>
          </a:prstGeom>
          <a:solidFill>
            <a:srgbClr val="EFF3F6"/>
          </a:solidFill>
          <a:ln w="5080">
            <a:solidFill>
              <a:srgbClr val="64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127248" y="4480560"/>
            <a:ext cx="822960" cy="219456"/>
          </a:xfrm>
          <a:prstGeom prst="rect">
            <a:avLst/>
          </a:prstGeom>
          <a:solidFill>
            <a:srgbClr val="EFF3F6"/>
          </a:solidFill>
          <a:ln w="5080">
            <a:solidFill>
              <a:srgbClr val="64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127248" y="5212080"/>
            <a:ext cx="822960" cy="219456"/>
          </a:xfrm>
          <a:prstGeom prst="rect">
            <a:avLst/>
          </a:prstGeom>
          <a:solidFill>
            <a:srgbClr val="EFF3F6"/>
          </a:solidFill>
          <a:ln w="5080">
            <a:solidFill>
              <a:srgbClr val="646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773168" y="1682496"/>
            <a:ext cx="3822191" cy="4370832"/>
          </a:xfrm>
          <a:prstGeom prst="rect">
            <a:avLst/>
          </a:prstGeom>
          <a:solidFill>
            <a:srgbClr val="D8DEE3"/>
          </a:solidFill>
          <a:ln w="9525">
            <a:solidFill>
              <a:srgbClr val="46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29200" y="1810512"/>
            <a:ext cx="3063240" cy="1280160"/>
          </a:xfrm>
          <a:prstGeom prst="rect">
            <a:avLst/>
          </a:prstGeom>
          <a:solidFill>
            <a:srgbClr val="E5EAEE"/>
          </a:solidFill>
          <a:ln w="6985">
            <a:solidFill>
              <a:srgbClr val="505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63056" y="1847088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10" b="1" i="0">
                <a:solidFill>
                  <a:srgbClr val="14171A"/>
                </a:solidFill>
                <a:latin typeface="Malgun Gothic"/>
              </a:rPr>
              <a:t>계정계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30368" y="2139696"/>
            <a:ext cx="74980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39512" y="2148839"/>
            <a:ext cx="731519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고객상담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72200" y="2139696"/>
            <a:ext cx="74980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81344" y="2148839"/>
            <a:ext cx="731519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자금공통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14032" y="2139696"/>
            <a:ext cx="74980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23176" y="2148839"/>
            <a:ext cx="731519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국외점포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30368" y="2478024"/>
            <a:ext cx="74980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39512" y="2487168"/>
            <a:ext cx="731519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채널관리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72200" y="2478024"/>
            <a:ext cx="74980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81344" y="2487168"/>
            <a:ext cx="731519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자금운용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14032" y="2478024"/>
            <a:ext cx="74980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23176" y="2487168"/>
            <a:ext cx="731519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재무회계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30368" y="2816352"/>
            <a:ext cx="74980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39512" y="2825496"/>
            <a:ext cx="731519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자료조회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72200" y="2816352"/>
            <a:ext cx="74980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81344" y="2825496"/>
            <a:ext cx="731519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자금공급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29200" y="3419856"/>
            <a:ext cx="3063240" cy="640080"/>
          </a:xfrm>
          <a:prstGeom prst="rect">
            <a:avLst/>
          </a:prstGeom>
          <a:solidFill>
            <a:srgbClr val="E5EAEE"/>
          </a:solidFill>
          <a:ln w="6985">
            <a:solidFill>
              <a:srgbClr val="505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72200" y="3456432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10" b="1" i="0">
                <a:solidFill>
                  <a:srgbClr val="14171A"/>
                </a:solidFill>
                <a:latin typeface="Malgun Gothic"/>
              </a:rPr>
              <a:t>정보계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303520" y="3721608"/>
            <a:ext cx="1051560" cy="210312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12664" y="3730752"/>
            <a:ext cx="1033271" cy="19202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610" b="0" i="0">
                <a:solidFill>
                  <a:srgbClr val="14171A"/>
                </a:solidFill>
                <a:latin typeface="Malgun Gothic"/>
              </a:rPr>
              <a:t>정보분석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92240" y="3721608"/>
            <a:ext cx="1051560" cy="210312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01383" y="3730752"/>
            <a:ext cx="1033271" cy="19202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610" b="0" i="0">
                <a:solidFill>
                  <a:srgbClr val="14171A"/>
                </a:solidFill>
                <a:latin typeface="Malgun Gothic"/>
              </a:rPr>
              <a:t>리스크 관리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029200" y="4343400"/>
            <a:ext cx="3063240" cy="640080"/>
          </a:xfrm>
          <a:prstGeom prst="rect">
            <a:avLst/>
          </a:prstGeom>
          <a:solidFill>
            <a:srgbClr val="E5EAEE"/>
          </a:solidFill>
          <a:ln w="6985">
            <a:solidFill>
              <a:srgbClr val="505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52744" y="4379976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660" b="1" i="0">
                <a:solidFill>
                  <a:srgbClr val="14171A"/>
                </a:solidFill>
                <a:latin typeface="Malgun Gothic"/>
              </a:rPr>
              <a:t>판매지원 및 통합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84648" y="4663440"/>
            <a:ext cx="84124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193792" y="4672583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전행지원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44768" y="4663440"/>
            <a:ext cx="84124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53912" y="4672583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IT지원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04888" y="4663440"/>
            <a:ext cx="84124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14031" y="4672583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컴플라이언스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0" y="5257800"/>
            <a:ext cx="3063240" cy="566928"/>
          </a:xfrm>
          <a:prstGeom prst="rect">
            <a:avLst/>
          </a:prstGeom>
          <a:solidFill>
            <a:srgbClr val="E5EAEE"/>
          </a:solidFill>
          <a:ln w="6985">
            <a:solidFill>
              <a:srgbClr val="505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36208" y="5294376"/>
            <a:ext cx="73152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660" b="1" i="0">
                <a:solidFill>
                  <a:srgbClr val="14171A"/>
                </a:solidFill>
                <a:latin typeface="Malgun Gothic"/>
              </a:rPr>
              <a:t>IT 인프라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184648" y="5577840"/>
            <a:ext cx="84124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193792" y="5586983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IT인프라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44768" y="5577840"/>
            <a:ext cx="84124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153912" y="5586983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DW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04888" y="5577840"/>
            <a:ext cx="841248" cy="201168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14031" y="5586983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90" b="0" i="0">
                <a:solidFill>
                  <a:srgbClr val="14171A"/>
                </a:solidFill>
                <a:latin typeface="Malgun Gothic"/>
              </a:rPr>
              <a:t>IT운영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354312" y="1627632"/>
            <a:ext cx="1024128" cy="914400"/>
          </a:xfrm>
          <a:prstGeom prst="rect">
            <a:avLst/>
          </a:prstGeom>
          <a:solidFill>
            <a:srgbClr val="E2E7EB"/>
          </a:solidFill>
          <a:ln w="8255">
            <a:solidFill>
              <a:srgbClr val="46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582912" y="1737360"/>
            <a:ext cx="5303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30" b="1" i="0">
                <a:solidFill>
                  <a:srgbClr val="14171A"/>
                </a:solidFill>
                <a:latin typeface="Malgun Gothic"/>
              </a:rPr>
              <a:t>EAI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491472" y="2029968"/>
            <a:ext cx="713232" cy="164592"/>
          </a:xfrm>
          <a:prstGeom prst="rect">
            <a:avLst/>
          </a:prstGeom>
          <a:solidFill>
            <a:srgbClr val="EFF3F6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00616" y="2039112"/>
            <a:ext cx="694944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80" b="0" i="0">
                <a:solidFill>
                  <a:srgbClr val="14171A"/>
                </a:solidFill>
                <a:latin typeface="Malgun Gothic"/>
              </a:rPr>
              <a:t>내부IF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491472" y="2276856"/>
            <a:ext cx="713232" cy="164592"/>
          </a:xfrm>
          <a:prstGeom prst="rect">
            <a:avLst/>
          </a:prstGeom>
          <a:solidFill>
            <a:srgbClr val="EFF3F6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500616" y="2286000"/>
            <a:ext cx="694944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80" b="0" i="0">
                <a:solidFill>
                  <a:srgbClr val="14171A"/>
                </a:solidFill>
                <a:latin typeface="Malgun Gothic"/>
              </a:rPr>
              <a:t>Adapter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354312" y="4224528"/>
            <a:ext cx="1024128" cy="475488"/>
          </a:xfrm>
          <a:prstGeom prst="rect">
            <a:avLst/>
          </a:prstGeom>
          <a:solidFill>
            <a:srgbClr val="E2E7EB"/>
          </a:solidFill>
          <a:ln w="8255">
            <a:solidFill>
              <a:srgbClr val="46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537192" y="436168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640" b="1" i="0">
                <a:solidFill>
                  <a:srgbClr val="14171A"/>
                </a:solidFill>
                <a:latin typeface="Malgun Gothic"/>
              </a:rPr>
              <a:t>대외MCI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176272" y="1682496"/>
            <a:ext cx="164592" cy="164592"/>
          </a:xfrm>
          <a:prstGeom prst="rect">
            <a:avLst/>
          </a:prstGeom>
          <a:solidFill>
            <a:srgbClr val="373C41"/>
          </a:solidFill>
          <a:ln w="3810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176272" y="1682496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40" b="1" i="0">
                <a:solidFill>
                  <a:srgbClr val="F5F5F5"/>
                </a:solidFill>
                <a:latin typeface="Malgun Gothic"/>
              </a:rP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70632" y="1572768"/>
            <a:ext cx="164592" cy="164592"/>
          </a:xfrm>
          <a:prstGeom prst="rect">
            <a:avLst/>
          </a:prstGeom>
          <a:solidFill>
            <a:srgbClr val="373C41"/>
          </a:solidFill>
          <a:ln w="3810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770632" y="157276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40" b="1" i="0">
                <a:solidFill>
                  <a:srgbClr val="F5F5F5"/>
                </a:solidFill>
                <a:latin typeface="Malgun Gothic"/>
              </a:rPr>
              <a:t>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070848" y="1581912"/>
            <a:ext cx="164592" cy="164592"/>
          </a:xfrm>
          <a:prstGeom prst="rect">
            <a:avLst/>
          </a:prstGeom>
          <a:solidFill>
            <a:srgbClr val="373C41"/>
          </a:solidFill>
          <a:ln w="3810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070848" y="158191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40" b="1" i="0">
                <a:solidFill>
                  <a:srgbClr val="F5F5F5"/>
                </a:solidFill>
                <a:latin typeface="Malgun Gothic"/>
              </a:rPr>
              <a:t>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079992" y="4059936"/>
            <a:ext cx="164592" cy="164592"/>
          </a:xfrm>
          <a:prstGeom prst="rect">
            <a:avLst/>
          </a:prstGeom>
          <a:solidFill>
            <a:srgbClr val="373C41"/>
          </a:solidFill>
          <a:ln w="3810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079992" y="4059936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40" b="1" i="0">
                <a:solidFill>
                  <a:srgbClr val="F5F5F5"/>
                </a:solidFill>
                <a:latin typeface="Malgun Gothic"/>
              </a:rP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8328" y="6428232"/>
            <a:ext cx="9144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20" b="0" i="0">
                <a:solidFill>
                  <a:srgbClr val="373737"/>
                </a:solidFill>
                <a:latin typeface="Malgun Gothic"/>
              </a:rPr>
              <a:t>KDB산업은행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989320" y="6428232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20" b="0" i="0">
                <a:solidFill>
                  <a:srgbClr val="373737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D6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CE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11841480" cy="6583680"/>
          </a:xfrm>
          <a:prstGeom prst="rect">
            <a:avLst/>
          </a:prstGeom>
          <a:solidFill>
            <a:srgbClr val="DB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19456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4171A"/>
                </a:solidFill>
                <a:latin typeface="Malgun Gothic"/>
              </a:rPr>
              <a:t>1.3.1 온라인 연계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46304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14171A"/>
                </a:solidFill>
                <a:latin typeface="Malgun Gothic"/>
              </a:rPr>
              <a:t>1. 인터페이스 기본정책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35661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14171A"/>
                </a:solidFill>
                <a:latin typeface="Malgun Gothic"/>
              </a:rPr>
              <a:t>1.3 설계기준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676656"/>
            <a:ext cx="11384280" cy="0"/>
          </a:xfrm>
          <a:prstGeom prst="line">
            <a:avLst/>
          </a:prstGeom>
          <a:ln w="10160">
            <a:solidFill>
              <a:srgbClr val="464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7472" y="813816"/>
            <a:ext cx="82296" cy="82296"/>
          </a:xfrm>
          <a:prstGeom prst="rect">
            <a:avLst/>
          </a:prstGeom>
          <a:noFill/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68096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890" b="1" i="0">
                <a:solidFill>
                  <a:srgbClr val="14171A"/>
                </a:solidFill>
                <a:latin typeface="Malgun Gothic"/>
              </a:rPr>
              <a:t>채널과 대내 MCI 구간의 온라인 인터페이스 프로토콜은 업무 요건 및 시스템 구성 환경에 따라 TCP/IP와
HTTP를 표준으로 정의 및 사용함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6446520" cy="5074920"/>
          </a:xfrm>
          <a:prstGeom prst="rect">
            <a:avLst/>
          </a:prstGeom>
          <a:solidFill>
            <a:srgbClr val="E1E6EA"/>
          </a:solidFill>
          <a:ln w="10795">
            <a:solidFill>
              <a:srgbClr val="373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1435608"/>
            <a:ext cx="3246120" cy="256032"/>
          </a:xfrm>
          <a:prstGeom prst="rect">
            <a:avLst/>
          </a:prstGeom>
          <a:solidFill>
            <a:srgbClr val="373C41"/>
          </a:solidFill>
          <a:ln w="5080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53896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40" b="1" i="0">
                <a:solidFill>
                  <a:srgbClr val="F5F5F5"/>
                </a:solidFill>
                <a:latin typeface="Malgun Gothic"/>
              </a:rPr>
              <a:t>채널과 대내 MCI 구간 온라인 프로토콜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52928" y="1975104"/>
            <a:ext cx="1901952" cy="109727"/>
          </a:xfrm>
          <a:prstGeom prst="line">
            <a:avLst/>
          </a:prstGeom>
          <a:ln w="8255">
            <a:solidFill>
              <a:srgbClr val="3C4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10712" y="1856232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40" b="1" i="0">
                <a:solidFill>
                  <a:srgbClr val="1E1E1E"/>
                </a:solidFill>
                <a:latin typeface="Malgun Gothic"/>
              </a:rPr>
              <a:t>TCP/IP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52928" y="2542032"/>
            <a:ext cx="1901952" cy="109728"/>
          </a:xfrm>
          <a:prstGeom prst="line">
            <a:avLst/>
          </a:prstGeom>
          <a:ln w="8255">
            <a:solidFill>
              <a:srgbClr val="3C4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10712" y="242316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40" b="1" i="0">
                <a:solidFill>
                  <a:srgbClr val="1E1E1E"/>
                </a:solidFill>
                <a:latin typeface="Malgun Gothic"/>
              </a:rPr>
              <a:t>TCP/IP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52928" y="3090672"/>
            <a:ext cx="1901952" cy="109728"/>
          </a:xfrm>
          <a:prstGeom prst="line">
            <a:avLst/>
          </a:prstGeom>
          <a:ln w="8255">
            <a:solidFill>
              <a:srgbClr val="3C4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10712" y="297180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40" b="1" i="0">
                <a:solidFill>
                  <a:srgbClr val="1E1E1E"/>
                </a:solidFill>
                <a:latin typeface="Malgun Gothic"/>
              </a:rPr>
              <a:t>TCP/IP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52928" y="4041648"/>
            <a:ext cx="1901952" cy="100584"/>
          </a:xfrm>
          <a:prstGeom prst="line">
            <a:avLst/>
          </a:prstGeom>
          <a:ln w="8255">
            <a:solidFill>
              <a:srgbClr val="3C4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10712" y="3922776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40" b="1" i="0">
                <a:solidFill>
                  <a:srgbClr val="1E1E1E"/>
                </a:solidFill>
                <a:latin typeface="Malgun Gothic"/>
              </a:rPr>
              <a:t>HTTP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52928" y="5266944"/>
            <a:ext cx="1901952" cy="173736"/>
          </a:xfrm>
          <a:prstGeom prst="line">
            <a:avLst/>
          </a:prstGeom>
          <a:ln w="8255">
            <a:solidFill>
              <a:srgbClr val="3C4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10712" y="5148072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40" b="1" i="0">
                <a:solidFill>
                  <a:srgbClr val="1E1E1E"/>
                </a:solidFill>
                <a:latin typeface="Malgun Gothic"/>
              </a:rPr>
              <a:t>HTTP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" y="1783080"/>
            <a:ext cx="2148840" cy="4206240"/>
          </a:xfrm>
          <a:prstGeom prst="rect">
            <a:avLst/>
          </a:prstGeom>
          <a:solidFill>
            <a:srgbClr val="DDE3E7"/>
          </a:solidFill>
          <a:ln w="9525">
            <a:solidFill>
              <a:srgbClr val="484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6464" y="1847088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30" b="1" i="0">
                <a:solidFill>
                  <a:srgbClr val="14171A"/>
                </a:solidFill>
                <a:latin typeface="Malgun Gothic"/>
              </a:rPr>
              <a:t>채널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2103120"/>
            <a:ext cx="1508760" cy="420624"/>
          </a:xfrm>
          <a:prstGeom prst="rect">
            <a:avLst/>
          </a:prstGeom>
          <a:solidFill>
            <a:srgbClr val="EDF1F4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2112263"/>
            <a:ext cx="1490472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40" b="0" i="0">
                <a:solidFill>
                  <a:srgbClr val="14171A"/>
                </a:solidFill>
                <a:latin typeface="Malgun Gothic"/>
              </a:rPr>
              <a:t>인터넷 및
모바일 뱅킹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2651760"/>
            <a:ext cx="1508760" cy="420624"/>
          </a:xfrm>
          <a:prstGeom prst="rect">
            <a:avLst/>
          </a:prstGeom>
          <a:solidFill>
            <a:srgbClr val="EDF1F4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2660903"/>
            <a:ext cx="1490472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40" b="0" i="0">
                <a:solidFill>
                  <a:srgbClr val="14171A"/>
                </a:solidFill>
                <a:latin typeface="Malgun Gothic"/>
              </a:rPr>
              <a:t>자동화기기
자동화기기 단말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3200400"/>
            <a:ext cx="1508760" cy="420624"/>
          </a:xfrm>
          <a:prstGeom prst="rect">
            <a:avLst/>
          </a:prstGeom>
          <a:solidFill>
            <a:srgbClr val="EDF1F4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209544"/>
            <a:ext cx="1490472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40" b="0" i="0">
                <a:solidFill>
                  <a:srgbClr val="14171A"/>
                </a:solidFill>
                <a:latin typeface="Malgun Gothic"/>
              </a:rPr>
              <a:t>일체형기기
(VK)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" y="3950208"/>
            <a:ext cx="1508760" cy="694944"/>
          </a:xfrm>
          <a:prstGeom prst="rect">
            <a:avLst/>
          </a:prstGeom>
          <a:solidFill>
            <a:srgbClr val="EDF1F4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959352"/>
            <a:ext cx="1490472" cy="6766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40" b="0" i="0">
                <a:solidFill>
                  <a:srgbClr val="14171A"/>
                </a:solidFill>
                <a:latin typeface="Malgun Gothic"/>
              </a:rPr>
              <a:t>전자금융
인터넷/스마트뱅킹,
Tele, PB 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" y="5102352"/>
            <a:ext cx="1508760" cy="694944"/>
          </a:xfrm>
          <a:prstGeom prst="rect">
            <a:avLst/>
          </a:prstGeom>
          <a:solidFill>
            <a:srgbClr val="EDF1F4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111496"/>
            <a:ext cx="1490472" cy="6766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540" b="0" i="0">
                <a:solidFill>
                  <a:srgbClr val="14171A"/>
                </a:solidFill>
                <a:latin typeface="Malgun Gothic"/>
              </a:rPr>
              <a:t>웹브라우저
(특수성 Web
Page)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1828800"/>
            <a:ext cx="1600200" cy="4069080"/>
          </a:xfrm>
          <a:prstGeom prst="rect">
            <a:avLst/>
          </a:prstGeom>
          <a:solidFill>
            <a:srgbClr val="DAE0E5"/>
          </a:solidFill>
          <a:ln w="10160">
            <a:solidFill>
              <a:srgbClr val="444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65776" y="1920240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20" b="1" i="0">
                <a:solidFill>
                  <a:srgbClr val="14171A"/>
                </a:solidFill>
                <a:latin typeface="Malgun Gothic"/>
              </a:rPr>
              <a:t>대내MCI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13248" y="3236976"/>
            <a:ext cx="292608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50" b="1" i="0">
                <a:solidFill>
                  <a:srgbClr val="14171A"/>
                </a:solidFill>
                <a:latin typeface="Malgun Gothic"/>
              </a:rPr>
              <a:t>MCI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74336" y="5074920"/>
            <a:ext cx="1170432" cy="493776"/>
          </a:xfrm>
          <a:prstGeom prst="rect">
            <a:avLst/>
          </a:prstGeom>
          <a:solidFill>
            <a:srgbClr val="EBEFF2"/>
          </a:solidFill>
          <a:ln w="6350">
            <a:solidFill>
              <a:srgbClr val="505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5093208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20" b="1" i="0">
                <a:solidFill>
                  <a:srgbClr val="14171A"/>
                </a:solidFill>
                <a:latin typeface="Malgun Gothic"/>
              </a:rPr>
              <a:t>APP
Web Application
Server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1325880"/>
            <a:ext cx="4617720" cy="5074920"/>
          </a:xfrm>
          <a:prstGeom prst="rect">
            <a:avLst/>
          </a:prstGeom>
          <a:solidFill>
            <a:srgbClr val="E1E6EA"/>
          </a:solidFill>
          <a:ln w="10795">
            <a:solidFill>
              <a:srgbClr val="373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23760" y="1481328"/>
            <a:ext cx="329184" cy="384048"/>
          </a:xfrm>
          <a:prstGeom prst="rect">
            <a:avLst/>
          </a:prstGeom>
          <a:solidFill>
            <a:srgbClr val="484C52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32904" y="1490472"/>
            <a:ext cx="310896" cy="365759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90" b="1" i="0">
                <a:solidFill>
                  <a:srgbClr val="F5F5F5"/>
                </a:solidFill>
                <a:latin typeface="Malgun Gothic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52944" y="1481328"/>
            <a:ext cx="1078992" cy="384048"/>
          </a:xfrm>
          <a:prstGeom prst="rect">
            <a:avLst/>
          </a:prstGeom>
          <a:solidFill>
            <a:srgbClr val="484C52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2088" y="1490472"/>
            <a:ext cx="1060704" cy="365759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90" b="1" i="0">
                <a:solidFill>
                  <a:srgbClr val="F5F5F5"/>
                </a:solidFill>
                <a:latin typeface="Malgun Gothic"/>
              </a:rPr>
              <a:t>구분
From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31936" y="1481328"/>
            <a:ext cx="713232" cy="384048"/>
          </a:xfrm>
          <a:prstGeom prst="rect">
            <a:avLst/>
          </a:prstGeom>
          <a:solidFill>
            <a:srgbClr val="484C52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1490472"/>
            <a:ext cx="694944" cy="365759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90" b="1" i="0">
                <a:solidFill>
                  <a:srgbClr val="F5F5F5"/>
                </a:solidFill>
                <a:latin typeface="Malgun Gothic"/>
              </a:rPr>
              <a:t>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45167" y="1481328"/>
            <a:ext cx="713232" cy="384048"/>
          </a:xfrm>
          <a:prstGeom prst="rect">
            <a:avLst/>
          </a:prstGeom>
          <a:solidFill>
            <a:srgbClr val="484C52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54311" y="1490472"/>
            <a:ext cx="694944" cy="365759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90" b="1" i="0">
                <a:solidFill>
                  <a:srgbClr val="F5F5F5"/>
                </a:solidFill>
                <a:latin typeface="Malgun Gothic"/>
              </a:rPr>
              <a:t>프로토콜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399" y="1481328"/>
            <a:ext cx="530352" cy="384048"/>
          </a:xfrm>
          <a:prstGeom prst="rect">
            <a:avLst/>
          </a:prstGeom>
          <a:solidFill>
            <a:srgbClr val="484C52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67543" y="1490472"/>
            <a:ext cx="512063" cy="365759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90" b="1" i="0">
                <a:solidFill>
                  <a:srgbClr val="F5F5F5"/>
                </a:solidFill>
                <a:latin typeface="Malgun Gothic"/>
              </a:rPr>
              <a:t>세션
유지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88751" y="1481328"/>
            <a:ext cx="896112" cy="384048"/>
          </a:xfrm>
          <a:prstGeom prst="rect">
            <a:avLst/>
          </a:prstGeom>
          <a:solidFill>
            <a:srgbClr val="484C52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97895" y="1490472"/>
            <a:ext cx="877824" cy="365759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90" b="1" i="0">
                <a:solidFill>
                  <a:srgbClr val="F5F5F5"/>
                </a:solidFill>
                <a:latin typeface="Malgun Gothic"/>
              </a:rPr>
              <a:t>연결방식
기본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1865376"/>
            <a:ext cx="329184" cy="80467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32904" y="1874519"/>
            <a:ext cx="310896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52944" y="1865376"/>
            <a:ext cx="1078992" cy="80467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62088" y="1874519"/>
            <a:ext cx="1060704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인터넷 및
모바일 단말
뱅킹 단말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31936" y="1865376"/>
            <a:ext cx="713232" cy="80467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41080" y="1874519"/>
            <a:ext cx="694944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대내MCI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45167" y="1865376"/>
            <a:ext cx="713232" cy="80467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54311" y="1874519"/>
            <a:ext cx="694944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TCP
Socket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399" y="1865376"/>
            <a:ext cx="530352" cy="80467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67543" y="1874519"/>
            <a:ext cx="512063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유지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88751" y="1865376"/>
            <a:ext cx="896112" cy="80467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97895" y="1874519"/>
            <a:ext cx="877824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역방향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2670048"/>
            <a:ext cx="329184" cy="658368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32904" y="2679191"/>
            <a:ext cx="310896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52944" y="2670048"/>
            <a:ext cx="1078992" cy="658368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62088" y="2679191"/>
            <a:ext cx="106070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자동화기기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31936" y="2670048"/>
            <a:ext cx="713232" cy="658368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41080" y="2679191"/>
            <a:ext cx="69494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대내MCI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45167" y="2670048"/>
            <a:ext cx="713232" cy="658368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54311" y="2679191"/>
            <a:ext cx="69494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TCP
Socket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399" y="2670048"/>
            <a:ext cx="530352" cy="658368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67543" y="2679191"/>
            <a:ext cx="512063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유지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588751" y="2670048"/>
            <a:ext cx="896112" cy="658368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97895" y="2679191"/>
            <a:ext cx="87782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역방향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23760" y="3328415"/>
            <a:ext cx="329184" cy="658368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32904" y="3337559"/>
            <a:ext cx="310896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52944" y="3328415"/>
            <a:ext cx="1078992" cy="658368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562088" y="3337559"/>
            <a:ext cx="106070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일체형기기
(VK)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31936" y="3328415"/>
            <a:ext cx="713232" cy="658368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41080" y="3337559"/>
            <a:ext cx="69494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대내MCI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45167" y="3328415"/>
            <a:ext cx="713232" cy="658368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54311" y="3337559"/>
            <a:ext cx="69494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TCP
Socket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58399" y="3328415"/>
            <a:ext cx="530352" cy="658368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67543" y="3337559"/>
            <a:ext cx="512063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없음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588751" y="3328415"/>
            <a:ext cx="896112" cy="658368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97895" y="3337559"/>
            <a:ext cx="87782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없음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223760" y="3986783"/>
            <a:ext cx="329184" cy="1097280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232904" y="3995927"/>
            <a:ext cx="310896" cy="10789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552944" y="3986783"/>
            <a:ext cx="1078992" cy="1097280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62088" y="3995927"/>
            <a:ext cx="1060704" cy="10789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전자금융
(인터넷/스마트뱅킹,
Tele, PB 등)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31936" y="3986783"/>
            <a:ext cx="713232" cy="1097280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3995927"/>
            <a:ext cx="694944" cy="10789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대내MCI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45167" y="3986783"/>
            <a:ext cx="713232" cy="1097280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54311" y="3995927"/>
            <a:ext cx="694944" cy="10789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HTTP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58399" y="3986783"/>
            <a:ext cx="530352" cy="1097280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067543" y="3995927"/>
            <a:ext cx="512063" cy="10789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없음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588751" y="3986783"/>
            <a:ext cx="896112" cy="1097280"/>
          </a:xfrm>
          <a:prstGeom prst="rect">
            <a:avLst/>
          </a:prstGeom>
          <a:solidFill>
            <a:srgbClr val="DCE2E7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97895" y="3995927"/>
            <a:ext cx="877824" cy="10789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없음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223760" y="5084064"/>
            <a:ext cx="329184" cy="71323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32904" y="5093207"/>
            <a:ext cx="310896" cy="6949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52944" y="5084064"/>
            <a:ext cx="1078992" cy="71323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62088" y="5093207"/>
            <a:ext cx="1060704" cy="6949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웹브라우저
(특수성 Web
Page)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31936" y="5084064"/>
            <a:ext cx="713232" cy="71323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5093207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Web
Application
Server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345167" y="5084064"/>
            <a:ext cx="713232" cy="71323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354311" y="5093207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HTTP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058399" y="5084064"/>
            <a:ext cx="530352" cy="71323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067543" y="5093207"/>
            <a:ext cx="512063" cy="6949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없음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588751" y="5084064"/>
            <a:ext cx="896112" cy="713232"/>
          </a:xfrm>
          <a:prstGeom prst="rect">
            <a:avLst/>
          </a:prstGeom>
          <a:solidFill>
            <a:srgbClr val="E8ECEF"/>
          </a:solidFill>
          <a:ln w="5715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597895" y="5093207"/>
            <a:ext cx="877824" cy="6949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470" b="0" i="0">
                <a:solidFill>
                  <a:srgbClr val="14171A"/>
                </a:solidFill>
                <a:latin typeface="Malgun Gothic"/>
              </a:rPr>
              <a:t>없음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05472" y="6126480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20" b="0" i="0">
                <a:solidFill>
                  <a:srgbClr val="414141"/>
                </a:solidFill>
                <a:latin typeface="Malgun Gothic"/>
              </a:rPr>
              <a:t>기본 원칙: TCP/IP와 HTTP를 업무·구성 환경에 따라 적용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6163056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30" b="0" i="0">
                <a:solidFill>
                  <a:srgbClr val="4B4B4B"/>
                </a:solidFill>
                <a:latin typeface="Malgun Gothic"/>
              </a:rPr>
              <a:t>※ 작은 문구 일부는 판독 어려움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8328" y="6428232"/>
            <a:ext cx="9144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20" b="0" i="0">
                <a:solidFill>
                  <a:srgbClr val="373737"/>
                </a:solidFill>
                <a:latin typeface="Malgun Gothic"/>
              </a:rPr>
              <a:t>KDB산업은행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FD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CF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11841480" cy="6583680"/>
          </a:xfrm>
          <a:prstGeom prst="rect">
            <a:avLst/>
          </a:prstGeom>
          <a:solidFill>
            <a:srgbClr val="DB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19456"/>
            <a:ext cx="57607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1750" b="1" i="0">
                <a:solidFill>
                  <a:srgbClr val="14171A"/>
                </a:solidFill>
                <a:latin typeface="Malgun Gothic"/>
              </a:rPr>
              <a:t>1.3.1 온라인 연계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30" b="1" i="0">
                <a:solidFill>
                  <a:srgbClr val="14171A"/>
                </a:solidFill>
                <a:latin typeface="Malgun Gothic"/>
              </a:rPr>
              <a:t>1. 인터페이스 기본정책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35661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30" b="1" i="0">
                <a:solidFill>
                  <a:srgbClr val="14171A"/>
                </a:solidFill>
                <a:latin typeface="Malgun Gothic"/>
              </a:rPr>
              <a:t>1.3 설계기준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676656"/>
            <a:ext cx="11384280" cy="0"/>
          </a:xfrm>
          <a:prstGeom prst="line">
            <a:avLst/>
          </a:prstGeom>
          <a:ln w="10160">
            <a:solidFill>
              <a:srgbClr val="464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7472" y="822960"/>
            <a:ext cx="82296" cy="82296"/>
          </a:xfrm>
          <a:prstGeom prst="rect">
            <a:avLst/>
          </a:prstGeom>
          <a:noFill/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68096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910" b="1" i="0">
                <a:solidFill>
                  <a:srgbClr val="14171A"/>
                </a:solidFill>
                <a:latin typeface="Malgun Gothic"/>
              </a:rPr>
              <a:t>대내 MCI와 내부 시스템 구간의 온라인 인터페이스 프로토콜은 HTTP를 표준으로 정의하며, 기타 업무 요건 및
시스템 구성이 표준을 지원되지 않는 경우 예외적인 프로토콜을 적용함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92240" cy="4983480"/>
          </a:xfrm>
          <a:prstGeom prst="rect">
            <a:avLst/>
          </a:prstGeom>
          <a:solidFill>
            <a:srgbClr val="E0E6EA"/>
          </a:solidFill>
          <a:ln w="10160">
            <a:solidFill>
              <a:srgbClr val="37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6492240" cy="329184"/>
          </a:xfrm>
          <a:prstGeom prst="rect">
            <a:avLst/>
          </a:prstGeom>
          <a:solidFill>
            <a:srgbClr val="31353B"/>
          </a:solidFill>
          <a:ln w="5715">
            <a:solidFill>
              <a:srgbClr val="28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6492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6F6F6"/>
                </a:solidFill>
                <a:latin typeface="Malgun Gothic"/>
              </a:rPr>
              <a:t>대내MCI와 내부 시스템 구간 온라인 프로토콜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1938528"/>
            <a:ext cx="1874519" cy="4023360"/>
          </a:xfrm>
          <a:prstGeom prst="rect">
            <a:avLst/>
          </a:prstGeom>
          <a:solidFill>
            <a:srgbClr val="E8EDF1"/>
          </a:solidFill>
          <a:ln w="7620">
            <a:solidFill>
              <a:srgbClr val="46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02996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00" b="1" i="0">
                <a:solidFill>
                  <a:srgbClr val="14171A"/>
                </a:solidFill>
                <a:latin typeface="Malgun Gothic"/>
              </a:rPr>
              <a:t>대내MCI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" y="2331720"/>
            <a:ext cx="1444752" cy="3227832"/>
          </a:xfrm>
          <a:prstGeom prst="rect">
            <a:avLst/>
          </a:prstGeom>
          <a:solidFill>
            <a:srgbClr val="DEE4E9"/>
          </a:solidFill>
          <a:ln w="10160">
            <a:solidFill>
              <a:srgbClr val="505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14171A"/>
                </a:solidFill>
                <a:latin typeface="Malgun Gothic"/>
              </a:rPr>
              <a:t>MCI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4872" y="2788920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04872" y="3657599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04872" y="4407408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04872" y="4864608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04872" y="5276088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1938528"/>
            <a:ext cx="2331720" cy="4023360"/>
          </a:xfrm>
          <a:prstGeom prst="rect">
            <a:avLst/>
          </a:prstGeom>
          <a:solidFill>
            <a:srgbClr val="E8EDF1"/>
          </a:solidFill>
          <a:ln w="7620">
            <a:solidFill>
              <a:srgbClr val="46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2029968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00" b="1" i="0">
                <a:solidFill>
                  <a:srgbClr val="14171A"/>
                </a:solidFill>
                <a:latin typeface="Malgun Gothic"/>
              </a:rPr>
              <a:t>내부 시스템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8848" y="2487168"/>
            <a:ext cx="1600200" cy="548640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2496312"/>
            <a:ext cx="1581912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0" i="0">
                <a:solidFill>
                  <a:srgbClr val="14171A"/>
                </a:solidFill>
                <a:latin typeface="Malgun Gothic"/>
              </a:rPr>
              <a:t>계정계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53128" y="2788920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478024" y="2880360"/>
            <a:ext cx="1975104" cy="0"/>
          </a:xfrm>
          <a:prstGeom prst="line">
            <a:avLst/>
          </a:prstGeom>
          <a:ln w="8890">
            <a:solidFill>
              <a:srgbClr val="2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17520" y="2761488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20" b="0" i="0">
                <a:solidFill>
                  <a:srgbClr val="14171A"/>
                </a:solidFill>
                <a:latin typeface="Malgun Gothic"/>
              </a:rPr>
              <a:t>HTTP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8848" y="3383280"/>
            <a:ext cx="1600200" cy="548640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3392424"/>
            <a:ext cx="1581912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0" i="0">
                <a:solidFill>
                  <a:srgbClr val="14171A"/>
                </a:solidFill>
                <a:latin typeface="Malgun Gothic"/>
              </a:rPr>
              <a:t>정보계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3128" y="3657599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478024" y="3749039"/>
            <a:ext cx="1975104" cy="0"/>
          </a:xfrm>
          <a:prstGeom prst="line">
            <a:avLst/>
          </a:prstGeom>
          <a:ln w="8890">
            <a:solidFill>
              <a:srgbClr val="2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017520" y="3630168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20" b="0" i="0">
                <a:solidFill>
                  <a:srgbClr val="14171A"/>
                </a:solidFill>
                <a:latin typeface="Malgun Gothic"/>
              </a:rPr>
              <a:t>HTTP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98848" y="4160520"/>
            <a:ext cx="1600200" cy="320040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7992" y="4169663"/>
            <a:ext cx="1581912" cy="301751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660" b="0" i="0">
                <a:solidFill>
                  <a:srgbClr val="14171A"/>
                </a:solidFill>
                <a:latin typeface="Malgun Gothic"/>
              </a:rPr>
              <a:t>전행지원 및 통제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53128" y="4407408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478024" y="4498848"/>
            <a:ext cx="1975104" cy="0"/>
          </a:xfrm>
          <a:prstGeom prst="line">
            <a:avLst/>
          </a:prstGeom>
          <a:ln w="8890">
            <a:solidFill>
              <a:srgbClr val="2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017520" y="4379976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20" b="0" i="0">
                <a:solidFill>
                  <a:srgbClr val="14171A"/>
                </a:solidFill>
                <a:latin typeface="Malgun Gothic"/>
              </a:rPr>
              <a:t>HTTP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98848" y="4672584"/>
            <a:ext cx="1600200" cy="320040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7992" y="4681728"/>
            <a:ext cx="1581912" cy="301751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660" b="0" i="0">
                <a:solidFill>
                  <a:srgbClr val="14171A"/>
                </a:solidFill>
                <a:latin typeface="Malgun Gothic"/>
              </a:rPr>
              <a:t>IT 인프라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53128" y="4864608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478024" y="4956048"/>
            <a:ext cx="1975104" cy="0"/>
          </a:xfrm>
          <a:prstGeom prst="line">
            <a:avLst/>
          </a:prstGeom>
          <a:ln w="8890">
            <a:solidFill>
              <a:srgbClr val="2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017520" y="4837176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20" b="0" i="0">
                <a:solidFill>
                  <a:srgbClr val="14171A"/>
                </a:solidFill>
                <a:latin typeface="Malgun Gothic"/>
              </a:rPr>
              <a:t>HTTP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98848" y="5148072"/>
            <a:ext cx="1600200" cy="411480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07992" y="5157216"/>
            <a:ext cx="1581912" cy="3931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660" b="1" i="0">
                <a:solidFill>
                  <a:srgbClr val="14171A"/>
                </a:solidFill>
                <a:latin typeface="Malgun Gothic"/>
              </a:rPr>
              <a:t>1) 예외대상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53128" y="5276088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478024" y="5367528"/>
            <a:ext cx="1975104" cy="0"/>
          </a:xfrm>
          <a:prstGeom prst="line">
            <a:avLst/>
          </a:prstGeom>
          <a:ln w="8890">
            <a:solidFill>
              <a:srgbClr val="2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017520" y="516636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20" b="0" i="0">
                <a:solidFill>
                  <a:srgbClr val="14171A"/>
                </a:solidFill>
                <a:latin typeface="Malgun Gothic"/>
              </a:rPr>
              <a:t>ETC
Protocol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6144768"/>
            <a:ext cx="6355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490" b="0" i="0">
                <a:solidFill>
                  <a:srgbClr val="232323"/>
                </a:solidFill>
                <a:latin typeface="Malgun Gothic"/>
              </a:rPr>
              <a:t>(*) 대내MCI를 연동하는 대상 중 표준 HTTP 프로토콜을 지원하지 않는 시스템 요건에 따른 기타 프로토콜을 사용할 위한 업무 정의 후 적용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455664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00" b="0" i="0">
                <a:solidFill>
                  <a:srgbClr val="323232"/>
                </a:solidFill>
                <a:latin typeface="Malgun Gothic"/>
              </a:rPr>
              <a:t>KDB산업은행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7150608" y="1417320"/>
          <a:ext cx="449884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841248"/>
                <a:gridCol w="1188720"/>
                <a:gridCol w="822960"/>
                <a:gridCol w="621792"/>
                <a:gridCol w="64008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구간</a:t>
                      </a:r>
                    </a:p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From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To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프로토콜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세션</a:t>
                      </a:r>
                    </a:p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유지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역방향</a:t>
                      </a:r>
                    </a:p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거래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대내MCI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계정계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HTTP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역방향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대내MCI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HTTP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대내MCI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전행지원</a:t>
                      </a:r>
                    </a:p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및</a:t>
                      </a:r>
                    </a:p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통제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HTTP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대내MCI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IT 인프라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HTTP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대내MCI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표준</a:t>
                      </a:r>
                    </a:p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예외대상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ETC</a:t>
                      </a:r>
                    </a:p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Protocol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7150608" y="1417320"/>
            <a:ext cx="4498848" cy="4663440"/>
          </a:xfrm>
          <a:prstGeom prst="rect">
            <a:avLst/>
          </a:prstGeom>
          <a:noFill/>
          <a:ln w="10160">
            <a:solidFill>
              <a:srgbClr val="2D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FD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CF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09728"/>
            <a:ext cx="11841480" cy="6583680"/>
          </a:xfrm>
          <a:prstGeom prst="rect">
            <a:avLst/>
          </a:prstGeom>
          <a:solidFill>
            <a:srgbClr val="DB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19456"/>
            <a:ext cx="57607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1750" b="1" i="0">
                <a:solidFill>
                  <a:srgbClr val="14171A"/>
                </a:solidFill>
                <a:latin typeface="Malgun Gothic"/>
              </a:rPr>
              <a:t>1.3.1 온라인 연계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30" b="1" i="0">
                <a:solidFill>
                  <a:srgbClr val="14171A"/>
                </a:solidFill>
                <a:latin typeface="Malgun Gothic"/>
              </a:rPr>
              <a:t>1. 인터페이스 기본정책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35661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30" b="1" i="0">
                <a:solidFill>
                  <a:srgbClr val="14171A"/>
                </a:solidFill>
                <a:latin typeface="Malgun Gothic"/>
              </a:rPr>
              <a:t>1.3 설계기준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676656"/>
            <a:ext cx="11384280" cy="0"/>
          </a:xfrm>
          <a:prstGeom prst="line">
            <a:avLst/>
          </a:prstGeom>
          <a:ln w="10160">
            <a:solidFill>
              <a:srgbClr val="464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7472" y="822960"/>
            <a:ext cx="82296" cy="82296"/>
          </a:xfrm>
          <a:prstGeom prst="rect">
            <a:avLst/>
          </a:prstGeom>
          <a:noFill/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68096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4171A"/>
                </a:solidFill>
                <a:latin typeface="Malgun Gothic"/>
              </a:rPr>
              <a:t>내부시스템과 대외MCI구간의 온라인 인터페이스 프로토콜은 HTTP를 표준으로 정의하며 SWIFT, EDI, 행정망
IF서비스 대외 MCI를 경유하지 않고 시스템에서 직접 연계 처리함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92240" cy="4983480"/>
          </a:xfrm>
          <a:prstGeom prst="rect">
            <a:avLst/>
          </a:prstGeom>
          <a:solidFill>
            <a:srgbClr val="E0E6EA"/>
          </a:solidFill>
          <a:ln w="10160">
            <a:solidFill>
              <a:srgbClr val="37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6492240" cy="329184"/>
          </a:xfrm>
          <a:prstGeom prst="rect">
            <a:avLst/>
          </a:prstGeom>
          <a:solidFill>
            <a:srgbClr val="31353B"/>
          </a:solidFill>
          <a:ln w="5715">
            <a:solidFill>
              <a:srgbClr val="28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6492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F6F6F6"/>
                </a:solidFill>
                <a:latin typeface="Malgun Gothic"/>
              </a:rPr>
              <a:t>채널과 대외 MCI 구간 온라인 프로토콜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1920240"/>
            <a:ext cx="2359152" cy="4005072"/>
          </a:xfrm>
          <a:prstGeom prst="rect">
            <a:avLst/>
          </a:prstGeom>
          <a:solidFill>
            <a:srgbClr val="E8EDF1"/>
          </a:solidFill>
          <a:ln w="7620">
            <a:solidFill>
              <a:srgbClr val="46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201168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00" b="1" i="0">
                <a:solidFill>
                  <a:srgbClr val="14171A"/>
                </a:solidFill>
                <a:latin typeface="Malgun Gothic"/>
              </a:rPr>
              <a:t>내부 시스템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" y="2487168"/>
            <a:ext cx="1737360" cy="685800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2496312"/>
            <a:ext cx="1719072" cy="66751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0" i="0">
                <a:solidFill>
                  <a:srgbClr val="14171A"/>
                </a:solidFill>
                <a:latin typeface="Malgun Gothic"/>
              </a:rPr>
              <a:t>계정계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6624" y="2738628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7552" y="3383280"/>
            <a:ext cx="1737360" cy="685800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3392424"/>
            <a:ext cx="1719072" cy="66751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00" b="0" i="0">
                <a:solidFill>
                  <a:srgbClr val="14171A"/>
                </a:solidFill>
                <a:latin typeface="Malgun Gothic"/>
              </a:rPr>
              <a:t>정보계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6624" y="3634740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" y="4215384"/>
            <a:ext cx="1737360" cy="274320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4224528"/>
            <a:ext cx="1719072" cy="256031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660" b="1" i="0">
                <a:solidFill>
                  <a:srgbClr val="14171A"/>
                </a:solidFill>
                <a:latin typeface="Malgun Gothic"/>
              </a:rPr>
              <a:t>SWIFT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06624" y="4261104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7552" y="4562856"/>
            <a:ext cx="1737360" cy="274320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4572000"/>
            <a:ext cx="1719072" cy="256031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660" b="1" i="0">
                <a:solidFill>
                  <a:srgbClr val="14171A"/>
                </a:solidFill>
                <a:latin typeface="Malgun Gothic"/>
              </a:rPr>
              <a:t>EDI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06624" y="4608576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" y="4919472"/>
            <a:ext cx="1737360" cy="274320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" y="4928616"/>
            <a:ext cx="1719072" cy="256031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660" b="0" i="0">
                <a:solidFill>
                  <a:srgbClr val="14171A"/>
                </a:solidFill>
                <a:latin typeface="Malgun Gothic"/>
              </a:rPr>
              <a:t>행정망IF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6624" y="4965192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0640" y="1920240"/>
            <a:ext cx="1508760" cy="2606040"/>
          </a:xfrm>
          <a:prstGeom prst="rect">
            <a:avLst/>
          </a:prstGeom>
          <a:solidFill>
            <a:srgbClr val="E8EDF1"/>
          </a:solidFill>
          <a:ln w="7620">
            <a:solidFill>
              <a:srgbClr val="46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0096" y="20116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00" b="1" i="0">
                <a:solidFill>
                  <a:srgbClr val="14171A"/>
                </a:solidFill>
                <a:latin typeface="Malgun Gothic"/>
              </a:rPr>
              <a:t>대외 MCI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13248" y="2340864"/>
            <a:ext cx="896112" cy="1783080"/>
          </a:xfrm>
          <a:prstGeom prst="rect">
            <a:avLst/>
          </a:prstGeom>
          <a:solidFill>
            <a:srgbClr val="DEE4E9"/>
          </a:solidFill>
          <a:ln w="10160">
            <a:solidFill>
              <a:srgbClr val="505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59552" y="2907792"/>
            <a:ext cx="594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14171A"/>
                </a:solidFill>
                <a:latin typeface="Malgun Gothic"/>
              </a:rPr>
              <a:t>대외
MCI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58384" y="2724912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58384" y="3611879"/>
            <a:ext cx="73152" cy="182880"/>
          </a:xfrm>
          <a:prstGeom prst="rect">
            <a:avLst/>
          </a:prstGeom>
          <a:solidFill>
            <a:srgbClr val="F2F5F8"/>
          </a:solidFill>
          <a:ln w="5715">
            <a:solidFill>
              <a:srgbClr val="32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66360" y="4709160"/>
            <a:ext cx="1417320" cy="237744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4718304"/>
            <a:ext cx="139903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680" b="1" i="0">
                <a:solidFill>
                  <a:srgbClr val="14171A"/>
                </a:solidFill>
                <a:latin typeface="Malgun Gothic"/>
              </a:rPr>
              <a:t>SWIFT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66360" y="5047488"/>
            <a:ext cx="1417320" cy="237744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75504" y="5056631"/>
            <a:ext cx="139903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640" b="1" i="0">
                <a:solidFill>
                  <a:srgbClr val="14171A"/>
                </a:solidFill>
                <a:latin typeface="Malgun Gothic"/>
              </a:rPr>
              <a:t>대외기관 EDI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6360" y="5376672"/>
            <a:ext cx="1417320" cy="237744"/>
          </a:xfrm>
          <a:prstGeom prst="rect">
            <a:avLst/>
          </a:prstGeom>
          <a:solidFill>
            <a:srgbClr val="EEF2F5"/>
          </a:solidFill>
          <a:ln w="5715">
            <a:solidFill>
              <a:srgbClr val="56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5385816"/>
            <a:ext cx="139903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640" b="1" i="0">
                <a:solidFill>
                  <a:srgbClr val="14171A"/>
                </a:solidFill>
                <a:latin typeface="Malgun Gothic"/>
              </a:rPr>
              <a:t>행정자치부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779776" y="2834640"/>
            <a:ext cx="2578608" cy="0"/>
          </a:xfrm>
          <a:prstGeom prst="line">
            <a:avLst/>
          </a:prstGeom>
          <a:ln w="9525">
            <a:solidFill>
              <a:srgbClr val="2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94760" y="271576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14171A"/>
                </a:solidFill>
                <a:latin typeface="Malgun Gothic"/>
              </a:rPr>
              <a:t>HTTP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779776" y="3703320"/>
            <a:ext cx="2578608" cy="0"/>
          </a:xfrm>
          <a:prstGeom prst="line">
            <a:avLst/>
          </a:prstGeom>
          <a:ln w="9525">
            <a:solidFill>
              <a:srgbClr val="2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94760" y="358444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14171A"/>
                </a:solidFill>
                <a:latin typeface="Malgun Gothic"/>
              </a:rPr>
              <a:t>HTTP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779776" y="4352544"/>
            <a:ext cx="2386584" cy="475488"/>
          </a:xfrm>
          <a:prstGeom prst="line">
            <a:avLst/>
          </a:prstGeom>
          <a:ln w="9525">
            <a:solidFill>
              <a:srgbClr val="2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779776" y="4700016"/>
            <a:ext cx="2386584" cy="466344"/>
          </a:xfrm>
          <a:prstGeom prst="line">
            <a:avLst/>
          </a:prstGeom>
          <a:ln w="9525">
            <a:solidFill>
              <a:srgbClr val="2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779776" y="5056632"/>
            <a:ext cx="2386584" cy="438912"/>
          </a:xfrm>
          <a:prstGeom prst="line">
            <a:avLst/>
          </a:prstGeom>
          <a:ln w="9525">
            <a:solidFill>
              <a:srgbClr val="2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37560" y="46634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650" b="0" i="0">
                <a:solidFill>
                  <a:srgbClr val="14171A"/>
                </a:solidFill>
                <a:latin typeface="Malgun Gothic"/>
              </a:rPr>
              <a:t>ETC Protocol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7150608" y="1417320"/>
          <a:ext cx="4498847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960120"/>
                <a:gridCol w="1033271"/>
                <a:gridCol w="822960"/>
                <a:gridCol w="621792"/>
                <a:gridCol w="676656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구간</a:t>
                      </a:r>
                    </a:p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From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To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프로토콜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세션</a:t>
                      </a:r>
                    </a:p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유지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역방향</a:t>
                      </a:r>
                    </a:p>
                    <a:p>
                      <a:pPr algn="ctr"/>
                      <a:r>
                        <a:rPr sz="590" b="1">
                          <a:solidFill>
                            <a:srgbClr val="F6F6F6"/>
                          </a:solidFill>
                          <a:latin typeface="Malgun Gothic"/>
                        </a:rPr>
                        <a:t>거래</a:t>
                      </a:r>
                    </a:p>
                  </a:txBody>
                  <a:tcPr marL="18288" marR="18288" marT="9144" marB="9144" anchor="ctr">
                    <a:solidFill>
                      <a:srgbClr val="3135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계정계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대외</a:t>
                      </a:r>
                    </a:p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MCI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HTTP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대외</a:t>
                      </a:r>
                    </a:p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MCI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HTTP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SWIFT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SWIFT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ETC</a:t>
                      </a:r>
                    </a:p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Protocol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EDI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대외기관</a:t>
                      </a:r>
                    </a:p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EDI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ETC</a:t>
                      </a:r>
                    </a:p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Protocol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행정망IF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행정자치부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ETC</a:t>
                      </a:r>
                    </a:p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Protocol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14171A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18288" marR="18288" marT="9144" marB="9144" anchor="ctr">
                    <a:solidFill>
                      <a:srgbClr val="E7ECF0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7150608" y="1417320"/>
            <a:ext cx="4498848" cy="4663440"/>
          </a:xfrm>
          <a:prstGeom prst="rect">
            <a:avLst/>
          </a:prstGeom>
          <a:noFill/>
          <a:ln w="10160">
            <a:solidFill>
              <a:srgbClr val="2D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6455664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00" b="0" i="0">
                <a:solidFill>
                  <a:srgbClr val="323232"/>
                </a:solidFill>
                <a:latin typeface="Malgun Gothic"/>
              </a:rPr>
              <a:t>KDB산업은행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FD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CF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91440"/>
            <a:ext cx="11868912" cy="6611112"/>
          </a:xfrm>
          <a:prstGeom prst="rect">
            <a:avLst/>
          </a:prstGeom>
          <a:solidFill>
            <a:srgbClr val="DB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46888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1700" b="1">
                <a:solidFill>
                  <a:srgbClr val="121619"/>
                </a:solidFill>
                <a:latin typeface="Malgun Gothic"/>
              </a:rPr>
              <a:t>1.3.2 파일 연계 - 구간별 연계흐름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164592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50" b="1">
                <a:solidFill>
                  <a:srgbClr val="121619"/>
                </a:solidFill>
                <a:latin typeface="Malgun Gothic"/>
              </a:rPr>
              <a:t>1. 인터페이스 기본정책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36576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50" b="1">
                <a:solidFill>
                  <a:srgbClr val="121619"/>
                </a:solidFill>
                <a:latin typeface="Malgun Gothic"/>
              </a:rPr>
              <a:t>1.3 설계기준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" y="694944"/>
            <a:ext cx="11329416" cy="0"/>
          </a:xfrm>
          <a:prstGeom prst="line">
            <a:avLst/>
          </a:prstGeom>
          <a:ln w="952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38328" y="850392"/>
            <a:ext cx="86868" cy="86868"/>
          </a:xfrm>
          <a:prstGeom prst="rect">
            <a:avLst/>
          </a:prstGeom>
          <a:noFill/>
          <a:ln w="6985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7724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900" b="1">
                <a:solidFill>
                  <a:srgbClr val="121619"/>
                </a:solidFill>
                <a:latin typeface="Malgun Gothic"/>
              </a:rPr>
              <a:t>차세대 정보시스템 파일을 송신하는 구간 중, MFT를 이용한 파일전송은 내부 서버 TO 서버 구간 에만 적용함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417320"/>
            <a:ext cx="11292840" cy="5138928"/>
          </a:xfrm>
          <a:prstGeom prst="rect">
            <a:avLst/>
          </a:prstGeom>
          <a:solidFill>
            <a:srgbClr val="E2E7EB"/>
          </a:solidFill>
          <a:ln w="9525">
            <a:solidFill>
              <a:srgbClr val="3F4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10512" y="1581912"/>
            <a:ext cx="1325880" cy="365760"/>
          </a:xfrm>
          <a:prstGeom prst="rect">
            <a:avLst/>
          </a:prstGeom>
          <a:solidFill>
            <a:srgbClr val="2C3036"/>
          </a:solidFill>
          <a:ln w="6985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16276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0" b="1">
                <a:solidFill>
                  <a:srgbClr val="F8F8F8"/>
                </a:solidFill>
                <a:latin typeface="Malgun Gothic"/>
              </a:rPr>
              <a:t>통합단말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1581912"/>
            <a:ext cx="1325880" cy="365760"/>
          </a:xfrm>
          <a:prstGeom prst="rect">
            <a:avLst/>
          </a:prstGeom>
          <a:solidFill>
            <a:srgbClr val="2C3036"/>
          </a:solidFill>
          <a:ln w="6985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16276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0" b="1">
                <a:solidFill>
                  <a:srgbClr val="F8F8F8"/>
                </a:solidFill>
                <a:latin typeface="Malgun Gothic"/>
              </a:rPr>
              <a:t>단말관리
서버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1" y="1581912"/>
            <a:ext cx="1325880" cy="365760"/>
          </a:xfrm>
          <a:prstGeom prst="rect">
            <a:avLst/>
          </a:prstGeom>
          <a:solidFill>
            <a:srgbClr val="2C3036"/>
          </a:solidFill>
          <a:ln w="6985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16276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0" b="1">
                <a:solidFill>
                  <a:srgbClr val="F8F8F8"/>
                </a:solidFill>
                <a:latin typeface="Malgun Gothic"/>
              </a:rPr>
              <a:t>대내MCI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4112" y="1581912"/>
            <a:ext cx="1325880" cy="365760"/>
          </a:xfrm>
          <a:prstGeom prst="rect">
            <a:avLst/>
          </a:prstGeom>
          <a:solidFill>
            <a:srgbClr val="2C3036"/>
          </a:solidFill>
          <a:ln w="6985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2" y="16276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0" b="1">
                <a:solidFill>
                  <a:srgbClr val="F8F8F8"/>
                </a:solidFill>
                <a:latin typeface="Malgun Gothic"/>
              </a:rPr>
              <a:t>업무시스템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65792" y="1581912"/>
            <a:ext cx="1325880" cy="365760"/>
          </a:xfrm>
          <a:prstGeom prst="rect">
            <a:avLst/>
          </a:prstGeom>
          <a:solidFill>
            <a:srgbClr val="2C3036"/>
          </a:solidFill>
          <a:ln w="6985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16276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0" b="1">
                <a:solidFill>
                  <a:srgbClr val="F8F8F8"/>
                </a:solidFill>
                <a:latin typeface="Malgun Gothic"/>
              </a:rPr>
              <a:t>대외MCI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19" b="1">
                <a:solidFill>
                  <a:srgbClr val="121619"/>
                </a:solidFill>
                <a:latin typeface="Malgun Gothic"/>
              </a:rPr>
              <a:t>구간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2148840"/>
            <a:ext cx="11109960" cy="0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2350008"/>
            <a:ext cx="868680" cy="1097279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9" b="1">
                <a:solidFill>
                  <a:srgbClr val="121619"/>
                </a:solidFill>
                <a:latin typeface="Malgun Gothic"/>
              </a:rPr>
              <a:t>단말
서버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63624" y="2148840"/>
            <a:ext cx="0" cy="1481328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0352" y="3630168"/>
            <a:ext cx="11109960" cy="0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3831335"/>
            <a:ext cx="868680" cy="133502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9" b="1">
                <a:solidFill>
                  <a:srgbClr val="121619"/>
                </a:solidFill>
                <a:latin typeface="Malgun Gothic"/>
              </a:rPr>
              <a:t>단말
관리서버
서버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63624" y="3630168"/>
            <a:ext cx="0" cy="1719072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0352" y="5349240"/>
            <a:ext cx="11109960" cy="0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5550407"/>
            <a:ext cx="86868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9" b="1">
                <a:solidFill>
                  <a:srgbClr val="121619"/>
                </a:solidFill>
                <a:latin typeface="Malgun Gothic"/>
              </a:rPr>
              <a:t>서버
대외MCI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63624" y="5349240"/>
            <a:ext cx="0" cy="1207008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581912" y="1508760"/>
            <a:ext cx="0" cy="4956048"/>
          </a:xfrm>
          <a:prstGeom prst="line">
            <a:avLst/>
          </a:prstGeom>
          <a:ln w="6350">
            <a:solidFill>
              <a:srgbClr val="6E747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93592" y="1508760"/>
            <a:ext cx="0" cy="4956048"/>
          </a:xfrm>
          <a:prstGeom prst="line">
            <a:avLst/>
          </a:prstGeom>
          <a:ln w="6350">
            <a:solidFill>
              <a:srgbClr val="6E747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13831" y="1508760"/>
            <a:ext cx="0" cy="4956048"/>
          </a:xfrm>
          <a:prstGeom prst="line">
            <a:avLst/>
          </a:prstGeom>
          <a:ln w="6350">
            <a:solidFill>
              <a:srgbClr val="6E747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25512" y="1508760"/>
            <a:ext cx="0" cy="4956048"/>
          </a:xfrm>
          <a:prstGeom prst="line">
            <a:avLst/>
          </a:prstGeom>
          <a:ln w="6350">
            <a:solidFill>
              <a:srgbClr val="6E747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537192" y="1508760"/>
            <a:ext cx="0" cy="4956048"/>
          </a:xfrm>
          <a:prstGeom prst="line">
            <a:avLst/>
          </a:prstGeom>
          <a:ln w="6350">
            <a:solidFill>
              <a:srgbClr val="6E747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648456" y="3703320"/>
            <a:ext cx="7973568" cy="2743200"/>
          </a:xfrm>
          <a:prstGeom prst="rect">
            <a:avLst/>
          </a:prstGeom>
          <a:noFill/>
          <a:ln w="10160">
            <a:solidFill>
              <a:srgbClr val="464C5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98664" y="5513831"/>
            <a:ext cx="4005072" cy="896112"/>
          </a:xfrm>
          <a:prstGeom prst="rect">
            <a:avLst/>
          </a:prstGeom>
          <a:noFill/>
          <a:ln w="8255"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84832" y="2468880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2249424" y="2468880"/>
            <a:ext cx="61722" cy="49377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142439" y="2450363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307031" y="2450363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200046" y="2431846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364638" y="2431846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257653" y="2413330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422245" y="2413330"/>
            <a:ext cx="61722" cy="49377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315260" y="2394813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479852" y="2394813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257032" y="2468880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8421624" y="2468880"/>
            <a:ext cx="61722" cy="49377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8314639" y="2450363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8479231" y="2450363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372246" y="2431846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8536838" y="2431846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8429853" y="2413330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8594445" y="2413330"/>
            <a:ext cx="61722" cy="49377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487460" y="2394813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8652052" y="2394813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24912" y="2715768"/>
            <a:ext cx="5486400" cy="0"/>
          </a:xfrm>
          <a:prstGeom prst="line">
            <a:avLst/>
          </a:prstGeom>
          <a:ln w="10160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965192" y="2624328"/>
            <a:ext cx="18745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40" b="1">
                <a:solidFill>
                  <a:srgbClr val="121619"/>
                </a:solidFill>
                <a:latin typeface="Malgun Gothic"/>
              </a:rPr>
              <a:t>솔루션 업로드
Ex) Image Engine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93392" y="4133087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2139696" y="4133087"/>
            <a:ext cx="54864" cy="43892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044598" y="4116628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2190902" y="4116628"/>
            <a:ext cx="54864" cy="43892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095804" y="4100169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2242108" y="4100169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2147011" y="4083710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2293315" y="4083710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2198217" y="4067251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2344521" y="4067251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4050791" y="4133087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4197096" y="4133087"/>
            <a:ext cx="54863" cy="43892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4101998" y="4116628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4248302" y="4116628"/>
            <a:ext cx="54864" cy="43892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4153204" y="4100169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4299508" y="4100169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4204411" y="4083710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4350715" y="4083710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4255617" y="4067251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4401921" y="4067251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5833871" y="4041648"/>
            <a:ext cx="960120" cy="310896"/>
          </a:xfrm>
          <a:prstGeom prst="rect">
            <a:avLst/>
          </a:prstGeom>
          <a:solidFill>
            <a:srgbClr val="E5EBEE"/>
          </a:solidFill>
          <a:ln w="8255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33871" y="408736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21619"/>
                </a:solidFill>
                <a:latin typeface="Malgun Gothic"/>
              </a:rPr>
              <a:t>대내MCI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99832" y="4041648"/>
            <a:ext cx="987552" cy="310896"/>
          </a:xfrm>
          <a:prstGeom prst="rect">
            <a:avLst/>
          </a:prstGeom>
          <a:solidFill>
            <a:srgbClr val="E5EBEE"/>
          </a:solidFill>
          <a:ln w="8255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99832" y="4087368"/>
            <a:ext cx="9875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21619"/>
                </a:solidFill>
                <a:latin typeface="Malgun Gothic"/>
              </a:rPr>
              <a:t>업무시스템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28432" y="4498848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8174736" y="4498848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8079638" y="4482388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8225942" y="4482388"/>
            <a:ext cx="54864" cy="43892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8130844" y="4465929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8277148" y="4465929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8182051" y="4449470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8328355" y="4449470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8233257" y="4433011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8379561" y="4433011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3703320" y="4956048"/>
            <a:ext cx="5806440" cy="164592"/>
          </a:xfrm>
          <a:prstGeom prst="rect">
            <a:avLst/>
          </a:prstGeom>
          <a:solidFill>
            <a:srgbClr val="2C3036"/>
          </a:solidFill>
          <a:ln w="5715">
            <a:solidFill>
              <a:srgbClr val="2C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03320" y="4956048"/>
            <a:ext cx="58064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20" b="1">
                <a:solidFill>
                  <a:srgbClr val="F8F8F8"/>
                </a:solidFill>
                <a:latin typeface="Malgun Gothic"/>
              </a:rPr>
              <a:t>MFT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16952" y="6446520"/>
            <a:ext cx="3977639" cy="164592"/>
          </a:xfrm>
          <a:prstGeom prst="rect">
            <a:avLst/>
          </a:prstGeom>
          <a:solidFill>
            <a:srgbClr val="2C3036"/>
          </a:solidFill>
          <a:ln w="5715">
            <a:solidFill>
              <a:srgbClr val="2C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16952" y="6446520"/>
            <a:ext cx="3977639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20" b="1">
                <a:solidFill>
                  <a:srgbClr val="F8F8F8"/>
                </a:solidFill>
                <a:latin typeface="Malgun Gothic"/>
              </a:rPr>
              <a:t>MFT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542032" y="4315968"/>
            <a:ext cx="1463040" cy="0"/>
          </a:xfrm>
          <a:prstGeom prst="line">
            <a:avLst/>
          </a:prstGeom>
          <a:ln w="8255">
            <a:solidFill>
              <a:srgbClr val="3A404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2496312" y="4160520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496312" y="4155948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1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776472" y="3950207"/>
            <a:ext cx="2057399" cy="0"/>
          </a:xfrm>
          <a:prstGeom prst="line">
            <a:avLst/>
          </a:prstGeom>
          <a:ln w="952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5285231" y="3831335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285231" y="3826763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2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291071" y="4361688"/>
            <a:ext cx="0" cy="59436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6172199" y="4407407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72199" y="4402836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3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4306824" y="4544568"/>
            <a:ext cx="0" cy="41148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4187952" y="472744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680" b="1">
                <a:solidFill>
                  <a:srgbClr val="121619"/>
                </a:solidFill>
                <a:latin typeface="Malgun Gothic"/>
              </a:rPr>
              <a:t>READ</a:t>
            </a:r>
          </a:p>
        </p:txBody>
      </p:sp>
      <p:sp>
        <p:nvSpPr>
          <p:cNvPr id="109" name="Oval 108"/>
          <p:cNvSpPr/>
          <p:nvPr/>
        </p:nvSpPr>
        <p:spPr>
          <a:xfrm>
            <a:off x="4215384" y="4498848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15384" y="4494276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4</a:t>
            </a:r>
          </a:p>
        </p:txBody>
      </p:sp>
      <p:cxnSp>
        <p:nvCxnSpPr>
          <p:cNvPr id="111" name="Connector 110"/>
          <p:cNvCxnSpPr/>
          <p:nvPr/>
        </p:nvCxnSpPr>
        <p:spPr>
          <a:xfrm flipV="1">
            <a:off x="8302752" y="4507992"/>
            <a:ext cx="0" cy="265176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8211312" y="470915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680" b="1">
                <a:solidFill>
                  <a:srgbClr val="121619"/>
                </a:solidFill>
                <a:latin typeface="Malgun Gothic"/>
              </a:rPr>
              <a:t>WRITE</a:t>
            </a:r>
          </a:p>
        </p:txBody>
      </p:sp>
      <p:sp>
        <p:nvSpPr>
          <p:cNvPr id="113" name="Oval 112"/>
          <p:cNvSpPr/>
          <p:nvPr/>
        </p:nvSpPr>
        <p:spPr>
          <a:xfrm>
            <a:off x="8220456" y="4526279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220456" y="4521707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5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6793992" y="4224528"/>
            <a:ext cx="0" cy="73152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6675119" y="4434840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675119" y="4430268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6</a:t>
            </a:r>
          </a:p>
        </p:txBody>
      </p:sp>
      <p:cxnSp>
        <p:nvCxnSpPr>
          <p:cNvPr id="118" name="Connector 117"/>
          <p:cNvCxnSpPr/>
          <p:nvPr/>
        </p:nvCxnSpPr>
        <p:spPr>
          <a:xfrm flipH="1">
            <a:off x="6793992" y="4178807"/>
            <a:ext cx="1993392" cy="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8074152" y="3977639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74152" y="3973068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7</a:t>
            </a:r>
          </a:p>
        </p:txBody>
      </p:sp>
      <p:cxnSp>
        <p:nvCxnSpPr>
          <p:cNvPr id="121" name="Connector 120"/>
          <p:cNvCxnSpPr/>
          <p:nvPr/>
        </p:nvCxnSpPr>
        <p:spPr>
          <a:xfrm flipH="1">
            <a:off x="6793992" y="4270248"/>
            <a:ext cx="1005840" cy="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7388352" y="4133087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388352" y="4128515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8</a:t>
            </a:r>
          </a:p>
        </p:txBody>
      </p:sp>
      <p:cxnSp>
        <p:nvCxnSpPr>
          <p:cNvPr id="124" name="Connector 123"/>
          <p:cNvCxnSpPr/>
          <p:nvPr/>
        </p:nvCxnSpPr>
        <p:spPr>
          <a:xfrm flipH="1">
            <a:off x="2404872" y="4498848"/>
            <a:ext cx="1645919" cy="0"/>
          </a:xfrm>
          <a:prstGeom prst="line">
            <a:avLst/>
          </a:prstGeom>
          <a:ln w="8255">
            <a:solidFill>
              <a:srgbClr val="3A404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3547872" y="4379976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547872" y="4375404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982712" y="5733288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8139988" y="5733288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8037758" y="5715594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8195035" y="5715594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8092805" y="5697900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8250082" y="5697900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8147852" y="5680207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8305129" y="5680207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8202899" y="5662513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8360176" y="5662513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10040112" y="5733288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10197388" y="5733288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10095158" y="5715594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10252435" y="5715594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10150205" y="5697900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10307482" y="5697900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10205252" y="5680207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10362529" y="5680207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10260299" y="5662513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10417576" y="5662513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8302752" y="6153912"/>
            <a:ext cx="0" cy="292608"/>
          </a:xfrm>
          <a:prstGeom prst="line">
            <a:avLst/>
          </a:prstGeom>
          <a:ln w="952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8220456" y="61904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700" b="1">
                <a:solidFill>
                  <a:srgbClr val="121619"/>
                </a:solidFill>
                <a:latin typeface="Malgun Gothic"/>
              </a:rPr>
              <a:t>READ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10360152" y="6153912"/>
            <a:ext cx="0" cy="292608"/>
          </a:xfrm>
          <a:prstGeom prst="line">
            <a:avLst/>
          </a:prstGeom>
          <a:ln w="952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0222992" y="6190488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700" b="1">
                <a:solidFill>
                  <a:srgbClr val="121619"/>
                </a:solidFill>
                <a:latin typeface="Malgun Gothic"/>
              </a:rPr>
              <a:t>WRITE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123944" y="58795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690" b="1">
                <a:solidFill>
                  <a:srgbClr val="121619"/>
                </a:solidFill>
                <a:latin typeface="Malgun Gothic"/>
              </a:rPr>
              <a:t>(*) 서버에 MFT Agent를 설치될 수 없는 환경에서는
    EAI의 sFTP 기능을 활용하여 파일을 전송한다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359152" y="428853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80" b="1">
                <a:solidFill>
                  <a:srgbClr val="121619"/>
                </a:solidFill>
                <a:latin typeface="Malgun Gothic"/>
              </a:rPr>
              <a:t>단말 업로드
기능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04672" y="4709159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30" b="1">
                <a:solidFill>
                  <a:srgbClr val="121619"/>
                </a:solidFill>
                <a:latin typeface="Malgun Gothic"/>
              </a:rPr>
              <a:t>* 주요 단말 파일전송 표준 적용
  여부에 따라 변경 가능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20040" y="6473952"/>
            <a:ext cx="82296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00" b="0">
                <a:solidFill>
                  <a:srgbClr val="323232"/>
                </a:solidFill>
                <a:latin typeface="Malgun Gothic"/>
              </a:rPr>
              <a:t>KDB산업은행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053328" y="6473952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00" b="0">
                <a:solidFill>
                  <a:srgbClr val="323232"/>
                </a:solidFill>
                <a:latin typeface="Malgun Gothic"/>
              </a:rPr>
              <a:t/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835640" y="6419088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00" b="1">
                <a:solidFill>
                  <a:srgbClr val="323232"/>
                </a:solidFill>
                <a:latin typeface="Malgun Gothic"/>
              </a:rPr>
              <a:t>SK C&amp;C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FD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CF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91440"/>
            <a:ext cx="11868912" cy="6611112"/>
          </a:xfrm>
          <a:prstGeom prst="rect">
            <a:avLst/>
          </a:prstGeom>
          <a:solidFill>
            <a:srgbClr val="DB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46888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1700" b="1">
                <a:solidFill>
                  <a:srgbClr val="121619"/>
                </a:solidFill>
                <a:latin typeface="Malgun Gothic"/>
              </a:rPr>
              <a:t>1.3.2 파일 연계 - 구간별 연계흐름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164592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50" b="1">
                <a:solidFill>
                  <a:srgbClr val="121619"/>
                </a:solidFill>
                <a:latin typeface="Malgun Gothic"/>
              </a:rPr>
              <a:t>1. 인터페이스 기본정책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36576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r"/>
            <a:r>
              <a:rPr sz="850" b="1">
                <a:solidFill>
                  <a:srgbClr val="121619"/>
                </a:solidFill>
                <a:latin typeface="Malgun Gothic"/>
              </a:rPr>
              <a:t>1.3 설계기준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" y="694944"/>
            <a:ext cx="11329416" cy="0"/>
          </a:xfrm>
          <a:prstGeom prst="line">
            <a:avLst/>
          </a:prstGeom>
          <a:ln w="952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38328" y="850392"/>
            <a:ext cx="86868" cy="86868"/>
          </a:xfrm>
          <a:prstGeom prst="rect">
            <a:avLst/>
          </a:prstGeom>
          <a:noFill/>
          <a:ln w="6985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77724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900" b="1">
                <a:solidFill>
                  <a:srgbClr val="121619"/>
                </a:solidFill>
                <a:latin typeface="Malgun Gothic"/>
              </a:rPr>
              <a:t>차세대 정보시스템 파일을 송신하는 구간 중, MFT를 이용한 파일전송은 내부 서버 TO 서버 구간 에만 적용함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417320"/>
            <a:ext cx="11292840" cy="5138928"/>
          </a:xfrm>
          <a:prstGeom prst="rect">
            <a:avLst/>
          </a:prstGeom>
          <a:solidFill>
            <a:srgbClr val="E2E7EB"/>
          </a:solidFill>
          <a:ln w="9525">
            <a:solidFill>
              <a:srgbClr val="3F4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10512" y="1581912"/>
            <a:ext cx="1325880" cy="365760"/>
          </a:xfrm>
          <a:prstGeom prst="rect">
            <a:avLst/>
          </a:prstGeom>
          <a:solidFill>
            <a:srgbClr val="2C3036"/>
          </a:solidFill>
          <a:ln w="6985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16276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0" b="1">
                <a:solidFill>
                  <a:srgbClr val="F8F8F8"/>
                </a:solidFill>
                <a:latin typeface="Malgun Gothic"/>
              </a:rPr>
              <a:t>통합단말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1581912"/>
            <a:ext cx="1325880" cy="365760"/>
          </a:xfrm>
          <a:prstGeom prst="rect">
            <a:avLst/>
          </a:prstGeom>
          <a:solidFill>
            <a:srgbClr val="2C3036"/>
          </a:solidFill>
          <a:ln w="6985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16276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0" b="1">
                <a:solidFill>
                  <a:srgbClr val="F8F8F8"/>
                </a:solidFill>
                <a:latin typeface="Malgun Gothic"/>
              </a:rPr>
              <a:t>단말관리
서버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1" y="1581912"/>
            <a:ext cx="1325880" cy="365760"/>
          </a:xfrm>
          <a:prstGeom prst="rect">
            <a:avLst/>
          </a:prstGeom>
          <a:solidFill>
            <a:srgbClr val="2C3036"/>
          </a:solidFill>
          <a:ln w="6985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16276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0" b="1">
                <a:solidFill>
                  <a:srgbClr val="F8F8F8"/>
                </a:solidFill>
                <a:latin typeface="Malgun Gothic"/>
              </a:rPr>
              <a:t>대내MCI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4112" y="1581912"/>
            <a:ext cx="1325880" cy="365760"/>
          </a:xfrm>
          <a:prstGeom prst="rect">
            <a:avLst/>
          </a:prstGeom>
          <a:solidFill>
            <a:srgbClr val="2C3036"/>
          </a:solidFill>
          <a:ln w="6985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2" y="16276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0" b="1">
                <a:solidFill>
                  <a:srgbClr val="F8F8F8"/>
                </a:solidFill>
                <a:latin typeface="Malgun Gothic"/>
              </a:rPr>
              <a:t>업무시스템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65792" y="1581912"/>
            <a:ext cx="1325880" cy="365760"/>
          </a:xfrm>
          <a:prstGeom prst="rect">
            <a:avLst/>
          </a:prstGeom>
          <a:solidFill>
            <a:srgbClr val="2C3036"/>
          </a:solidFill>
          <a:ln w="6985"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16276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0" b="1">
                <a:solidFill>
                  <a:srgbClr val="F8F8F8"/>
                </a:solidFill>
                <a:latin typeface="Malgun Gothic"/>
              </a:rPr>
              <a:t>대외MCI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19" b="1">
                <a:solidFill>
                  <a:srgbClr val="121619"/>
                </a:solidFill>
                <a:latin typeface="Malgun Gothic"/>
              </a:rPr>
              <a:t>구간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2148840"/>
            <a:ext cx="11109960" cy="0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2350008"/>
            <a:ext cx="868680" cy="1097279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9" b="1">
                <a:solidFill>
                  <a:srgbClr val="121619"/>
                </a:solidFill>
                <a:latin typeface="Malgun Gothic"/>
              </a:rPr>
              <a:t>단말
서버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63624" y="2148840"/>
            <a:ext cx="0" cy="1481328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0352" y="3630168"/>
            <a:ext cx="11109960" cy="0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3831335"/>
            <a:ext cx="868680" cy="133502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9" b="1">
                <a:solidFill>
                  <a:srgbClr val="121619"/>
                </a:solidFill>
                <a:latin typeface="Malgun Gothic"/>
              </a:rPr>
              <a:t>단말
관리서버
서버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63624" y="3630168"/>
            <a:ext cx="0" cy="1719072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0352" y="5349240"/>
            <a:ext cx="11109960" cy="0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5550407"/>
            <a:ext cx="86868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819" b="1">
                <a:solidFill>
                  <a:srgbClr val="121619"/>
                </a:solidFill>
                <a:latin typeface="Malgun Gothic"/>
              </a:rPr>
              <a:t>서버
대외MCI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63624" y="5349240"/>
            <a:ext cx="0" cy="1207008"/>
          </a:xfrm>
          <a:prstGeom prst="line">
            <a:avLst/>
          </a:prstGeom>
          <a:ln w="698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581912" y="1508760"/>
            <a:ext cx="0" cy="4956048"/>
          </a:xfrm>
          <a:prstGeom prst="line">
            <a:avLst/>
          </a:prstGeom>
          <a:ln w="6350">
            <a:solidFill>
              <a:srgbClr val="6E747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93592" y="1508760"/>
            <a:ext cx="0" cy="4956048"/>
          </a:xfrm>
          <a:prstGeom prst="line">
            <a:avLst/>
          </a:prstGeom>
          <a:ln w="6350">
            <a:solidFill>
              <a:srgbClr val="6E747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13831" y="1508760"/>
            <a:ext cx="0" cy="4956048"/>
          </a:xfrm>
          <a:prstGeom prst="line">
            <a:avLst/>
          </a:prstGeom>
          <a:ln w="6350">
            <a:solidFill>
              <a:srgbClr val="6E747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25512" y="1508760"/>
            <a:ext cx="0" cy="4956048"/>
          </a:xfrm>
          <a:prstGeom prst="line">
            <a:avLst/>
          </a:prstGeom>
          <a:ln w="6350">
            <a:solidFill>
              <a:srgbClr val="6E747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537192" y="1508760"/>
            <a:ext cx="0" cy="4956048"/>
          </a:xfrm>
          <a:prstGeom prst="line">
            <a:avLst/>
          </a:prstGeom>
          <a:ln w="6350">
            <a:solidFill>
              <a:srgbClr val="6E747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648456" y="3703320"/>
            <a:ext cx="7973568" cy="2743200"/>
          </a:xfrm>
          <a:prstGeom prst="rect">
            <a:avLst/>
          </a:prstGeom>
          <a:noFill/>
          <a:ln w="10160">
            <a:solidFill>
              <a:srgbClr val="464C5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98664" y="5513831"/>
            <a:ext cx="4005072" cy="896112"/>
          </a:xfrm>
          <a:prstGeom prst="rect">
            <a:avLst/>
          </a:prstGeom>
          <a:noFill/>
          <a:ln w="8255">
            <a:solidFill>
              <a:srgbClr val="41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84832" y="2468880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2249424" y="2468880"/>
            <a:ext cx="61722" cy="49377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142439" y="2450363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307031" y="2450363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200046" y="2431846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364638" y="2431846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257653" y="2413330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422245" y="2413330"/>
            <a:ext cx="61722" cy="49377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315260" y="2394813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479852" y="2394813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257032" y="2468880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8421624" y="2468880"/>
            <a:ext cx="61722" cy="49377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8314639" y="2450363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8479231" y="2450363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372246" y="2431846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8536838" y="2431846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8429853" y="2413330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8594445" y="2413330"/>
            <a:ext cx="61722" cy="49377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487460" y="2394813"/>
            <a:ext cx="226314" cy="288036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8652052" y="2394813"/>
            <a:ext cx="61722" cy="49378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2724912" y="2715768"/>
            <a:ext cx="5486400" cy="0"/>
          </a:xfrm>
          <a:prstGeom prst="line">
            <a:avLst/>
          </a:prstGeom>
          <a:ln w="10160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965192" y="2624328"/>
            <a:ext cx="18745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40" b="1">
                <a:solidFill>
                  <a:srgbClr val="121619"/>
                </a:solidFill>
                <a:latin typeface="Malgun Gothic"/>
              </a:rPr>
              <a:t>솔루션 다운로드 기능
Ex) Image Engine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93392" y="4133087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2139696" y="4133087"/>
            <a:ext cx="54864" cy="43892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044598" y="4116628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2190902" y="4116628"/>
            <a:ext cx="54864" cy="43892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095804" y="4100169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2242108" y="4100169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2147011" y="4083710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2293315" y="4083710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2198217" y="4067251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2344521" y="4067251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4050791" y="4133087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4197096" y="4133087"/>
            <a:ext cx="54863" cy="43892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4101998" y="4116628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4248302" y="4116628"/>
            <a:ext cx="54864" cy="43892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4153204" y="4100169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4299508" y="4100169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4204411" y="4083710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4350715" y="4083710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4255617" y="4067251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4401921" y="4067251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5833871" y="4041648"/>
            <a:ext cx="960120" cy="310896"/>
          </a:xfrm>
          <a:prstGeom prst="rect">
            <a:avLst/>
          </a:prstGeom>
          <a:solidFill>
            <a:srgbClr val="E5EBEE"/>
          </a:solidFill>
          <a:ln w="8255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33871" y="408736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21619"/>
                </a:solidFill>
                <a:latin typeface="Malgun Gothic"/>
              </a:rPr>
              <a:t>대내MCI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99832" y="4041648"/>
            <a:ext cx="987552" cy="310896"/>
          </a:xfrm>
          <a:prstGeom prst="rect">
            <a:avLst/>
          </a:prstGeom>
          <a:solidFill>
            <a:srgbClr val="E5EBEE"/>
          </a:solidFill>
          <a:ln w="8255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99832" y="4087368"/>
            <a:ext cx="9875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21619"/>
                </a:solidFill>
                <a:latin typeface="Malgun Gothic"/>
              </a:rPr>
              <a:t>업무시스템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28432" y="4498848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8174736" y="4498848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8079638" y="4482388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8225942" y="4482388"/>
            <a:ext cx="54864" cy="43892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8130844" y="4465929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8277148" y="4465929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8182051" y="4449470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8328355" y="4449470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8233257" y="4433011"/>
            <a:ext cx="201168" cy="256031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8379561" y="4433011"/>
            <a:ext cx="54864" cy="43891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3703320" y="4956048"/>
            <a:ext cx="5806440" cy="164592"/>
          </a:xfrm>
          <a:prstGeom prst="rect">
            <a:avLst/>
          </a:prstGeom>
          <a:solidFill>
            <a:srgbClr val="2C3036"/>
          </a:solidFill>
          <a:ln w="5715">
            <a:solidFill>
              <a:srgbClr val="2C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03320" y="4956048"/>
            <a:ext cx="58064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20" b="1">
                <a:solidFill>
                  <a:srgbClr val="F8F8F8"/>
                </a:solidFill>
                <a:latin typeface="Malgun Gothic"/>
              </a:rPr>
              <a:t>MFT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16952" y="6446520"/>
            <a:ext cx="3977639" cy="164592"/>
          </a:xfrm>
          <a:prstGeom prst="rect">
            <a:avLst/>
          </a:prstGeom>
          <a:solidFill>
            <a:srgbClr val="2C3036"/>
          </a:solidFill>
          <a:ln w="5715">
            <a:solidFill>
              <a:srgbClr val="2C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16952" y="6446520"/>
            <a:ext cx="3977639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720" b="1">
                <a:solidFill>
                  <a:srgbClr val="F8F8F8"/>
                </a:solidFill>
                <a:latin typeface="Malgun Gothic"/>
              </a:rPr>
              <a:t>MFT</a:t>
            </a:r>
          </a:p>
        </p:txBody>
      </p:sp>
      <p:cxnSp>
        <p:nvCxnSpPr>
          <p:cNvPr id="98" name="Connector 97"/>
          <p:cNvCxnSpPr/>
          <p:nvPr/>
        </p:nvCxnSpPr>
        <p:spPr>
          <a:xfrm flipH="1">
            <a:off x="6793992" y="4041648"/>
            <a:ext cx="1005840" cy="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7507224" y="3904487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07224" y="3899915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1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730752" y="4041648"/>
            <a:ext cx="2103119" cy="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5239512" y="3904487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239512" y="3899915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2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291071" y="4361688"/>
            <a:ext cx="0" cy="59436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6153912" y="4498848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53912" y="4494276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3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793992" y="4215383"/>
            <a:ext cx="1005840" cy="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7434072" y="4105656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434072" y="4101084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4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656831" y="4361688"/>
            <a:ext cx="0" cy="59436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6519671" y="4526279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519671" y="4521707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5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302752" y="4471416"/>
            <a:ext cx="0" cy="484632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8211312" y="4654296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680" b="1">
                <a:solidFill>
                  <a:srgbClr val="121619"/>
                </a:solidFill>
                <a:latin typeface="Malgun Gothic"/>
              </a:rPr>
              <a:t>READ</a:t>
            </a:r>
          </a:p>
        </p:txBody>
      </p:sp>
      <p:sp>
        <p:nvSpPr>
          <p:cNvPr id="115" name="Oval 114"/>
          <p:cNvSpPr/>
          <p:nvPr/>
        </p:nvSpPr>
        <p:spPr>
          <a:xfrm>
            <a:off x="8220456" y="4526279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220456" y="4521707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6</a:t>
            </a:r>
          </a:p>
        </p:txBody>
      </p:sp>
      <p:cxnSp>
        <p:nvCxnSpPr>
          <p:cNvPr id="117" name="Connector 116"/>
          <p:cNvCxnSpPr/>
          <p:nvPr/>
        </p:nvCxnSpPr>
        <p:spPr>
          <a:xfrm flipV="1">
            <a:off x="4306824" y="4544568"/>
            <a:ext cx="0" cy="41148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169664" y="4709159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680" b="1">
                <a:solidFill>
                  <a:srgbClr val="121619"/>
                </a:solidFill>
                <a:latin typeface="Malgun Gothic"/>
              </a:rPr>
              <a:t>WRITE</a:t>
            </a:r>
          </a:p>
        </p:txBody>
      </p:sp>
      <p:sp>
        <p:nvSpPr>
          <p:cNvPr id="119" name="Oval 118"/>
          <p:cNvSpPr/>
          <p:nvPr/>
        </p:nvSpPr>
        <p:spPr>
          <a:xfrm>
            <a:off x="4187952" y="4498848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87952" y="4494276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7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291071" y="4361688"/>
            <a:ext cx="0" cy="594360"/>
          </a:xfrm>
          <a:prstGeom prst="line">
            <a:avLst/>
          </a:prstGeom>
          <a:ln w="825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6135623" y="4398264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135623" y="4393692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8</a:t>
            </a:r>
          </a:p>
        </p:txBody>
      </p:sp>
      <p:cxnSp>
        <p:nvCxnSpPr>
          <p:cNvPr id="124" name="Connector 123"/>
          <p:cNvCxnSpPr/>
          <p:nvPr/>
        </p:nvCxnSpPr>
        <p:spPr>
          <a:xfrm flipH="1">
            <a:off x="2404872" y="4361688"/>
            <a:ext cx="1645919" cy="0"/>
          </a:xfrm>
          <a:prstGeom prst="line">
            <a:avLst/>
          </a:prstGeom>
          <a:ln w="8255">
            <a:solidFill>
              <a:srgbClr val="3A404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3538728" y="4224528"/>
            <a:ext cx="155448" cy="155448"/>
          </a:xfrm>
          <a:prstGeom prst="ellipse">
            <a:avLst/>
          </a:prstGeom>
          <a:solidFill>
            <a:srgbClr val="626970"/>
          </a:solidFill>
          <a:ln w="5080">
            <a:solidFill>
              <a:srgbClr val="3A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538728" y="4219956"/>
            <a:ext cx="1554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60" b="1">
                <a:solidFill>
                  <a:srgbClr val="F8F8F8"/>
                </a:solidFill>
                <a:latin typeface="Malgun Gothic"/>
              </a:rPr>
              <a:t>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99832" y="5733288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7957108" y="5733288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7854878" y="5715594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8012155" y="5715594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7909925" y="5697900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8067202" y="5697900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7964972" y="5680207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8122249" y="5680207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8020019" y="5662513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8177296" y="5662513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10012680" y="5733288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10169956" y="5733288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10067726" y="5715594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10225003" y="5715594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10122773" y="5697900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10280050" y="5697900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10177820" y="5680207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10335097" y="5680207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10232867" y="5662513"/>
            <a:ext cx="216255" cy="275234"/>
          </a:xfrm>
          <a:prstGeom prst="rect">
            <a:avLst/>
          </a:prstGeom>
          <a:solidFill>
            <a:srgbClr val="EFF3F6"/>
          </a:solidFill>
          <a:ln w="5715"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10390144" y="5662513"/>
            <a:ext cx="58979" cy="47183"/>
          </a:xfrm>
          <a:prstGeom prst="line">
            <a:avLst/>
          </a:prstGeom>
          <a:ln w="4445">
            <a:solidFill>
              <a:srgbClr val="26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119872" y="6153912"/>
            <a:ext cx="0" cy="292608"/>
          </a:xfrm>
          <a:prstGeom prst="line">
            <a:avLst/>
          </a:prstGeom>
          <a:ln w="952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7964424" y="6190488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700" b="1">
                <a:solidFill>
                  <a:srgbClr val="121619"/>
                </a:solidFill>
                <a:latin typeface="Malgun Gothic"/>
              </a:rPr>
              <a:t>WRITE</a:t>
            </a:r>
          </a:p>
        </p:txBody>
      </p:sp>
      <p:cxnSp>
        <p:nvCxnSpPr>
          <p:cNvPr id="149" name="Connector 148"/>
          <p:cNvCxnSpPr/>
          <p:nvPr/>
        </p:nvCxnSpPr>
        <p:spPr>
          <a:xfrm flipV="1">
            <a:off x="10341864" y="6153912"/>
            <a:ext cx="0" cy="292608"/>
          </a:xfrm>
          <a:prstGeom prst="line">
            <a:avLst/>
          </a:prstGeom>
          <a:ln w="9525">
            <a:solidFill>
              <a:srgbClr val="3A4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0250424" y="61904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700" b="1">
                <a:solidFill>
                  <a:srgbClr val="121619"/>
                </a:solidFill>
                <a:latin typeface="Malgun Gothic"/>
              </a:rPr>
              <a:t>READ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123944" y="58795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690" b="1">
                <a:solidFill>
                  <a:srgbClr val="121619"/>
                </a:solidFill>
                <a:latin typeface="Malgun Gothic"/>
              </a:rPr>
              <a:t>(*) 서버에 MFT Agent를 설치될 수 없는 환경에서는
    EAI의 sFTP 기능을 활용하여 파일을 전송한다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359152" y="428853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80" b="1">
                <a:solidFill>
                  <a:srgbClr val="121619"/>
                </a:solidFill>
                <a:latin typeface="Malgun Gothic"/>
              </a:rPr>
              <a:t>단말 다운로드
기능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04672" y="4709159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30" b="1">
                <a:solidFill>
                  <a:srgbClr val="121619"/>
                </a:solidFill>
                <a:latin typeface="Malgun Gothic"/>
              </a:rPr>
              <a:t>* 주요 단말 파일전송 표준 적용
  여부에 따라 변경 가능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20040" y="6473952"/>
            <a:ext cx="82296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00" b="0">
                <a:solidFill>
                  <a:srgbClr val="323232"/>
                </a:solidFill>
                <a:latin typeface="Malgun Gothic"/>
              </a:rPr>
              <a:t>KDB산업은행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053328" y="6473952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500" b="0">
                <a:solidFill>
                  <a:srgbClr val="323232"/>
                </a:solidFill>
                <a:latin typeface="Malgun Gothic"/>
              </a:rPr>
              <a:t>18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835640" y="6419088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9144" bIns="9144" anchor="ctr">
            <a:spAutoFit/>
          </a:bodyPr>
          <a:lstStyle/>
          <a:p>
            <a:pPr algn="l"/>
            <a:r>
              <a:rPr sz="500" b="1">
                <a:solidFill>
                  <a:srgbClr val="323232"/>
                </a:solidFill>
                <a:latin typeface="Malgun Gothic"/>
              </a:rPr>
              <a:t>SK C&amp;C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1.3.3 파일 연계 - 서버간 연계흐름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6032" y="6217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서버간 MFT를 이용한 파일 전송에 대한 다이어그램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24128"/>
            <a:ext cx="11384280" cy="523036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8448" y="1225296"/>
            <a:ext cx="1417320" cy="42062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서버</a:t>
            </a:r>
          </a:p>
        </p:txBody>
      </p:sp>
      <p:sp>
        <p:nvSpPr>
          <p:cNvPr id="9" name="Rectangle 8"/>
          <p:cNvSpPr/>
          <p:nvPr/>
        </p:nvSpPr>
        <p:spPr>
          <a:xfrm>
            <a:off x="5532120" y="1225296"/>
            <a:ext cx="1554480" cy="42062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MFT서버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1225296"/>
            <a:ext cx="1417320" cy="42062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서버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93392" y="1645920"/>
            <a:ext cx="0" cy="3511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72784" y="1645920"/>
            <a:ext cx="0" cy="3511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332720" y="1645920"/>
            <a:ext cx="0" cy="351129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16200000">
            <a:off x="137160" y="3108960"/>
            <a:ext cx="182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  <a:latin typeface="맑은 고딕"/>
              </a:rPr>
              <a:t>Time 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" y="1078992"/>
            <a:ext cx="0" cy="4005072"/>
          </a:xfrm>
          <a:prstGeom prst="line">
            <a:avLst/>
          </a:prstGeom>
          <a:ln w="1143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7552" y="1920240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파일생성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16736" y="2139696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2700000">
            <a:off x="1483705" y="2171882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40876" y="2154180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2700000">
            <a:off x="1507845" y="2186366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65016" y="2168664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2700000">
            <a:off x="1531985" y="2200851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156" y="2183148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2700000">
            <a:off x="1556125" y="2215335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38528" y="2112264"/>
            <a:ext cx="91440" cy="420624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2084831"/>
            <a:ext cx="91440" cy="54864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29968" y="2322576"/>
            <a:ext cx="416966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03320" y="2157984"/>
            <a:ext cx="1280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파일전송 API 호출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029968" y="2706624"/>
            <a:ext cx="416966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22191" y="2551176"/>
            <a:ext cx="1051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파일 전송 요청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2761488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2700000">
            <a:off x="880201" y="2793674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7372" y="2775972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2700000">
            <a:off x="904341" y="2808158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1512" y="2790456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2700000">
            <a:off x="928481" y="2822643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5652" y="2804940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2700000">
            <a:off x="952621" y="2837127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4984" y="2788920"/>
            <a:ext cx="548640" cy="530352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MFT
Agent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15984" y="2706624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2700000">
            <a:off x="9182953" y="2738810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40124" y="2721108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2700000">
            <a:off x="9207093" y="2753294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64264" y="2735592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 rot="2700000">
            <a:off x="9231233" y="2767779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88404" y="2750076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2700000">
            <a:off x="9255373" y="2782263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40112" y="2761488"/>
            <a:ext cx="548640" cy="530352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MFT
Agent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563624" y="3017520"/>
            <a:ext cx="847648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563624" y="3090672"/>
            <a:ext cx="847648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563624" y="3163824"/>
            <a:ext cx="847648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961120" y="254203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파일전송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56032" y="5175504"/>
            <a:ext cx="113842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02336" y="532180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맑은 고딕"/>
              </a:rPr>
              <a:t>• 서버간 파일 전송은 MFT가 담당한다.</a:t>
            </a:r>
          </a:p>
          <a:p>
            <a:pPr algn="l"/>
            <a:r>
              <a:rPr sz="1300">
                <a:solidFill>
                  <a:srgbClr val="000000"/>
                </a:solidFill>
                <a:latin typeface="맑은 고딕"/>
              </a:rPr>
              <a:t>• MFT 전송을 위해서는 송수신 서버에 MFT Agent가 반드시 설치되어야 한다.</a:t>
            </a:r>
          </a:p>
          <a:p>
            <a:pPr algn="l"/>
            <a:r>
              <a:rPr sz="1300">
                <a:solidFill>
                  <a:srgbClr val="000000"/>
                </a:solidFill>
                <a:latin typeface="맑은 고딕"/>
              </a:rPr>
              <a:t>• 요건에 따라 파일 전송에 대한 흐름은 변경될 수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1.3.3 파일 연계 - 서버간 연계흐름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6032" y="603504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서버간 EAI를 이용한 파일 전송에 대한 다이어그램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MFT Agent를 설치할 수 없는 환경에서 활용되는 연계 패턴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33856"/>
            <a:ext cx="11384280" cy="506577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16736" y="1335024"/>
            <a:ext cx="1325880" cy="42062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서버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335024"/>
            <a:ext cx="1051560" cy="42062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EAI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19488" y="1335024"/>
            <a:ext cx="1325880" cy="42062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서버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93392" y="1755648"/>
            <a:ext cx="0" cy="334670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9904" y="1755648"/>
            <a:ext cx="0" cy="334670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77856" y="1755648"/>
            <a:ext cx="0" cy="334670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137160" y="3035808"/>
            <a:ext cx="182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  <a:latin typeface="맑은 고딕"/>
              </a:rPr>
              <a:t>Time 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" y="1188720"/>
            <a:ext cx="0" cy="3803904"/>
          </a:xfrm>
          <a:prstGeom prst="line">
            <a:avLst/>
          </a:prstGeom>
          <a:ln w="1143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7552" y="1965960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파일생성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5024" y="2176272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2700000">
            <a:off x="1501993" y="2208458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59164" y="2190756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2700000">
            <a:off x="1526133" y="2222942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83304" y="2205240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2700000">
            <a:off x="1550273" y="2237427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07444" y="2219724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2700000">
            <a:off x="1574413" y="2251911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38528" y="2103120"/>
            <a:ext cx="91440" cy="438912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044184" y="2084831"/>
            <a:ext cx="91440" cy="566928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29968" y="2322576"/>
            <a:ext cx="4014216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657600" y="2157984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파일전송 API 호출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9904" y="2670048"/>
            <a:ext cx="0" cy="34747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9360" y="2651760"/>
            <a:ext cx="1143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파일연계
필요인 정보 제공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2816352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2700000">
            <a:off x="880201" y="2848538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7372" y="2830836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2700000">
            <a:off x="904341" y="2863022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1512" y="2845320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2700000">
            <a:off x="928481" y="2877507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5652" y="2859804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2700000">
            <a:off x="952621" y="2891991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0120" y="2852928"/>
            <a:ext cx="658368" cy="512064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sFTP
Server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2816352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 rot="2700000">
            <a:off x="9265249" y="2848538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22420" y="2830836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2700000">
            <a:off x="9289389" y="2863022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6560" y="2845320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2700000">
            <a:off x="9313529" y="2877507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70700" y="2859804"/>
            <a:ext cx="2011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 rot="2700000">
            <a:off x="9337669" y="2891991"/>
            <a:ext cx="26151" cy="38039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94976" y="2852928"/>
            <a:ext cx="658368" cy="512064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sFTP
Server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90288" y="3054096"/>
            <a:ext cx="2084831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EAI sFTP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618488" y="3099816"/>
            <a:ext cx="2971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618488" y="3172968"/>
            <a:ext cx="2971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618488" y="3246120"/>
            <a:ext cx="2971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566160" y="2889504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파일 GET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75120" y="3099816"/>
            <a:ext cx="341985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675120" y="3172968"/>
            <a:ext cx="341985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675120" y="3246120"/>
            <a:ext cx="341985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750808" y="2889504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파일 PUT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6032" y="5120640"/>
            <a:ext cx="113842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02336" y="5285232"/>
            <a:ext cx="11109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맑은 고딕"/>
              </a:rPr>
              <a:t>• 송수신 서버 중 어느 한쪽에 MFT Agent가 설치 될 수 없는 경우 EAI의 sFTP Client 기능을 이용하여 파일을 전송한다.</a:t>
            </a:r>
          </a:p>
          <a:p>
            <a:pPr algn="l"/>
            <a:r>
              <a:rPr sz="1250">
                <a:solidFill>
                  <a:srgbClr val="000000"/>
                </a:solidFill>
                <a:latin typeface="맑은 고딕"/>
              </a:rPr>
              <a:t>• EAI 전송을 위해서는 송수신 서버에 sFTP 서버 환경이 반드시 설치되어야 한다.</a:t>
            </a:r>
          </a:p>
          <a:p>
            <a:pPr algn="l"/>
            <a:r>
              <a:rPr sz="1250">
                <a:solidFill>
                  <a:srgbClr val="000000"/>
                </a:solidFill>
                <a:latin typeface="맑은 고딕"/>
              </a:rPr>
              <a:t>• 요건에 따라 파일 전송에 대한 흐름은 변경될 수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1.3.4 파일 연계 - 단말에서 서버로의 연계흐름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6032" y="640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단말에서 업무서버로의 MFT를 이용한 파일 거래에 대한 다이어그램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11475720" cy="50292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40280" y="1243584"/>
            <a:ext cx="2286000" cy="384048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단말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8568" y="1645920"/>
            <a:ext cx="1078992" cy="292608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업무화면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645920"/>
            <a:ext cx="1078992" cy="292608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통신모듈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243584"/>
            <a:ext cx="1261872" cy="530352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단말관리
서버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243584"/>
            <a:ext cx="1152144" cy="530352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대내MCI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93808" y="1243584"/>
            <a:ext cx="1280160" cy="530352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업무서버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64592" y="3182112"/>
            <a:ext cx="2011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  <a:latin typeface="맑은 고딕"/>
              </a:rPr>
              <a:t>Time 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" y="1170432"/>
            <a:ext cx="0" cy="3913632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88920" y="1938528"/>
            <a:ext cx="0" cy="3044952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31920" y="1938528"/>
            <a:ext cx="0" cy="3044952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54496" y="1938528"/>
            <a:ext cx="0" cy="3044952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03920" y="1938528"/>
            <a:ext cx="0" cy="3044952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469880" y="1938528"/>
            <a:ext cx="0" cy="3044952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15568" y="1993392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파일생성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993392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2700000">
            <a:off x="1721449" y="2023567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78620" y="2007876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2700000">
            <a:off x="1745589" y="2038051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2760" y="2022360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2700000">
            <a:off x="1769729" y="2052535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26900" y="2036844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2700000">
            <a:off x="1793869" y="2067019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00200" y="2258568"/>
            <a:ext cx="105156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파일거래 요청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00200" y="2651760"/>
            <a:ext cx="1051560" cy="22860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외연대기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0200" y="4956048"/>
            <a:ext cx="1051560" cy="310896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파일거래 완료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82112" y="3035808"/>
            <a:ext cx="676656" cy="310896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파일전송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35808" y="3584448"/>
            <a:ext cx="896112" cy="932688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거래 처리
요청 전문 송신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95344" y="2514600"/>
            <a:ext cx="73152" cy="475488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3895344" y="3017520"/>
            <a:ext cx="73152" cy="36576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3895344" y="3529584"/>
            <a:ext cx="73152" cy="987552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2487168"/>
            <a:ext cx="73152" cy="54864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2999232"/>
            <a:ext cx="73152" cy="50292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8449056" y="3822191"/>
            <a:ext cx="73152" cy="1024128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10415016" y="4370832"/>
            <a:ext cx="73152" cy="475488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788920" y="2468880"/>
            <a:ext cx="110642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968496" y="2697480"/>
            <a:ext cx="22311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663440" y="2560320"/>
            <a:ext cx="1280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파일거래 요청 송신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3968496" y="2880360"/>
            <a:ext cx="22311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663440" y="2743200"/>
            <a:ext cx="1280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파일거래 응답 수신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2542032"/>
            <a:ext cx="13258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파일거래
필요한 정보 제공
(예: 인증정보)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84064" y="2971800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2700000">
            <a:off x="5251033" y="3001975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8204" y="2986284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 rot="2700000">
            <a:off x="5275173" y="3016459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32344" y="3000768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2700000">
            <a:off x="5299313" y="3030943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56484" y="3015252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 rot="2700000">
            <a:off x="5323453" y="3045427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45152" y="2852928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파일업로드(PUT)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968496" y="3182112"/>
            <a:ext cx="223113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968496" y="3255264"/>
            <a:ext cx="223113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968496" y="3328416"/>
            <a:ext cx="223113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968496" y="3968496"/>
            <a:ext cx="44805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10912" y="3822191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거래 송신(거래 처리 요청)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48656" y="4114800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Isosceles Triangle 62"/>
          <p:cNvSpPr/>
          <p:nvPr/>
        </p:nvSpPr>
        <p:spPr>
          <a:xfrm rot="2700000">
            <a:off x="5415625" y="4144975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72796" y="4129284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Isosceles Triangle 64"/>
          <p:cNvSpPr/>
          <p:nvPr/>
        </p:nvSpPr>
        <p:spPr>
          <a:xfrm rot="2700000">
            <a:off x="5439765" y="4159459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96936" y="4143768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Isosceles Triangle 66"/>
          <p:cNvSpPr/>
          <p:nvPr/>
        </p:nvSpPr>
        <p:spPr>
          <a:xfrm rot="2700000">
            <a:off x="5463905" y="4173943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321076" y="4158252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sosceles Triangle 68"/>
          <p:cNvSpPr/>
          <p:nvPr/>
        </p:nvSpPr>
        <p:spPr>
          <a:xfrm rot="2700000">
            <a:off x="5488045" y="4188427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577840" y="4096512"/>
            <a:ext cx="676656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MFT
Agent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90688" y="4133087"/>
            <a:ext cx="82296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MFT Server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3931920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파일전송요청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254496" y="4187952"/>
            <a:ext cx="219456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254496" y="4261104"/>
            <a:ext cx="219456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790688" y="4462272"/>
            <a:ext cx="82296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MFT Server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55371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파일전송완료</a:t>
            </a:r>
          </a:p>
        </p:txBody>
      </p:sp>
      <p:cxnSp>
        <p:nvCxnSpPr>
          <p:cNvPr id="77" name="Connector 76"/>
          <p:cNvCxnSpPr/>
          <p:nvPr/>
        </p:nvCxnSpPr>
        <p:spPr>
          <a:xfrm flipH="1">
            <a:off x="6254496" y="4553712"/>
            <a:ext cx="219456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6254496" y="4626864"/>
            <a:ext cx="219456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9491472" y="4005072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Isosceles Triangle 79"/>
          <p:cNvSpPr/>
          <p:nvPr/>
        </p:nvSpPr>
        <p:spPr>
          <a:xfrm rot="2700000">
            <a:off x="9658441" y="4035247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15612" y="4019556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Isosceles Triangle 81"/>
          <p:cNvSpPr/>
          <p:nvPr/>
        </p:nvSpPr>
        <p:spPr>
          <a:xfrm rot="2700000">
            <a:off x="9682581" y="4049731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539752" y="4034040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Isosceles Triangle 83"/>
          <p:cNvSpPr/>
          <p:nvPr/>
        </p:nvSpPr>
        <p:spPr>
          <a:xfrm rot="2700000">
            <a:off x="9706721" y="4064215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563892" y="4048524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Isosceles Triangle 85"/>
          <p:cNvSpPr/>
          <p:nvPr/>
        </p:nvSpPr>
        <p:spPr>
          <a:xfrm rot="2700000">
            <a:off x="9730861" y="4078699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646920" y="3840480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맑은 고딕"/>
              </a:rPr>
              <a:t>파일전송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607040" y="4096512"/>
            <a:ext cx="676656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MFT
Agent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522208" y="4187952"/>
            <a:ext cx="2084832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22208" y="4261104"/>
            <a:ext cx="2084832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22208" y="4334256"/>
            <a:ext cx="2084832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595360" y="4590288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거래 송신(거래 처리 요청)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8522208" y="4754880"/>
            <a:ext cx="189280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680960" y="4919472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거래 수신(거래 처리 응답)</a:t>
            </a:r>
          </a:p>
        </p:txBody>
      </p:sp>
      <p:cxnSp>
        <p:nvCxnSpPr>
          <p:cNvPr id="95" name="Connector 94"/>
          <p:cNvCxnSpPr/>
          <p:nvPr/>
        </p:nvCxnSpPr>
        <p:spPr>
          <a:xfrm flipH="1">
            <a:off x="3968496" y="5047488"/>
            <a:ext cx="6446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56032" y="5376672"/>
            <a:ext cx="1147572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11480" y="546811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>
                <a:solidFill>
                  <a:srgbClr val="000000"/>
                </a:solidFill>
                <a:latin typeface="맑은 고딕"/>
              </a:rPr>
              <a:t>• 단말에서 파일을 생성 후 단말관리서버에 파일을 업로드 한다.</a:t>
            </a:r>
          </a:p>
          <a:p>
            <a:pPr algn="l"/>
            <a:r>
              <a:rPr sz="1120">
                <a:solidFill>
                  <a:srgbClr val="000000"/>
                </a:solidFill>
                <a:latin typeface="맑은 고딕"/>
              </a:rPr>
              <a:t>• 단말에서 대내MCI로 거래요청전문을 송신하면 대내 MCI에서는 MFT를 이용하여 파일을 전송한다.</a:t>
            </a:r>
          </a:p>
          <a:p>
            <a:pPr algn="l"/>
            <a:r>
              <a:rPr sz="1120">
                <a:solidFill>
                  <a:srgbClr val="000000"/>
                </a:solidFill>
                <a:latin typeface="맑은 고딕"/>
              </a:rPr>
              <a:t>• 파일 전송 완료 후 대내 MCI는 단말에서 온 거래요청전문을 업무서버로 송신한다.</a:t>
            </a:r>
          </a:p>
          <a:p>
            <a:pPr algn="l"/>
            <a:r>
              <a:rPr sz="1120">
                <a:solidFill>
                  <a:srgbClr val="000000"/>
                </a:solidFill>
                <a:latin typeface="맑은 고딕"/>
              </a:rPr>
              <a:t>• 업무서버는 거래요청전문에 대한 거래응답전문을 송신한다.</a:t>
            </a:r>
          </a:p>
          <a:p>
            <a:pPr algn="l"/>
            <a:r>
              <a:rPr sz="1120">
                <a:solidFill>
                  <a:srgbClr val="000000"/>
                </a:solidFill>
                <a:latin typeface="맑은 고딕"/>
              </a:rPr>
              <a:t>• 요건에 따라 파일 거래에 대한 흐름은 변경될 수 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1.3.4 파일 연계 - 단말에서 서버로의 연계흐름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6032" y="621792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단말에서 업무서버로의 EAI를 이용한 파일 거래에 대한 다이어그램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59536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MFT Agent를 설치할 수 없는 환경에서 활용되는 연계 패턴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11475720" cy="506577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1188720"/>
            <a:ext cx="2377440" cy="36576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단말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9968" y="1572768"/>
            <a:ext cx="1115568" cy="27432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업무화면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572768"/>
            <a:ext cx="1115568" cy="27432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통신모듈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8112" y="1188720"/>
            <a:ext cx="1207008" cy="51206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단말관리
서버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1115568" cy="51206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대내MCI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1188720"/>
            <a:ext cx="1280160" cy="51206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업무서버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164592" y="3145536"/>
            <a:ext cx="2011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  <a:latin typeface="맑은 고딕"/>
              </a:rPr>
              <a:t>Time 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1133856"/>
            <a:ext cx="0" cy="3950208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42032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94760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53328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12480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15568" y="1920240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파일생성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1920240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2700000">
            <a:off x="1721449" y="1950415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78620" y="1934724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2700000">
            <a:off x="1745589" y="1964899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02760" y="1949208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2700000">
            <a:off x="1769729" y="1979383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26900" y="1963692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2700000">
            <a:off x="1793869" y="1993867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27632" y="2176272"/>
            <a:ext cx="960120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파일거래 요청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27632" y="2542032"/>
            <a:ext cx="960120" cy="2212848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외연대기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2" y="4773168"/>
            <a:ext cx="96012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파일거래 완료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2962656"/>
            <a:ext cx="768096" cy="310896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파일전송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44368" y="3529584"/>
            <a:ext cx="914400" cy="950976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거래 처리
요청 전문 송신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30752" y="2423160"/>
            <a:ext cx="73152" cy="54864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3730752" y="2907792"/>
            <a:ext cx="73152" cy="438912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3730752" y="3474720"/>
            <a:ext cx="73152" cy="1024128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5998464" y="2432304"/>
            <a:ext cx="73152" cy="475488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8119872" y="3785615"/>
            <a:ext cx="73152" cy="100584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10222992" y="4242816"/>
            <a:ext cx="73152" cy="512064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42032" y="2432304"/>
            <a:ext cx="11887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803904" y="2615184"/>
            <a:ext cx="21945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498848" y="2478024"/>
            <a:ext cx="12252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파일거래 요청 수신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3803904" y="2798064"/>
            <a:ext cx="21945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498848" y="2670048"/>
            <a:ext cx="12252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파일거래 응답 수신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344" y="2450592"/>
            <a:ext cx="1444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파일거래
필요한 정보 제공
(예: 인증정보)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19472" y="2889504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2700000">
            <a:off x="5086441" y="2919679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43612" y="2903988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 rot="2700000">
            <a:off x="5110581" y="2934163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967752" y="2918472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2700000">
            <a:off x="5134721" y="2948647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91892" y="2932956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 rot="2700000">
            <a:off x="5158861" y="2963131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35424" y="2779776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맑은 고딕"/>
              </a:rPr>
              <a:t>파일업로드(PUT)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803904" y="3108960"/>
            <a:ext cx="219456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803904" y="3182112"/>
            <a:ext cx="219456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803904" y="3255264"/>
            <a:ext cx="219456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803904" y="3877056"/>
            <a:ext cx="431596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74920" y="3730752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000000"/>
                </a:solidFill>
                <a:latin typeface="맑은 고딕"/>
              </a:rPr>
              <a:t>거래 송신(거래 처리 요청)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47488" y="3986784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Isosceles Triangle 62"/>
          <p:cNvSpPr/>
          <p:nvPr/>
        </p:nvSpPr>
        <p:spPr>
          <a:xfrm rot="2700000">
            <a:off x="5214457" y="4016959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71628" y="4001268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Isosceles Triangle 64"/>
          <p:cNvSpPr/>
          <p:nvPr/>
        </p:nvSpPr>
        <p:spPr>
          <a:xfrm rot="2700000">
            <a:off x="5238597" y="4031443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95768" y="4015752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Isosceles Triangle 66"/>
          <p:cNvSpPr/>
          <p:nvPr/>
        </p:nvSpPr>
        <p:spPr>
          <a:xfrm rot="2700000">
            <a:off x="5262737" y="4045927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119908" y="4030236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sosceles Triangle 68"/>
          <p:cNvSpPr/>
          <p:nvPr/>
        </p:nvSpPr>
        <p:spPr>
          <a:xfrm rot="2700000">
            <a:off x="5286877" y="4060411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394960" y="3986784"/>
            <a:ext cx="676656" cy="475488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sFTP
Server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05472" y="3968496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Isosceles Triangle 71"/>
          <p:cNvSpPr/>
          <p:nvPr/>
        </p:nvSpPr>
        <p:spPr>
          <a:xfrm rot="2700000">
            <a:off x="7372441" y="3998671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229612" y="3982980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Isosceles Triangle 73"/>
          <p:cNvSpPr/>
          <p:nvPr/>
        </p:nvSpPr>
        <p:spPr>
          <a:xfrm rot="2700000">
            <a:off x="7396581" y="4013155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253752" y="3997464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Isosceles Triangle 75"/>
          <p:cNvSpPr/>
          <p:nvPr/>
        </p:nvSpPr>
        <p:spPr>
          <a:xfrm rot="2700000">
            <a:off x="7420721" y="4027639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77892" y="4011948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Isosceles Triangle 77"/>
          <p:cNvSpPr/>
          <p:nvPr/>
        </p:nvSpPr>
        <p:spPr>
          <a:xfrm rot="2700000">
            <a:off x="7444861" y="4042123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040880" y="3803904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파일GET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06640" y="4096512"/>
            <a:ext cx="109728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EAI sFTP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071616" y="4151376"/>
            <a:ext cx="1335024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071616" y="4224528"/>
            <a:ext cx="1335024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071616" y="4297680"/>
            <a:ext cx="1335024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467344" y="3767328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맑은 고딕"/>
              </a:rPr>
              <a:t>파일 전송 요청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8119872" y="4005072"/>
            <a:ext cx="0" cy="201168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449056" y="3986784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파일전송완료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70848" y="3968496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Isosceles Triangle 87"/>
          <p:cNvSpPr/>
          <p:nvPr/>
        </p:nvSpPr>
        <p:spPr>
          <a:xfrm rot="2700000">
            <a:off x="9237817" y="3998671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094988" y="3982980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Isosceles Triangle 89"/>
          <p:cNvSpPr/>
          <p:nvPr/>
        </p:nvSpPr>
        <p:spPr>
          <a:xfrm rot="2700000">
            <a:off x="9261957" y="4013155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19128" y="3997464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Isosceles Triangle 91"/>
          <p:cNvSpPr/>
          <p:nvPr/>
        </p:nvSpPr>
        <p:spPr>
          <a:xfrm rot="2700000">
            <a:off x="9286097" y="4027639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143268" y="4011948"/>
            <a:ext cx="201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Isosceles Triangle 93"/>
          <p:cNvSpPr/>
          <p:nvPr/>
        </p:nvSpPr>
        <p:spPr>
          <a:xfrm rot="2700000">
            <a:off x="9310237" y="4042123"/>
            <a:ext cx="26151" cy="35661"/>
          </a:xfrm>
          <a:prstGeom prst="triangle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97696" y="3803904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파일PUT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8503920" y="4151376"/>
            <a:ext cx="157276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03920" y="4224528"/>
            <a:ext cx="157276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503920" y="4297680"/>
            <a:ext cx="157276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10222992" y="3968496"/>
            <a:ext cx="676656" cy="475488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sFTP
Server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66760" y="4443984"/>
            <a:ext cx="17556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거래 송신(거래 처리 요청)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8193024" y="4608576"/>
            <a:ext cx="202996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949440" y="4791456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거래 수신(거래 처리 응답)</a:t>
            </a:r>
          </a:p>
        </p:txBody>
      </p:sp>
      <p:cxnSp>
        <p:nvCxnSpPr>
          <p:cNvPr id="103" name="Connector 102"/>
          <p:cNvCxnSpPr/>
          <p:nvPr/>
        </p:nvCxnSpPr>
        <p:spPr>
          <a:xfrm flipH="1">
            <a:off x="3803904" y="4937760"/>
            <a:ext cx="641908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56032" y="5175504"/>
            <a:ext cx="1147572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02336" y="5285232"/>
            <a:ext cx="110825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>
                <a:solidFill>
                  <a:srgbClr val="000000"/>
                </a:solidFill>
                <a:latin typeface="맑은 고딕"/>
              </a:rPr>
              <a:t>• 단말에서 파일을 생성 후 단말관리서버에 파일을 업로드 한다.</a:t>
            </a:r>
          </a:p>
          <a:p>
            <a:pPr algn="l"/>
            <a:r>
              <a:rPr sz="1080">
                <a:solidFill>
                  <a:srgbClr val="000000"/>
                </a:solidFill>
                <a:latin typeface="맑은 고딕"/>
              </a:rPr>
              <a:t>• 단말에서 대내MCI로 거래요청전문을 송신하면 대내 MCI는 EAI에 파일 전송을 요청한다.</a:t>
            </a:r>
          </a:p>
          <a:p>
            <a:pPr algn="l"/>
            <a:r>
              <a:rPr sz="1080">
                <a:solidFill>
                  <a:srgbClr val="000000"/>
                </a:solidFill>
                <a:latin typeface="맑은 고딕"/>
              </a:rPr>
              <a:t>• 단말관리서버는 sFTP Server를 이용하여 파일을 전송한다.</a:t>
            </a:r>
          </a:p>
          <a:p>
            <a:pPr algn="l"/>
            <a:r>
              <a:rPr sz="1080">
                <a:solidFill>
                  <a:srgbClr val="000000"/>
                </a:solidFill>
                <a:latin typeface="맑은 고딕"/>
              </a:rPr>
              <a:t>• 파일 전송 완료 후 대내 MCI는 단말에서 온 거래요청전문을 업무서버로 송신한다.</a:t>
            </a:r>
          </a:p>
          <a:p>
            <a:pPr algn="l"/>
            <a:r>
              <a:rPr sz="1080">
                <a:solidFill>
                  <a:srgbClr val="000000"/>
                </a:solidFill>
                <a:latin typeface="맑은 고딕"/>
              </a:rPr>
              <a:t>• 업무서버는 거래요청전문에 대한 거래응답전문을 송신한다.</a:t>
            </a:r>
          </a:p>
          <a:p>
            <a:pPr algn="l"/>
            <a:r>
              <a:rPr sz="1080">
                <a:solidFill>
                  <a:srgbClr val="000000"/>
                </a:solidFill>
                <a:latin typeface="맑은 고딕"/>
              </a:rPr>
              <a:t>• 요건에 따라 파일 거래에 대한 흐름은 변경될 수 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1.3.5 파일 연계 - 서버에서 단말로의 연계흐름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6032" y="65836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업무서버에서 단말로의 파일 전송에 대한 다이어그램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11475720" cy="506577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0" y="1188720"/>
            <a:ext cx="2377440" cy="36576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단말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9968" y="1572768"/>
            <a:ext cx="1115568" cy="27432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업무화면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572768"/>
            <a:ext cx="1115568" cy="27432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통신모듈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8112" y="1188720"/>
            <a:ext cx="1207008" cy="51206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단말관리
서버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188720"/>
            <a:ext cx="1115568" cy="51206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대내MCI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29800" y="1188720"/>
            <a:ext cx="1280160" cy="51206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업무서버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64592" y="3145536"/>
            <a:ext cx="2011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  <a:latin typeface="맑은 고딕"/>
              </a:rPr>
              <a:t>Time 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" y="1133856"/>
            <a:ext cx="0" cy="3950208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42032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94760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53328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12480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32720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490472" y="1993392"/>
            <a:ext cx="1051560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파일목록조회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90472" y="2359152"/>
            <a:ext cx="1051560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화면대기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90472" y="2761488"/>
            <a:ext cx="1051560" cy="512064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파일 선택 및
파일 다운로드
요청목록 송신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90472" y="3310128"/>
            <a:ext cx="1051560" cy="155448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화면대기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90472" y="4882896"/>
            <a:ext cx="105156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파일거래 완료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148840"/>
            <a:ext cx="73152" cy="45720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2834640"/>
            <a:ext cx="73152" cy="530352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3520440"/>
            <a:ext cx="73152" cy="128016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5998464" y="3493008"/>
            <a:ext cx="73152" cy="438912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5998464" y="4343400"/>
            <a:ext cx="73152" cy="45720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339327" y="2176272"/>
            <a:ext cx="73152" cy="205740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2176272"/>
            <a:ext cx="73152" cy="512064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42032" y="2212848"/>
            <a:ext cx="12070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22191" y="2212848"/>
            <a:ext cx="45171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26480" y="2039112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000000"/>
                </a:solidFill>
                <a:latin typeface="맑은 고딕"/>
              </a:rPr>
              <a:t>거래 송신(파일목록 조회)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12480" y="2212848"/>
            <a:ext cx="18105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208008" y="203911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000000"/>
                </a:solidFill>
                <a:latin typeface="맑은 고딕"/>
              </a:rPr>
              <a:t>거래 송신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412480" y="2606040"/>
            <a:ext cx="18105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89720" y="2432304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000000"/>
                </a:solidFill>
                <a:latin typeface="맑은 고딕"/>
              </a:rPr>
              <a:t>거래 수신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33888" y="2359152"/>
            <a:ext cx="77724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파일목록 전달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3822191" y="2606040"/>
            <a:ext cx="45171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26480" y="2432304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000000"/>
                </a:solidFill>
                <a:latin typeface="맑은 고딕"/>
              </a:rPr>
              <a:t>거래 수신(파일목록 전달)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22191" y="3063240"/>
            <a:ext cx="45171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212080" y="2898648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다운로드 요청 송신(파일목록 포함)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3337560"/>
            <a:ext cx="676656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MFT
Agent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331012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2700000">
            <a:off x="6951817" y="334030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08988" y="332461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2700000">
            <a:off x="6975957" y="335478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33128" y="333909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 rot="2700000">
            <a:off x="7000097" y="336927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57268" y="335358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2700000">
            <a:off x="7024237" y="338375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9672" y="318211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000000"/>
                </a:solidFill>
                <a:latin typeface="맑은 고딕"/>
              </a:rPr>
              <a:t>파일전송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6163056" y="3401568"/>
            <a:ext cx="2176271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6163056" y="3474720"/>
            <a:ext cx="2176271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6163056" y="3547872"/>
            <a:ext cx="2176271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44968" y="3236976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파일전송요청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08975" y="3383280"/>
            <a:ext cx="82296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30" b="1">
                <a:solidFill>
                  <a:srgbClr val="FFFFFF"/>
                </a:solidFill>
                <a:latin typeface="맑은 고딕"/>
              </a:rPr>
              <a:t>MFT Server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82127" y="3822191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파일전송완료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08975" y="3968496"/>
            <a:ext cx="82296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30" b="1">
                <a:solidFill>
                  <a:srgbClr val="FFFFFF"/>
                </a:solidFill>
                <a:latin typeface="맑은 고딕"/>
              </a:rPr>
              <a:t>MFT Server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85248" y="3355848"/>
            <a:ext cx="685800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MFT
Agent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98480" y="336499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Isosceles Triangle 63"/>
          <p:cNvSpPr/>
          <p:nvPr/>
        </p:nvSpPr>
        <p:spPr>
          <a:xfrm rot="2700000">
            <a:off x="10865449" y="339516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722620" y="337947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 rot="2700000">
            <a:off x="10889589" y="340965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46760" y="339396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Isosceles Triangle 67"/>
          <p:cNvSpPr/>
          <p:nvPr/>
        </p:nvSpPr>
        <p:spPr>
          <a:xfrm rot="2700000">
            <a:off x="10913729" y="342413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770900" y="340844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sosceles Triangle 69"/>
          <p:cNvSpPr/>
          <p:nvPr/>
        </p:nvSpPr>
        <p:spPr>
          <a:xfrm rot="2700000">
            <a:off x="10937869" y="343861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57600" y="466344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Isosceles Triangle 71"/>
          <p:cNvSpPr/>
          <p:nvPr/>
        </p:nvSpPr>
        <p:spPr>
          <a:xfrm rot="2700000">
            <a:off x="3824569" y="469361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681740" y="467792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Isosceles Triangle 73"/>
          <p:cNvSpPr/>
          <p:nvPr/>
        </p:nvSpPr>
        <p:spPr>
          <a:xfrm rot="2700000">
            <a:off x="3848709" y="470809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705880" y="469240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Isosceles Triangle 75"/>
          <p:cNvSpPr/>
          <p:nvPr/>
        </p:nvSpPr>
        <p:spPr>
          <a:xfrm rot="2700000">
            <a:off x="3872849" y="472258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30020" y="470689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Isosceles Triangle 77"/>
          <p:cNvSpPr/>
          <p:nvPr/>
        </p:nvSpPr>
        <p:spPr>
          <a:xfrm rot="2700000">
            <a:off x="3896989" y="473706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09360" y="462686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Isosceles Triangle 79"/>
          <p:cNvSpPr/>
          <p:nvPr/>
        </p:nvSpPr>
        <p:spPr>
          <a:xfrm rot="2700000">
            <a:off x="6476329" y="465703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333500" y="464134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Isosceles Triangle 81"/>
          <p:cNvSpPr/>
          <p:nvPr/>
        </p:nvSpPr>
        <p:spPr>
          <a:xfrm rot="2700000">
            <a:off x="6500469" y="467152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357640" y="46558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Isosceles Triangle 83"/>
          <p:cNvSpPr/>
          <p:nvPr/>
        </p:nvSpPr>
        <p:spPr>
          <a:xfrm rot="2700000">
            <a:off x="6524609" y="46860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81780" y="467031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Isosceles Triangle 85"/>
          <p:cNvSpPr/>
          <p:nvPr/>
        </p:nvSpPr>
        <p:spPr>
          <a:xfrm rot="2700000">
            <a:off x="6548749" y="470049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 flipH="1">
            <a:off x="8631936" y="3401568"/>
            <a:ext cx="159105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8631936" y="3474720"/>
            <a:ext cx="159105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8631936" y="3547872"/>
            <a:ext cx="159105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6053328" y="4041648"/>
            <a:ext cx="228599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382512" y="3858768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30" b="0">
                <a:solidFill>
                  <a:srgbClr val="000000"/>
                </a:solidFill>
                <a:latin typeface="맑은 고딕"/>
              </a:rPr>
              <a:t>다운로드 요청 수신(다운로드 가능 알림)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08192" y="4315968"/>
            <a:ext cx="1444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</a:rPr>
              <a:t>파일거래
필요한 정보 제공
(예: 인증정보)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822191" y="4370832"/>
            <a:ext cx="2176273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370832" y="4206240"/>
            <a:ext cx="10241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파일거래 요청 송신</a:t>
            </a:r>
          </a:p>
        </p:txBody>
      </p:sp>
      <p:cxnSp>
        <p:nvCxnSpPr>
          <p:cNvPr id="95" name="Connector 94"/>
          <p:cNvCxnSpPr/>
          <p:nvPr/>
        </p:nvCxnSpPr>
        <p:spPr>
          <a:xfrm flipH="1">
            <a:off x="3822191" y="4617720"/>
            <a:ext cx="2176273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370832" y="4462272"/>
            <a:ext cx="10241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파일거래 응답 수신</a:t>
            </a:r>
          </a:p>
        </p:txBody>
      </p:sp>
      <p:cxnSp>
        <p:nvCxnSpPr>
          <p:cNvPr id="97" name="Connector 96"/>
          <p:cNvCxnSpPr/>
          <p:nvPr/>
        </p:nvCxnSpPr>
        <p:spPr>
          <a:xfrm flipH="1">
            <a:off x="3822191" y="4864608"/>
            <a:ext cx="2176273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3822191" y="4937760"/>
            <a:ext cx="2176273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3822191" y="5010912"/>
            <a:ext cx="2176273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498848" y="4700016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파일다운로드(GET)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56032" y="5358384"/>
            <a:ext cx="1147572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402336" y="544982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>
                <a:solidFill>
                  <a:srgbClr val="000000"/>
                </a:solidFill>
                <a:latin typeface="맑은 고딕"/>
              </a:rPr>
              <a:t>• 단말에서 파일목록을 조회 후 대내MCI를 이용하여 업무서버로 파일 다운로드 요청 전문을 송신한다.</a:t>
            </a:r>
          </a:p>
          <a:p>
            <a:pPr algn="l"/>
            <a:r>
              <a:rPr sz="1019">
                <a:solidFill>
                  <a:srgbClr val="000000"/>
                </a:solidFill>
                <a:latin typeface="맑은 고딕"/>
              </a:rPr>
              <a:t>• 업무서버는 단말에서 요청한 파일을 MFT Agent를 이용하여 단말관리서버로 전송한다.</a:t>
            </a:r>
          </a:p>
          <a:p>
            <a:pPr algn="l"/>
            <a:r>
              <a:rPr sz="1019">
                <a:solidFill>
                  <a:srgbClr val="000000"/>
                </a:solidFill>
                <a:latin typeface="맑은 고딕"/>
              </a:rPr>
              <a:t>• 단말관리서버로의 전송이 완료된 후 업무서버는 단말에 파일다운로드 가능 알림 전문을 송신한다.</a:t>
            </a:r>
          </a:p>
          <a:p>
            <a:pPr algn="l"/>
            <a:r>
              <a:rPr sz="1019">
                <a:solidFill>
                  <a:srgbClr val="000000"/>
                </a:solidFill>
                <a:latin typeface="맑은 고딕"/>
              </a:rPr>
              <a:t>• 단말은 단말관리서버에서 파일을 다운로드 한다.</a:t>
            </a:r>
          </a:p>
          <a:p>
            <a:pPr algn="l"/>
            <a:r>
              <a:rPr sz="1019">
                <a:solidFill>
                  <a:srgbClr val="000000"/>
                </a:solidFill>
                <a:latin typeface="맑은 고딕"/>
              </a:rPr>
              <a:t>• 요건에 따라 파일 거래에 대한 흐름은 변경될 수 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1.3.5 파일 연계 - 서버에서 단말로의 연계흐름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6032" y="621792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업무서버에서 단말로의 파일 전송에 대한 다이어그램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59536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MFT Agent를 설치할 수 없는 환경에서 활용되는 연계 패턴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11475720" cy="506577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1188720"/>
            <a:ext cx="2377440" cy="36576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단말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9968" y="1572768"/>
            <a:ext cx="1115568" cy="27432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업무화면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572768"/>
            <a:ext cx="1115568" cy="27432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통신모듈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8112" y="1188720"/>
            <a:ext cx="1207008" cy="51206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단말관리
서버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1115568" cy="51206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대내MCI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1188720"/>
            <a:ext cx="1280160" cy="512064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업무서버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164592" y="3145536"/>
            <a:ext cx="2011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  <a:latin typeface="맑은 고딕"/>
              </a:rPr>
              <a:t>Time 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1133856"/>
            <a:ext cx="0" cy="3950208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42032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94760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53328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12480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1847088"/>
            <a:ext cx="0" cy="310896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490472" y="1993392"/>
            <a:ext cx="1051560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파일목록조회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90472" y="2359152"/>
            <a:ext cx="1051560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화면대기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90472" y="2761488"/>
            <a:ext cx="1051560" cy="512064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파일 선택 및
파일 다운로드
요청목록 송신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90472" y="3310128"/>
            <a:ext cx="1051560" cy="155448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화면대기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90472" y="4882896"/>
            <a:ext cx="105156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파일거래 완료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2148840"/>
            <a:ext cx="73152" cy="45720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2834640"/>
            <a:ext cx="73152" cy="530352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3520440"/>
            <a:ext cx="73152" cy="128016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5998464" y="3493008"/>
            <a:ext cx="73152" cy="438912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5998464" y="4343400"/>
            <a:ext cx="73152" cy="45720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8339327" y="2176272"/>
            <a:ext cx="73152" cy="205740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10222992" y="2176272"/>
            <a:ext cx="73152" cy="512064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42032" y="2212848"/>
            <a:ext cx="12070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22191" y="2212848"/>
            <a:ext cx="45171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26480" y="2039112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000000"/>
                </a:solidFill>
                <a:latin typeface="맑은 고딕"/>
              </a:rPr>
              <a:t>거래 송신(파일목록 조회)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12480" y="2212848"/>
            <a:ext cx="18105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208008" y="203911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000000"/>
                </a:solidFill>
                <a:latin typeface="맑은 고딕"/>
              </a:rPr>
              <a:t>거래 송신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8412480" y="2606040"/>
            <a:ext cx="18105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89720" y="2432304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000000"/>
                </a:solidFill>
                <a:latin typeface="맑은 고딕"/>
              </a:rPr>
              <a:t>거래 수신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33888" y="2359152"/>
            <a:ext cx="77724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파일목록 전달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3822191" y="2606040"/>
            <a:ext cx="45171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26480" y="2432304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000000"/>
                </a:solidFill>
                <a:latin typeface="맑은 고딕"/>
              </a:rPr>
              <a:t>거래 수신(파일목록 전달)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822191" y="3063240"/>
            <a:ext cx="45171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212080" y="2898648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다운로드 요청 송신(파일목록 포함)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80" y="3355848"/>
            <a:ext cx="685800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sFTP
Server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323697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 rot="2700000">
            <a:off x="6430609" y="326715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87780" y="325146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 rot="2700000">
            <a:off x="6454749" y="328163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11920" y="326594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 rot="2700000">
            <a:off x="6478889" y="329611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36060" y="328042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 rot="2700000">
            <a:off x="6503029" y="331060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47104" y="3218688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파일PUT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24927" y="3419856"/>
            <a:ext cx="1078992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30" b="1">
                <a:solidFill>
                  <a:srgbClr val="FFFFFF"/>
                </a:solidFill>
                <a:latin typeface="맑은 고딕"/>
              </a:rPr>
              <a:t>EAI sFTP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87968" y="327355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Isosceles Triangle 57"/>
          <p:cNvSpPr/>
          <p:nvPr/>
        </p:nvSpPr>
        <p:spPr>
          <a:xfrm rot="2700000">
            <a:off x="9054937" y="330372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12108" y="328803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2700000">
            <a:off x="9079077" y="331821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36248" y="330252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sosceles Triangle 61"/>
          <p:cNvSpPr/>
          <p:nvPr/>
        </p:nvSpPr>
        <p:spPr>
          <a:xfrm rot="2700000">
            <a:off x="9103217" y="333269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960388" y="331700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Isosceles Triangle 63"/>
          <p:cNvSpPr/>
          <p:nvPr/>
        </p:nvSpPr>
        <p:spPr>
          <a:xfrm rot="2700000">
            <a:off x="9127357" y="334717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97696" y="3218688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파일GET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985248" y="3346704"/>
            <a:ext cx="685800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sFTP
Server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716768" y="335584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Isosceles Triangle 67"/>
          <p:cNvSpPr/>
          <p:nvPr/>
        </p:nvSpPr>
        <p:spPr>
          <a:xfrm rot="2700000">
            <a:off x="10883737" y="338602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740908" y="33703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sosceles Triangle 69"/>
          <p:cNvSpPr/>
          <p:nvPr/>
        </p:nvSpPr>
        <p:spPr>
          <a:xfrm rot="2700000">
            <a:off x="10907877" y="34005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765048" y="338481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Isosceles Triangle 71"/>
          <p:cNvSpPr/>
          <p:nvPr/>
        </p:nvSpPr>
        <p:spPr>
          <a:xfrm rot="2700000">
            <a:off x="10932017" y="341499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789188" y="339930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Isosceles Triangle 73"/>
          <p:cNvSpPr/>
          <p:nvPr/>
        </p:nvSpPr>
        <p:spPr>
          <a:xfrm rot="2700000">
            <a:off x="10956157" y="342947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H="1">
            <a:off x="8503920" y="3456432"/>
            <a:ext cx="1719072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8503920" y="3529584"/>
            <a:ext cx="1719072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8503920" y="3602736"/>
            <a:ext cx="1719072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6126480" y="3456432"/>
            <a:ext cx="1298447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6126480" y="3529584"/>
            <a:ext cx="1298447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6126480" y="3602736"/>
            <a:ext cx="1298447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183879" y="3803904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파일전송완료</a:t>
            </a:r>
          </a:p>
        </p:txBody>
      </p:sp>
      <p:cxnSp>
        <p:nvCxnSpPr>
          <p:cNvPr id="82" name="Connector 81"/>
          <p:cNvCxnSpPr/>
          <p:nvPr/>
        </p:nvCxnSpPr>
        <p:spPr>
          <a:xfrm flipH="1">
            <a:off x="6053328" y="4041648"/>
            <a:ext cx="228599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382512" y="3858768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30" b="0">
                <a:solidFill>
                  <a:srgbClr val="000000"/>
                </a:solidFill>
                <a:latin typeface="맑은 고딕"/>
              </a:rPr>
              <a:t>다운로드 요청 수신(다운로드 가능 알림)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08192" y="4315968"/>
            <a:ext cx="1444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</a:rPr>
              <a:t>파일거래
필요한 정보 제공
(예: 인증정보)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822191" y="4370832"/>
            <a:ext cx="2176273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370832" y="4206240"/>
            <a:ext cx="10241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파일거래 요청 송신</a:t>
            </a:r>
          </a:p>
        </p:txBody>
      </p:sp>
      <p:cxnSp>
        <p:nvCxnSpPr>
          <p:cNvPr id="87" name="Connector 86"/>
          <p:cNvCxnSpPr/>
          <p:nvPr/>
        </p:nvCxnSpPr>
        <p:spPr>
          <a:xfrm flipH="1">
            <a:off x="3822191" y="4617720"/>
            <a:ext cx="2176273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370832" y="4462272"/>
            <a:ext cx="10241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파일거래 응답 수신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93008" y="464515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Isosceles Triangle 89"/>
          <p:cNvSpPr/>
          <p:nvPr/>
        </p:nvSpPr>
        <p:spPr>
          <a:xfrm rot="2700000">
            <a:off x="3659977" y="467532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517148" y="465963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Isosceles Triangle 91"/>
          <p:cNvSpPr/>
          <p:nvPr/>
        </p:nvSpPr>
        <p:spPr>
          <a:xfrm rot="2700000">
            <a:off x="3684117" y="468981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541288" y="467412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Isosceles Triangle 93"/>
          <p:cNvSpPr/>
          <p:nvPr/>
        </p:nvSpPr>
        <p:spPr>
          <a:xfrm rot="2700000">
            <a:off x="3708257" y="470429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565428" y="468860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Isosceles Triangle 95"/>
          <p:cNvSpPr/>
          <p:nvPr/>
        </p:nvSpPr>
        <p:spPr>
          <a:xfrm rot="2700000">
            <a:off x="3732397" y="471877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44768" y="45994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Isosceles Triangle 97"/>
          <p:cNvSpPr/>
          <p:nvPr/>
        </p:nvSpPr>
        <p:spPr>
          <a:xfrm rot="2700000">
            <a:off x="6311737" y="46296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168908" y="461391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Isosceles Triangle 99"/>
          <p:cNvSpPr/>
          <p:nvPr/>
        </p:nvSpPr>
        <p:spPr>
          <a:xfrm rot="2700000">
            <a:off x="6335877" y="464409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93048" y="462840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Isosceles Triangle 101"/>
          <p:cNvSpPr/>
          <p:nvPr/>
        </p:nvSpPr>
        <p:spPr>
          <a:xfrm rot="2700000">
            <a:off x="6360017" y="465857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217188" y="464288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Isosceles Triangle 103"/>
          <p:cNvSpPr/>
          <p:nvPr/>
        </p:nvSpPr>
        <p:spPr>
          <a:xfrm rot="2700000">
            <a:off x="6384157" y="467305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 flipH="1">
            <a:off x="3822191" y="4864608"/>
            <a:ext cx="2176273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3822191" y="4937760"/>
            <a:ext cx="2176273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3822191" y="5010912"/>
            <a:ext cx="2176273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4498848" y="4700016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파일다운로드(GET)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256032" y="5340096"/>
            <a:ext cx="1147572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402336" y="543153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맑은 고딕"/>
              </a:rPr>
              <a:t>• 단말에서 파일거래(파일목록 조회) 후 대내MCI에 파일 다운로드 요청 전문을 송신한다.</a:t>
            </a:r>
          </a:p>
          <a:p>
            <a:pPr algn="l"/>
            <a:r>
              <a:rPr sz="1000">
                <a:solidFill>
                  <a:srgbClr val="000000"/>
                </a:solidFill>
                <a:latin typeface="맑은 고딕"/>
              </a:rPr>
              <a:t>• 대내MCI는 요청한 파일을 EAI에 파일 전송을 요청한다.</a:t>
            </a:r>
          </a:p>
          <a:p>
            <a:pPr algn="l"/>
            <a:r>
              <a:rPr sz="1000">
                <a:solidFill>
                  <a:srgbClr val="000000"/>
                </a:solidFill>
                <a:latin typeface="맑은 고딕"/>
              </a:rPr>
              <a:t>• EAI는 sFTP Client 기능을 이용하여 파일을 전송한다.</a:t>
            </a:r>
          </a:p>
          <a:p>
            <a:pPr algn="l"/>
            <a:r>
              <a:rPr sz="1000">
                <a:solidFill>
                  <a:srgbClr val="000000"/>
                </a:solidFill>
                <a:latin typeface="맑은 고딕"/>
              </a:rPr>
              <a:t>• 단말관리서버로의 전송이 완료된 후 대내MCI는 단말에 파일다운로드 가능 알림 전문을 송신한다.</a:t>
            </a:r>
          </a:p>
          <a:p>
            <a:pPr algn="l"/>
            <a:r>
              <a:rPr sz="1000">
                <a:solidFill>
                  <a:srgbClr val="000000"/>
                </a:solidFill>
                <a:latin typeface="맑은 고딕"/>
              </a:rPr>
              <a:t>• 단말은 단말관리서버에서 파일을 다운로드 한다.</a:t>
            </a:r>
          </a:p>
          <a:p>
            <a:pPr algn="l"/>
            <a:r>
              <a:rPr sz="1000">
                <a:solidFill>
                  <a:srgbClr val="000000"/>
                </a:solidFill>
                <a:latin typeface="맑은 고딕"/>
              </a:rPr>
              <a:t>• 요건에 따라 파일 거래에 대한 흐름은 변경될 수 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903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1.3.6 파일 연계 - 서버에서 대외MCI로의 연계흐름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6032" y="65836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업무서버에서 대외MCI로의 파일 전송에 대한 다이어그램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11475720" cy="506577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020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업무서버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MFT서버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대외MCI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대외중계서버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4632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4128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16200000">
            <a:off x="164592" y="3145536"/>
            <a:ext cx="2011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  <a:latin typeface="맑은 고딕"/>
              </a:rPr>
              <a:t>Time 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1170432"/>
            <a:ext cx="0" cy="3913632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72768" y="202996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파일생성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224028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2700000">
            <a:off x="1812889" y="227045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70060" y="225476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2700000">
            <a:off x="1837029" y="228493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94200" y="226924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2700000">
            <a:off x="1861169" y="229942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8340" y="22837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2700000">
            <a:off x="1885309" y="23139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39696" y="2231136"/>
            <a:ext cx="109728" cy="402336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791456" y="2231136"/>
            <a:ext cx="109728" cy="100584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7580376" y="3200400"/>
            <a:ext cx="109728" cy="73152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49424" y="2468880"/>
            <a:ext cx="25420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35808" y="2286000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 전송 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249424" y="2944368"/>
            <a:ext cx="25420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18688" y="2761488"/>
            <a:ext cx="12252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 전송 요청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" y="296265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2700000">
            <a:off x="1117945" y="299283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5116" y="297714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2700000">
            <a:off x="1142085" y="300731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9256" y="299162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2700000">
            <a:off x="1166225" y="302179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3396" y="300610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2700000">
            <a:off x="1190365" y="303628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81328" y="2944368"/>
            <a:ext cx="566928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MFT
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50608" y="276148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2700000">
            <a:off x="7317577" y="279166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74748" y="277597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2700000">
            <a:off x="7341717" y="280614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98888" y="279045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 rot="2700000">
            <a:off x="7365857" y="282063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23028" y="280494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 rot="2700000">
            <a:off x="7389997" y="283511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392" y="2615184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맑은 고딕"/>
              </a:rPr>
              <a:t>파일전송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18704" y="2971800"/>
            <a:ext cx="566928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MFT
Agent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048256" y="3163824"/>
            <a:ext cx="587044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048256" y="3236976"/>
            <a:ext cx="587044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048256" y="3310128"/>
            <a:ext cx="587044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580376" y="3694176"/>
            <a:ext cx="109728" cy="457200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690104" y="3886200"/>
            <a:ext cx="24597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162288" y="370332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 업로드(PUT)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515600" y="379476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2700000">
            <a:off x="10682569" y="382493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539740" y="380924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sosceles Triangle 61"/>
          <p:cNvSpPr/>
          <p:nvPr/>
        </p:nvSpPr>
        <p:spPr>
          <a:xfrm rot="2700000">
            <a:off x="10706709" y="383941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563880" y="382372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Isosceles Triangle 63"/>
          <p:cNvSpPr/>
          <p:nvPr/>
        </p:nvSpPr>
        <p:spPr>
          <a:xfrm rot="2700000">
            <a:off x="10730849" y="385390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588020" y="383821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 rot="2700000">
            <a:off x="10754989" y="386838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256032" y="5212080"/>
            <a:ext cx="1147572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11480" y="5394960"/>
            <a:ext cx="11064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대외기관에 전송할 파일을 생성 후 MFT를 이용하여 대외MCI에 전송한다.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대외기관과 인터넷망으로 연결된 경우 대외 중계서버로 파일을 업로드 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업무 요건에 따라 요청 및 응답 흐름은 변경될 수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903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1.3.6 파일 연계 - 서버에서 대외MCI로의 연계흐름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6032" y="65836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업무서버에서 대외MCI로의 파일 전송에 대한 다이어그램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11475720" cy="506577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020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업무서버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EAI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대외MCI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대외중계서버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4632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4128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16200000">
            <a:off x="164592" y="3145536"/>
            <a:ext cx="2011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  <a:latin typeface="맑은 고딕"/>
              </a:rPr>
              <a:t>Time 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1170432"/>
            <a:ext cx="0" cy="3913632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72768" y="202996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파일생성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224028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2700000">
            <a:off x="1812889" y="227045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70060" y="225476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2700000">
            <a:off x="1837029" y="228493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94200" y="226924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2700000">
            <a:off x="1861169" y="229942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8340" y="22837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2700000">
            <a:off x="1885309" y="23139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39696" y="2231136"/>
            <a:ext cx="109728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791456" y="2231136"/>
            <a:ext cx="109728" cy="5943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49424" y="2468880"/>
            <a:ext cx="25420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063240" y="2286000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 전송 API 호출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" y="292608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2700000">
            <a:off x="1117945" y="295625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5116" y="294056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2700000">
            <a:off x="1142085" y="297073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9256" y="295504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2700000">
            <a:off x="1166225" y="298522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3396" y="29695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2700000">
            <a:off x="1190365" y="29997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44752" y="2907792"/>
            <a:ext cx="658368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sFTP
Server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27706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2700000">
            <a:off x="3659977" y="28008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17148" y="278511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2700000">
            <a:off x="3684117" y="281529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41288" y="279960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 rot="2700000">
            <a:off x="3708257" y="282977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65428" y="281408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2700000">
            <a:off x="3732397" y="284425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34640" y="265176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맑은 고딕"/>
              </a:rPr>
              <a:t>파일GET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33087" y="3017520"/>
            <a:ext cx="11887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EAI sFTP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2633472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파일거래
필요한 정보 제공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103120" y="3090672"/>
            <a:ext cx="2029967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103120" y="3163824"/>
            <a:ext cx="2029967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103120" y="3236976"/>
            <a:ext cx="2029967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903720" y="278892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 rot="2700000">
            <a:off x="7070689" y="281909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27860" y="280340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 rot="2700000">
            <a:off x="7094829" y="283357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952000" y="281788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sosceles Triangle 58"/>
          <p:cNvSpPr/>
          <p:nvPr/>
        </p:nvSpPr>
        <p:spPr>
          <a:xfrm rot="2700000">
            <a:off x="7118969" y="284806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976140" y="283237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 rot="2700000">
            <a:off x="7143109" y="286254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265176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맑은 고딕"/>
              </a:rPr>
              <a:t>파일PUT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98079" y="2907792"/>
            <a:ext cx="658368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sFTP
Server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321808" y="3090672"/>
            <a:ext cx="2176271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321808" y="3163824"/>
            <a:ext cx="2176271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321808" y="3236976"/>
            <a:ext cx="2176271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7580376" y="3822191"/>
            <a:ext cx="109728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690104" y="4023360"/>
            <a:ext cx="24597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979408" y="384048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 업로드(PUT)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515600" y="395020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Isosceles Triangle 70"/>
          <p:cNvSpPr/>
          <p:nvPr/>
        </p:nvSpPr>
        <p:spPr>
          <a:xfrm rot="2700000">
            <a:off x="10682569" y="398038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539740" y="396469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sosceles Triangle 72"/>
          <p:cNvSpPr/>
          <p:nvPr/>
        </p:nvSpPr>
        <p:spPr>
          <a:xfrm rot="2700000">
            <a:off x="10706709" y="399486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563880" y="397917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Isosceles Triangle 74"/>
          <p:cNvSpPr/>
          <p:nvPr/>
        </p:nvSpPr>
        <p:spPr>
          <a:xfrm rot="2700000">
            <a:off x="10730849" y="400935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588020" y="399366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Isosceles Triangle 76"/>
          <p:cNvSpPr/>
          <p:nvPr/>
        </p:nvSpPr>
        <p:spPr>
          <a:xfrm rot="2700000">
            <a:off x="10754989" y="402383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256032" y="5212080"/>
            <a:ext cx="1147572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11480" y="5394960"/>
            <a:ext cx="11064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대외기관에 전송할 파일을 생성 후 EAI를 이용하여 대외MCI에 전송한다.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대외기관과 인터넷망으로 연결된 경우 대외 중계서버로 파일을 업로드 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업무 요건에 따라 요청 및 응답 흐름은 변경될 수 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7178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1.3.7 파일 연계 - 대외MCI에서 서버로의 연계흐름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6032" y="65836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대외MCI에서 업무서버로의 파일 전송에 대한 다이어그램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11475720" cy="506577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업무서버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2232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MFT서버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대외MCI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8632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대외중계서버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36592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5236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22992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16200000">
            <a:off x="164592" y="3145536"/>
            <a:ext cx="2011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  <a:latin typeface="맑은 고딕"/>
              </a:rPr>
              <a:t>Time 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1170432"/>
            <a:ext cx="0" cy="3913632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296144" y="224028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2700000">
            <a:off x="10463113" y="227045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20284" y="225476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2700000">
            <a:off x="10487253" y="228493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44424" y="226924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2700000">
            <a:off x="10511393" y="229942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68564" y="22837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2700000">
            <a:off x="10535533" y="23139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3992" y="224028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2700000">
            <a:off x="6960961" y="227045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8132" y="225476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2700000">
            <a:off x="6985101" y="228493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42272" y="226924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2700000">
            <a:off x="7009241" y="229942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66412" y="22837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2700000">
            <a:off x="7033381" y="23139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97496" y="2194560"/>
            <a:ext cx="109728" cy="566928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507224" y="2395728"/>
            <a:ext cx="262432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83879" y="2212848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 다운로드(GET)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81728" y="2788920"/>
            <a:ext cx="109728" cy="786384"/>
          </a:xfrm>
          <a:prstGeom prst="rect">
            <a:avLst/>
          </a:prstGeom>
          <a:solidFill>
            <a:srgbClr val="787878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4791456" y="2871216"/>
            <a:ext cx="26060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257800" y="268833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 전송 API 호출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791456" y="3364992"/>
            <a:ext cx="26060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22392" y="317296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 전송 요청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71016" y="3456432"/>
            <a:ext cx="566928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MFT
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95144" y="323697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2700000">
            <a:off x="2462113" y="326715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19284" y="325146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2700000">
            <a:off x="2486253" y="328163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43424" y="326594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 rot="2700000">
            <a:off x="2510393" y="329611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67564" y="328042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 rot="2700000">
            <a:off x="2534533" y="331060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23160" y="3081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맑은 고딕"/>
              </a:rPr>
              <a:t>파일전송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88936" y="3456432"/>
            <a:ext cx="566928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MFT
Agent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34564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 rot="2700000">
            <a:off x="8305129" y="34866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62300" y="347091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 rot="2700000">
            <a:off x="8329269" y="350109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86440" y="348540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Isosceles Triangle 57"/>
          <p:cNvSpPr/>
          <p:nvPr/>
        </p:nvSpPr>
        <p:spPr>
          <a:xfrm rot="2700000">
            <a:off x="8353409" y="351557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0580" y="349988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2700000">
            <a:off x="8377549" y="353005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H="1">
            <a:off x="1837944" y="3584448"/>
            <a:ext cx="5650992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837944" y="3657600"/>
            <a:ext cx="5650992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837944" y="3730752"/>
            <a:ext cx="5650992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56032" y="5212080"/>
            <a:ext cx="1147572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11480" y="5394960"/>
            <a:ext cx="11064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대외기관에서 전송된 파일을 MFT를 이용하여 업무서버에 전송한다.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대외기관과 인터넷망으로 연결된 경우 대외 중계서버에서 대외MCI로 파일을 다운로드 해야한다.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업무 요건에 따라 요청 및 응답 흐름은 변경될 수 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7178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1.3.7 파일 연계 - 대외MCI에서 서버로의 연계흐름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6032" y="65836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대외MCI에서 업무서버로의 파일 전송에 대한 다이어그램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11475720" cy="5065776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업무서버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2232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EAI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대외MCI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8632" y="1225296"/>
            <a:ext cx="1188720" cy="457200"/>
          </a:xfrm>
          <a:prstGeom prst="rect">
            <a:avLst/>
          </a:prstGeom>
          <a:solidFill>
            <a:srgbClr val="46464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대외중계서버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36592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52360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22992" y="1682496"/>
            <a:ext cx="0" cy="347472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16200000">
            <a:off x="164592" y="3145536"/>
            <a:ext cx="2011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  <a:latin typeface="맑은 고딕"/>
              </a:rPr>
              <a:t>Time 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1170432"/>
            <a:ext cx="0" cy="3913632"/>
          </a:xfrm>
          <a:prstGeom prst="line">
            <a:avLst/>
          </a:prstGeom>
          <a:ln w="1016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296144" y="224028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2700000">
            <a:off x="10463113" y="227045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20284" y="225476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2700000">
            <a:off x="10487253" y="228493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44424" y="226924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2700000">
            <a:off x="10511393" y="229942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68564" y="22837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2700000">
            <a:off x="10535533" y="23139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3992" y="224028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2700000">
            <a:off x="6960961" y="227045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8132" y="225476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2700000">
            <a:off x="6985101" y="228493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42272" y="226924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2700000">
            <a:off x="7009241" y="229942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66412" y="22837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2700000">
            <a:off x="7033381" y="23139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97496" y="2194560"/>
            <a:ext cx="10972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507224" y="2395728"/>
            <a:ext cx="262432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83879" y="2212848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 다운로드(GET)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81728" y="2788920"/>
            <a:ext cx="109728" cy="731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4791456" y="2871216"/>
            <a:ext cx="26060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74920" y="2688336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파일 전송 API 호출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5032" y="3035808"/>
            <a:ext cx="9875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파일거래
필요인 정보 제공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383280"/>
            <a:ext cx="1115568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EAI sFTP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03904" y="325526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2700000">
            <a:off x="3970873" y="328543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28044" y="326974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 rot="2700000">
            <a:off x="3995013" y="329992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52184" y="328423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2700000">
            <a:off x="4019153" y="331440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76324" y="329871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2700000">
            <a:off x="4043293" y="332889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02152" y="3063240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맑은 고딕"/>
              </a:rPr>
              <a:t>파일GET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79208" y="3273552"/>
            <a:ext cx="658368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sFTP
Server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0728" y="333756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2700000">
            <a:off x="8277697" y="336773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34868" y="335204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 rot="2700000">
            <a:off x="8301837" y="338221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59008" y="3366528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 rot="2700000">
            <a:off x="8325977" y="3396703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83148" y="338101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sosceles Triangle 58"/>
          <p:cNvSpPr/>
          <p:nvPr/>
        </p:nvSpPr>
        <p:spPr>
          <a:xfrm rot="2700000">
            <a:off x="8350117" y="341118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H="1">
            <a:off x="5321808" y="3456432"/>
            <a:ext cx="20574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321808" y="3529584"/>
            <a:ext cx="20574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321808" y="3602736"/>
            <a:ext cx="20574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271016" y="3346704"/>
            <a:ext cx="658368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sFTP
Server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67128" y="3273552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Isosceles Triangle 64"/>
          <p:cNvSpPr/>
          <p:nvPr/>
        </p:nvSpPr>
        <p:spPr>
          <a:xfrm rot="2700000">
            <a:off x="2334097" y="3303727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191268" y="3288036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Isosceles Triangle 66"/>
          <p:cNvSpPr/>
          <p:nvPr/>
        </p:nvSpPr>
        <p:spPr>
          <a:xfrm rot="2700000">
            <a:off x="2358237" y="3318211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15408" y="3302520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sosceles Triangle 68"/>
          <p:cNvSpPr/>
          <p:nvPr/>
        </p:nvSpPr>
        <p:spPr>
          <a:xfrm rot="2700000">
            <a:off x="2382377" y="3332695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239548" y="3317004"/>
            <a:ext cx="201168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Isosceles Triangle 70"/>
          <p:cNvSpPr/>
          <p:nvPr/>
        </p:nvSpPr>
        <p:spPr>
          <a:xfrm rot="2700000">
            <a:off x="2406517" y="3347179"/>
            <a:ext cx="26151" cy="35661"/>
          </a:xfrm>
          <a:prstGeom prst="triangl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58568" y="3063240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맑은 고딕"/>
              </a:rPr>
              <a:t>파일PUT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1929384" y="3456432"/>
            <a:ext cx="227685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1929384" y="3529584"/>
            <a:ext cx="227685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1929384" y="3602736"/>
            <a:ext cx="227685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56032" y="5212080"/>
            <a:ext cx="1147572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11480" y="5394960"/>
            <a:ext cx="11064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대외기관에서 전송된 파일을 EAI를 이용하여 업무서버에 전송한다.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대외기관과 인터넷망으로 연결된 경우 대외 중계서버에서 대외MCI로 파일을 다운로드 해야한다.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업무 요건에 따라 요청 및 응답 흐름은 변경될 수 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1.3.8 인코딩 변환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6751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연계솔루션이 기본적으로 인코딩 변환을 수행한다.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전문 필드가 복합 필드이거나, 변환에 비즈니스 요건이 포함된 경우 업무팀이 인코딩 변환을 수행한다.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44752"/>
            <a:ext cx="10881360" cy="450799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44752"/>
            <a:ext cx="4160520" cy="384048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인코딩 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7627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맑은 고딕"/>
              </a:rPr>
              <a:t>대외기관 - KSC5601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633472"/>
            <a:ext cx="960120" cy="256032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우편번호(10)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633472"/>
            <a:ext cx="1783080" cy="256032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주소(20)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971800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주소 필드는 한글 값이 들어갈 수 있음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19472" y="2514600"/>
            <a:ext cx="822960" cy="530352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7627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맑은 고딕"/>
              </a:rPr>
              <a:t>KDB - UTF-8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633472"/>
            <a:ext cx="960120" cy="256032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우편번호(10)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2633472"/>
            <a:ext cx="2560320" cy="256032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주소(30)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71800"/>
            <a:ext cx="3520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주소 필드는 KSC5601 대비 1.5배로 정의해야 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" y="3840480"/>
            <a:ext cx="1874519" cy="347472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인코딩 변환 원칙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370832"/>
            <a:ext cx="9829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업무팀은 메타 IO 용어 정의 시, 인코딩 방식을 감안하여 길이를 설정한다.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업무팀에서 인터페이스 설계 시 인터페이스의 IO (타겟IO, 소스IO) 단위로 인코딩 변환 여부를 설정한다.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연계 솔루션은 IO별 인코딩 변환 설정에 따라, 인코딩 변환을 수행한다.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연계 솔루션이 인코딩 변환을 하기 어려운 경우, 업무 프로그램이 변환을 수행한다. (예)복합필드, 비즈니스 요건 종속등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배치-파일 연계의 인코딩 변환은 업무팀에서 수행한다.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배치-디비 연계의 인코딩 변환은 EAI에서 수행한다.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1.3.8 인코딩 변환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6751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차세대 시스템인터페이스에서의 표준전문 변환 및 인코딩 변환 구성도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07008"/>
            <a:ext cx="11109960" cy="452628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10835640" cy="384048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온라인 거래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83080"/>
            <a:ext cx="1188720" cy="333756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2240280"/>
            <a:ext cx="786384" cy="694944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표준 적용
채널
표준
전문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3337560"/>
            <a:ext cx="786384" cy="84124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표준 미
적용채널
비표준
전문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783080"/>
            <a:ext cx="1325880" cy="333756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채널통합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2121408"/>
            <a:ext cx="1005840" cy="74980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880" b="0">
                <a:solidFill>
                  <a:srgbClr val="000000"/>
                </a:solidFill>
                <a:latin typeface="맑은 고딕"/>
              </a:rPr>
              <a:t>대내MCI
표준전문 변환
인코딩 변환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3291840"/>
            <a:ext cx="1005840" cy="74980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880" b="0">
                <a:solidFill>
                  <a:srgbClr val="000000"/>
                </a:solidFill>
                <a:latin typeface="맑은 고딕"/>
              </a:rPr>
              <a:t>표준전문 변환
인코딩 변환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783080"/>
            <a:ext cx="1234440" cy="333756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차세대 시스템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0872" y="2788920"/>
            <a:ext cx="960120" cy="100584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880" b="0">
                <a:solidFill>
                  <a:srgbClr val="000000"/>
                </a:solidFill>
                <a:latin typeface="맑은 고딕"/>
              </a:rPr>
              <a:t>업무프로그램
표준전문 ↔
인코딩 변환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783080"/>
            <a:ext cx="1325880" cy="333756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통합 인터페이스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48272" y="2057400"/>
            <a:ext cx="1005840" cy="82296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EAI
대내MCI C/S
인코딩 변환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8272" y="3310128"/>
            <a:ext cx="1005840" cy="82296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대외 MCI
비표준전문 변환
인코딩 변환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11680" y="2560320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993392" y="2377440"/>
            <a:ext cx="56692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표준전문
(UTF-8)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31920" y="2560320"/>
            <a:ext cx="6400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005072" y="2377440"/>
            <a:ext cx="5486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표준전문
(UTF-8)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06440" y="2560320"/>
            <a:ext cx="8229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925312" y="2377440"/>
            <a:ext cx="56692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표준전문
(UTF-8)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011680" y="3749039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920240" y="3566160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730" b="0">
                <a:solidFill>
                  <a:srgbClr val="000000"/>
                </a:solidFill>
                <a:latin typeface="맑은 고딕"/>
              </a:rPr>
              <a:t>비표준전문
(KSC5601)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31920" y="3749039"/>
            <a:ext cx="6400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904487" y="3566160"/>
            <a:ext cx="6583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표준전문
(UTF-8)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06440" y="3749039"/>
            <a:ext cx="8229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925312" y="3566160"/>
            <a:ext cx="56692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표준전문
(UTF-8)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13648" y="1783080"/>
            <a:ext cx="2560320" cy="84124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표준적용 단위시스템
표준전문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13648" y="2926080"/>
            <a:ext cx="2560320" cy="73152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표준 미 적용 시스템
BUSXR 기타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13648" y="3950208"/>
            <a:ext cx="2560320" cy="73152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대외기관
대외기관 전문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55279" y="2331720"/>
            <a:ext cx="65836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3568" y="2084831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표준전문
(UTF8)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55279" y="3291840"/>
            <a:ext cx="65836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927848" y="3054096"/>
            <a:ext cx="6583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비표준전문
(EUC-KR)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955279" y="4297680"/>
            <a:ext cx="65836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818120" y="4041648"/>
            <a:ext cx="749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비표준전문
(대외기관
전용전문)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30352" y="5285232"/>
            <a:ext cx="1110996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3232" y="539496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>
                <a:solidFill>
                  <a:srgbClr val="000000"/>
                </a:solidFill>
                <a:latin typeface="맑은 고딕"/>
              </a:rPr>
              <a:t>• 차세대 시스템과 연계 솔루션(대내외 MCI, EAI)은 표준전문으로 연계한다.</a:t>
            </a:r>
          </a:p>
          <a:p>
            <a:pPr algn="l"/>
            <a:r>
              <a:rPr sz="1030">
                <a:solidFill>
                  <a:srgbClr val="000000"/>
                </a:solidFill>
                <a:latin typeface="맑은 고딕"/>
              </a:rPr>
              <a:t>• 연계 대상 시스템과 차세대 시스템의 메시지 인코딩이 다를 경우 인코딩 변환은 연계 솔루션이 수행한다.</a:t>
            </a:r>
          </a:p>
          <a:p>
            <a:pPr algn="l"/>
            <a:r>
              <a:rPr sz="1030">
                <a:solidFill>
                  <a:srgbClr val="000000"/>
                </a:solidFill>
                <a:latin typeface="맑은 고딕"/>
              </a:rPr>
              <a:t>• 연계 솔루션이 인코딩 변환을 하기 어려운 경우, 업무 프로그램이 변환을 수행한다. (예)복합필드, 비즈니스 요건 종속등</a:t>
            </a:r>
          </a:p>
          <a:p>
            <a:pPr algn="l"/>
            <a:r>
              <a:rPr sz="1030">
                <a:solidFill>
                  <a:srgbClr val="000000"/>
                </a:solidFill>
                <a:latin typeface="맑은 고딕"/>
              </a:rPr>
              <a:t>• 연계 솔루션의 인코딩 여부는 인터페이스 설계 시 IO 전문 단위로 정의한다.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1.3.8 인코딩 변환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85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차세대 시스템인터페이스에서의 표준전문변환 및 인코딩변환 구성도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10927080" cy="365760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대량 데이터 파일 및 DB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10927080" cy="416052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65960"/>
            <a:ext cx="1417320" cy="2999232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13716" bIns="13716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업무서버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2415" y="2395728"/>
            <a:ext cx="960120" cy="210312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13716" bIns="13716"/>
          <a:lstStyle/>
          <a:p>
            <a:pPr algn="ctr"/>
            <a:r>
              <a:rPr sz="1200" b="0">
                <a:solidFill>
                  <a:srgbClr val="000000"/>
                </a:solidFill>
                <a:latin typeface="맑은 고딕"/>
              </a:rPr>
              <a:t>업무팀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788920"/>
            <a:ext cx="658368" cy="86868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변환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3840480"/>
            <a:ext cx="658368" cy="86868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변환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108960" cy="3520440"/>
          </a:xfrm>
          <a:prstGeom prst="rect">
            <a:avLst/>
          </a:prstGeom>
          <a:noFill/>
          <a:ln w="15240">
            <a:solidFill>
              <a:srgbClr val="78787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1965960"/>
            <a:ext cx="1783080" cy="310896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통합 인터페이스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8928" y="2359152"/>
            <a:ext cx="1389888" cy="27432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EAI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2724912"/>
            <a:ext cx="1481328" cy="50292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0">
                <a:solidFill>
                  <a:srgbClr val="000000"/>
                </a:solidFill>
                <a:latin typeface="맑은 고딕"/>
              </a:rPr>
              <a:t>변환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2735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DB 송/수신은 EAI 에서 변환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657600"/>
            <a:ext cx="2468880" cy="256032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대내파일은 업무팀에서 변환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4480560"/>
            <a:ext cx="2468880" cy="256032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대외파일은 업무팀에서 변환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2743200"/>
            <a:ext cx="1188720" cy="438912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0">
                <a:solidFill>
                  <a:srgbClr val="000000"/>
                </a:solidFill>
                <a:latin typeface="맑은 고딕"/>
              </a:rPr>
              <a:t>DB 송/수신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3657600"/>
            <a:ext cx="146304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비표준
문자 인코딩파일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4663440"/>
            <a:ext cx="1463040" cy="438912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0">
                <a:solidFill>
                  <a:srgbClr val="000000"/>
                </a:solidFill>
                <a:latin typeface="맑은 고딕"/>
              </a:rPr>
              <a:t>파일 수신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286000" y="2962656"/>
            <a:ext cx="777240" cy="19202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286000" y="3886200"/>
            <a:ext cx="502920" cy="2743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86000" y="4434840"/>
            <a:ext cx="502920" cy="44805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680960" y="2743200"/>
            <a:ext cx="1188720" cy="438912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0">
                <a:solidFill>
                  <a:srgbClr val="000000"/>
                </a:solidFill>
                <a:latin typeface="맑은 고딕"/>
              </a:rPr>
              <a:t>DB 송/수신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657600"/>
            <a:ext cx="118872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비표준
문자 인코딩파일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4663440"/>
            <a:ext cx="1188720" cy="438912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0">
                <a:solidFill>
                  <a:srgbClr val="000000"/>
                </a:solidFill>
                <a:latin typeface="맑은 고딕"/>
              </a:rPr>
              <a:t>파일 수신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2057400"/>
            <a:ext cx="1645920" cy="82296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표준적용 단위시스템
UTF8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3090672"/>
            <a:ext cx="1645920" cy="82296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표준 미적용 단위시스템
EUC-KR 기타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4114800"/>
            <a:ext cx="1645920" cy="82296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정보분석
UTF8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5138928"/>
            <a:ext cx="1645920" cy="54864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대외기관
대외기관 한글코드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69480" y="2962656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086600" y="3785615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86600" y="4700016"/>
            <a:ext cx="59436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869680" y="2468880"/>
            <a:ext cx="365760" cy="49377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869680" y="2962656"/>
            <a:ext cx="365760" cy="5486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869680" y="2962656"/>
            <a:ext cx="365760" cy="156362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869680" y="4882896"/>
            <a:ext cx="365760" cy="51206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251960" y="2962656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251960" y="3785615"/>
            <a:ext cx="365760" cy="10972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251960" y="4700016"/>
            <a:ext cx="36576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31520" y="5943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맑은 고딕"/>
              </a:rPr>
              <a:t>• 연계 대상 시스템과 차세대 시스템의 파일 인코딩이 다른 경우 인코딩 변환은 업무 프로그램이 수행한다.</a:t>
            </a:r>
          </a:p>
          <a:p>
            <a:pPr algn="l"/>
            <a:r>
              <a:rPr sz="1150">
                <a:solidFill>
                  <a:srgbClr val="000000"/>
                </a:solidFill>
                <a:latin typeface="맑은 고딕"/>
              </a:rPr>
              <a:t>• DB to DB 인터페이스 패턴에서 데이터베이스 시스템간 인코딩 방식이 다른 경우 인코딩 변환은 EAI가 수행한다.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1.3.9 EIMS 전문관리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1.3 설계기준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00000"/>
                </a:solidFill>
                <a:latin typeface="맑은 고딕"/>
              </a:rPr>
              <a:t>□  입/출력 전문 정보는 통합전문관리시스템(EIMS)에서 관리되며, 입/출력 정보는 형상관리 시스템 연계를 통하여
   구성됨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9844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맑은 고딕"/>
              </a:rPr>
              <a:t>통합전문관리시스템 연계 방안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7680960" cy="4343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664208"/>
            <a:ext cx="1645920" cy="310896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백엔드 시스템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4831" y="1664208"/>
            <a:ext cx="3429000" cy="310896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MCI/EAI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664208"/>
            <a:ext cx="1298448" cy="310896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대외기관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1051560" cy="192024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표준전문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304288"/>
            <a:ext cx="274320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596896"/>
            <a:ext cx="274320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889504"/>
            <a:ext cx="274320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182112"/>
            <a:ext cx="274320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3474720"/>
            <a:ext cx="274320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4315968"/>
            <a:ext cx="822960" cy="38404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배포
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9888" y="4315968"/>
            <a:ext cx="475488" cy="38404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형상/
배포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422452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1965960"/>
            <a:ext cx="914400" cy="192024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표준전문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15768" y="2304288"/>
            <a:ext cx="237744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596896"/>
            <a:ext cx="237744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15768" y="2889504"/>
            <a:ext cx="237744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5768" y="3182112"/>
            <a:ext cx="237744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15768" y="3474720"/>
            <a:ext cx="237744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1568" y="1993392"/>
            <a:ext cx="1005840" cy="178308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전문변환,
타겟IO,
통신환경,
코딩맵핑 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848" y="1993392"/>
            <a:ext cx="804672" cy="178308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관련정보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240280"/>
            <a:ext cx="274320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560320"/>
            <a:ext cx="274320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880360"/>
            <a:ext cx="274320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3200400"/>
            <a:ext cx="274320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520440"/>
            <a:ext cx="274320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1993392"/>
            <a:ext cx="868680" cy="193852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시스템
수동입력
및
변환처리
(한글/영문,
문자인코딩
변환 등)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4315968"/>
            <a:ext cx="822960" cy="38404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배포
관리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4315968"/>
            <a:ext cx="475488" cy="38404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형상/
배포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422452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1965960"/>
            <a:ext cx="822960" cy="196596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대외기관정보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59168" y="2267712"/>
            <a:ext cx="256032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2578608"/>
            <a:ext cx="256032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7059168" y="2889504"/>
            <a:ext cx="256032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7059168" y="3200400"/>
            <a:ext cx="256032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7059168" y="3511296"/>
            <a:ext cx="256032" cy="20116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600200" y="2971800"/>
            <a:ext cx="7772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783080" y="2798064"/>
            <a:ext cx="42062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표준전문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55648" y="2596896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" y="4645152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적용 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9312" y="4645152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적용 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175564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70448" y="178308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맑은 고딕"/>
              </a:rPr>
              <a:t>관리자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41264" y="2103120"/>
            <a:ext cx="1097280" cy="47548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MCI/EAI
관리도구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50992" y="2834640"/>
            <a:ext cx="868680" cy="329184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>테스트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318211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개념전문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" y="4992624"/>
            <a:ext cx="7644383" cy="347472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형상관리 시스템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37360" y="5330952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0280" y="5248656"/>
            <a:ext cx="1280160" cy="27432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형상
관리시스템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5330952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40680" y="5175504"/>
            <a:ext cx="2240280" cy="347472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통합전문관리시스템(EIMS)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42432" y="5541264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운용 담당자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83879" y="1664208"/>
            <a:ext cx="2834640" cy="384048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적용절차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47888" y="2139696"/>
            <a:ext cx="2633472" cy="36576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① 전문정보 등록 및 변경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7888" y="41808873456"/>
            <a:ext cx="2633472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② 형상관리 시스템에 등록요청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47888" y="83615716944"/>
            <a:ext cx="2633472" cy="621792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③ 요청에 대한 승인 처리 후 각 시스템에 배포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47888" y="125422706736"/>
            <a:ext cx="2633472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④ 각 시스템에서는 배포관리 프로그램 또는 관리자에
   의하여 전문 정보 적용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47888" y="167229879408"/>
            <a:ext cx="2633472" cy="36576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⑤ 연계테스트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66760" y="4681728"/>
            <a:ext cx="2377440" cy="38404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50" b="0">
                <a:solidFill>
                  <a:srgbClr val="000000"/>
                </a:solidFill>
                <a:latin typeface="맑은 고딕"/>
              </a:rPr>
              <a:t>피드백 구간
개발계, 테스트계, 운영계
동일한 절차로 진행되는 부분임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83879" y="5138928"/>
            <a:ext cx="2834640" cy="365760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시스템 관리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75320" y="5541264"/>
            <a:ext cx="2633472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000000"/>
                </a:solidFill>
                <a:latin typeface="맑은 고딕"/>
              </a:rPr>
              <a:t>▶ MCI/EAI 관리도구를 활용하여 시스템 수동입력
   및 작업을 수행함 (예: 전문입력, 문자열인코딩변환
   설정 및 변경 등)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320040"/>
            <a:ext cx="116128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411480" y="621792"/>
            <a:ext cx="5029200" cy="301752"/>
          </a:xfrm>
          <a:prstGeom prst="rect">
            <a:avLst/>
          </a:prstGeom>
          <a:solidFill>
            <a:srgbClr val="7D7D7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5564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84831"/>
            <a:ext cx="4251960" cy="329184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6148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2724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2.1 시스템인터페이스 대상 및 상세
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54880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68112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33872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99632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65836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5.  로그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02412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138988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75564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48716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85292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21868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1.4.1 범용단말 연계 예외사항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1.4 예외사항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8580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맑은 고딕"/>
              </a:rPr>
              <a:t>□  IBOS 범용단말 화면 내에 솔루션 웹페이지가 링크된 경우 솔루션 웹페이지에서는 대내MCI를 이용한
    인터페이스를 하지 않음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16736"/>
            <a:ext cx="6629400" cy="384048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채널과 대내 MCI 구간 온라인 프로토콜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6629400" cy="429768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38528"/>
            <a:ext cx="1965960" cy="384048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13716" bIns="13716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304288"/>
            <a:ext cx="1417320" cy="530352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영업점단말
콜센터 단말
범용 단말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926080"/>
            <a:ext cx="1417320" cy="530352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자동화기기
자동화기기관리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547872"/>
            <a:ext cx="1417320" cy="530352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멀티뱅킹
(IVR)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187952"/>
            <a:ext cx="1417320" cy="786384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전자금융
(인터넷/모바일뱅킹,
웹키오스크, 홈페이지,
Pioneer Branch 등)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5029200"/>
            <a:ext cx="1417320" cy="566928"/>
          </a:xfrm>
          <a:prstGeom prst="rect">
            <a:avLst/>
          </a:prstGeom>
          <a:solidFill>
            <a:srgbClr val="EBEBEB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950" b="0">
                <a:solidFill>
                  <a:srgbClr val="000000"/>
                </a:solidFill>
                <a:latin typeface="맑은 고딕"/>
              </a:rPr>
              <a:t>범용단말
(솔루션 Web
Page)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1938528"/>
            <a:ext cx="1600200" cy="301752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13716" bIns="13716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대내MCI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76672" y="2487168"/>
            <a:ext cx="1188720" cy="2011680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500" b="1">
                <a:solidFill>
                  <a:srgbClr val="000000"/>
                </a:solidFill>
                <a:latin typeface="맑은 고딕"/>
              </a:rPr>
              <a:t>MCI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5010912"/>
            <a:ext cx="1600200" cy="566928"/>
          </a:xfrm>
          <a:prstGeom prst="rect">
            <a:avLst/>
          </a:prstGeom>
          <a:solidFill>
            <a:srgbClr val="EBEB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APP
Web Application
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4288" y="2487168"/>
            <a:ext cx="91440" cy="256032"/>
          </a:xfrm>
          <a:prstGeom prst="rect">
            <a:avLst/>
          </a:prstGeom>
          <a:solidFill>
            <a:srgbClr val="7D7D7D"/>
          </a:solidFill>
          <a:ln w="635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5330952" y="2487168"/>
            <a:ext cx="91440" cy="256032"/>
          </a:xfrm>
          <a:prstGeom prst="rect">
            <a:avLst/>
          </a:prstGeom>
          <a:solidFill>
            <a:srgbClr val="7D7D7D"/>
          </a:solidFill>
          <a:ln w="635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95728" y="2578608"/>
            <a:ext cx="293522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56432" y="2414015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TCP/IP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04288" y="3108960"/>
            <a:ext cx="91440" cy="256032"/>
          </a:xfrm>
          <a:prstGeom prst="rect">
            <a:avLst/>
          </a:prstGeom>
          <a:solidFill>
            <a:srgbClr val="7D7D7D"/>
          </a:solidFill>
          <a:ln w="635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5330952" y="3108960"/>
            <a:ext cx="91440" cy="256032"/>
          </a:xfrm>
          <a:prstGeom prst="rect">
            <a:avLst/>
          </a:prstGeom>
          <a:solidFill>
            <a:srgbClr val="7D7D7D"/>
          </a:solidFill>
          <a:ln w="635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95728" y="3200400"/>
            <a:ext cx="293522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56432" y="3035808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TCP/IP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04288" y="3730752"/>
            <a:ext cx="91440" cy="256032"/>
          </a:xfrm>
          <a:prstGeom prst="rect">
            <a:avLst/>
          </a:prstGeom>
          <a:solidFill>
            <a:srgbClr val="7D7D7D"/>
          </a:solidFill>
          <a:ln w="635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5330952" y="3730752"/>
            <a:ext cx="91440" cy="256032"/>
          </a:xfrm>
          <a:prstGeom prst="rect">
            <a:avLst/>
          </a:prstGeom>
          <a:solidFill>
            <a:srgbClr val="7D7D7D"/>
          </a:solidFill>
          <a:ln w="635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95728" y="3822191"/>
            <a:ext cx="293522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56432" y="3657599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TCP/IP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04288" y="4425696"/>
            <a:ext cx="91440" cy="256032"/>
          </a:xfrm>
          <a:prstGeom prst="rect">
            <a:avLst/>
          </a:prstGeom>
          <a:solidFill>
            <a:srgbClr val="7D7D7D"/>
          </a:solidFill>
          <a:ln w="635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5330952" y="4425696"/>
            <a:ext cx="91440" cy="256032"/>
          </a:xfrm>
          <a:prstGeom prst="rect">
            <a:avLst/>
          </a:prstGeom>
          <a:solidFill>
            <a:srgbClr val="7D7D7D"/>
          </a:solidFill>
          <a:ln w="635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95728" y="4517136"/>
            <a:ext cx="293522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456432" y="4352544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HTTP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04288" y="5230368"/>
            <a:ext cx="91440" cy="256032"/>
          </a:xfrm>
          <a:prstGeom prst="rect">
            <a:avLst/>
          </a:prstGeom>
          <a:solidFill>
            <a:srgbClr val="7D7D7D"/>
          </a:solidFill>
          <a:ln w="635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5330952" y="5230368"/>
            <a:ext cx="91440" cy="256032"/>
          </a:xfrm>
          <a:prstGeom prst="rect">
            <a:avLst/>
          </a:prstGeom>
          <a:solidFill>
            <a:srgbClr val="7D7D7D"/>
          </a:solidFill>
          <a:ln w="6350"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95728" y="5321808"/>
            <a:ext cx="293522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456432" y="5157216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)HTTP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86584" y="5321808"/>
            <a:ext cx="277977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66360" y="5010912"/>
            <a:ext cx="1600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360920" y="1316736"/>
            <a:ext cx="3886200" cy="384048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아키텍처 원칙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1865376"/>
            <a:ext cx="3456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맑은 고딕"/>
              </a:rPr>
              <a:t>• 비대면 채널 및 IBOS의 온라인성 거래는 대내 MCI가 담당한다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3346704"/>
            <a:ext cx="3886200" cy="384048"/>
          </a:xfrm>
          <a:prstGeom prst="rect">
            <a:avLst/>
          </a:prstGeom>
          <a:solidFill>
            <a:srgbClr val="41414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아키텍처 예외사항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16368" y="3858768"/>
            <a:ext cx="34930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맑은 고딕"/>
              </a:rPr>
              <a:t>• IBOS 범용단말 화면내에 솔루션 Web Page가 단지 링크된 경우 솔루션 Web Page내에서 사용자 Action에 의해 발생하는 인터페이스는 IBOS 온라인 거래로 볼 수 없으므로 대내 MCI를 거치지 않고 웹 어플리케이션 서버와 직접 연계한다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1.4.2 표준 통신프로토콜 예외사항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9144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1.4 예외사항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00000"/>
                </a:solidFill>
                <a:latin typeface="맑은 고딕"/>
              </a:rPr>
              <a:t>□  차세대 신규/재구축 범위가 아닌 부분개발/대응개발/유지 범위에 있는 어플리케이션 도메인과의 인터페이스는
   표준 전문 및 프로토콜을 따르지 않을 수 있음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43584"/>
            <a:ext cx="6675120" cy="475488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24528" y="1033271"/>
            <a:ext cx="276148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신규/재구축 업무     무관계/준연계     비표준연계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444752"/>
            <a:ext cx="6126480" cy="23774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채널계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19072"/>
            <a:ext cx="1005840" cy="219456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단말영업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29968" y="1719072"/>
            <a:ext cx="1005840" cy="219456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지역지원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719072"/>
            <a:ext cx="1005840" cy="219456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전략영업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719072"/>
            <a:ext cx="1005840" cy="219456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회원단말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96128" y="1719072"/>
            <a:ext cx="1005840" cy="219456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창구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1975104"/>
            <a:ext cx="868680" cy="22860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660" b="0">
                <a:solidFill>
                  <a:srgbClr val="000000"/>
                </a:solidFill>
                <a:latin typeface="맑은 고딕"/>
              </a:rPr>
              <a:t>모바일/인터넷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1975104"/>
            <a:ext cx="868680" cy="22860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660" b="0">
                <a:solidFill>
                  <a:srgbClr val="000000"/>
                </a:solidFill>
                <a:latin typeface="맑은 고딕"/>
              </a:rPr>
              <a:t>PioneerBranch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975104"/>
            <a:ext cx="868680" cy="22860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660" b="0">
                <a:solidFill>
                  <a:srgbClr val="000000"/>
                </a:solidFill>
                <a:latin typeface="맑은 고딕"/>
              </a:rPr>
              <a:t>자동화기기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975104"/>
            <a:ext cx="868680" cy="22860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660" b="0">
                <a:solidFill>
                  <a:srgbClr val="000000"/>
                </a:solidFill>
                <a:latin typeface="맑은 고딕"/>
              </a:rPr>
              <a:t>기준율속성등록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1975104"/>
            <a:ext cx="868680" cy="22860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660" b="0">
                <a:solidFill>
                  <a:srgbClr val="000000"/>
                </a:solidFill>
                <a:latin typeface="맑은 고딕"/>
              </a:rPr>
              <a:t>전자금융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2395728"/>
            <a:ext cx="361188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" rIns="22860" tIns="11430" bIns="11430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계정계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2706624"/>
            <a:ext cx="1325880" cy="182880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고객/상품
시스템관리
수신/여신
카드
RAPM
CRM
전자금융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706624"/>
            <a:ext cx="914400" cy="182880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자금/모점
수신
카드
전자금융
재무회계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01568" y="2706624"/>
            <a:ext cx="868680" cy="182880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고객공통
대외계
리스크
BACK OFFICE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395728"/>
            <a:ext cx="114300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" rIns="22860" tIns="11430" bIns="11430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정보계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798064"/>
            <a:ext cx="868680" cy="169164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정보분석
종합수익
RAPM
성과관리
리스크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395728"/>
            <a:ext cx="1078992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" rIns="22860" tIns="11430" bIns="11430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리스크관리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8736" y="2798064"/>
            <a:ext cx="822960" cy="169164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통합위험
신용리스크
운영리스크
자본관리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5102352"/>
            <a:ext cx="96012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880" b="0">
                <a:solidFill>
                  <a:srgbClr val="000000"/>
                </a:solidFill>
                <a:latin typeface="맑은 고딕"/>
              </a:rPr>
              <a:t>전행지원
및 공통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19072" y="5138928"/>
            <a:ext cx="502920" cy="256032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620" b="0">
                <a:solidFill>
                  <a:srgbClr val="000000"/>
                </a:solidFill>
                <a:latin typeface="맑은 고딕"/>
              </a:rPr>
              <a:t>제휴
지원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5138928"/>
            <a:ext cx="502920" cy="256032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620" b="0">
                <a:solidFill>
                  <a:srgbClr val="000000"/>
                </a:solidFill>
                <a:latin typeface="맑은 고딕"/>
              </a:rPr>
              <a:t>제무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52928" y="5138928"/>
            <a:ext cx="502920" cy="256032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620" b="0">
                <a:solidFill>
                  <a:srgbClr val="000000"/>
                </a:solidFill>
                <a:latin typeface="맑은 고딕"/>
              </a:rPr>
              <a:t>업적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19856" y="5138928"/>
            <a:ext cx="502920" cy="256032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620" b="0">
                <a:solidFill>
                  <a:srgbClr val="000000"/>
                </a:solidFill>
                <a:latin typeface="맑은 고딕"/>
              </a:rPr>
              <a:t>공익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86783" y="5138928"/>
            <a:ext cx="502920" cy="256032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620" b="0">
                <a:solidFill>
                  <a:srgbClr val="000000"/>
                </a:solidFill>
                <a:latin typeface="맑은 고딕"/>
              </a:rPr>
              <a:t>고객마케팅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53712" y="5138928"/>
            <a:ext cx="502920" cy="256032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620" b="0">
                <a:solidFill>
                  <a:srgbClr val="000000"/>
                </a:solidFill>
                <a:latin typeface="맑은 고딕"/>
              </a:rPr>
              <a:t>관리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5806440"/>
            <a:ext cx="1554480" cy="219456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IT
지원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59152" y="5806440"/>
            <a:ext cx="1554480" cy="219456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IT 연계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05072" y="5806440"/>
            <a:ext cx="1554480" cy="219456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DW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50992" y="5806440"/>
            <a:ext cx="1554480" cy="219456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IT
보안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1243584"/>
            <a:ext cx="3401568" cy="38404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아키텍처 원칙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1" y="1792224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맑은 고딕"/>
              </a:rPr>
              <a:t>• 내부 시스템과 연계 솔루션과의 인터페이스에는 표준전문 및 표준 프로토콜을 사용한다.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3273552"/>
            <a:ext cx="3401568" cy="38404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아키텍처 예외사항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71231" y="3840480"/>
            <a:ext cx="31272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맑은 고딕"/>
              </a:rPr>
              <a:t>• 차세대 신규/재구축 범위가 아닌 어플리케이션의 경우, 인터페이스를 위한 표준 전문 개발이나 프로토콜의 변경이 불가능할 경우 표준을 따르지 않을 수 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20624" y="365760"/>
            <a:ext cx="1091793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685800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10515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4173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17830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148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651760"/>
            <a:ext cx="4526280" cy="320040"/>
          </a:xfrm>
          <a:prstGeom prst="rect">
            <a:avLst/>
          </a:prstGeom>
          <a:solidFill>
            <a:srgbClr val="EBEBEB"/>
          </a:solidFill>
          <a:ln w="1016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017520"/>
            <a:ext cx="4526280" cy="320040"/>
          </a:xfrm>
          <a:prstGeom prst="rect">
            <a:avLst/>
          </a:prstGeom>
          <a:solidFill>
            <a:srgbClr val="EBEBEB"/>
          </a:solidFill>
          <a:ln w="1016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    2.1 시스템인터페이스 대상 및 상세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41422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507991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56418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60076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685800"/>
            <a:ext cx="4937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107899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147218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1865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624328"/>
            <a:ext cx="4937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3017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341071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5943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2.1.1 대내MCI 구성도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52360" y="91440"/>
            <a:ext cx="4297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2. 연계 아키텍처 구성도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310896"/>
            <a:ext cx="4297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2.1 시스템 인터페이스 대상 및 상세 범위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868680"/>
            <a:ext cx="5577840" cy="12801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91440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채널계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188720"/>
            <a:ext cx="1097280" cy="64008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고객채널
인터넷뱅킹
스마트뱅킹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188720"/>
            <a:ext cx="2423160" cy="64008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고객채널
영업점단말 / 콜센터
자동화기기 / 전자금융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188720"/>
            <a:ext cx="1051560" cy="64008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내부채널
공통관리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161288"/>
            <a:ext cx="411480" cy="74980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대외
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89611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latin typeface="맑은 고딕"/>
              </a:defRPr>
            </a:pPr>
            <a:r>
              <a:t>• 고객채널과 백엔드 시스템 연계를 위한 대내MCI 시스템 논리 구성</a:t>
            </a:r>
          </a:p>
          <a:p>
            <a:pPr algn="l">
              <a:defRPr sz="1000">
                <a:latin typeface="맑은 고딕"/>
              </a:defRPr>
            </a:pPr>
            <a:r>
              <a:t>• 지역계와 각종 채널 시스템과 백엔드 시스템 간 연계 구성을 통한 연계 지원</a:t>
            </a:r>
          </a:p>
          <a:p>
            <a:pPr algn="l">
              <a:defRPr sz="1000">
                <a:latin typeface="맑은 고딕"/>
              </a:defRPr>
            </a:pPr>
            <a:r>
              <a:t>• 백엔드 시스템과 전행계 연계는 EAI 이용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057400"/>
            <a:ext cx="502920" cy="448056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대내
MCI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2651760"/>
            <a:ext cx="8686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68680" y="2651760"/>
            <a:ext cx="50292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71600" y="3840480"/>
            <a:ext cx="8686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68680" y="3840480"/>
            <a:ext cx="50292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" y="5074920"/>
            <a:ext cx="8686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68680" y="5074920"/>
            <a:ext cx="50292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194560" y="2286000"/>
            <a:ext cx="5440680" cy="28803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계정계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2578608"/>
            <a:ext cx="1234440" cy="118872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615184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고객/상품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2889504"/>
            <a:ext cx="489204" cy="33832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채널관리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40380" y="2889504"/>
            <a:ext cx="489204" cy="33832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3264408"/>
            <a:ext cx="489204" cy="33832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상품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30752" y="2578608"/>
            <a:ext cx="1051560" cy="118872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261518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자금공급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22192" y="2889504"/>
            <a:ext cx="832104" cy="21336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여신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22192" y="3139440"/>
            <a:ext cx="832104" cy="21336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투자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22192" y="3389376"/>
            <a:ext cx="832104" cy="21336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외환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4608" y="2578608"/>
            <a:ext cx="1298448" cy="118872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2615184"/>
            <a:ext cx="12070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재무/수탁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56048" y="2889504"/>
            <a:ext cx="1078992" cy="113385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계정/수납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56048" y="3039465"/>
            <a:ext cx="1078992" cy="113385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카드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3189427"/>
            <a:ext cx="1078992" cy="113385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기업CMS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3339388"/>
            <a:ext cx="1078992" cy="113385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수수료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3489350"/>
            <a:ext cx="1078992" cy="113385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자산관리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578608"/>
            <a:ext cx="1143000" cy="118872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615184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자금운용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2889504"/>
            <a:ext cx="923544" cy="21336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자산운용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139440"/>
            <a:ext cx="923544" cy="21336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대외연계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3389376"/>
            <a:ext cx="923544" cy="21336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BACK OFFICE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950208"/>
            <a:ext cx="1143000" cy="86868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986784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재무회계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4261104"/>
            <a:ext cx="923544" cy="17830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수익관리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4475988"/>
            <a:ext cx="923544" cy="17830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전략통합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54112" y="2286000"/>
            <a:ext cx="3200400" cy="28803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정보계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2578608"/>
            <a:ext cx="1143000" cy="196596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0999" y="2615184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정보분석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19" y="2889504"/>
            <a:ext cx="923544" cy="181573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수익관리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19" y="3107653"/>
            <a:ext cx="92354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성과관리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19" y="3325803"/>
            <a:ext cx="92354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RAPM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19" y="3543953"/>
            <a:ext cx="923544" cy="181573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내부자원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19" y="3762102"/>
            <a:ext cx="92354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영업점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19" y="3980252"/>
            <a:ext cx="923544" cy="181573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통합분석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19" y="4198402"/>
            <a:ext cx="92354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고객관리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5440" y="2578608"/>
            <a:ext cx="1417320" cy="196596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81160" y="261518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리스크 관리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26880" y="2889504"/>
            <a:ext cx="1197864" cy="181573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통합리스크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3107653"/>
            <a:ext cx="119786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신용리스크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26880" y="3325803"/>
            <a:ext cx="1197864" cy="181573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운영RWA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26880" y="3543953"/>
            <a:ext cx="119786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전략리스크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762102"/>
            <a:ext cx="119786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자본관리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3980252"/>
            <a:ext cx="119786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여신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26880" y="4198402"/>
            <a:ext cx="119786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ALM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76272" y="5321808"/>
            <a:ext cx="3429000" cy="804672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전행지원
및 통제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0" y="5577840"/>
            <a:ext cx="49377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40" b="0">
                <a:solidFill>
                  <a:srgbClr val="FFFFFF"/>
                </a:solidFill>
                <a:latin typeface="맑은 고딕"/>
              </a:rPr>
              <a:t>전행지원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91840" y="5577840"/>
            <a:ext cx="493776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40" b="0">
                <a:solidFill>
                  <a:srgbClr val="000000"/>
                </a:solidFill>
                <a:latin typeface="맑은 고딕"/>
              </a:rPr>
              <a:t>제휴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5577840"/>
            <a:ext cx="49377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40" b="0">
                <a:solidFill>
                  <a:srgbClr val="FFFFFF"/>
                </a:solidFill>
                <a:latin typeface="맑은 고딕"/>
              </a:rPr>
              <a:t>업적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9120" y="5577840"/>
            <a:ext cx="493776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40" b="0">
                <a:solidFill>
                  <a:srgbClr val="000000"/>
                </a:solidFill>
                <a:latin typeface="맑은 고딕"/>
              </a:rPr>
              <a:t>고객마케팅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5577840"/>
            <a:ext cx="49377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40" b="0">
                <a:solidFill>
                  <a:srgbClr val="FFFFFF"/>
                </a:solidFill>
                <a:latin typeface="맑은 고딕"/>
              </a:rPr>
              <a:t>내부지원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0" y="5321808"/>
            <a:ext cx="2331720" cy="804672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IT
지원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99632" y="5596128"/>
            <a:ext cx="31089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FFFFFF"/>
                </a:solidFill>
                <a:latin typeface="맑은 고딕"/>
              </a:rPr>
              <a:t>ITSM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47104" y="5596128"/>
            <a:ext cx="310896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보안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94576" y="5596128"/>
            <a:ext cx="31089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FFFFFF"/>
                </a:solidFill>
                <a:latin typeface="맑은 고딕"/>
              </a:rPr>
              <a:t>운영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42048" y="5596128"/>
            <a:ext cx="310896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EA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89520" y="5596128"/>
            <a:ext cx="31089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FFFFFF"/>
                </a:solidFill>
                <a:latin typeface="맑은 고딕"/>
              </a:rPr>
              <a:t>CAAS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01583" y="5321808"/>
            <a:ext cx="1920240" cy="804672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컴플
라이언스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68512" y="5596128"/>
            <a:ext cx="292608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운영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97696" y="5596128"/>
            <a:ext cx="292608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감사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326880" y="5596128"/>
            <a:ext cx="292608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보안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56064" y="5596128"/>
            <a:ext cx="292608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신용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194560" y="6291072"/>
            <a:ext cx="731520" cy="50292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IT
인프라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71800" y="6291072"/>
            <a:ext cx="3840480" cy="50292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IT 인프라     통합배치     EAI     보안/망     시스템관리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49440" y="6291072"/>
            <a:ext cx="2011680" cy="50292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DW     분석DW     신용DW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98280" y="6291072"/>
            <a:ext cx="1691640" cy="50292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IT 보안     ESSO     보안포탈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5943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2.1.2 대외MCI 구성도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52360" y="91440"/>
            <a:ext cx="4297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2. 연계 아키텍처 구성도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310896"/>
            <a:ext cx="4297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2.1 시스템 인터페이스 대상 및 상세 범위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868680"/>
            <a:ext cx="6583680" cy="12801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91440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채널계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6400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고객채널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4752" y="1143000"/>
            <a:ext cx="6400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내부채널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6272" y="1097280"/>
            <a:ext cx="46177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대외채널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417320"/>
            <a:ext cx="1024128" cy="329184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금융기관
(VPN)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872" y="1417320"/>
            <a:ext cx="1024128" cy="329184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인터넷망 기관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261872"/>
            <a:ext cx="713232" cy="56692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50" b="0">
                <a:solidFill>
                  <a:srgbClr val="000000"/>
                </a:solidFill>
                <a:latin typeface="맑은 고딕"/>
              </a:rPr>
              <a:t>대외MCI중계
라우터 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31536" y="1261872"/>
            <a:ext cx="749808" cy="56692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30" b="0">
                <a:solidFill>
                  <a:srgbClr val="000000"/>
                </a:solidFill>
                <a:latin typeface="맑은 고딕"/>
              </a:rPr>
              <a:t>SWIFT/EDI
인터넷PC(일원)
유닉스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896112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latin typeface="맑은 고딕"/>
              </a:defRPr>
            </a:pPr>
            <a:r>
              <a:t>• 대외채널과 백엔드 시스템 연계를 위한 대외MCI 논리 구성</a:t>
            </a:r>
          </a:p>
          <a:p>
            <a:pPr algn="l">
              <a:defRPr sz="919">
                <a:latin typeface="맑은 고딕"/>
              </a:defRPr>
            </a:pPr>
            <a:r>
              <a:t>• 대외 기관과 데이터 교환을 위해 X.25, IP(TCP/IP) 방식을 사용하고 있음</a:t>
            </a:r>
          </a:p>
          <a:p>
            <a:pPr algn="l">
              <a:defRPr sz="919">
                <a:latin typeface="맑은 고딕"/>
              </a:defRPr>
            </a:pPr>
            <a:r>
              <a:t>• 도어카드 연계, SWIFT/EDI, 인터넷PC(당일) 일부는 AS-IS 방식 유지</a:t>
            </a:r>
          </a:p>
          <a:p>
            <a:pPr algn="l">
              <a:defRPr sz="919">
                <a:latin typeface="맑은 고딕"/>
              </a:defRPr>
            </a:pPr>
            <a:r>
              <a:t>• 백엔드 시스템과 대외MCI와 파일 연계는 EAI 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057400"/>
            <a:ext cx="502920" cy="448056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대외
MCI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71600" y="2651760"/>
            <a:ext cx="8686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68680" y="2651760"/>
            <a:ext cx="50292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71600" y="3840480"/>
            <a:ext cx="8686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68680" y="3840480"/>
            <a:ext cx="50292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71600" y="5074920"/>
            <a:ext cx="8686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68680" y="5074920"/>
            <a:ext cx="50292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194560" y="2286000"/>
            <a:ext cx="5440680" cy="28803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계정계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2578608"/>
            <a:ext cx="1234440" cy="118872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615184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고객/상품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2889504"/>
            <a:ext cx="489204" cy="33832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채널관리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40380" y="2889504"/>
            <a:ext cx="489204" cy="33832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고객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3264408"/>
            <a:ext cx="489204" cy="33832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상품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30752" y="2578608"/>
            <a:ext cx="1051560" cy="118872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261518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자금공급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22192" y="2889504"/>
            <a:ext cx="832104" cy="21336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여신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22192" y="3139440"/>
            <a:ext cx="832104" cy="21336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투자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22192" y="3389376"/>
            <a:ext cx="832104" cy="21336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외환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2578608"/>
            <a:ext cx="1298448" cy="118872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0328" y="2615184"/>
            <a:ext cx="12070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재무/수탁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889504"/>
            <a:ext cx="1078992" cy="113385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계정/수납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3039465"/>
            <a:ext cx="1078992" cy="113385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카드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56048" y="3189427"/>
            <a:ext cx="1078992" cy="113385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기업CMS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56048" y="3339388"/>
            <a:ext cx="1078992" cy="113385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수수료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56048" y="3489350"/>
            <a:ext cx="1078992" cy="113385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자산관리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578608"/>
            <a:ext cx="1143000" cy="118872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615184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자금운용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889504"/>
            <a:ext cx="923544" cy="21336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자산운용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3139440"/>
            <a:ext cx="923544" cy="21336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대외연계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3389376"/>
            <a:ext cx="923544" cy="21336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BACK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950208"/>
            <a:ext cx="1143000" cy="86868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986784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재무회계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4261104"/>
            <a:ext cx="923544" cy="17830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수익관리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4475988"/>
            <a:ext cx="923544" cy="17830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전략통합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54112" y="2286000"/>
            <a:ext cx="3200400" cy="28803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정보계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2578608"/>
            <a:ext cx="1143000" cy="196596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0999" y="2615184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정보분석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19" y="2889504"/>
            <a:ext cx="923544" cy="181573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수익관리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19" y="3107653"/>
            <a:ext cx="92354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성과관리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19" y="3325803"/>
            <a:ext cx="92354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RAPM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19" y="3543953"/>
            <a:ext cx="923544" cy="181573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내부자원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19" y="3762102"/>
            <a:ext cx="92354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영업점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19" y="3980252"/>
            <a:ext cx="923544" cy="181573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통합분석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46719" y="4198402"/>
            <a:ext cx="92354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고객관리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2578608"/>
            <a:ext cx="1417320" cy="196596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81160" y="261518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리스크 관리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26880" y="2889504"/>
            <a:ext cx="1197864" cy="181573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통합리스크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107653"/>
            <a:ext cx="119786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신용리스크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3325803"/>
            <a:ext cx="1197864" cy="181573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운영RWA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26880" y="3543953"/>
            <a:ext cx="119786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전략리스크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26880" y="3762102"/>
            <a:ext cx="119786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자본관리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26880" y="3980252"/>
            <a:ext cx="119786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여신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26880" y="4198402"/>
            <a:ext cx="1197864" cy="181573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ALM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76272" y="5321808"/>
            <a:ext cx="3429000" cy="804672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전행지원
및 통제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0" y="5577840"/>
            <a:ext cx="49377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40" b="0">
                <a:solidFill>
                  <a:srgbClr val="FFFFFF"/>
                </a:solidFill>
                <a:latin typeface="맑은 고딕"/>
              </a:rPr>
              <a:t>전행지원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91840" y="5577840"/>
            <a:ext cx="493776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40" b="0">
                <a:solidFill>
                  <a:srgbClr val="000000"/>
                </a:solidFill>
                <a:latin typeface="맑은 고딕"/>
              </a:rPr>
              <a:t>제휴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0" y="5577840"/>
            <a:ext cx="49377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40" b="0">
                <a:solidFill>
                  <a:srgbClr val="FFFFFF"/>
                </a:solidFill>
                <a:latin typeface="맑은 고딕"/>
              </a:rPr>
              <a:t>업적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5577840"/>
            <a:ext cx="493776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40" b="0">
                <a:solidFill>
                  <a:srgbClr val="000000"/>
                </a:solidFill>
                <a:latin typeface="맑은 고딕"/>
              </a:rPr>
              <a:t>고객마케팅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0" y="5577840"/>
            <a:ext cx="49377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40" b="0">
                <a:solidFill>
                  <a:srgbClr val="FFFFFF"/>
                </a:solidFill>
                <a:latin typeface="맑은 고딕"/>
              </a:rPr>
              <a:t>내부지원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0" y="5321808"/>
            <a:ext cx="2331720" cy="804672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IT
지원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99632" y="5596128"/>
            <a:ext cx="31089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FFFFFF"/>
                </a:solidFill>
                <a:latin typeface="맑은 고딕"/>
              </a:rPr>
              <a:t>ITSM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47104" y="5596128"/>
            <a:ext cx="310896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보안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894576" y="5596128"/>
            <a:ext cx="31089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FFFFFF"/>
                </a:solidFill>
                <a:latin typeface="맑은 고딕"/>
              </a:rPr>
              <a:t>운영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42048" y="5596128"/>
            <a:ext cx="310896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EA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89520" y="5596128"/>
            <a:ext cx="310896" cy="201168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FFFFFF"/>
                </a:solidFill>
                <a:latin typeface="맑은 고딕"/>
              </a:rPr>
              <a:t>CAAS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01583" y="5321808"/>
            <a:ext cx="1920240" cy="804672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컴플
라이언스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68512" y="5596128"/>
            <a:ext cx="292608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운영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97696" y="5596128"/>
            <a:ext cx="292608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감사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6880" y="5596128"/>
            <a:ext cx="292608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보안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56064" y="5596128"/>
            <a:ext cx="292608" cy="2011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신용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94560" y="6291072"/>
            <a:ext cx="731520" cy="50292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IT
인프라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71800" y="6291072"/>
            <a:ext cx="3840480" cy="50292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IT 인프라     통합배치     EAI     보안/망     시스템관리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49440" y="6291072"/>
            <a:ext cx="2011680" cy="50292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DW     분석DW     신용DW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98280" y="6291072"/>
            <a:ext cx="1691640" cy="502920"/>
          </a:xfrm>
          <a:prstGeom prst="rect">
            <a:avLst/>
          </a:prstGeom>
          <a:solidFill>
            <a:srgbClr val="EBEBEB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IT 보안     ESSO     보안포탈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035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2.1.3 EAI 구성도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91440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2. 연계 아키텍처 구성도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1089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2.1 시스템 인터페이스 대상 및 상세 범위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749808"/>
            <a:ext cx="320040" cy="571500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EAI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73968" y="749808"/>
            <a:ext cx="320040" cy="5715000"/>
          </a:xfrm>
          <a:prstGeom prst="rect">
            <a:avLst/>
          </a:prstGeom>
          <a:solidFill>
            <a:srgbClr val="414141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EAI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685800"/>
            <a:ext cx="6903720" cy="11430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채널계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896112"/>
            <a:ext cx="3703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고객채널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1133856"/>
            <a:ext cx="1024128" cy="201168"/>
          </a:xfrm>
          <a:prstGeom prst="rect">
            <a:avLst/>
          </a:prstGeom>
          <a:solidFill>
            <a:srgbClr val="414141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1">
                <a:solidFill>
                  <a:srgbClr val="FFFFFF"/>
                </a:solidFill>
                <a:latin typeface="맑은 고딕"/>
              </a:rPr>
              <a:t>인터넷뱅킹
모바일뱅킹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133856"/>
            <a:ext cx="1024128" cy="201168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0">
                <a:solidFill>
                  <a:srgbClr val="000000"/>
                </a:solidFill>
                <a:latin typeface="맑은 고딕"/>
              </a:rPr>
              <a:t>PioneerBranch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133856"/>
            <a:ext cx="1024128" cy="201168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0">
                <a:solidFill>
                  <a:srgbClr val="000000"/>
                </a:solidFill>
                <a:latin typeface="맑은 고딕"/>
              </a:rPr>
              <a:t>자동화기기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1408176"/>
            <a:ext cx="1024128" cy="201168"/>
          </a:xfrm>
          <a:prstGeom prst="rect">
            <a:avLst/>
          </a:prstGeom>
          <a:solidFill>
            <a:srgbClr val="414141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1">
                <a:solidFill>
                  <a:srgbClr val="FFFFFF"/>
                </a:solidFill>
                <a:latin typeface="맑은 고딕"/>
              </a:rPr>
              <a:t>퇴직연금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408176"/>
            <a:ext cx="1024128" cy="201168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0">
                <a:solidFill>
                  <a:srgbClr val="000000"/>
                </a:solidFill>
                <a:latin typeface="맑은 고딕"/>
              </a:rPr>
              <a:t>텔러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1408176"/>
            <a:ext cx="1024128" cy="201168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0">
                <a:solidFill>
                  <a:srgbClr val="000000"/>
                </a:solidFill>
                <a:latin typeface="맑은 고딕"/>
              </a:rPr>
              <a:t>기업공통서비스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896112"/>
            <a:ext cx="12344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내부채널
통합센터
KDB공용업무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896112"/>
            <a:ext cx="12344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대외채널
금융기관(VPN)
인터넷망 기관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1828800"/>
            <a:ext cx="0" cy="22860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74720" y="1847088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채널계 DB, File 연계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1965960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백엔드 시스템간 온라인연계
전행시스템간 DB, File연계 전담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2331720"/>
            <a:ext cx="6858000" cy="24231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계정계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2633472"/>
            <a:ext cx="1097280" cy="82296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2660904"/>
            <a:ext cx="10241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고객/상품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" y="2889504"/>
            <a:ext cx="923544" cy="146304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채널관리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3072384"/>
            <a:ext cx="923544" cy="146304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고객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61872" y="3255264"/>
            <a:ext cx="923544" cy="146304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상품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2633472"/>
            <a:ext cx="1097280" cy="141732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14016" y="2660904"/>
            <a:ext cx="10241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자금공급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50592" y="2889504"/>
            <a:ext cx="923544" cy="249174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여신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0592" y="3175254"/>
            <a:ext cx="923544" cy="249174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투자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50592" y="3461004"/>
            <a:ext cx="923544" cy="249174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외환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50592" y="3746754"/>
            <a:ext cx="923544" cy="249174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신탁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2633472"/>
            <a:ext cx="1188720" cy="141732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2736" y="2660904"/>
            <a:ext cx="11155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재휴/부대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39312" y="2889504"/>
            <a:ext cx="1014984" cy="249174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계정/수납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39312" y="3175254"/>
            <a:ext cx="1014984" cy="249174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카드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39312" y="3461004"/>
            <a:ext cx="1014984" cy="249174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기업CMS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39312" y="3746754"/>
            <a:ext cx="1014984" cy="249174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자산관리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633472"/>
            <a:ext cx="1097280" cy="118872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74336" y="2660904"/>
            <a:ext cx="10241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자금운용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10912" y="2889504"/>
            <a:ext cx="923544" cy="268224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시장운용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10912" y="3194304"/>
            <a:ext cx="923544" cy="268224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대외연계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3499104"/>
            <a:ext cx="923544" cy="268224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BACK OFFICE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858768"/>
            <a:ext cx="1097280" cy="68580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74336" y="3886200"/>
            <a:ext cx="10241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재무회계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10912" y="4114800"/>
            <a:ext cx="923544" cy="169164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수익관리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10912" y="4320540"/>
            <a:ext cx="923544" cy="169164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전략통합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28431" y="2331720"/>
            <a:ext cx="2697480" cy="24231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정보계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2633472"/>
            <a:ext cx="1097280" cy="169164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0455" y="2660904"/>
            <a:ext cx="10241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정보분석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57031" y="2889504"/>
            <a:ext cx="923544" cy="246888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수익관리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57031" y="3172968"/>
            <a:ext cx="923544" cy="246888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성과관리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57031" y="3456432"/>
            <a:ext cx="923544" cy="246888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RAPM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57031" y="3739896"/>
            <a:ext cx="923544" cy="246888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고객분석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57031" y="4023360"/>
            <a:ext cx="923544" cy="246888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통합분석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18320" y="2633472"/>
            <a:ext cx="1143000" cy="1691640"/>
          </a:xfrm>
          <a:prstGeom prst="rect">
            <a:avLst/>
          </a:prstGeom>
          <a:solidFill>
            <a:srgbClr val="F8F8F8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54896" y="2660904"/>
            <a:ext cx="10698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리스크 관리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91472" y="2889504"/>
            <a:ext cx="969264" cy="246888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통합리스크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91472" y="3172968"/>
            <a:ext cx="969264" cy="246888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신용리스크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91472" y="3456432"/>
            <a:ext cx="969264" cy="246888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1">
                <a:solidFill>
                  <a:srgbClr val="FFFFFF"/>
                </a:solidFill>
                <a:latin typeface="맑은 고딕"/>
              </a:rPr>
              <a:t>운영RWA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91472" y="3739896"/>
            <a:ext cx="969264" cy="246888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자본관리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91472" y="4023360"/>
            <a:ext cx="969264" cy="246888"/>
          </a:xfrm>
          <a:prstGeom prst="rect">
            <a:avLst/>
          </a:prstGeom>
          <a:solidFill>
            <a:srgbClr val="EBEBEB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70" b="0">
                <a:solidFill>
                  <a:srgbClr val="000000"/>
                </a:solidFill>
                <a:latin typeface="맑은 고딕"/>
              </a:rPr>
              <a:t>ALM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5840" y="4846320"/>
            <a:ext cx="3794760" cy="86868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전행지원
및
통제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64208" y="4983480"/>
            <a:ext cx="640080" cy="228600"/>
          </a:xfrm>
          <a:prstGeom prst="rect">
            <a:avLst/>
          </a:prstGeom>
          <a:solidFill>
            <a:srgbClr val="414141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1">
                <a:solidFill>
                  <a:srgbClr val="FFFFFF"/>
                </a:solidFill>
                <a:latin typeface="맑은 고딕"/>
              </a:rPr>
              <a:t>전행지원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77440" y="4983480"/>
            <a:ext cx="640080" cy="228600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0">
                <a:solidFill>
                  <a:srgbClr val="000000"/>
                </a:solidFill>
                <a:latin typeface="맑은 고딕"/>
              </a:rPr>
              <a:t>제휴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90672" y="4983480"/>
            <a:ext cx="640080" cy="228600"/>
          </a:xfrm>
          <a:prstGeom prst="rect">
            <a:avLst/>
          </a:prstGeom>
          <a:solidFill>
            <a:srgbClr val="414141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1">
                <a:solidFill>
                  <a:srgbClr val="FFFFFF"/>
                </a:solidFill>
                <a:latin typeface="맑은 고딕"/>
              </a:rPr>
              <a:t>업적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03904" y="4983480"/>
            <a:ext cx="640080" cy="228600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0">
                <a:solidFill>
                  <a:srgbClr val="000000"/>
                </a:solidFill>
                <a:latin typeface="맑은 고딕"/>
              </a:rPr>
              <a:t>고객마케팅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64208" y="5276088"/>
            <a:ext cx="640080" cy="228600"/>
          </a:xfrm>
          <a:prstGeom prst="rect">
            <a:avLst/>
          </a:prstGeom>
          <a:solidFill>
            <a:srgbClr val="414141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1">
                <a:solidFill>
                  <a:srgbClr val="FFFFFF"/>
                </a:solidFill>
                <a:latin typeface="맑은 고딕"/>
              </a:rPr>
              <a:t>내부지원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77440" y="5276088"/>
            <a:ext cx="640080" cy="228600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0">
                <a:solidFill>
                  <a:srgbClr val="000000"/>
                </a:solidFill>
                <a:latin typeface="맑은 고딕"/>
              </a:rPr>
              <a:t>전자금융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90672" y="5276088"/>
            <a:ext cx="640080" cy="228600"/>
          </a:xfrm>
          <a:prstGeom prst="rect">
            <a:avLst/>
          </a:prstGeom>
          <a:solidFill>
            <a:srgbClr val="414141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1">
                <a:solidFill>
                  <a:srgbClr val="FFFFFF"/>
                </a:solidFill>
                <a:latin typeface="맑은 고딕"/>
              </a:rPr>
              <a:t>BPM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3904" y="5276088"/>
            <a:ext cx="640080" cy="228600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50" b="0">
                <a:solidFill>
                  <a:srgbClr val="000000"/>
                </a:solidFill>
                <a:latin typeface="맑은 고딕"/>
              </a:rPr>
              <a:t>ECRM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37760" y="4846320"/>
            <a:ext cx="1965960" cy="86868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IT
지원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40680" y="4983480"/>
            <a:ext cx="365760" cy="228600"/>
          </a:xfrm>
          <a:prstGeom prst="rect">
            <a:avLst/>
          </a:prstGeom>
          <a:solidFill>
            <a:srgbClr val="414141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1">
                <a:solidFill>
                  <a:srgbClr val="FFFFFF"/>
                </a:solidFill>
                <a:latin typeface="맑은 고딕"/>
              </a:rPr>
              <a:t>프로젝트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52160" y="4983480"/>
            <a:ext cx="365760" cy="228600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ITSM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4983480"/>
            <a:ext cx="365760" cy="228600"/>
          </a:xfrm>
          <a:prstGeom prst="rect">
            <a:avLst/>
          </a:prstGeom>
          <a:solidFill>
            <a:srgbClr val="414141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1">
                <a:solidFill>
                  <a:srgbClr val="FFFFFF"/>
                </a:solidFill>
                <a:latin typeface="맑은 고딕"/>
              </a:rPr>
              <a:t>보안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40680" y="5276088"/>
            <a:ext cx="365760" cy="228600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운영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52160" y="5276088"/>
            <a:ext cx="365760" cy="228600"/>
          </a:xfrm>
          <a:prstGeom prst="rect">
            <a:avLst/>
          </a:prstGeom>
          <a:solidFill>
            <a:srgbClr val="414141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1">
                <a:solidFill>
                  <a:srgbClr val="FFFFFF"/>
                </a:solidFill>
                <a:latin typeface="맑은 고딕"/>
              </a:rPr>
              <a:t>EA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63640" y="5276088"/>
            <a:ext cx="365760" cy="228600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CAAS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22592" y="4846320"/>
            <a:ext cx="1828800" cy="86868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컴플
라이언스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43800" y="5010912"/>
            <a:ext cx="402336" cy="228600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감사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01000" y="5010912"/>
            <a:ext cx="402336" cy="228600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전산감사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43800" y="5303520"/>
            <a:ext cx="402336" cy="228600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보안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01000" y="5303520"/>
            <a:ext cx="402336" cy="228600"/>
          </a:xfrm>
          <a:prstGeom prst="rect">
            <a:avLst/>
          </a:prstGeom>
          <a:solidFill>
            <a:srgbClr val="EBEBEB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20" b="0">
                <a:solidFill>
                  <a:srgbClr val="000000"/>
                </a:solidFill>
                <a:latin typeface="맑은 고딕"/>
              </a:rPr>
              <a:t>신용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5840" y="5833872"/>
            <a:ext cx="1143000" cy="438912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IT
인프라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12848" y="5833872"/>
            <a:ext cx="3657600" cy="438912"/>
          </a:xfrm>
          <a:prstGeom prst="rect">
            <a:avLst/>
          </a:prstGeom>
          <a:solidFill>
            <a:srgbClr val="EBEBEB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통합배치    대내MCI    대외MCI    시스템관리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61888" y="5833872"/>
            <a:ext cx="2011680" cy="438912"/>
          </a:xfrm>
          <a:prstGeom prst="rect">
            <a:avLst/>
          </a:prstGeom>
          <a:solidFill>
            <a:srgbClr val="EBEBEB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DW    분석DW    신용DW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01583" y="5833872"/>
            <a:ext cx="1920240" cy="438912"/>
          </a:xfrm>
          <a:prstGeom prst="rect">
            <a:avLst/>
          </a:prstGeom>
          <a:solidFill>
            <a:srgbClr val="EBEBEB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IT 보안    ESSO    접근통제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22960" y="5257800"/>
            <a:ext cx="18288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725912" y="5257800"/>
            <a:ext cx="448056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22960" y="6080760"/>
            <a:ext cx="18288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725912" y="6080760"/>
            <a:ext cx="448056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438912"/>
            <a:ext cx="10972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82296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170432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517904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865376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12848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18688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000000"/>
                </a:solidFill>
                <a:latin typeface="맑은 고딕"/>
              </a:rPr>
              <a:t>2.1 시스템인터페이스 대상 및 상세
범위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224528"/>
            <a:ext cx="3840480" cy="292608"/>
          </a:xfrm>
          <a:prstGeom prst="rect">
            <a:avLst/>
          </a:prstGeom>
          <a:solidFill>
            <a:srgbClr val="EBEBEB"/>
          </a:solidFill>
          <a:ln w="635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4571999"/>
            <a:ext cx="2926080" cy="292608"/>
          </a:xfrm>
          <a:prstGeom prst="rect">
            <a:avLst/>
          </a:prstGeom>
          <a:solidFill>
            <a:srgbClr val="EBEBEB"/>
          </a:solidFill>
          <a:ln w="635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956047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925312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6272784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82296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1170432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8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1517904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8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1865376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8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88036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3218688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8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566160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8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035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3.1 표준전문 -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91440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1089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5836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차세대 시스템인터페이스에서의 표준전문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96112"/>
            <a:ext cx="1554480" cy="228600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입력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143000"/>
          <a:ext cx="11201400" cy="1097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156754"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맑은 고딕"/>
                        </a:rPr>
                        <a:t>전문유형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헤더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시스템공통부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거래공통부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250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채널공통부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대면채널과 비대면채널에서 사용하는 공통 영역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책임자승인공통부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가변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개별부(입력데이터)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가변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개별 입력 데이터 포맷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종료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종료부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2423160"/>
            <a:ext cx="1554480" cy="228600"/>
          </a:xfrm>
          <a:prstGeom prst="rect">
            <a:avLst/>
          </a:prstGeom>
          <a:solidFill>
            <a:srgbClr val="414141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출력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70048"/>
          <a:ext cx="1120140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157734"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맑은 고딕"/>
                        </a:rPr>
                        <a:t>전문유형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헤더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시스템공통부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거래공통부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250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채널공통부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대면채널과 비대면채널에서 사용하는 공통 영역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책임자승인공통부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가변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메시지공통부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가변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정상/오류 메시지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데이터부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개별부(출력데이터)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가변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개별 입력 데이터 포맷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종료부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종료부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FLAT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14800"/>
            <a:ext cx="10835640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&lt;제약 사항&gt;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443984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>
                <a:latin typeface="맑은 고딕"/>
              </a:defRPr>
            </a:pPr>
            <a:r>
              <a:t>• 유형이 숫자 필드는 leading-zero, 문자 필드는 trailing-space로 채움</a:t>
            </a:r>
          </a:p>
          <a:p>
            <a:pPr algn="l">
              <a:defRPr sz="919">
                <a:latin typeface="맑은 고딕"/>
              </a:defRPr>
            </a:pPr>
            <a:r>
              <a:t>• 반복된 데이터가 없을 경우에는 ‘00’으로 세팅하여 해당 반복부 컬럼은 세팅하지 않음</a:t>
            </a:r>
          </a:p>
          <a:p>
            <a:pPr algn="l">
              <a:defRPr sz="919">
                <a:latin typeface="맑은 고딕"/>
              </a:defRPr>
            </a:pPr>
            <a:r>
              <a:t>• 필수여부 체크는 다음과 같음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68680" y="5047488"/>
          <a:ext cx="214884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</a:tblGrid>
              <a:tr h="140208"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</a:tr>
              <a:tr h="14020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000000"/>
                          </a:solidFill>
                          <a:latin typeface="맑은 고딕"/>
                        </a:rPr>
                        <a:t>데이터생성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14020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000000"/>
                          </a:solidFill>
                          <a:latin typeface="맑은 고딕"/>
                        </a:rPr>
                        <a:t>생성된 데이터 유지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4020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000000"/>
                          </a:solidFill>
                          <a:latin typeface="맑은 고딕"/>
                        </a:rPr>
                        <a:t>필요시 데이터 생성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14020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000000"/>
                          </a:solidFill>
                          <a:latin typeface="맑은 고딕"/>
                        </a:rPr>
                        <a:t>생성된 데이터 유지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14020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000000"/>
                          </a:solidFill>
                          <a:latin typeface="맑은 고딕"/>
                        </a:rPr>
                        <a:t>해당항목 데이터 사용 안함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6035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13.2 표준전문 – 시스템공통부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91440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1089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" y="530352"/>
            <a:ext cx="116403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713232"/>
          <a:ext cx="11777472" cy="583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</a:tblGrid>
              <a:tr h="388924"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표시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Default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MCI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27432" marR="27432" marT="18288" marB="18288">
                    <a:solidFill>
                      <a:srgbClr val="414141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시스템</a:t>
                      </a:r>
                    </a:p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공통부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기본정보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전체전문길이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WHL_TGR_LEN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헤더+데이터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동적계산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RW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헤더길이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STN_HED_LEN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헤더 길이(Byte)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동적계산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RW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전문버전정보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TGR_VRS_INF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표준전문의 버전정보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전문압축여부코드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TGR_CMPS_YN_CD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N:일반 / C:압축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암호화구분코드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ECY_DTT_CD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암호화 여부 코드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RW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언어구분코드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LAN_DTT_CD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KO:한국어 / EN:영어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KO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시스템환경구분코드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SYS_ENV_DTT_CD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23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D:개발 / T:테스트 / R:운영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D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거래추적</a:t>
                      </a:r>
                    </a:p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정보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GUID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전문생성시스템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TGR_GNIT_SYS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전문 생성 시스템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동적계산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전문일시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TGR_GNIT_DT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27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전문 생성 일자(YYYYMMDD)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동적계산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전문시각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TGR_GNIT_HMS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전문 생성 시각(HHMMSSmmm)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동적계산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전문생성고유ID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TGR_GNIT_UNQ_ID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44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거래 추적용 고유 ID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동적계산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전문고유ID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TGR_UNQ_ID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54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전문 고유 ID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동적계산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단말번호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PRG_NO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62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단말/프로그램 번호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000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RW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RW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EBEBEB"/>
                    </a:solidFill>
                  </a:tcPr>
                </a:tc>
              </a:tr>
              <a:tr h="388924"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원거래 GUID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OG_TR_GUID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36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65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Async 거래의 원거래 GUID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SPACE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WR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132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13.2 표준전문 - 시스템공통부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09728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749808"/>
          <a:ext cx="9592055" cy="5440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685800"/>
                <a:gridCol w="1261872"/>
                <a:gridCol w="1033271"/>
                <a:gridCol w="384048"/>
                <a:gridCol w="347472"/>
                <a:gridCol w="384048"/>
                <a:gridCol w="292608"/>
                <a:gridCol w="292608"/>
                <a:gridCol w="2240280"/>
                <a:gridCol w="841248"/>
                <a:gridCol w="731520"/>
                <a:gridCol w="365760"/>
                <a:gridCol w="347472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요청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응답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Default 값
(전문값)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MCI
(전문/PUSH/조회)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시스템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전송
시스템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전송시스템코드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FWD_SYS_CD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103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요청 전문을 전송한 시스템 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SPACE(3)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시스템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전송
시스템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전송서버번호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FWD_SYS_HST_NM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106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요청 전문을 전송한 프로세스(예: WAS 인스턴스 위치)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SPACE(10)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W/W/W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시스템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전송
시스템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전송시스템IP주소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IP_ADDR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116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서비스 요청 단말의 IP 주소(IPv6 감안)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시스템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전송
시스템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전송시스템MAC주소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MAC_ADDR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156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서비스 요청 단말의 MAC 주소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시스템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전송
시스템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최초전송시스템코드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FST_FWD_SYS_CD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168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최초 요청 전문을 전송한 시스템 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SPACE(3)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시스템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전송
시스템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최초전송서버번호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FST_FWD_SYS_HST_NM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171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최초 요청 전문을 전송한 프로세스(예: WAS 인스턴스 위치)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SPACE(10)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시스템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시스템공통부 예비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시스템공통부 예비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SYS_CO_RESV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181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>SPACE(69)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0" y="6245352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200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132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13.3 표준전문 - 거래공통부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09728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749808"/>
          <a:ext cx="9592055" cy="5440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685800"/>
                <a:gridCol w="1261872"/>
                <a:gridCol w="1033271"/>
                <a:gridCol w="384048"/>
                <a:gridCol w="347472"/>
                <a:gridCol w="384048"/>
                <a:gridCol w="292608"/>
                <a:gridCol w="292608"/>
                <a:gridCol w="2240280"/>
                <a:gridCol w="841248"/>
                <a:gridCol w="731520"/>
                <a:gridCol w="365760"/>
                <a:gridCol w="347472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요청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응답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Default 값
(전문값)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MCI
(전문/PUSH/조회)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
수신정보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 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TR_ID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호출할 서비스의 거래ID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동적 계산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R/-/-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
수신정보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수신시스템코드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RMS_SYS_CD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수신시스템코드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SPACE(3)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
수신정보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화면번호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SRE_NO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화면번호 체계 없음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동적 계산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R/R/W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
수신정보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요청/응답구분코드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REQ_RPD_DTT_CD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23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요청/응답 구분: 요청·응답·Push·비동기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동적 계산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R/R/W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사무유형구분코드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DTL_TP_DTT_CD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업무유형 구분코드. 대고객/직원/비대면/Push 등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SPACE(2)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R/R/W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채널/업무구분코드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CHL_TP_DTT_CD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채널/업무 구분 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S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동기시간구분코드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SYNC_PCS_DTT_CD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27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A-Sync/Sync 전문 구분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S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ALT_DTT_CD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28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요청 전문 구분 및 처리방식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동적 계산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R/R/W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
시간정보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요청시각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REQ_TM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29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요청 전문 수신시각(HHMMSSmmm)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동적 계산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-/-/W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
시간정보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응답시각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RPD_TM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38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응답 전문 생성시각(HHMMSSmmm)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동적 계산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-/-/W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
기타정보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시뮬레이션구분코드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SML_DTT_CD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47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시뮬레이션 거래/Flag 적용 여부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
기타정보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시뮬레이션영업일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SML_SLS_YMD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48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시뮬레이션 영업일자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SPACE(8)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96005"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계정정보
기타정보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거래용도구분코드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TR_USG_DTT_CO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56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거래 용도구분코드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>SPACE(3)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9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132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13.3 표준전문 - 거래공통부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09728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749808"/>
          <a:ext cx="9592055" cy="544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685800"/>
                <a:gridCol w="1261872"/>
                <a:gridCol w="1033271"/>
                <a:gridCol w="384048"/>
                <a:gridCol w="347472"/>
                <a:gridCol w="384048"/>
                <a:gridCol w="292608"/>
                <a:gridCol w="292608"/>
                <a:gridCol w="2240280"/>
                <a:gridCol w="841248"/>
                <a:gridCol w="731520"/>
                <a:gridCol w="365760"/>
                <a:gridCol w="347472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요청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응답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Default 값
(전문값)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MCI
(전문/PUSH/조회)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사용자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소속부점코드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BLGT_BBR_CD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59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기점계 사용자의 소속 부점코드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SPACE(3)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R/-/-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사용자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직원번호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EMP_NO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62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화면/시스템 로그인 ID와 다를 수 있음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SPACE(8)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R/-/-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사용자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직급코드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PSC_CD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70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SPACE(4)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사용자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직무코드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DTS_CD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74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SPACE(4)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단말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단말정보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TER_BR_NO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78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단말 설치 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SPACE(3)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R/-/-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단말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단말ID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TER_ID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81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서비스 요청 단말 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SPACE(10)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R/-/-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단말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대행점번호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AGN_BR_NO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91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여러 경우에 사용되는 대행점/거래점 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SPACE(3)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시스템
연계정보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대외전문처리구분코드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OSD_TGR_PCS_CD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94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대외기관과 직접 연계/중계 여부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SPACE(1)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시스템
연계정보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1지역대외기관코드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SQ1_OSD_OGZ_CO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95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대외기관 코드 입력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SPACE(3)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시스템
연계정보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대외처리업무어플리케이션코드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OSD_SNR_BZ_APP_CD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99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대외처리(송수신) 업무 어플리케이션 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SPACE(3)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시스템
연계정보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대외요청종류코드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OSD_REQ_KD_CD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103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대외요청 종류코드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SPACE(8)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시스템
연계정보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대외요청거래ID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OSD_REQ_TR_ID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111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대외 취급 요청거래에서 최초 거래ID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SPACE(20)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시스템
연계정보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2차대외기관코드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SQ2_OSD_OGZ_CD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131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2차 대외기관 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SPACE(3)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시스템
연계정보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인터페이스ID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IF_ID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135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MCI/EAI 인터페이스시 사용하는 고유ID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SPACE(10)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R/R/-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시스템
연계정보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EAI전송노드번호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EAI_FWD_ND_NO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145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통신시스템 이용 비동기로 받는 인터페이스 유형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RW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21754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시스템
연계정보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MCI세션ID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MCI_SES_ID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147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MCI에서 제공하는 Unique 일련번호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동적 계산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RW/-/-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132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13.3 표준전문 - 거래공통부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0" y="109728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749808"/>
          <a:ext cx="9592055" cy="5440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685800"/>
                <a:gridCol w="1261872"/>
                <a:gridCol w="1033271"/>
                <a:gridCol w="384048"/>
                <a:gridCol w="347472"/>
                <a:gridCol w="384048"/>
                <a:gridCol w="292608"/>
                <a:gridCol w="292608"/>
                <a:gridCol w="2240280"/>
                <a:gridCol w="841248"/>
                <a:gridCol w="731520"/>
                <a:gridCol w="365760"/>
                <a:gridCol w="347472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요청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응답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Default 값
(전문값)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MCI
(전문/PUSH/조회)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3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셀터신용
공통정보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셀터지점업무코드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CC_BZ_CD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157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셀터지점 업무정보 구분 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SPACE(5)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셀터신용
공통정보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셀터처리상태코드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CC_OTT_CLCO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162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셀터처리 상태코드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SPACE(3)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셀터처리정보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셀터2차처리차수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CC_PCS_IOD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165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동일인 C/C 업무 처리라인 차수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00000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셀터처리정보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셀터처리최종일련번호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CC_TOD_SEQ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170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셀터처리에 동일 회차에서 용도 식별 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00000000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셀터처리정보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셀터신용승인ID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CC_CAX_TR_ID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178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셀터에서 온라인 호출하는 거래ID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SPACE(10)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셀터처리정보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셀터처리결과코드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CC_PCS_RLT_CD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188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셀터처리 후 처리 결과 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SPACE(8)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셀터처리정보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셀터거래금액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CC_TFR_AMT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196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셀터처리 후 이체 금액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0000000000000000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셀터처리정보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셀터이자/수수료금액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CC_TFR_TGT_AMT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214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셀터처리 후 이체 대상금액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0000000000000000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거래정보
대량정보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대량전문순번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LQN_TGR_SEQ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232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00: 일반전문, 01~99: 대량전문 순번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거래공통부 예비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거래공통부 예비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TD_CO_RESV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234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>SPACE(16)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8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0" y="6245352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250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13.4 표준전문 - 채널공통부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15400" y="109728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749808"/>
          <a:ext cx="9582912" cy="5568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658368"/>
                <a:gridCol w="1389888"/>
                <a:gridCol w="1005840"/>
                <a:gridCol w="347472"/>
                <a:gridCol w="320040"/>
                <a:gridCol w="365760"/>
                <a:gridCol w="310896"/>
                <a:gridCol w="310896"/>
                <a:gridCol w="2331720"/>
                <a:gridCol w="777240"/>
                <a:gridCol w="713232"/>
                <a:gridCol w="338328"/>
                <a:gridCol w="329184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요청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응답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Default 값
(전문값)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MCI
(전문/PUSH/조회)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채널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대면/비대면구분코드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ONL_DTT_CD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대면/비대면 거래 구분 코드
0: 대면, 1: 비대면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SPACE(1)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채널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자동화기기운영구분코드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ATX_ONL_MN_DTT_C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자동화기기 운영구분 및 처리여부 구분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SPACE(1)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채널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자동화기기번호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ATX_UNQ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기기 식별번호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SPACE(8)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채널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금융상품구분코드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FN_AKR_DTT_CD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상품/업무 구분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SPACE(1)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채널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대외기관구분코드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OSD_OGZ_NT_CD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대외기관 구분 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SPACE(1)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채널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채널출력번호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CHL_RNO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채널별 출력번호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SPACE(5)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금액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출금가능금액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WON_CAL_AMT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통장/계좌 관련 금액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000000000000000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금액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계좌잔액금액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OWR_ACP_AMT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계좌거래 확정 전후 금액 표시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000000000000000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금액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월한도약정금액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WON_ANL_DRA_AMT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47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월/누적한도 약정 금액 표시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000000000000000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금액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한도약정잔액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CC_AMT_MNO_AMT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62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 이후 잔액/한도 금액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SPACE(15)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거래공통부 예비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채널공통부 예비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IF_CNN_RESV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80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63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채널공통부 예비 영역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SPACE(146)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40436"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거래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채널연계 예비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채널연계 예비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NIF_CNN_RESV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36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채널연계 예비 영역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>SPACE(146)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59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0" y="6163056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320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13.5 표준전문 - 책임자승인공통부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15400" y="109728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749808"/>
          <a:ext cx="9582912" cy="5568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658368"/>
                <a:gridCol w="1389888"/>
                <a:gridCol w="1005840"/>
                <a:gridCol w="347472"/>
                <a:gridCol w="320040"/>
                <a:gridCol w="365760"/>
                <a:gridCol w="310896"/>
                <a:gridCol w="310896"/>
                <a:gridCol w="2331720"/>
                <a:gridCol w="777240"/>
                <a:gridCol w="713232"/>
                <a:gridCol w="338328"/>
                <a:gridCol w="329184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요청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응답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Default 값
(전문값)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MCI
(전문/PUSH/조회)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책임자승인상태구분코드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RSPR_APV_STS_CD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 상태구분코드
0: 승인요청전, 1: 승인요청, 2: 승인완료, 9: 승인완료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SPACE(2)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책임자승인레벨수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RSPR_APV_LVL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승인 레벨 수 표시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책임자거래구분코드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RSPR_TD_DTT_CD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책임자거래 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SPACE(2)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책임자승인메시지건수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RSPR_APV_MSG_CNT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 사유 건 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책임자승인메시지코드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RSPR_APV_MSG_CD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 사유 메시지코드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책임자승인메시지내용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RSPR_APV_MSG_CTS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 사유 메시지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
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RSPR_CNT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168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 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R/-/-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책임자정보
반복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승인우선순위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APV_WGT_NO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170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승인 순위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책임자정보
반복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책임자사용자번호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RSPR_USR_NO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172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 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R/-/-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책임자정보
반복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책임자명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RSPR_NM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182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 이름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책임자정보
반복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책임자IP주소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RSPR_IP_ADDR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202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 IP 주소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책임자정보
반복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책임자로그인여부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RSPR_LGN_YN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242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 로그인 여부
Y: 로그인, N: 로그아웃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N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W/-/-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책임자승인여부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승인책임자수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APV_RSPR_CNT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243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승인 완료된 책임자의 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책임자승인여부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승인책임자사용자번호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APV_RSPR_USR_NO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245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승인 완료된 책임자 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352348"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
승인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 예비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 예비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APV_RSPR_RESV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45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255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 데이터 예비부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>SPACE(35)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4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0" y="6163056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300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13.6 표준전문 - 메시지공통부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15400" y="109728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749808"/>
          <a:ext cx="9582912" cy="5568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658368"/>
                <a:gridCol w="1389888"/>
                <a:gridCol w="1005840"/>
                <a:gridCol w="347472"/>
                <a:gridCol w="320040"/>
                <a:gridCol w="365760"/>
                <a:gridCol w="310896"/>
                <a:gridCol w="310896"/>
                <a:gridCol w="2331720"/>
                <a:gridCol w="777240"/>
                <a:gridCol w="713232"/>
                <a:gridCol w="338328"/>
                <a:gridCol w="329184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요청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응답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Default 값
(전문값)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MCI
(전문/PUSH/조회)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660654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
공통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메시지표시방법구분코드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MSG_IDC_DTT_CD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메시지가 출력될 위치를 지정함
0: 오류없음/무조치, 1: 메시지창, 2: Popup창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-/-/W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660654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
공통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메시지건수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MSG_CNT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 건수(최대 10건)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-/-/W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660654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반복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MSG_CD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 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-/-/W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660654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반복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메시지내용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MSG_CTS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 내용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-/-/W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660654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반복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부가메시지코드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ADN_MSG_CD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163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 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-/-/W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660654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반복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부가메시지내용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ADN_MSG_CTS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163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 내용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-/-/W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660654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반복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오류발생 프로그램 라인수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ERR_OCC_PGM_LIN_NO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163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오류발생 프로그램 라인수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-/-/W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660654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메시지
공통부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반복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오류발생 프로그램명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ERR_OCC_PGM_NM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171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오류발생 프로그램명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-/-/W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0" y="6163056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380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13.7 표준전문 - 개별부(입력데이터)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15400" y="109728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841248"/>
          <a:ext cx="9582912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658368"/>
                <a:gridCol w="1389888"/>
                <a:gridCol w="1005840"/>
                <a:gridCol w="347472"/>
                <a:gridCol w="320040"/>
                <a:gridCol w="365760"/>
                <a:gridCol w="310896"/>
                <a:gridCol w="310896"/>
                <a:gridCol w="2331720"/>
                <a:gridCol w="777240"/>
                <a:gridCol w="713232"/>
                <a:gridCol w="338328"/>
                <a:gridCol w="329184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요청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응답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Default 값
(전문값)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MCI
(전문/PUSH/조회)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입력
데이터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개별부 입력데이터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업무개발자가 각각의 업무에 맞게 전문을 정의함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17556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※ 개별부(입력데이터)는 업무별 전문 정의 대상이며, 실제 항목/길이/필수여부는 업무 설계 산출물에서 확정한다.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13.8 표준전문 - 개별부(출력데이터)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0972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749808"/>
          <a:ext cx="9665208" cy="535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868680"/>
                <a:gridCol w="1298448"/>
                <a:gridCol w="1024128"/>
                <a:gridCol w="347472"/>
                <a:gridCol w="310896"/>
                <a:gridCol w="365760"/>
                <a:gridCol w="310896"/>
                <a:gridCol w="310896"/>
                <a:gridCol w="2240280"/>
                <a:gridCol w="822960"/>
                <a:gridCol w="713232"/>
                <a:gridCol w="347472"/>
                <a:gridCol w="32004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요청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응답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Default 값
(전문값)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MCI
(전문/PUSH/조회)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 부가정보 / 출력매체정보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출력매체건수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PRO_MDA_TP_CNT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처리결과를 표시할 매체(단말, 장표, 팩스 등)의 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동적 생성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 부가정보 / 출력매체정보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출력매체번호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PRO_MDA_NO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출력할 매체(화면/보고서 등)의 고유번호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동적 생성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 부가정보 / 출력매체정보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출력처리유형구분코드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PRO_PCS_TP_DTT_CD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출력처리 유형에 따라 처리 방식을 정의
0: 일반출력, 1: 화면 Join 후 출력, 2: 출력정보 Join 후 출력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동적 생성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 부가정보 / 출력매체정보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출력프린터구분코드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PRO_PRNT_DTT_CD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 프린터 종류 구분
0: 범용프린터, 1: 전용프린터, 2: 외부프린터, 3: FAX(상하이미지), 4: 전자전표, 5: 범용프린터(대수선정), 6: FAX서버(TEXT)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SPACE(1)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 부가정보 / 출력매체정보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배면구분코드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MCN_PRO_DTT_CD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전표 범표의 배면 구분
0: 배면, 1: 배면없음, 2: 사전 입력된 배면 및 출력면, 3: 사전 입력된 배면 적용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SPACE(1)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 부가정보 / 팩스출력정보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팩스발신횟수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FAX_PRO_RPE_NOT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숫자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팩스 출력정보의 반복횟수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 부가정보 / 팩스출력정보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팩스지역번호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FAX_ARE_NO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팩스 지역 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 부가정보 / 팩스출력정보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팩스국번호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FAX_PON_NO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팩스 국 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 부가정보 / 팩스출력정보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팩스번호일련번호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FAX_NO_SNO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팩스 전송 일련번호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 부가정보 / 팩스출력정보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팩스전송일시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FAX_FWD_DTM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29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FAX전송 예정일시(년월일시분초)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출력데이터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>업무개발자가 각각의 업무에 맞게 전문을 정의함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13.9 표준전문 - 개별부(책임자승인과정정보)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0972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749808"/>
          <a:ext cx="9665208" cy="5358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868680"/>
                <a:gridCol w="1298448"/>
                <a:gridCol w="1024128"/>
                <a:gridCol w="347472"/>
                <a:gridCol w="310896"/>
                <a:gridCol w="365760"/>
                <a:gridCol w="310896"/>
                <a:gridCol w="310896"/>
                <a:gridCol w="2240280"/>
                <a:gridCol w="822960"/>
                <a:gridCol w="713232"/>
                <a:gridCol w="347472"/>
                <a:gridCol w="32004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요청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응답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Default 값
(전문값)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MCI
(전문/PUSH/조회)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1691639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책임자승인과정정보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승인대상책임자직원번호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APV_TGT_RSPR_EMP_ID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현재 승인요청할 책임자의 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SPACE(10)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1691639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책임자승인과정정보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처리전달메시지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TUR_DRV_MSG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처리 → 책임자 전달메시지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SPACE(150)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  <a:tr h="1691639"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개별부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책임자승인과정정보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책임자승인거래메시지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RSPR_APV_RJT_MSG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160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▲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책임자의 승인 또는 거절 메시지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>SPACE(150)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0" y="6199632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310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13.9 표준전문 - 종료부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0972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932688"/>
          <a:ext cx="1136599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920240"/>
                <a:gridCol w="1920240"/>
                <a:gridCol w="502920"/>
                <a:gridCol w="438912"/>
                <a:gridCol w="502920"/>
                <a:gridCol w="411480"/>
                <a:gridCol w="411480"/>
                <a:gridCol w="2194560"/>
                <a:gridCol w="914400"/>
                <a:gridCol w="777240"/>
                <a:gridCol w="411480"/>
                <a:gridCol w="41148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항목명(한글)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항목명(영문)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Offset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요청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필수여부
응답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Default 값
(전문값)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MCI
(전문/PUSH/조회)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맑은 고딕"/>
                        </a:rPr>
                        <a:t>FEP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>종료부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>표준전문종료문자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>STD_GRAM_END_VAL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>문자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>전문의 마지막 부분을 의미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>**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7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23560" y="210312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384048"/>
            <a:ext cx="109270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85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69848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53896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37944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21992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35808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맑은 고딕"/>
              </a:rPr>
              <a:t>2.1 시스템인터페이스 대상 및 상세
    범위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13048"/>
            <a:ext cx="4251960" cy="310896"/>
          </a:xfrm>
          <a:prstGeom prst="rect">
            <a:avLst/>
          </a:prstGeom>
          <a:solidFill>
            <a:srgbClr val="414141"/>
          </a:solidFill>
          <a:ln w="1016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20" b="1">
                <a:solidFill>
                  <a:srgbClr val="FFFFFF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7880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507991"/>
            <a:ext cx="3611880" cy="292608"/>
          </a:xfrm>
          <a:prstGeom prst="rect">
            <a:avLst/>
          </a:prstGeom>
          <a:solidFill>
            <a:srgbClr val="F0F0F0"/>
          </a:solidFill>
          <a:ln w="1016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    3.2 인터페이스 ID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94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8756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5332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685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0698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453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837944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03580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41985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0972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인터페이스 ID와 입출력(IO) ID 에 대한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4160520" cy="365760"/>
          </a:xfrm>
          <a:prstGeom prst="rect">
            <a:avLst/>
          </a:prstGeom>
          <a:solidFill>
            <a:srgbClr val="414141"/>
          </a:solidFill>
          <a:ln w="1016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구성안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51560"/>
                <a:gridCol w="8275320"/>
              </a:tblGrid>
              <a:tr h="1432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 marL="9144" marR="9144" marT="4572" marB="4572">
                    <a:solidFill>
                      <a:srgbClr val="414141"/>
                    </a:solidFill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</a:rPr>
                        <a:t>인터페이스 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4325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</a:rPr>
                        <a:t>입출력(IO) ID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9144" marR="9144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01752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17520" y="2743200"/>
            <a:ext cx="804672" cy="0"/>
          </a:xfrm>
          <a:prstGeom prst="line">
            <a:avLst/>
          </a:prstGeom>
          <a:ln w="889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17520" y="2779776"/>
            <a:ext cx="822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시스템 코드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0" y="2743200"/>
            <a:ext cx="530352" cy="0"/>
          </a:xfrm>
          <a:prstGeom prst="line">
            <a:avLst/>
          </a:prstGeom>
          <a:ln w="889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40480" y="2779776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처리
업무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20" y="2743200"/>
            <a:ext cx="1901952" cy="0"/>
          </a:xfrm>
          <a:prstGeom prst="line">
            <a:avLst/>
          </a:prstGeom>
          <a:ln w="889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89120" y="2779776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일련번호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331720"/>
            <a:ext cx="3474720" cy="786384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377440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시스템 코드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377440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코드관리시스템에 등록된 3자리 코드 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4203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처리업무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542032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O-온라인, B-배치, M-인터페이스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706624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일련번호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706624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EIMS 에서 순번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017520" y="4663440"/>
            <a:ext cx="256032" cy="0"/>
          </a:xfrm>
          <a:prstGeom prst="line">
            <a:avLst/>
          </a:prstGeom>
          <a:ln w="889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17520" y="4700016"/>
            <a:ext cx="274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IO
구분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291840" y="4663440"/>
            <a:ext cx="804672" cy="0"/>
          </a:xfrm>
          <a:prstGeom prst="line">
            <a:avLst/>
          </a:prstGeom>
          <a:ln w="889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91840" y="4700016"/>
            <a:ext cx="822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시스템 코드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114800" y="4663440"/>
            <a:ext cx="256032" cy="0"/>
          </a:xfrm>
          <a:prstGeom prst="line">
            <a:avLst/>
          </a:prstGeom>
          <a:ln w="889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14800" y="4700016"/>
            <a:ext cx="274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소스
타겟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389120" y="4663440"/>
            <a:ext cx="1901952" cy="0"/>
          </a:xfrm>
          <a:prstGeom prst="line">
            <a:avLst/>
          </a:prstGeom>
          <a:ln w="889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389120" y="4700016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일련번호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4251960"/>
            <a:ext cx="3474720" cy="786384"/>
          </a:xfrm>
          <a:prstGeom prst="rect">
            <a:avLst/>
          </a:prstGeom>
          <a:solidFill>
            <a:srgbClr val="F8F8F8"/>
          </a:solidFill>
          <a:ln w="889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297680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IO구분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4297680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M-대내IO, E-표준전문IO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44622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시스템 코드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4462272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코드관리시스템에 등록된 3자리 코드 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4626864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소스/타겟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4626864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S-소스, T-타겟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4791456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일련번호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4791456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EIMS 에서 순번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384048"/>
            <a:ext cx="109270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685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69848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53896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37944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35808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맑은 고딕"/>
              </a:rPr>
              <a:t>2.1 시스템인터페이스 대상 및 상세
   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130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970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6285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276088"/>
            <a:ext cx="4572000" cy="310896"/>
          </a:xfrm>
          <a:prstGeom prst="rect">
            <a:avLst/>
          </a:prstGeom>
          <a:solidFill>
            <a:srgbClr val="414141"/>
          </a:solidFill>
          <a:ln w="1016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20" b="1">
                <a:solidFill>
                  <a:srgbClr val="FFFFFF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23560"/>
            <a:ext cx="3794760" cy="292608"/>
          </a:xfrm>
          <a:prstGeom prst="rect">
            <a:avLst/>
          </a:prstGeom>
          <a:solidFill>
            <a:srgbClr val="F0F0F0"/>
          </a:solidFill>
          <a:ln w="1016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    4.1 인터페이스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00760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685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0698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453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837944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3580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1985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3. 연계 표준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인터페이스 ID와 입출력(IO) ID 에 대한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4160520" cy="365760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구성안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51560"/>
                <a:gridCol w="8275320"/>
              </a:tblGrid>
              <a:tr h="1432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8288" marR="18288" marT="9144" marB="9144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 marL="18288" marR="18288" marT="9144" marB="9144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 marL="18288" marR="18288" marT="9144" marB="9144">
                    <a:solidFill>
                      <a:srgbClr val="3C3C3C"/>
                    </a:solidFill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</a:rPr>
                        <a:t>인터페이스 ID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4325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</a:rPr>
                        <a:t>입출력(IO) ID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01752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37744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17520" y="2743200"/>
            <a:ext cx="804672" cy="0"/>
          </a:xfrm>
          <a:prstGeom prst="line">
            <a:avLst/>
          </a:prstGeom>
          <a:ln w="889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17520" y="2779776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시스템 코드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0" y="2743200"/>
            <a:ext cx="530352" cy="0"/>
          </a:xfrm>
          <a:prstGeom prst="line">
            <a:avLst/>
          </a:prstGeom>
          <a:ln w="889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40480" y="2779776"/>
            <a:ext cx="548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처리
방법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20" y="2743200"/>
            <a:ext cx="1901952" cy="0"/>
          </a:xfrm>
          <a:prstGeom prst="line">
            <a:avLst/>
          </a:prstGeom>
          <a:ln w="889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89120" y="2779776"/>
            <a:ext cx="1920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일련번호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322576"/>
            <a:ext cx="3474720" cy="804672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377440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시스템 코드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2377440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코드관리시스템에 등록된 3자리 코드 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42032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처리방법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2542032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O-온라인, B-배치, D-디퍼드, E-기타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706624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일련번호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2706624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EIMS 에서 순번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297680"/>
            <a:ext cx="256032" cy="292608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017520" y="4663440"/>
            <a:ext cx="256032" cy="0"/>
          </a:xfrm>
          <a:prstGeom prst="line">
            <a:avLst/>
          </a:prstGeom>
          <a:ln w="889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17520" y="4700016"/>
            <a:ext cx="274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IO
구분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291840" y="4663440"/>
            <a:ext cx="804672" cy="0"/>
          </a:xfrm>
          <a:prstGeom prst="line">
            <a:avLst/>
          </a:prstGeom>
          <a:ln w="889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91840" y="4700016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시스템 코드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114800" y="4663440"/>
            <a:ext cx="256032" cy="0"/>
          </a:xfrm>
          <a:prstGeom prst="line">
            <a:avLst/>
          </a:prstGeom>
          <a:ln w="889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14800" y="4700016"/>
            <a:ext cx="274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소스
타겟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389120" y="4663440"/>
            <a:ext cx="1901952" cy="0"/>
          </a:xfrm>
          <a:prstGeom prst="line">
            <a:avLst/>
          </a:prstGeom>
          <a:ln w="889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389120" y="4700016"/>
            <a:ext cx="1920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일련번호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4242816"/>
            <a:ext cx="3474720" cy="804672"/>
          </a:xfrm>
          <a:prstGeom prst="rect">
            <a:avLst/>
          </a:prstGeom>
          <a:solidFill>
            <a:srgbClr val="F8F8F8"/>
          </a:solidFill>
          <a:ln w="889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297680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IO구분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90688" y="4297680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M-대내IO, E-대외연계IO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4462272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시스템 코드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90688" y="4462272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코드관리시스템에 등록된 3자리 코드 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4626864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소스/타겟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90688" y="4626864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S-소스, T-타겟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4791456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맑은 고딕"/>
              </a:rPr>
              <a:t>일련번호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90688" y="4791456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EIMS 에서 순번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384048"/>
            <a:ext cx="109270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685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69848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53896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37944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35808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맑은 고딕"/>
              </a:rPr>
              <a:t>2.1 시스템인터페이스 대상 및 상세
   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130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970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6285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276088"/>
            <a:ext cx="457200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20" b="1">
                <a:solidFill>
                  <a:srgbClr val="FFFFFF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23560"/>
            <a:ext cx="3794760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    4.1 인터페이스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00760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685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0698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453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837944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3580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1985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4.1.1 인터페이스 유형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온라인, 배치, Deferred 방식의 인터페이스 유형을 정의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25296"/>
          <a:ext cx="112014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03120"/>
                <a:gridCol w="2057400"/>
                <a:gridCol w="6035040"/>
              </a:tblGrid>
              <a:tr h="43641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8288" marR="18288" marT="9144" marB="9144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인터페이스 유형</a:t>
                      </a:r>
                    </a:p>
                  </a:txBody>
                  <a:tcPr marL="18288" marR="18288" marT="9144" marB="9144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상세유형</a:t>
                      </a:r>
                    </a:p>
                  </a:txBody>
                  <a:tcPr marL="18288" marR="18288" marT="9144" marB="9144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18288" marR="18288" marT="9144" marB="9144">
                    <a:solidFill>
                      <a:srgbClr val="3C3C3C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온라인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동기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양방향 동기전송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송신측의 요청한 포트나 서비스로 수신측이 응답을 하는 처리 흐름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온라인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동기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양방향 동기 집합전송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하나의 요청에 대해 여러 수신측의 응답을 머지해서 요청한 송신측으로 EAI가 전송하는 처리흐름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온라인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비동기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단방향 비동기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송신서버에서 수신서버로 단방향으로 전문을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온라인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비동기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단방향 비동기 다중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한 송신서버에서 여러 수신서버로 전문을 보내는 처리흐름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온라인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비동기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양방향 비동기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송신서버에서 요청한 후 다른 포트나 서비스가 응답을 주는 처리흐름
예) 대외계 거래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배치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기본 유형 / FILE2FILE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단방향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송신시스템에서 수신시스템으로 File 유형의 배치 데이터 전송 유형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배치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기본 유형 / DB2DB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단방향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송신 DB에서 단일 수신 DB로 배치 데이터 전송 유형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배치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확장 유형 / DB2DB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단방향 동시전송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송신 DB에서 다중 수신 DB로 배치 데이터 전송 유형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Deferred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DB To DB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단방향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송신 DB에서 단일 수신 DB로 준실시간 데이터 전송 디퍼드 서비스 유형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36420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Deferred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DB To DB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양방향 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00000"/>
                          </a:solidFill>
                          <a:latin typeface="맑은 고딕"/>
                        </a:rPr>
                        <a:t>송신 DB에서 수신 DB로 준실시간 데이터 전송 후 결과 컬럼 반영 디퍼드 서비스 유형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163056"/>
            <a:ext cx="8412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맑은 고딕"/>
              </a:rPr>
              <a:t>(*) 연계 솔루션별로 인터페이스 유형의 지원에 차이가 있을 수 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4.1.2 온라인 동기 전송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양방향 동기전송과 양방향 동기집합전송을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3977639" cy="347472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온라인 동기 전송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325880" cy="1143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양방향
동기
전송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901952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• 송신측의 요청한 포트나 서비스로 수신측이 응답을 하는 처리 흐름
• 정합성 보장이 필요한 요건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600200"/>
            <a:ext cx="4572000" cy="1051560"/>
          </a:xfrm>
          <a:prstGeom prst="rect">
            <a:avLst/>
          </a:prstGeom>
          <a:solidFill>
            <a:srgbClr val="F8F8F8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56232"/>
            <a:ext cx="1051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856232"/>
            <a:ext cx="1051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연계
솔루션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5480" y="1856232"/>
            <a:ext cx="7772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Target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15400" y="2057400"/>
            <a:ext cx="6400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69480" y="2057400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8640" y="3703320"/>
            <a:ext cx="1325880" cy="1143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양방향
동기
집합전송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822191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• 하나의 요청에 대해 여러 수신측의 응답을 머지해서 요청한 송신측으로 연계솔루션이 전송하는 처리흐름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3520440"/>
            <a:ext cx="4572000" cy="1051560"/>
          </a:xfrm>
          <a:prstGeom prst="rect">
            <a:avLst/>
          </a:prstGeom>
          <a:solidFill>
            <a:srgbClr val="F8F8F8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76472"/>
            <a:ext cx="1051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3776472"/>
            <a:ext cx="1051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연계
솔루션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630168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Target1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4114800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Target2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915400" y="3794760"/>
            <a:ext cx="68580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15400" y="3977640"/>
            <a:ext cx="685800" cy="30175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269480" y="3977640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269480" y="4251960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4.1.3 온라인 비동기 전송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00000"/>
                </a:solidFill>
                <a:latin typeface="맑은 고딕"/>
              </a:rPr>
              <a:t>□  단방향 비동기전송, 양방향 비동기다중전송, 양방향 비동기전송을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3063240" cy="320040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온라인 비동기 전송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143000" cy="9144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80" b="1">
                <a:solidFill>
                  <a:srgbClr val="000000"/>
                </a:solidFill>
                <a:latin typeface="맑은 고딕"/>
              </a:rPr>
              <a:t>단방향
비동기
전송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00200"/>
            <a:ext cx="3611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000000"/>
                </a:solidFill>
                <a:latin typeface="맑은 고딕"/>
              </a:rPr>
              <a:t>• 단방향 비동기 전송은 송신서버에서 수신서버로 단방향으로 전문을 전송
• 타임아웃 관리 없음. 단, Target으로부터 ACK전문을 수신하는 경우 타임아웃관리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527048"/>
            <a:ext cx="4572000" cy="1051560"/>
          </a:xfrm>
          <a:prstGeom prst="rect">
            <a:avLst/>
          </a:prstGeom>
          <a:solidFill>
            <a:srgbClr val="F8F8F8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1051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783080"/>
            <a:ext cx="1051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연계
솔루션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783080"/>
            <a:ext cx="7772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Target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69680" y="1984248"/>
            <a:ext cx="6400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23760" y="1984248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8640" y="2926080"/>
            <a:ext cx="1143000" cy="9144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80" b="1">
                <a:solidFill>
                  <a:srgbClr val="000000"/>
                </a:solidFill>
                <a:latin typeface="맑은 고딕"/>
              </a:rPr>
              <a:t>단방향
비동기 다중
전송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71800"/>
            <a:ext cx="3611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000000"/>
                </a:solidFill>
                <a:latin typeface="맑은 고딕"/>
              </a:rPr>
              <a:t>• 단방향 비동기 다중 전송은 한 송신서버에서 여러 수신서버로 전문을 보내는 처리흐름
• 타임아웃 관리 없음. 단, Target으로부터 ACK전문을 수신하는 경우 타임아웃관리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898648"/>
            <a:ext cx="4572000" cy="1051560"/>
          </a:xfrm>
          <a:prstGeom prst="rect">
            <a:avLst/>
          </a:prstGeom>
          <a:solidFill>
            <a:srgbClr val="F8F8F8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154680"/>
            <a:ext cx="1051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3154680"/>
            <a:ext cx="1051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연계
솔루션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3008376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Target1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3493008"/>
            <a:ext cx="73152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Target2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869680" y="3172968"/>
            <a:ext cx="68580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69680" y="3355848"/>
            <a:ext cx="685800" cy="30175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223760" y="3355848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" y="4480560"/>
            <a:ext cx="1143000" cy="9144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80" b="1">
                <a:solidFill>
                  <a:srgbClr val="000000"/>
                </a:solidFill>
                <a:latin typeface="맑은 고딕"/>
              </a:rPr>
              <a:t>양방향
비동기전송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526280"/>
            <a:ext cx="3611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000000"/>
                </a:solidFill>
                <a:latin typeface="맑은 고딕"/>
              </a:rPr>
              <a:t>• 양방향 비동기 전송은 송신서버에서 요청한 후 수신 측 서비스가 요청을 받은 즉시 요청 세션은 종료됨
• 이어서 수신 측 서비스 처리 결과를 다른 포트나 서비스로 응답받는 처리흐름
• 대외기관 전문 송/수신 유형에 주로 적용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4453128"/>
            <a:ext cx="4572000" cy="1051560"/>
          </a:xfrm>
          <a:prstGeom prst="rect">
            <a:avLst/>
          </a:prstGeom>
          <a:solidFill>
            <a:srgbClr val="F8F8F8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709160"/>
            <a:ext cx="1051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Source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4709160"/>
            <a:ext cx="1051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연계
솔루션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4709160"/>
            <a:ext cx="7772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Target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69680" y="4910328"/>
            <a:ext cx="6400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223760" y="4910328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223760" y="5303520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4.1.4 배치 전송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DB to DB, File to File 전송을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2880360" cy="329184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배치 전송(기본 유형)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1188720" cy="1133856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DB to DB
(단방향전송)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2880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000000"/>
                </a:solidFill>
                <a:latin typeface="맑은 고딕"/>
              </a:rPr>
              <a:t>설명: 송신테이블에서 단일 수신테이블로 배치 데이터 전송 유형
고려사항: 수신테이블 Insert Only 또는 Upsert 유형만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1719072"/>
            <a:ext cx="5120640" cy="1188720"/>
          </a:xfrm>
          <a:prstGeom prst="rect">
            <a:avLst/>
          </a:prstGeom>
          <a:solidFill>
            <a:srgbClr val="F8F8F8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938528"/>
            <a:ext cx="1005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847088"/>
            <a:ext cx="105156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연계
솔루션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1938528"/>
            <a:ext cx="1005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2672" y="1554480"/>
            <a:ext cx="822960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배치 스케줄러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395728"/>
            <a:ext cx="594360" cy="16459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80" b="0">
                <a:solidFill>
                  <a:srgbClr val="000000"/>
                </a:solidFill>
                <a:latin typeface="맑은 고딕"/>
              </a:rPr>
              <a:t>송신테이블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2395728"/>
            <a:ext cx="594360" cy="16459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80" b="0">
                <a:solidFill>
                  <a:srgbClr val="000000"/>
                </a:solidFill>
                <a:latin typeface="맑은 고딕"/>
              </a:rPr>
              <a:t>수신테이블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766560" y="2194560"/>
            <a:ext cx="77724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5360" y="2194560"/>
            <a:ext cx="82296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046720" y="1719072"/>
            <a:ext cx="0" cy="12801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0080" y="4041648"/>
            <a:ext cx="1188720" cy="1133856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File to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133087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000000"/>
                </a:solidFill>
                <a:latin typeface="맑은 고딕"/>
              </a:rPr>
              <a:t>설명: 송신시스템에서 수신시스템으로 File 유형의 배치 데이터 전송
Directory 단위 전송 가능(Directory 내 일부 선택 전송은 불가, Directory내 전체 파일을 전송하는 유형임)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4023360"/>
            <a:ext cx="5120640" cy="1188720"/>
          </a:xfrm>
          <a:prstGeom prst="rect">
            <a:avLst/>
          </a:prstGeom>
          <a:solidFill>
            <a:srgbClr val="F8F8F8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4242816"/>
            <a:ext cx="1005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4151376"/>
            <a:ext cx="105156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연계
솔루션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4242816"/>
            <a:ext cx="1005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Target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62672" y="3858768"/>
            <a:ext cx="822960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배치 스케줄러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4700016"/>
            <a:ext cx="594360" cy="16459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80" b="0">
                <a:solidFill>
                  <a:srgbClr val="000000"/>
                </a:solidFill>
                <a:latin typeface="맑은 고딕"/>
              </a:rPr>
              <a:t>송신파일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4700016"/>
            <a:ext cx="594360" cy="16459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80" b="0">
                <a:solidFill>
                  <a:srgbClr val="000000"/>
                </a:solidFill>
                <a:latin typeface="맑은 고딕"/>
              </a:rPr>
              <a:t>수신파일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766560" y="4498848"/>
            <a:ext cx="77724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95360" y="4498848"/>
            <a:ext cx="82296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046720" y="4023360"/>
            <a:ext cx="0" cy="12801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4.1.5 배치 전송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000000"/>
                </a:solidFill>
                <a:latin typeface="맑은 고딕"/>
              </a:rPr>
              <a:t>□  배치 거래 유형 중에서 DB to DB(단방향 동시전송) 전송은 확장유형으로 정의하며, 연계솔루션 담당자와 협의
   후 사용하도록 권고함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246120" cy="329184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배치 전송(확장 유형)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188720" cy="13716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DB to DB
(단방향 동
시전송)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240280"/>
            <a:ext cx="3429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맑은 고딕"/>
              </a:rPr>
              <a:t>• 설명: 송신테이블에서 다중 수신테이블로 배치
  데이터 전송 유형
• 고려사항: 수신테이블 Insert Only 또는 Upsert
  유형만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874519"/>
            <a:ext cx="4846320" cy="132588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130551"/>
            <a:ext cx="10789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Source</a:t>
            </a:r>
          </a:p>
        </p:txBody>
      </p:sp>
      <p:sp>
        <p:nvSpPr>
          <p:cNvPr id="12" name="Can 11"/>
          <p:cNvSpPr/>
          <p:nvPr/>
        </p:nvSpPr>
        <p:spPr>
          <a:xfrm>
            <a:off x="6336792" y="2532887"/>
            <a:ext cx="530352" cy="228600"/>
          </a:xfrm>
          <a:prstGeom prst="can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맑은 고딕"/>
              </a:rPr>
              <a:t>송신테이블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7848" y="2075687"/>
            <a:ext cx="105156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연계
솔루션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5479" y="2039111"/>
            <a:ext cx="86868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Target1</a:t>
            </a:r>
          </a:p>
        </p:txBody>
      </p:sp>
      <p:sp>
        <p:nvSpPr>
          <p:cNvPr id="15" name="Can 14"/>
          <p:cNvSpPr/>
          <p:nvPr/>
        </p:nvSpPr>
        <p:spPr>
          <a:xfrm>
            <a:off x="9756648" y="2313431"/>
            <a:ext cx="438912" cy="146304"/>
          </a:xfrm>
          <a:prstGeom prst="can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맑은 고딕"/>
              </a:rPr>
              <a:t>수신테이블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79" y="2587751"/>
            <a:ext cx="86868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Target2</a:t>
            </a:r>
          </a:p>
        </p:txBody>
      </p:sp>
      <p:sp>
        <p:nvSpPr>
          <p:cNvPr id="17" name="Can 16"/>
          <p:cNvSpPr/>
          <p:nvPr/>
        </p:nvSpPr>
        <p:spPr>
          <a:xfrm>
            <a:off x="9756648" y="2862071"/>
            <a:ext cx="438912" cy="146304"/>
          </a:xfrm>
          <a:prstGeom prst="can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맑은 고딕"/>
              </a:rPr>
              <a:t>수신테이블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141464" y="2404871"/>
            <a:ext cx="786384" cy="20116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979408" y="2258567"/>
            <a:ext cx="576071" cy="14630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79408" y="2660903"/>
            <a:ext cx="576071" cy="12801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979408" y="2258567"/>
            <a:ext cx="576071" cy="310896"/>
          </a:xfrm>
          <a:prstGeom prst="line">
            <a:avLst/>
          </a:prstGeom>
          <a:ln w="12700">
            <a:solidFill>
              <a:srgbClr val="A5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79408" y="2569463"/>
            <a:ext cx="576071" cy="219456"/>
          </a:xfrm>
          <a:prstGeom prst="line">
            <a:avLst/>
          </a:prstGeom>
          <a:ln w="12700">
            <a:solidFill>
              <a:srgbClr val="A5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4.1.6 디퍼드 전송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1">
                <a:solidFill>
                  <a:srgbClr val="000000"/>
                </a:solidFill>
                <a:latin typeface="맑은 고딕"/>
              </a:rPr>
              <a:t>□  시스템간 속보성으로 데이터 전송이 필요한 경우 실시간에 준하는 데이터를 전송하는 방식을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246120" cy="329184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디퍼드 전송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188720" cy="117043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DB to DB
(단방향전송)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057400"/>
            <a:ext cx="32461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000000"/>
                </a:solidFill>
                <a:latin typeface="맑은 고딕"/>
              </a:rPr>
              <a:t>• 설명: 송신테이블에서 단일 수신테이블로 여러
  건의 데이터를 준 실시간 데이터 전송
• 고려사항: 수신테이블 Insert Only 또는 Upsert
  유형만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627632"/>
            <a:ext cx="4846320" cy="132588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833872" y="1883664"/>
            <a:ext cx="10789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Source</a:t>
            </a:r>
          </a:p>
        </p:txBody>
      </p:sp>
      <p:sp>
        <p:nvSpPr>
          <p:cNvPr id="12" name="Can 11"/>
          <p:cNvSpPr/>
          <p:nvPr/>
        </p:nvSpPr>
        <p:spPr>
          <a:xfrm>
            <a:off x="6108192" y="2286000"/>
            <a:ext cx="530352" cy="228600"/>
          </a:xfrm>
          <a:prstGeom prst="can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맑은 고딕"/>
              </a:rPr>
              <a:t>송신테이블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99248" y="1828800"/>
            <a:ext cx="105156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연계
솔루션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682496"/>
            <a:ext cx="640080" cy="20116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polling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8592" y="1883664"/>
            <a:ext cx="91440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Target</a:t>
            </a:r>
          </a:p>
        </p:txBody>
      </p:sp>
      <p:sp>
        <p:nvSpPr>
          <p:cNvPr id="16" name="Can 15"/>
          <p:cNvSpPr/>
          <p:nvPr/>
        </p:nvSpPr>
        <p:spPr>
          <a:xfrm>
            <a:off x="9528048" y="2286000"/>
            <a:ext cx="493776" cy="228600"/>
          </a:xfrm>
          <a:prstGeom prst="can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맑은 고딕"/>
              </a:rPr>
              <a:t>수신테이블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912864" y="2176272"/>
            <a:ext cx="786384" cy="1554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50808" y="2176272"/>
            <a:ext cx="557784" cy="16459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" y="4023360"/>
            <a:ext cx="1188720" cy="117043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DB to DB
(양방향전송)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114800"/>
            <a:ext cx="3246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000000"/>
                </a:solidFill>
                <a:latin typeface="맑은 고딕"/>
              </a:rPr>
              <a:t>• 설명: 송신테이블에서 단일 수신테이블로 준 실
  시간 데이터 전송 후 결과 컬럼 반영 디퍼드 서비스 유형
• 고려사항: 수신테이블 Insert Only 또는 Upsert
  유형만 가능
• 적용 예) 고객정보의 송수신 상호간 Deferred 수행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840480"/>
            <a:ext cx="4846320" cy="132588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5833872" y="4096512"/>
            <a:ext cx="10789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Source</a:t>
            </a:r>
          </a:p>
        </p:txBody>
      </p:sp>
      <p:sp>
        <p:nvSpPr>
          <p:cNvPr id="23" name="Can 22"/>
          <p:cNvSpPr/>
          <p:nvPr/>
        </p:nvSpPr>
        <p:spPr>
          <a:xfrm>
            <a:off x="6108192" y="4498848"/>
            <a:ext cx="530352" cy="228600"/>
          </a:xfrm>
          <a:prstGeom prst="can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맑은 고딕"/>
              </a:rPr>
              <a:t>송신테이블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99248" y="4041648"/>
            <a:ext cx="105156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연계
솔루션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3895344"/>
            <a:ext cx="640080" cy="20116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polling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08592" y="4096512"/>
            <a:ext cx="91440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Target</a:t>
            </a:r>
          </a:p>
        </p:txBody>
      </p:sp>
      <p:sp>
        <p:nvSpPr>
          <p:cNvPr id="27" name="Can 26"/>
          <p:cNvSpPr/>
          <p:nvPr/>
        </p:nvSpPr>
        <p:spPr>
          <a:xfrm>
            <a:off x="9528048" y="4498848"/>
            <a:ext cx="493776" cy="228600"/>
          </a:xfrm>
          <a:prstGeom prst="can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latin typeface="맑은 고딕"/>
              </a:rPr>
              <a:t>수신테이블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912864" y="4389120"/>
            <a:ext cx="786384" cy="1554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750808" y="4389120"/>
            <a:ext cx="557784" cy="16459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750808" y="4709160"/>
            <a:ext cx="5577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912864" y="4709160"/>
            <a:ext cx="786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384048"/>
            <a:ext cx="109270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685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69848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53896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37944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35808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맑은 고딕"/>
              </a:rPr>
              <a:t>2.1 시스템인터페이스 대상 및 상세
   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130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970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6285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276088"/>
            <a:ext cx="457200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20" b="1">
                <a:solidFill>
                  <a:srgbClr val="FFFFFF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62356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71032"/>
            <a:ext cx="3794760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    4.2 거래처리 패턴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685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0698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4538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837944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3580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1985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4.2.1 대내MCI 패턴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85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맑은 고딕"/>
              </a:rPr>
              <a:t>□  대내MCI는 채널과 업무시스템간의 온라인성 거래 연계를 담당하고, 거래처리 패턴을 아래와 같이 정의함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63040"/>
          <a:ext cx="98755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331720"/>
                <a:gridCol w="530352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8288" marR="18288" marT="9144" marB="9144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거래유형</a:t>
                      </a:r>
                    </a:p>
                  </a:txBody>
                  <a:tcPr marL="18288" marR="18288" marT="9144" marB="9144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18288" marR="18288" marT="9144" marB="9144">
                    <a:solidFill>
                      <a:srgbClr val="3C3C3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채널-대내MCI-백엔드 시스템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  일반거래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채널과 백엔드 시스템 간의 거래로 하나의 요청 전문에 하나의 응답 전문으로 전송하는 거래 유형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채널-대내MCI-백엔드 시스템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  대량전문거래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채널에서 백엔드 시스템으로 거래를 요청 후 여러 건의 응답 전문이 나누어져 여러 번 채널로 송신하는 거래 유형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채널-대내MCI-백엔드 시스템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  역방향(Push)거래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백엔드 시스템에서 채널로 전송하는 일방적인 메시지를 채널로 전송하는 거래 유형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채널-대내MCI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  인증거래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채널이 거래를 하기 위해서 통합단말/자동화기기 등록정보를 확인하는 거래 유형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채널-대내MCI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  로컬거래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백엔드 시스템으로 전송되는 거래가 아니며 채널과 대내MCI 간의 거래 유형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채널-대내MCI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6  대내MCI 발생거래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대내MCI 내부에서 전송하는 메시지를 채널로 전송하는 거래 유형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4.2.1 대내MCI 패턴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85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00000"/>
                </a:solidFill>
                <a:latin typeface="맑은 고딕"/>
              </a:rPr>
              <a:t>□  일반거래, 대량전문거래 처리 패턴을 아래와 같이 정의함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611880" cy="329184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채널-대내MCI-백엔드 시스템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188720" cy="126187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일반거래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92024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000000"/>
                </a:solidFill>
                <a:latin typeface="맑은 고딕"/>
              </a:rPr>
              <a:t>• 채널에서 조회나 화면 호출 등과 같은 단거래가 발생하는 거래를 나타내며 하나의 요청 전문에 하나의 응답 전문이 전송되는 거래 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645920"/>
            <a:ext cx="4663440" cy="123444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874520"/>
            <a:ext cx="9601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통합단말,
자동화기기,
텔레뱅킹,
전자금융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874520"/>
            <a:ext cx="9601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대내MCI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874520"/>
            <a:ext cx="9144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>
                <a:solidFill>
                  <a:srgbClr val="000000"/>
                </a:solidFill>
                <a:latin typeface="맑은 고딕"/>
              </a:rPr>
              <a:t>백엔드
시스템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0" y="2103120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03920" y="2103120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503920" y="2423160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858000" y="2423160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0080" y="3886200"/>
            <a:ext cx="1188720" cy="126187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대량전문거래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931920"/>
            <a:ext cx="3429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000000"/>
                </a:solidFill>
                <a:latin typeface="맑은 고딕"/>
              </a:rPr>
              <a:t>• 채널에서 백엔드 시스템으로 한번의 요청이나 다수의 요청이 있으며 한번의 응답이나 다수의 응답으로 이루어져 통합단말로 송신하는 거래 유형
• 응답이 큰 데이터를 여러 회에 걸쳐 전송하는 메커니즘을 적용
• 분해/조립은 채널 및 백엔드 시스템에서 수행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3749039"/>
            <a:ext cx="4663440" cy="123444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3977639"/>
            <a:ext cx="9601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통합단말,
자동화기기,
텔레뱅킹,
전자금융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3977639"/>
            <a:ext cx="9601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대내MCI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3977639"/>
            <a:ext cx="9144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>
                <a:solidFill>
                  <a:srgbClr val="000000"/>
                </a:solidFill>
                <a:latin typeface="맑은 고딕"/>
              </a:rPr>
              <a:t>백엔드
시스템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0" y="4142231"/>
            <a:ext cx="685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03920" y="4142231"/>
            <a:ext cx="685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4242815"/>
            <a:ext cx="685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03920" y="4242815"/>
            <a:ext cx="685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4343399"/>
            <a:ext cx="685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03920" y="4343399"/>
            <a:ext cx="685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4443983"/>
            <a:ext cx="685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503920" y="4443983"/>
            <a:ext cx="6858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543800" y="4617719"/>
            <a:ext cx="164592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858000" y="4709159"/>
            <a:ext cx="6858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4.2.1 대내MCI 패턴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85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00000"/>
                </a:solidFill>
                <a:latin typeface="맑은 고딕"/>
              </a:rPr>
              <a:t>□  역방향(Push)거래 처리 패턴을 아래와 같이 정의함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474720" cy="329184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채널-대내MCI-백엔드 시스템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188720" cy="126187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역방향
(Push)거래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01168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맑은 고딕"/>
              </a:rPr>
              <a:t>• 백엔드 시스템에서 전송하는 일방적인 메시지를 전송하는 거래 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828800"/>
            <a:ext cx="4663440" cy="123444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057400"/>
            <a:ext cx="9601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통합단말,
자동화기기,
텔레뱅킹,
전자금융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57400"/>
            <a:ext cx="9601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대내MCI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2057400"/>
            <a:ext cx="9144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>
                <a:solidFill>
                  <a:srgbClr val="000000"/>
                </a:solidFill>
                <a:latin typeface="맑은 고딕"/>
              </a:rPr>
              <a:t>백엔드
시스템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366760" y="2446020"/>
            <a:ext cx="68580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720840" y="2446020"/>
            <a:ext cx="68580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4.2.1 대내MCI 패턴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85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00000"/>
                </a:solidFill>
                <a:latin typeface="맑은 고딕"/>
              </a:rPr>
              <a:t>□  인증거래, 로컬거래, 대내MCI발생거래 처리 패턴을 아래와 같이 정의함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474720" cy="329184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채널-대내MCI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188720" cy="96012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인증거래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993392"/>
            <a:ext cx="32461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000000"/>
                </a:solidFill>
                <a:latin typeface="맑은 고딕"/>
              </a:rPr>
              <a:t>• 채널이 거래를 하기 위해서 통합단말/자동화기기 등록정보를 확인하는 거래 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1737360"/>
            <a:ext cx="466344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965960"/>
            <a:ext cx="9601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통합단말,
자동화기기,
텔레뱅킹,
전자금융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1965960"/>
            <a:ext cx="9601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대내MCI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965960"/>
            <a:ext cx="9144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>
                <a:solidFill>
                  <a:srgbClr val="000000"/>
                </a:solidFill>
                <a:latin typeface="맑은 고딕"/>
              </a:rPr>
              <a:t>백엔드
시스템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66560" y="2194560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12480" y="2194560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412480" y="2514600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766560" y="2514600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0080" y="3246120"/>
            <a:ext cx="1188720" cy="96012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로컬거래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410712"/>
            <a:ext cx="32461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000000"/>
                </a:solidFill>
                <a:latin typeface="맑은 고딕"/>
              </a:rPr>
              <a:t>• 백엔드 시스템으로 전송되는 거래가 아니며 통합단말/자동화기기와 대내MCI간의 거래 유형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3154679"/>
            <a:ext cx="466344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3383279"/>
            <a:ext cx="9601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통합단말,
자동화기기,
텔레뱅킹,
전자금융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3383279"/>
            <a:ext cx="9601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대내MCI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3383279"/>
            <a:ext cx="9144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>
                <a:solidFill>
                  <a:srgbClr val="000000"/>
                </a:solidFill>
                <a:latin typeface="맑은 고딕"/>
              </a:rPr>
              <a:t>백엔드
시스템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66560" y="3611879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12480" y="3611879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412480" y="3931919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766560" y="3931919"/>
            <a:ext cx="685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080" y="4663440"/>
            <a:ext cx="1188720" cy="96012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대내MCI 발생거래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828031"/>
            <a:ext cx="32461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000000"/>
                </a:solidFill>
                <a:latin typeface="맑은 고딕"/>
              </a:rPr>
              <a:t>• 대내MCI 에서 전송하는 일방적인 메시지를 전송하는 거래 유형(대내MCI내 장애전문)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4572000"/>
            <a:ext cx="466344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4800600"/>
            <a:ext cx="9601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통합단말,
자동화기기,
텔레뱅킹,
전자금융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4800600"/>
            <a:ext cx="9601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</a:rPr>
              <a:t>대내MCI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4800600"/>
            <a:ext cx="9144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50" b="1">
                <a:solidFill>
                  <a:srgbClr val="000000"/>
                </a:solidFill>
                <a:latin typeface="맑은 고딕"/>
              </a:rPr>
              <a:t>백엔드
시스템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8412480" y="5029200"/>
            <a:ext cx="68580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766560" y="5029200"/>
            <a:ext cx="68580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4.2.2 대내MCI 주요패턴 다이어그램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85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단말 대량거래처리 패턴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0515600" cy="429768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98448"/>
            <a:ext cx="1005840" cy="329184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통합단말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1627632"/>
            <a:ext cx="0" cy="3538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383280" y="1298448"/>
            <a:ext cx="1005840" cy="329184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대내MCI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1627632"/>
            <a:ext cx="0" cy="3538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43600" y="1298448"/>
            <a:ext cx="1005840" cy="329184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계정계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46520" y="1627632"/>
            <a:ext cx="0" cy="3538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1865376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요청
데이터
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2432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입력요청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5643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화면
출력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177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응답
수신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7320" y="1965960"/>
            <a:ext cx="2468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08760" y="1801368"/>
            <a:ext cx="23317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000000"/>
                </a:solidFill>
                <a:latin typeface="맑은 고딕"/>
              </a:rPr>
              <a:t>대량 데이터 요청 전문 송신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86200" y="2267712"/>
            <a:ext cx="2560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886200" y="2542032"/>
            <a:ext cx="2560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77639" y="2377439"/>
            <a:ext cx="2423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000000"/>
                </a:solidFill>
                <a:latin typeface="맑은 고딕"/>
              </a:rPr>
              <a:t>거래 처리 및 응답 데이터 생성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417320" y="2788920"/>
            <a:ext cx="2468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08760" y="2624327"/>
            <a:ext cx="23317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000000"/>
                </a:solidFill>
                <a:latin typeface="맑은 고딕"/>
              </a:rPr>
              <a:t>대량 데이터 응답분할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17320" y="3291840"/>
            <a:ext cx="2468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508760" y="3127248"/>
            <a:ext cx="23317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000000"/>
                </a:solidFill>
                <a:latin typeface="맑은 고딕"/>
              </a:rPr>
              <a:t>다음 데이터 수신 요청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86200" y="3566160"/>
            <a:ext cx="2560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886200" y="3840480"/>
            <a:ext cx="2560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977639" y="3675888"/>
            <a:ext cx="2423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000000"/>
                </a:solidFill>
                <a:latin typeface="맑은 고딕"/>
              </a:rPr>
              <a:t>응답 데이터 생성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417320" y="4114800"/>
            <a:ext cx="2468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508760" y="3950208"/>
            <a:ext cx="23317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000000"/>
                </a:solidFill>
                <a:latin typeface="맑은 고딕"/>
              </a:rPr>
              <a:t>응답 데이터 송신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17320" y="4681728"/>
            <a:ext cx="2468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508760" y="4517136"/>
            <a:ext cx="23317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000000"/>
                </a:solidFill>
                <a:latin typeface="맑은 고딕"/>
              </a:rPr>
              <a:t>최종 데이터 수신 요청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886200" y="4937760"/>
            <a:ext cx="2560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583680" y="1847088"/>
            <a:ext cx="352044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</a:rPr>
              <a:t>• 거래 처리 및 응답 데이터 생성
• 대량 데이터 일 때, 다음 데이터 있음을 Set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108960"/>
            <a:ext cx="352044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</a:rPr>
              <a:t>• 응답 데이터 생성
• 다음 데이터 있을 경우, 다음 데이터 있음을 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343400"/>
            <a:ext cx="35204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</a:rPr>
              <a:t>• 응답 데이터 생성
• 다음 데이터 없어, 최종 데이터임을 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522976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맑은 고딕"/>
              </a:rPr>
              <a:t>• 응답데이터의 크기가 대량이며 한 번에 출력할 수 없을 때, 데이터를 일정 단위로 나누어 수신하고 출력하는 유형의 거래.</a:t>
            </a:r>
          </a:p>
          <a:p>
            <a:pPr algn="l"/>
            <a:r>
              <a:rPr sz="950">
                <a:solidFill>
                  <a:srgbClr val="000000"/>
                </a:solidFill>
                <a:latin typeface="맑은 고딕"/>
              </a:rPr>
              <a:t>• 업무시스템은 응답데이터를 생성할 때, 다음 데이터가 있음을 알려주고, 단말은 다음 데이터를 수신하고자 할 때 요청 거래를 반복 송신한다.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4.2.2 대내MCI 주요패턴 다이어그램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단말 역방향거래처리 패턴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10927080" cy="420624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980944"/>
            <a:ext cx="1065276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28700" y="1298448"/>
            <a:ext cx="96012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통합단말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08760" y="1609344"/>
            <a:ext cx="0" cy="117957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589020" y="1298448"/>
            <a:ext cx="96012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대내MCI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1609344"/>
            <a:ext cx="0" cy="117957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240780" y="1298448"/>
            <a:ext cx="96012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계정계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20840" y="1609344"/>
            <a:ext cx="0" cy="117957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027932" y="1764792"/>
            <a:ext cx="82296" cy="566928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6679692" y="1737360"/>
            <a:ext cx="82296" cy="50292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069080" y="1810512"/>
            <a:ext cx="26517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0" y="1645920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요청 데이터 생성
송신할 단말 정보를 전문에 Set *주1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508760" y="2176272"/>
            <a:ext cx="2560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4480" y="2011680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통합단말의 접속 상태 확인
단말 접속 및 요청 데이터 송신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1874519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주1) 송신할 단말 정보는
- 일반적으로 표준 전문 헤더부에 정의 됨.
- 세부 형식은 유관팀의 협의가 필요함.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8700" y="3172968"/>
            <a:ext cx="96012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통합단말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08760" y="3483864"/>
            <a:ext cx="0" cy="140817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89020" y="3172968"/>
            <a:ext cx="96012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대내MCI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69080" y="3483864"/>
            <a:ext cx="0" cy="140817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240780" y="3172968"/>
            <a:ext cx="96012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계정계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20840" y="3483864"/>
            <a:ext cx="0" cy="140817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467612" y="3593592"/>
            <a:ext cx="82296" cy="50292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4027932" y="3547872"/>
            <a:ext cx="82296" cy="86868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6679692" y="3566160"/>
            <a:ext cx="82296" cy="77724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08760" y="3611880"/>
            <a:ext cx="2560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54480" y="3447288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Dummy 수신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69080" y="3931920"/>
            <a:ext cx="26517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0" y="376732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Dummy 응답 송신
거래 처리(외부 기관 거래요청) 및 응답 대기 중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4069080" y="4297680"/>
            <a:ext cx="26517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0" y="413308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응답전문 송신
송신할 단말 정보를 전문에 Set 하고 요청 송신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508760" y="4617720"/>
            <a:ext cx="256032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554480" y="4453128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원인 거래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8862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주2) 외부 기관과의 연계는 대외MCI를 경유함.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4983480"/>
            <a:ext cx="777240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50" b="0">
                <a:solidFill>
                  <a:srgbClr val="000000"/>
                </a:solidFill>
                <a:latin typeface="맑은 고딕"/>
              </a:rPr>
              <a:t>Blocking Time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372600" y="5065776"/>
            <a:ext cx="59436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0012680" y="4983480"/>
            <a:ext cx="713232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50" b="0">
                <a:solidFill>
                  <a:srgbClr val="000000"/>
                </a:solidFill>
                <a:latin typeface="맑은 고딕"/>
              </a:rPr>
              <a:t>데이터 송/수신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504688"/>
            <a:ext cx="11430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596127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>
                <a:solidFill>
                  <a:srgbClr val="000000"/>
                </a:solidFill>
                <a:latin typeface="맑은 고딕"/>
              </a:rPr>
              <a:t>• 업무시스템에서 송신한 데이터를 단말에 전송하는 거래 유형</a:t>
            </a:r>
          </a:p>
          <a:p>
            <a:pPr algn="l"/>
            <a:r>
              <a:rPr sz="969">
                <a:solidFill>
                  <a:srgbClr val="000000"/>
                </a:solidFill>
                <a:latin typeface="맑은 고딕"/>
              </a:rPr>
              <a:t>• 원인 거래의 응답이 사후에 전송되는 경우와 원인 거래 없이 일방적으로 전송되는 경우를 모두 포함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4.2.2 대내MCI 주요패턴 다이어그램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단말 책임자승인거래처리 패턴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10927080" cy="420624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832104" y="1435608"/>
            <a:ext cx="987552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일반 단말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25880" y="1746504"/>
            <a:ext cx="0" cy="323697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52344" y="1435608"/>
            <a:ext cx="987552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책임자 단말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1746504"/>
            <a:ext cx="0" cy="323697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809744" y="1435608"/>
            <a:ext cx="987552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대내MCI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0" y="1746504"/>
            <a:ext cx="0" cy="323697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912864" y="1435608"/>
            <a:ext cx="987552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계정계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6640" y="1746504"/>
            <a:ext cx="0" cy="323697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284732" y="1828800"/>
            <a:ext cx="82296" cy="246888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3204972" y="2240280"/>
            <a:ext cx="82296" cy="91440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262372" y="1828800"/>
            <a:ext cx="82296" cy="233172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7365492" y="1828800"/>
            <a:ext cx="82296" cy="214884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25880" y="1874519"/>
            <a:ext cx="39776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71600" y="1709927"/>
            <a:ext cx="3886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거래 요청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0" y="2194560"/>
            <a:ext cx="21031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49240" y="2029968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거래 처리
책임자승인 필요 여부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303520" y="2542032"/>
            <a:ext cx="21031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49240" y="2377440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0">
                <a:solidFill>
                  <a:srgbClr val="000000"/>
                </a:solidFill>
                <a:latin typeface="맑은 고딕"/>
              </a:rPr>
              <a:t>책임자 요청에 따라 책임자 단말의 화면 입력을 전문에 반영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246120" y="2889504"/>
            <a:ext cx="2057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91840" y="2724912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책임자 승인요청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46120" y="3218688"/>
            <a:ext cx="2057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91840" y="3054096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000000"/>
                </a:solidFill>
                <a:latin typeface="맑은 고딕"/>
              </a:rPr>
              <a:t>승인요청에 응답 처리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325880" y="3584448"/>
            <a:ext cx="39776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1600" y="3419856"/>
            <a:ext cx="3886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60" b="0">
                <a:solidFill>
                  <a:srgbClr val="000000"/>
                </a:solidFill>
                <a:latin typeface="맑은 고딕"/>
              </a:rPr>
              <a:t>승인자 확인 후 최종응답 제공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325880" y="4160520"/>
            <a:ext cx="39776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371600" y="3995928"/>
            <a:ext cx="3886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60" b="0">
                <a:solidFill>
                  <a:srgbClr val="000000"/>
                </a:solidFill>
                <a:latin typeface="맑은 고딕"/>
              </a:rPr>
              <a:t>승인절차 완료 후 원거래 재요청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03520" y="4526280"/>
            <a:ext cx="21031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49240" y="4361688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60" b="0">
                <a:solidFill>
                  <a:srgbClr val="000000"/>
                </a:solidFill>
                <a:latin typeface="맑은 고딕"/>
              </a:rPr>
              <a:t>승인정보 반영 전문 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103120"/>
            <a:ext cx="2834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000000"/>
                </a:solidFill>
                <a:latin typeface="맑은 고딕"/>
              </a:rPr>
              <a:t>• 거래 처리
• 책임자승인 필요 시 승인여부/전문 입력 반영
• 책임자 목록을 전문에 반영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06324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>주1) 일반적으로 표준 전문 헤더부에 정의되며, 세부 방식은 유관팀 협의 필요.
주2) 승인사유 등 부가정보 입력 필요.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4983480"/>
            <a:ext cx="777240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50" b="0">
                <a:solidFill>
                  <a:srgbClr val="000000"/>
                </a:solidFill>
                <a:latin typeface="맑은 고딕"/>
              </a:rPr>
              <a:t>Blocking Time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72600" y="5065776"/>
            <a:ext cx="59436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012680" y="4983480"/>
            <a:ext cx="713232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50" b="0">
                <a:solidFill>
                  <a:srgbClr val="000000"/>
                </a:solidFill>
                <a:latin typeface="맑은 고딕"/>
              </a:rPr>
              <a:t>데이터 송/수신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486400"/>
            <a:ext cx="11430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577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>
                <a:solidFill>
                  <a:srgbClr val="000000"/>
                </a:solidFill>
                <a:latin typeface="맑은 고딕"/>
              </a:rPr>
              <a:t>• 책임자의 승인 거래 등, 책임자 단말이 원격지에 위치하여 단말간 P2P가 불가한 경우의 처리흐름.</a:t>
            </a:r>
          </a:p>
          <a:p>
            <a:pPr algn="l"/>
            <a:r>
              <a:rPr sz="969">
                <a:solidFill>
                  <a:srgbClr val="000000"/>
                </a:solidFill>
                <a:latin typeface="맑은 고딕"/>
              </a:rPr>
              <a:t>• 일반 사용자 단말은 책임자 승인이 필요한 거래를 요청하면, 대내MCI를 경유하여 책임자 단말과 승인절차를 수행한다.</a:t>
            </a:r>
          </a:p>
          <a:p>
            <a:pPr algn="l"/>
            <a:r>
              <a:rPr sz="969">
                <a:solidFill>
                  <a:srgbClr val="000000"/>
                </a:solidFill>
                <a:latin typeface="맑은 고딕"/>
              </a:rPr>
              <a:t>• 승인 절차가 완료되면, 승인 결과를 반영하여 원거래를 재 요청한다.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4.2.2 대내MCI 주요패턴 다이어그램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단말 로컬거래처리 패턴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10927080" cy="406908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25879" y="2212848"/>
            <a:ext cx="109728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통합단말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4519" y="2523744"/>
            <a:ext cx="0" cy="218541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069080" y="2212848"/>
            <a:ext cx="109728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대내MCI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17720" y="2523744"/>
            <a:ext cx="0" cy="218541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0" y="2212848"/>
            <a:ext cx="109728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계정계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2523744"/>
            <a:ext cx="0" cy="218541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833371" y="2788920"/>
            <a:ext cx="82296" cy="73152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576572" y="2761488"/>
            <a:ext cx="82296" cy="82296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74519" y="2834640"/>
            <a:ext cx="27432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20239" y="2670048"/>
            <a:ext cx="265176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거래 시작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874519" y="3246120"/>
            <a:ext cx="27432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20239" y="3081528"/>
            <a:ext cx="265176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거래 종료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880360"/>
            <a:ext cx="1143000" cy="502920"/>
          </a:xfrm>
          <a:prstGeom prst="rect">
            <a:avLst/>
          </a:prstGeom>
          <a:solidFill>
            <a:srgbClr val="EEEEEE"/>
          </a:solidFill>
          <a:ln w="1016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</a:rPr>
              <a:t>내부 정보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81728" y="3054096"/>
            <a:ext cx="896112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36592" y="263347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• 내부에서 관리하는 정보를 조회하여
  응답데이터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4800600"/>
            <a:ext cx="777240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50" b="0">
                <a:solidFill>
                  <a:srgbClr val="000000"/>
                </a:solidFill>
                <a:latin typeface="맑은 고딕"/>
              </a:rPr>
              <a:t>Blocking Time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72600" y="4882896"/>
            <a:ext cx="59436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0012680" y="4800600"/>
            <a:ext cx="713232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650" b="0">
                <a:solidFill>
                  <a:srgbClr val="000000"/>
                </a:solidFill>
                <a:latin typeface="맑은 고딕"/>
              </a:rPr>
              <a:t>데이터 송/수신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486400"/>
            <a:ext cx="11430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>
                <a:solidFill>
                  <a:srgbClr val="000000"/>
                </a:solidFill>
                <a:latin typeface="맑은 고딕"/>
              </a:rPr>
              <a:t>• 단말의 거래요청을 수신한 후, 백엔드 업무시스템의 서비스를 호출하지 않고 대내MCI 내부에서만 처리하고 응답하는 유형.</a:t>
            </a:r>
          </a:p>
          <a:p>
            <a:pPr algn="l"/>
            <a:r>
              <a:rPr sz="969">
                <a:solidFill>
                  <a:srgbClr val="000000"/>
                </a:solidFill>
                <a:latin typeface="맑은 고딕"/>
              </a:rPr>
              <a:t>• 단말의 로그인 상태 정보 등 대내MCI에서 관리하는 정보에 대한 조회거래가 대표적이다.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4.2.2 대내MCI 주요패턴 다이어그램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자동화기기 개국거래처리 패턴 다이어그램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10927080" cy="43434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028700" y="1527048"/>
            <a:ext cx="114300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자동화기기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1837944"/>
            <a:ext cx="0" cy="319125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37660" y="1527048"/>
            <a:ext cx="114300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관리 서버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1837944"/>
            <a:ext cx="0" cy="319125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246620" y="1527048"/>
            <a:ext cx="1143000" cy="310896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계정계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8120" y="1837944"/>
            <a:ext cx="0" cy="3191256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559052" y="1874519"/>
            <a:ext cx="82296" cy="233172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668012" y="2148840"/>
            <a:ext cx="82296" cy="214884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7776972" y="3931920"/>
            <a:ext cx="82296" cy="685800"/>
          </a:xfrm>
          <a:prstGeom prst="rect">
            <a:avLst/>
          </a:prstGeom>
          <a:solidFill>
            <a:srgbClr val="9B9B9B"/>
          </a:solidFill>
          <a:ln w="508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874519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[초기 상태]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00200" y="2029968"/>
            <a:ext cx="31089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45920" y="1865376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개국거래 시 기관간 전문 생성
거래전, 단말정보 전문 구성
개국 KEY와 SEED 암호화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600200" y="2697480"/>
            <a:ext cx="31089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45920" y="2532888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0">
                <a:solidFill>
                  <a:srgbClr val="000000"/>
                </a:solidFill>
                <a:latin typeface="맑은 고딕"/>
              </a:rPr>
              <a:t>개국 KEY 및 SESSION KEY 분리 보관
전문거래 전문 생성
전문 MAC 생성(HASH-160)
ONETIME KEY 생성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00200" y="3429000"/>
            <a:ext cx="31089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45920" y="3264408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전문 암호화(SEED)
원문 CRC 코드로 암호화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09160" y="3977639"/>
            <a:ext cx="31089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54880" y="3813047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전문 수신 및 전문 복원(ONETIME KEY, SEED)
MAC 검증 / 원문CRC / 전문 기반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2011680"/>
            <a:ext cx="2560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• 수신 및 개국 KEY 포함
• SESSION KEY 생성 및 단말정보 메모리 보관
• 개국 KEY 및 SESSION KEY 암호화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3730752"/>
            <a:ext cx="23774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맑은 고딕"/>
              </a:rPr>
              <a:t>• 전문 수신 및 전문 복원
  (ONETIME KEY, SEED)
• MAC 검증(HASH-160)
• 전문 수신 및 전문 암호화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910328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0000"/>
                </a:solidFill>
                <a:latin typeface="맑은 고딕"/>
              </a:rPr>
              <a:t>다음 페이지 계속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559552"/>
            <a:ext cx="11430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6509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>
                <a:solidFill>
                  <a:srgbClr val="000000"/>
                </a:solidFill>
                <a:latin typeface="맑은 고딕"/>
              </a:rPr>
              <a:t>• 자동화기기 개국거래 자동화기기는 개국거래를 통해 사용가능한 상태가 되어야 한다.</a:t>
            </a:r>
          </a:p>
          <a:p>
            <a:pPr algn="l"/>
            <a:r>
              <a:rPr sz="969">
                <a:solidFill>
                  <a:srgbClr val="000000"/>
                </a:solidFill>
                <a:latin typeface="맑은 고딕"/>
              </a:rPr>
              <a:t>• 자동화기기 관리서버로부터 SESSION KEY를 받아 암복호화에 사용한다.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4.2.3 대외MCI 패턴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109728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350" b="0">
                <a:solidFill>
                  <a:srgbClr val="000000"/>
                </a:solidFill>
                <a:latin typeface="맑은 고딕"/>
              </a:rPr>
              <a:t>□  대외MCI는 대외기관과의 연계를 담당하고, 거래처리 패턴을 아래와 같이 정의함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188720"/>
                <a:gridCol w="1691640"/>
                <a:gridCol w="5806440"/>
                <a:gridCol w="685800"/>
              </a:tblGrid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서비스 구분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세부구분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인터페이스 패턴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거래 유형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온라인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당발(취급)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내부시스템에서 요청 전문을 대외기관으로 송신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온라인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당발(취급)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응답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대외 기관에서 내부시스템으로 응답 전문을 송신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온라인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타발(개설)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대외 기관에서 내부시스템으로 요청 전문을 송신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온라인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타발(개설)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응답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내부시스템에서 응답 전문을 송신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온라인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당발(취급)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통지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내부시스템에서 대외 기관으로 통지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온라인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타발(개설)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통지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대외 기관에서 내부시스템으로 통지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일괄전송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송신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대외MCI가 대외기관에 접속하여 개시/로그인 후 파일을 송신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일괄전송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수신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대외기관이 대외MCI에 접속하여 개시/로그인 후 파일을 수신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4.2.3 대외MCI 패턴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40080"/>
            <a:ext cx="10972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250" b="0">
                <a:solidFill>
                  <a:srgbClr val="000000"/>
                </a:solidFill>
                <a:latin typeface="맑은 고딕"/>
              </a:rPr>
              <a:t>□  온라인 거래 중, 요청-응답으로 이루어지는 양방향 거래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10972800" cy="34747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250" b="0">
                <a:solidFill>
                  <a:srgbClr val="000000"/>
                </a:solidFill>
                <a:latin typeface="맑은 고딕"/>
              </a:rPr>
              <a:t>□  대외기관으로의 거래요청은 Async성으로 거래를 요청하며, 코어뱅킹의 경우 대외MCI와 직접연계하고 이외 단위 시스템은 EAI로 연계.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9372600" cy="329184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온라인 거래유형(양방향)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1143000" cy="126187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당발
(취급)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029968"/>
            <a:ext cx="2926080" cy="9144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• 당발(취급) 요청/응답 Async 거래 유형
• 타임아웃, 전문유효성 오류 발생 시 대외MCI에서 대행응답 처리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856231"/>
            <a:ext cx="4297680" cy="704088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2002535"/>
            <a:ext cx="8686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대외기관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9672" y="2002535"/>
            <a:ext cx="9601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대외 MCI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55080" y="2212847"/>
            <a:ext cx="16459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644384" y="2002535"/>
            <a:ext cx="8686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코어뱅킹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79792" y="2212847"/>
            <a:ext cx="16459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257800" y="2697480"/>
            <a:ext cx="4297680" cy="704088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843784"/>
            <a:ext cx="8686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대외기관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9672" y="2843784"/>
            <a:ext cx="5029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대외
MCI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3054096"/>
            <a:ext cx="16459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187184" y="2843784"/>
            <a:ext cx="5029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EAI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22592" y="3054096"/>
            <a:ext cx="16459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854696" y="2843784"/>
            <a:ext cx="8686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단위시스템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90104" y="3054096"/>
            <a:ext cx="16459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85800" y="3931920"/>
            <a:ext cx="1143000" cy="126187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타발
(개설)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24528"/>
            <a:ext cx="2926080" cy="54864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</a:rPr>
              <a:t>• 타발(개설) 요청/응답 Async 거래 유형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3767328"/>
            <a:ext cx="4297680" cy="704088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3913632"/>
            <a:ext cx="8686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대외기관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19672" y="3913632"/>
            <a:ext cx="9601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대외 MCI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55080" y="4123944"/>
            <a:ext cx="16459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644384" y="3913632"/>
            <a:ext cx="8686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코어뱅킹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79792" y="4123944"/>
            <a:ext cx="16459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257800" y="4608576"/>
            <a:ext cx="4297680" cy="704088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4754880"/>
            <a:ext cx="8686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대외기관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19672" y="4754880"/>
            <a:ext cx="5029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대외
MCI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55080" y="4965192"/>
            <a:ext cx="16459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187184" y="4754880"/>
            <a:ext cx="5029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EAI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022592" y="4965192"/>
            <a:ext cx="16459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854696" y="4754880"/>
            <a:ext cx="8686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단위시스템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690104" y="4965192"/>
            <a:ext cx="16459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4.2.3 대외MCI 패턴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76656"/>
            <a:ext cx="10972800" cy="384048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맑은 고딕"/>
              </a:rPr>
              <a:t>□  원본 이미지 확인 불가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10058400" cy="219456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800" b="1">
                <a:solidFill>
                  <a:srgbClr val="000000"/>
                </a:solidFill>
                <a:latin typeface="맑은 고딕"/>
              </a:rPr>
              <a:t>이 슬라이드의 원본 이미지가 대화 화면에서 확인되지 않아
임의로 내용을 보완하지 않았습니다.
원본 4.2.3 대외MCI 패턴 (3/4) 이미지를 다시 올리면 동일 PPT에 이어서 반영하겠습니다.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4.2.3 대외MCI 패턴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40080"/>
            <a:ext cx="10972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250" b="0">
                <a:solidFill>
                  <a:srgbClr val="000000"/>
                </a:solidFill>
                <a:latin typeface="맑은 고딕"/>
              </a:rPr>
              <a:t>□  내부업무시스템에서 대외MCI로의 파일전송은 EAI를 사용.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0"/>
            <a:ext cx="10972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250" b="0">
                <a:solidFill>
                  <a:srgbClr val="000000"/>
                </a:solidFill>
                <a:latin typeface="맑은 고딕"/>
              </a:rPr>
              <a:t>□  대외기관과 대외MCI간 파일전송은 기관 협의에 따라 TCP/IP 일괄전송 또는 sFTP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53312"/>
            <a:ext cx="8183879" cy="329184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일괄전송 거래유형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1051560" cy="141732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송신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048256"/>
            <a:ext cx="2057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latin typeface="맑은 고딕"/>
              </a:defRPr>
            </a:pPr>
            <a:r>
              <a:t>• 업무시스템은 DAT, CHK 파일을 EAI를 통해 대외 MCI 디렉토리로 전송</a:t>
            </a:r>
          </a:p>
          <a:p>
            <a:pPr algn="l">
              <a:defRPr sz="950">
                <a:latin typeface="맑은 고딕"/>
              </a:defRPr>
            </a:pPr>
            <a:r>
              <a:t>• 대외 MCI는 CHK 파일을 확인하고 DAT 파일을 대외기관으로 송신</a:t>
            </a:r>
          </a:p>
          <a:p>
            <a:pPr algn="l">
              <a:defRPr sz="950">
                <a:latin typeface="맑은 고딕"/>
              </a:defRPr>
            </a:pPr>
            <a:r>
              <a:t>• 송신결과는 대외MCI DB로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847088"/>
            <a:ext cx="6720840" cy="160020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212848"/>
            <a:ext cx="749808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업무시스템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2212848"/>
            <a:ext cx="438912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EAI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212848"/>
            <a:ext cx="5029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대외
MCI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212848"/>
            <a:ext cx="4572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대외
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212848"/>
            <a:ext cx="658368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공용망
(인터넷망)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0727" y="2212848"/>
            <a:ext cx="7315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대외기관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048256"/>
            <a:ext cx="502920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048256"/>
            <a:ext cx="548640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전송선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56632" y="2258568"/>
            <a:ext cx="518464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56632" y="2670048"/>
            <a:ext cx="518464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85800" y="4160520"/>
            <a:ext cx="1051560" cy="141732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수신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224528"/>
            <a:ext cx="2057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>
                <a:latin typeface="맑은 고딕"/>
              </a:defRPr>
            </a:pPr>
            <a:r>
              <a:t>• 대외기관으로부터 DAT 파일 수신</a:t>
            </a:r>
          </a:p>
          <a:p>
            <a:pPr algn="l">
              <a:defRPr sz="930">
                <a:latin typeface="맑은 고딕"/>
              </a:defRPr>
            </a:pPr>
            <a:r>
              <a:t>• 대외 MCI는 EAI를 통해 업무시스템 디렉토리로 전송</a:t>
            </a:r>
          </a:p>
          <a:p>
            <a:pPr algn="l">
              <a:defRPr sz="930">
                <a:latin typeface="맑은 고딕"/>
              </a:defRPr>
            </a:pPr>
            <a:r>
              <a:t>• 수신결과는 대외MCI DB로 관리</a:t>
            </a:r>
          </a:p>
          <a:p>
            <a:pPr algn="l">
              <a:defRPr sz="930">
                <a:latin typeface="맑은 고딕"/>
              </a:defRPr>
            </a:pPr>
            <a:r>
              <a:t>• 업무시스템은 CHK 파일을 확인하고 업무처리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4041648"/>
            <a:ext cx="6720840" cy="160020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407408"/>
            <a:ext cx="749808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업무시스템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21808" y="4407408"/>
            <a:ext cx="438912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EAI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407408"/>
            <a:ext cx="5029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대외
MCI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4407408"/>
            <a:ext cx="4572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대외
IF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4407408"/>
            <a:ext cx="658368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공용망
(인터넷망)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0727" y="4407408"/>
            <a:ext cx="7315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780" b="1">
                <a:solidFill>
                  <a:srgbClr val="000000"/>
                </a:solidFill>
                <a:latin typeface="맑은 고딕"/>
              </a:rPr>
              <a:t>대외기관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242816"/>
            <a:ext cx="502920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파일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242816"/>
            <a:ext cx="548640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전송선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56632" y="4453128"/>
            <a:ext cx="518464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56632" y="4864608"/>
            <a:ext cx="5184648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4.2.4 EAI 패턴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21792"/>
            <a:ext cx="10972800" cy="4572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250" b="0">
                <a:solidFill>
                  <a:srgbClr val="000000"/>
                </a:solidFill>
                <a:latin typeface="맑은 고딕"/>
              </a:rPr>
              <a:t>□  동기성(Sync) 온라인 거래는 TCP/IP 혹은 HTTP Connector를 통해서 처리하며, 비동기성(Async) 온라인 거래는 Socket Connector를 통해 처리함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3611880" cy="329184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온라인 패턴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1143000" cy="150876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동기거래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1691640"/>
            <a:ext cx="9875520" cy="150876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947672"/>
            <a:ext cx="14173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40" b="1">
                <a:solidFill>
                  <a:srgbClr val="000000"/>
                </a:solidFill>
                <a:latin typeface="맑은 고딕"/>
              </a:rPr>
              <a:t>송신시스템 (Source)
Client Adapter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810512"/>
            <a:ext cx="2331720" cy="1005840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EAI
Flow Controller
Source Connector    Target Connector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599" y="1947672"/>
            <a:ext cx="14173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40" b="1">
                <a:solidFill>
                  <a:srgbClr val="000000"/>
                </a:solidFill>
                <a:latin typeface="맑은 고딕"/>
              </a:rPr>
              <a:t>수신시스템 (Target)
Server Adapter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566928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요청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70648" y="2148840"/>
            <a:ext cx="566928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요청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63240" y="2286000"/>
            <a:ext cx="1737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32320" y="2286000"/>
            <a:ext cx="224027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37560" y="2560320"/>
            <a:ext cx="566928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응답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0648" y="2560320"/>
            <a:ext cx="566928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응답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063240" y="2679192"/>
            <a:ext cx="1737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132320" y="2679192"/>
            <a:ext cx="224027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65960" y="2971800"/>
            <a:ext cx="8869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latin typeface="맑은 고딕"/>
              </a:defRPr>
            </a:pPr>
            <a:r>
              <a:t>• 수신시스템 장애 및 타임아웃 발생시, EAI가 송신시스템에 대행응답 제공</a:t>
            </a:r>
          </a:p>
          <a:p>
            <a:pPr algn="l">
              <a:defRPr sz="900">
                <a:latin typeface="맑은 고딕"/>
              </a:defRPr>
            </a:pPr>
            <a:r>
              <a:t>• EAI는 주기적으로 수신시스템에 대한 헬스체크 수행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069080"/>
            <a:ext cx="1143000" cy="150876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비동기거래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4069080"/>
            <a:ext cx="9875520" cy="150876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4325112"/>
            <a:ext cx="14173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40" b="1">
                <a:solidFill>
                  <a:srgbClr val="000000"/>
                </a:solidFill>
                <a:latin typeface="맑은 고딕"/>
              </a:rPr>
              <a:t>송신시스템 (Source)
Client Adapter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4187952"/>
            <a:ext cx="2331720" cy="1005840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EAI
Flow Controller
Source Connector    Target Connector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599" y="4325112"/>
            <a:ext cx="14173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40" b="1">
                <a:solidFill>
                  <a:srgbClr val="000000"/>
                </a:solidFill>
                <a:latin typeface="맑은 고딕"/>
              </a:rPr>
              <a:t>수신시스템 (Target)
Server Adapter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4526280"/>
            <a:ext cx="566928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요청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0648" y="4526280"/>
            <a:ext cx="566928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요청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63240" y="4663440"/>
            <a:ext cx="1737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32320" y="4663440"/>
            <a:ext cx="224027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65960" y="5504688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>
                <a:latin typeface="맑은 고딕"/>
              </a:defRPr>
            </a:pPr>
            <a:r>
              <a:t>• 비동기성 거래는 EAI 내부적으로 메시지-Queue를 활용하여 메시지 전송을 보장한다.</a:t>
            </a:r>
          </a:p>
          <a:p>
            <a:pPr algn="l">
              <a:defRPr sz="850">
                <a:latin typeface="맑은 고딕"/>
              </a:defRPr>
            </a:pPr>
            <a:r>
              <a:t>• 송신시스템은 EAI와의 통신오류 이외에는 확인이 불가하므로 수신시스템의 수신 확인이 필요한 거래에는 사용하지 않는다.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4.2.4 EAI 패턴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58368"/>
            <a:ext cx="10972800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250" b="0">
                <a:solidFill>
                  <a:srgbClr val="000000"/>
                </a:solidFill>
                <a:latin typeface="맑은 고딕"/>
              </a:rPr>
              <a:t>□  실시간 전문으로 처리할 수 없는 FILE을 전송하는 연계유형으로 FTP/sFTP 방식 또는 MFT 방식으로 데이터를 전달함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2697480" cy="329184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파일 연계 패턴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960120" cy="214884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FTP/sFTP
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1691640"/>
            <a:ext cx="1828800" cy="201168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송신시스템 (Source)
파일
FTP/sFTP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17320"/>
            <a:ext cx="2834640" cy="24231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EAI
Batch Service
Source Connector  → Queue → Target Connector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691640"/>
            <a:ext cx="1828800" cy="201168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수신시스템 (Target)
파일
FTP Server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2560320"/>
            <a:ext cx="6400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39312" y="2423160"/>
            <a:ext cx="594360" cy="2286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Get File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86600" y="2560320"/>
            <a:ext cx="11887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60920" y="2423160"/>
            <a:ext cx="594360" cy="2286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Put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>
                <a:latin typeface="맑은 고딕"/>
              </a:defRPr>
            </a:pPr>
            <a:r>
              <a:t>• FTP/sFTP 방식 (EAI 허브 경유 방식)</a:t>
            </a:r>
          </a:p>
          <a:p>
            <a:pPr algn="l">
              <a:defRPr sz="840">
                <a:latin typeface="맑은 고딕"/>
              </a:defRPr>
            </a:pPr>
            <a:r>
              <a:t>• ① 배치 스케줄러는 EAI Batch Service에 작업지시 요청</a:t>
            </a:r>
          </a:p>
          <a:p>
            <a:pPr algn="l">
              <a:defRPr sz="840">
                <a:latin typeface="맑은 고딕"/>
              </a:defRPr>
            </a:pPr>
            <a:r>
              <a:t>• ② Batch Service는 FTP/sFTP Source Connector 호출</a:t>
            </a:r>
          </a:p>
          <a:p>
            <a:pPr algn="l">
              <a:defRPr sz="840">
                <a:latin typeface="맑은 고딕"/>
              </a:defRPr>
            </a:pPr>
            <a:r>
              <a:t>• ③ Source Connector는 송신측 FTP/sFTP Server에 접속하여 File을 Get 한다.</a:t>
            </a:r>
          </a:p>
          <a:p>
            <a:pPr algn="l">
              <a:defRPr sz="840">
                <a:latin typeface="맑은 고딕"/>
              </a:defRPr>
            </a:pPr>
            <a:r>
              <a:t>• ④ 송신시스템으로부터 수신된 파일을 EAI 내부 Queue에 저장한다.</a:t>
            </a:r>
          </a:p>
          <a:p>
            <a:pPr algn="l">
              <a:defRPr sz="840">
                <a:latin typeface="맑은 고딕"/>
              </a:defRPr>
            </a:pPr>
            <a:r>
              <a:t>• ⑤ FTP/sFTP Target Connector는 수신 시스템의 서버에 접속하여 Queue에 저장된 파일을 Put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4.2.4 EAI 패턴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58368"/>
            <a:ext cx="10972800" cy="384048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230" b="0">
                <a:solidFill>
                  <a:srgbClr val="000000"/>
                </a:solidFill>
                <a:latin typeface="맑은 고딕"/>
              </a:rPr>
              <a:t>□  실시간 전문으로 처리할 수 없는 DB 데이터를 전송하는 연계유형으로 대량의 DB 레코드를 단순 전송하여 Insert 하거나, 레코드 변경(입력,수정등)분을 전송하여 Upsert 처리함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2560320" cy="329184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디비 연계 패턴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011680" cy="24231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송신시스템 (Source)
Table
EAI 배치전송 레코드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508760"/>
            <a:ext cx="4160520" cy="283464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1500" b="1">
                <a:solidFill>
                  <a:srgbClr val="000000"/>
                </a:solidFill>
                <a:latin typeface="맑은 고딕"/>
              </a:rPr>
              <a:t>EAI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011680"/>
            <a:ext cx="100584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Source
Connector
JDBC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828800"/>
            <a:ext cx="1005840" cy="685800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Batch
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011680"/>
            <a:ext cx="100584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Target
Connector
JDBC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3044952"/>
            <a:ext cx="1005840" cy="50292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파일
읽기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691640"/>
            <a:ext cx="2011680" cy="24231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수신시스템 (Target)
Table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2862072"/>
            <a:ext cx="10972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044952" y="2697480"/>
            <a:ext cx="594360" cy="25603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Query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42048" y="2834640"/>
            <a:ext cx="16276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406640" y="2624328"/>
            <a:ext cx="1143000" cy="25603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Update or Insert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846320" y="2167128"/>
            <a:ext cx="13716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89320" y="2167128"/>
            <a:ext cx="246888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645152"/>
            <a:ext cx="103327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>
                <a:latin typeface="맑은 고딕"/>
              </a:defRPr>
            </a:pPr>
            <a:r>
              <a:t>• 처리흐름</a:t>
            </a:r>
          </a:p>
          <a:p>
            <a:pPr algn="l">
              <a:defRPr sz="840">
                <a:latin typeface="맑은 고딕"/>
              </a:defRPr>
            </a:pPr>
            <a:r>
              <a:t>• ① 배치 스케줄러는 EAI Batch Service에 작업지시 요청</a:t>
            </a:r>
          </a:p>
          <a:p>
            <a:pPr algn="l">
              <a:defRPr sz="840">
                <a:latin typeface="맑은 고딕"/>
              </a:defRPr>
            </a:pPr>
            <a:r>
              <a:t>• ② Batch Service는 JDBC Source Connector 호출</a:t>
            </a:r>
          </a:p>
          <a:p>
            <a:pPr algn="l">
              <a:defRPr sz="840">
                <a:latin typeface="맑은 고딕"/>
              </a:defRPr>
            </a:pPr>
            <a:r>
              <a:t>• ③ JDBC Source Connector는 송신측 DB Server에 접속하여 Query를 통해 데이터를 Fetch 한다.</a:t>
            </a:r>
          </a:p>
          <a:p>
            <a:pPr algn="l">
              <a:defRPr sz="840">
                <a:latin typeface="맑은 고딕"/>
              </a:defRPr>
            </a:pPr>
            <a:r>
              <a:t>• ④ Fetch된 내용은 파일로 저장한다. 이후 Target Connector가 수신측 DB Server에 접속하여 Upsert 한다.</a:t>
            </a:r>
          </a:p>
          <a:p>
            <a:pPr algn="l">
              <a:defRPr sz="840">
                <a:latin typeface="맑은 고딕"/>
              </a:defRPr>
            </a:pPr>
            <a:r>
              <a:t>• ※ 데이터 건수 및 작업량에 따라 ②~⑧ 반복처리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4.2.4 EAI 패턴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 유형별 인터페이스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4.2 거래 처리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621792"/>
            <a:ext cx="109728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230" b="0">
                <a:solidFill>
                  <a:srgbClr val="000000"/>
                </a:solidFill>
                <a:latin typeface="맑은 고딕"/>
              </a:rPr>
              <a:t>□  송신측 DB 데이터 변경 사항에 대해, 준실시간성으로 전달 받기를 원할때 활용하는 연계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0"/>
            <a:ext cx="109728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230" b="0">
                <a:solidFill>
                  <a:srgbClr val="000000"/>
                </a:solidFill>
                <a:latin typeface="맑은 고딕"/>
              </a:rPr>
              <a:t>□  DB to DB 연계에만 활용하며, File to File 연계는 배치로 처리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2834640" cy="329184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디퍼드 연계 패턴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011680" cy="24231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송신시스템 (Source)
Table
EAI 배치전송 레코드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508760"/>
            <a:ext cx="4160520" cy="283464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1500" b="1">
                <a:solidFill>
                  <a:srgbClr val="000000"/>
                </a:solidFill>
                <a:latin typeface="맑은 고딕"/>
              </a:rPr>
              <a:t>EAI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011680"/>
            <a:ext cx="100584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Source
Connector
JDBC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1828800"/>
            <a:ext cx="1005840" cy="685800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Batch
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011680"/>
            <a:ext cx="100584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Target
Connector
JDBC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3044952"/>
            <a:ext cx="1005840" cy="50292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파일
읽기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1645920"/>
            <a:ext cx="868680" cy="411480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Deferred
Controller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691640"/>
            <a:ext cx="2011680" cy="242316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수신시스템 (Target)
Table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2862072"/>
            <a:ext cx="10972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044952" y="2697480"/>
            <a:ext cx="594360" cy="25603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Query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42048" y="2834640"/>
            <a:ext cx="16276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406640" y="2624328"/>
            <a:ext cx="1143000" cy="25603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Update or Insert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846320" y="2167128"/>
            <a:ext cx="13716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9320" y="2167128"/>
            <a:ext cx="246888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4736592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>
                <a:latin typeface="맑은 고딕"/>
              </a:defRPr>
            </a:pPr>
            <a:r>
              <a:t>• 처리흐름</a:t>
            </a:r>
          </a:p>
          <a:p>
            <a:pPr algn="l">
              <a:defRPr sz="819">
                <a:latin typeface="맑은 고딕"/>
              </a:defRPr>
            </a:pPr>
            <a:r>
              <a:t>• ① Deferred Controller는 EAI Batch Service에 작업지시 요청</a:t>
            </a:r>
          </a:p>
          <a:p>
            <a:pPr algn="l">
              <a:defRPr sz="819">
                <a:latin typeface="맑은 고딕"/>
              </a:defRPr>
            </a:pPr>
            <a:r>
              <a:t>• ② JDBC Source Connector는 송신측 DB Server에 접속하여 Query를 통해 데이터를 Fetch 한다.</a:t>
            </a:r>
          </a:p>
          <a:p>
            <a:pPr algn="l">
              <a:defRPr sz="819">
                <a:latin typeface="맑은 고딕"/>
              </a:defRPr>
            </a:pPr>
            <a:r>
              <a:t>• ③ Fetch된 내용은 파일로 저장한다.</a:t>
            </a:r>
          </a:p>
          <a:p>
            <a:pPr algn="l">
              <a:defRPr sz="819">
                <a:latin typeface="맑은 고딕"/>
              </a:defRPr>
            </a:pPr>
            <a:r>
              <a:t>• ④ 파일 저장이 완료된 후 송신시스템에서 처리한 데이터 레코드의 Flag를 업데이트 한다.</a:t>
            </a:r>
          </a:p>
          <a:p>
            <a:pPr algn="l">
              <a:defRPr sz="819">
                <a:latin typeface="맑은 고딕"/>
              </a:defRPr>
            </a:pPr>
            <a:r>
              <a:t>• ⑤ Batch Service는 JDBC Target Connector 호출, 수신측 DB Server에 접속하여 Upsert 한다.</a:t>
            </a:r>
          </a:p>
          <a:p>
            <a:pPr algn="l">
              <a:defRPr sz="819">
                <a:latin typeface="맑은 고딕"/>
              </a:defRPr>
            </a:pPr>
            <a:r>
              <a:t>• ※ 데이터 건수 및 작업량에 따라 반복처리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384048"/>
            <a:ext cx="109270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8580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69848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53896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37944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21992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35808"/>
            <a:ext cx="4389120" cy="4572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맑은 고딕"/>
              </a:rPr>
              <a:t>2.1 시스템인터페이스 대상 및 상세
   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970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6285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76088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6013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258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685800"/>
            <a:ext cx="4663440" cy="310896"/>
          </a:xfrm>
          <a:prstGeom prst="rect">
            <a:avLst/>
          </a:prstGeom>
          <a:solidFill>
            <a:srgbClr val="373737"/>
          </a:solidFill>
          <a:ln w="1016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078992"/>
            <a:ext cx="4297680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72184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865376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624328"/>
            <a:ext cx="4937760" cy="292608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3017520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8736" y="3410712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384048"/>
            <a:ext cx="109270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8580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69848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53896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37944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21992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35808"/>
            <a:ext cx="4389120" cy="4572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맑은 고딕"/>
              </a:rPr>
              <a:t>2.1 시스템인터페이스 대상 및 상세
   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970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6285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76088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6013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258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685800"/>
            <a:ext cx="4663440" cy="310896"/>
          </a:xfrm>
          <a:prstGeom prst="rect">
            <a:avLst/>
          </a:prstGeom>
          <a:solidFill>
            <a:srgbClr val="373737"/>
          </a:solidFill>
          <a:ln w="1016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078992"/>
            <a:ext cx="4297680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1472184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1865376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624328"/>
            <a:ext cx="4937760" cy="292608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3017520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8736" y="3410712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5. 로그 관리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0972800" cy="475488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330" b="0">
                <a:solidFill>
                  <a:srgbClr val="000000"/>
                </a:solidFill>
                <a:latin typeface="맑은 고딕"/>
              </a:rPr>
              <a:t>□  연계 시스템을 경유하는 요청(in/outbound), 응답(in/outbound) 데이터 전송 정보 및 채널접속이력을
   기록하며, 이 정보는 각 연계 시스템 저장소와 업무시스템에 전달 되도록 구성함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8183879" cy="329184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연계시스템                                      업무시스템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417320"/>
            <a:ext cx="2670048" cy="329184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연계절차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73936"/>
            <a:ext cx="8001000" cy="438912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384048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057400"/>
            <a:ext cx="12344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inbound
Adapter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2057400"/>
            <a:ext cx="12344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변환/매핑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57400"/>
            <a:ext cx="12344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outbound
Adapter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2834640"/>
            <a:ext cx="502920" cy="25603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로그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834640"/>
            <a:ext cx="502920" cy="25603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로그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3566160"/>
            <a:ext cx="502920" cy="25603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로그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566160"/>
            <a:ext cx="502920" cy="256032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로그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154680"/>
            <a:ext cx="868680" cy="36576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로그처리기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4343400"/>
            <a:ext cx="12344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outbound
Adapter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4343400"/>
            <a:ext cx="12344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변환/매핑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343400"/>
            <a:ext cx="12344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inbound
Adapter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920240"/>
            <a:ext cx="640080" cy="5029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>업무데이터
흐름(요청)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315968"/>
            <a:ext cx="640080" cy="5029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>업무데이터
흐름(응답)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40680" y="2267712"/>
            <a:ext cx="5486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22960" y="4572000"/>
            <a:ext cx="731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60320" y="5029200"/>
            <a:ext cx="1645920" cy="877824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연계솔루션 DB
채널접속이력 저장소
인터페이스 로그 저장소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63040" y="5742432"/>
            <a:ext cx="49834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897880" y="5650992"/>
            <a:ext cx="822960" cy="256032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EAI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720840" y="2926080"/>
            <a:ext cx="0" cy="2816352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172200" y="6263640"/>
            <a:ext cx="685800" cy="36576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관리/
모니터링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2651760"/>
            <a:ext cx="1143000" cy="347472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접속이력
조회업무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3246120"/>
            <a:ext cx="1005840" cy="36576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채널접속이력 저장소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406640" y="2999232"/>
            <a:ext cx="0" cy="246888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887968" y="1810512"/>
            <a:ext cx="2331720" cy="43891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맑은 고딕"/>
              </a:rPr>
              <a:t>① 로그 정보 기록
  - 고려사항1: 로그 기록 시 온라인 거래 처리에 영향도 없도록 구성함
  - 고려사항2: 로그에서 채널 접속 이력을 추후하여 별도 처리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468233132112"/>
            <a:ext cx="2331720" cy="43891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맑은 고딕"/>
              </a:rPr>
              <a:t>② 연계시스템 DB에 로그 정보 및 접속이력을 저장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936464453712"/>
            <a:ext cx="2331720" cy="43891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맑은 고딕"/>
              </a:rPr>
              <a:t>③ EAI의 DB2DB 전송유형 등을 활용하여 채널접속이력 정보를 전송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1404695775312"/>
            <a:ext cx="2331720" cy="43891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맑은 고딕"/>
              </a:rPr>
              <a:t>④ 운영자는 관리운영 도구를 이용해 전송 이력 정보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8" y="1872927096912"/>
            <a:ext cx="2331720" cy="43891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맑은 고딕"/>
              </a:rPr>
              <a:t>⑤ 업무 담당자는 업무 시스템 채널 접속이력 저장소에서 이력 정보 확인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4645152"/>
            <a:ext cx="2670048" cy="310896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관리방안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7968" y="5047488"/>
            <a:ext cx="2331720" cy="1417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기록할 위치는 다음과 같이 4곳으로 정의되며, GUID기반으로 추적/관리 되도록 구성함
① 요청전문을 전달 받은 즉시 기록
② 요청전문을 목적지로 전달하기 직전에 기록
③ 응답전문을 전달 받은 즉시 기록
④ 응답전문을 요청지로 전달하기 직전에 기록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384048"/>
            <a:ext cx="109270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8580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69848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53896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37944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21992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35808"/>
            <a:ext cx="4389120" cy="4572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맑은 고딕"/>
              </a:rPr>
              <a:t>2.1 시스템인터페이스 대상 및 상세
   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970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6285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76088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6013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258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685800"/>
            <a:ext cx="4663440" cy="310896"/>
          </a:xfrm>
          <a:prstGeom prst="rect">
            <a:avLst/>
          </a:prstGeom>
          <a:solidFill>
            <a:srgbClr val="373737"/>
          </a:solidFill>
          <a:ln w="1016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078992"/>
            <a:ext cx="4297680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1472184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1865376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624328"/>
            <a:ext cx="4937760" cy="292608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3017520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8736" y="3410712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5.2 로그 생성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5. 로그 관리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0972800" cy="292608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□  대내MCI 에서 로깅은 DB/파일기반으로 기록되며, 기록되는 로그 종류는 다음과 같다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0652760" cy="329184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로그 종류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48840"/>
            <a:ext cx="960120" cy="22860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채널
고객채널
내부채널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2057400"/>
            <a:ext cx="960120" cy="246888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대내MCI
MCI
Core
Error HDR
Log Manager
DB Log  File 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2148840"/>
            <a:ext cx="960120" cy="22860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업무시스템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7400" y="2834640"/>
            <a:ext cx="914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057400" y="3246120"/>
            <a:ext cx="914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31920" y="2834640"/>
            <a:ext cx="10058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931920" y="3246120"/>
            <a:ext cx="10058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0" y="1993392"/>
          <a:ext cx="36118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37744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</a:rPr>
                        <a:t>로그종류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① 전문로그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입출력전문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② 시스템로그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솔루션 내부 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③ 에러로그
(오류 처리 분)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발생한 에러 정보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5.2 로그 생성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5. 로그 관리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0972800" cy="292608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□  대내MCI 에서 로깅은 DB/파일기반으로 기록되며, 기록되는 로그 종류는 다음과 같다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0652760" cy="329184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로그 디렉토리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48840"/>
            <a:ext cx="960120" cy="22860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채널
고객채널
내부채널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2057400"/>
            <a:ext cx="960120" cy="246888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000000"/>
                </a:solidFill>
                <a:latin typeface="맑은 고딕"/>
              </a:rPr>
              <a:t>대내MCI
MCI
Core
Error HDR
Log Manager
DB Log  File 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2148840"/>
            <a:ext cx="960120" cy="22860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업무시스템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7400" y="2834640"/>
            <a:ext cx="914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057400" y="3246120"/>
            <a:ext cx="914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31920" y="2834640"/>
            <a:ext cx="10058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931920" y="3246120"/>
            <a:ext cx="10058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63640" y="1783080"/>
          <a:ext cx="54406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00200"/>
                <a:gridCol w="1188720"/>
                <a:gridCol w="1463040"/>
              </a:tblGrid>
              <a:tr h="45066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Log 홈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로그 디렉토리 구조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로그종류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로그설명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channellog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①입출력로그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현지시간 입출력로그 기록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adapter.log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①입출력로그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현지시간 입출력로그 기록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gateway.log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②시스템로그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현지시간 시스템로그 기록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controller.log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②시스템로그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현지시간 시스템로그 기록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error_handler.log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③ 에러로그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현지시간 에러로그 기록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450672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YYYY.MM.DD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① 입출력로그
② 시스템로그
③ 에러로그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00000"/>
                          </a:solidFill>
                          <a:latin typeface="맑은 고딕"/>
                        </a:rPr>
                        <a:t>1시간 단위로 rollover 된 입출력, 시스템, 에러로그 이관 및 백업 디렉토리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384048"/>
            <a:ext cx="109270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8580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69848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53896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37944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21992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35808"/>
            <a:ext cx="4389120" cy="4572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맑은 고딕"/>
              </a:rPr>
              <a:t>2.1 시스템인터페이스 대상 및 상세
   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970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6285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76088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6013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258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685800"/>
            <a:ext cx="4663440" cy="310896"/>
          </a:xfrm>
          <a:prstGeom prst="rect">
            <a:avLst/>
          </a:prstGeom>
          <a:solidFill>
            <a:srgbClr val="373737"/>
          </a:solidFill>
          <a:ln w="1016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1078992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1472184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865376"/>
            <a:ext cx="4297680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624328"/>
            <a:ext cx="4937760" cy="292608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3017520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8736" y="3410712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5. 로그 관리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0972800" cy="310896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250" b="0">
                <a:solidFill>
                  <a:srgbClr val="000000"/>
                </a:solidFill>
                <a:latin typeface="맑은 고딕"/>
              </a:rPr>
              <a:t>□  로그저장대상, 매체, 작성단위 및 보관주기는 아래와 같으며 KDB산업은행 정책에 따라 변경이 가능하다.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9646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960120"/>
                <a:gridCol w="960120"/>
                <a:gridCol w="960120"/>
                <a:gridCol w="960120"/>
                <a:gridCol w="960120"/>
                <a:gridCol w="960120"/>
                <a:gridCol w="777240"/>
                <a:gridCol w="777240"/>
                <a:gridCol w="777240"/>
                <a:gridCol w="77724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로그 종류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로그 저장 대상
EAI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로그 저장 대상
대내MCI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로그 저장 대상
대외MCI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로그 저장 매체
EAI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로그 저장 매체
대내MCI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로그 저장 매체
대외MCI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로그 작성 단위
EAI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로그 작성 단위
대내MCI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로그 작성 단위
대외MCI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18288" marR="18288" marT="9144" marB="9144">
                    <a:solidFill>
                      <a:srgbClr val="37373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전문 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SRC수신
TGT송신
TGT수신
SRC송신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SRC수신
TGT수신
TGT송신
SRC송신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SRC수신
TGT송신
TGT수신
SRC송신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파일/DB
송수신
전문전체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파일/DB
송수신
전문전체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파일/DB
송수신
전문전체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일 단위
영구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일 단위
영구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일 단위
영구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에러 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오류
처리분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오류
처리분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오류
처리분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파일/DB
전문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파일/DB
전문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파일/DB
전문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일 단위
영구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일 단위
영구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일 단위
영구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시스템
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EAI
내부로그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대내MCI
내부로그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대외MCI
내부로그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파일
평문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파일
평문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파일
평문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일 단위
영구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일 단위
영구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일 단위
영구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384048"/>
            <a:ext cx="109270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8580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69848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53896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37944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21992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35808"/>
            <a:ext cx="4389120" cy="4572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맑은 고딕"/>
              </a:rPr>
              <a:t>2.1 시스템인터페이스 대상 및 상세
   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970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6285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76088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6013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258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85800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1078992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1472184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1865376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624328"/>
            <a:ext cx="4754880" cy="310896"/>
          </a:xfrm>
          <a:prstGeom prst="rect">
            <a:avLst/>
          </a:prstGeom>
          <a:solidFill>
            <a:srgbClr val="373737"/>
          </a:solidFill>
          <a:ln w="1016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3017520"/>
            <a:ext cx="4297680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8736" y="3410712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6. 연계 아키텍처 관리체계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0972800" cy="292608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□  연계업무 개발 프로세스 절차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11109960" cy="5349240"/>
          </a:xfrm>
          <a:prstGeom prst="rect">
            <a:avLst/>
          </a:prstGeom>
          <a:solidFill>
            <a:srgbClr val="F8F8F8"/>
          </a:solidFill>
          <a:ln w="1016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234440"/>
            <a:ext cx="1143000" cy="384048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업무담당
개발자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1618488"/>
            <a:ext cx="0" cy="432511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90472" y="1874519"/>
            <a:ext cx="128016" cy="1920240"/>
          </a:xfrm>
          <a:prstGeom prst="rect">
            <a:avLst/>
          </a:prstGeom>
          <a:solidFill>
            <a:srgbClr val="373737"/>
          </a:solidFill>
          <a:ln w="1016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234440"/>
            <a:ext cx="1143000" cy="384048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MCI/EAI
담당자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03520" y="1618488"/>
            <a:ext cx="0" cy="432511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39512" y="1874519"/>
            <a:ext cx="128016" cy="1920240"/>
          </a:xfrm>
          <a:prstGeom prst="rect">
            <a:avLst/>
          </a:prstGeom>
          <a:solidFill>
            <a:srgbClr val="373737"/>
          </a:solidFill>
          <a:ln w="1016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823959" y="1234440"/>
            <a:ext cx="1143000" cy="384048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연계대상
시스템담당자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0" y="1618488"/>
            <a:ext cx="0" cy="432511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262872" y="1874519"/>
            <a:ext cx="128016" cy="1920240"/>
          </a:xfrm>
          <a:prstGeom prst="rect">
            <a:avLst/>
          </a:prstGeom>
          <a:solidFill>
            <a:srgbClr val="373737"/>
          </a:solidFill>
          <a:ln w="1016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434840"/>
            <a:ext cx="731520" cy="1280160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업무
시스템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4206240"/>
            <a:ext cx="822960" cy="1463040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MCI/
EAI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4389120"/>
            <a:ext cx="822960" cy="1417320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연계
대상
시스템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3520440"/>
            <a:ext cx="868680" cy="365760"/>
          </a:xfrm>
          <a:prstGeom prst="rect">
            <a:avLst/>
          </a:prstGeom>
          <a:solidFill>
            <a:srgbClr val="373737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EIMS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00200" y="2057400"/>
            <a:ext cx="3703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45920" y="1911095"/>
            <a:ext cx="3611879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맑은 고딕"/>
              </a:rPr>
              <a:t>1) 연계 요건 정의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0" y="2377440"/>
            <a:ext cx="4023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49240" y="2231136"/>
            <a:ext cx="3931920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맑은 고딕"/>
              </a:rPr>
              <a:t>2) 연계 요건 협의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303520" y="2697480"/>
            <a:ext cx="4023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49240" y="2551176"/>
            <a:ext cx="3931920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맑은 고딕"/>
              </a:rPr>
              <a:t>3) 연계 방안 정의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600200" y="2971800"/>
            <a:ext cx="3703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45920" y="2825496"/>
            <a:ext cx="3611879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맑은 고딕"/>
              </a:rPr>
              <a:t>4) 연계 방안 협의 및 확정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00200" y="3520440"/>
            <a:ext cx="1280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45920" y="3374136"/>
            <a:ext cx="1188719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맑은 고딕"/>
              </a:rPr>
              <a:t>5) 연계 정보 등록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80360" y="3977639"/>
            <a:ext cx="2423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926079" y="3831335"/>
            <a:ext cx="2331720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맑은 고딕"/>
              </a:rPr>
              <a:t>6) 연계 정보 적용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03520" y="4343400"/>
            <a:ext cx="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49240" y="4197096"/>
            <a:ext cx="1097280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맑은 고딕"/>
              </a:rPr>
              <a:t>7) 거래요건 적용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600200" y="4983480"/>
            <a:ext cx="3703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645920" y="4837176"/>
            <a:ext cx="3611879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맑은 고딕"/>
              </a:rPr>
              <a:t>8) 단위 테스트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600200" y="5532120"/>
            <a:ext cx="77266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45920" y="5385816"/>
            <a:ext cx="7635240" cy="16459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맑은 고딕"/>
              </a:rPr>
              <a:t>9) 통합 테스트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2267712"/>
            <a:ext cx="1417320" cy="640080"/>
          </a:xfrm>
          <a:prstGeom prst="rect">
            <a:avLst/>
          </a:prstGeom>
          <a:solidFill>
            <a:srgbClr val="F8F8F8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0">
                <a:solidFill>
                  <a:srgbClr val="000000"/>
                </a:solidFill>
                <a:latin typeface="맑은 고딕"/>
              </a:rPr>
              <a:t>TOBE 신규 인터페이스 요건 시에만 적용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384048"/>
            <a:ext cx="1092708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8580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1.  인터페이스 기본정책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69848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53896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1.2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37944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1.3 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21992"/>
            <a:ext cx="402336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1.4 예외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2.  연계 아키텍처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35808"/>
            <a:ext cx="4389120" cy="4572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맑은 고딕"/>
              </a:rPr>
              <a:t>2.1 시스템인터페이스 대상 및 상세
   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466344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3.  연계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970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3.1 표준전문 레이아웃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6285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3.2 인터페이스 ID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76088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맑은 고딕"/>
              </a:rPr>
              <a:t>4.  유형별 인터페이스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6013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4.1 인터페이스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25896"/>
            <a:ext cx="4114800" cy="256032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맑은 고딕"/>
              </a:rPr>
              <a:t>4.2 거래처리 패턴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85800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5.  로그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1078992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5.1 로그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1472184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5.2 로그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1865376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5.3 로그 관리 정책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624328"/>
            <a:ext cx="4754880" cy="310896"/>
          </a:xfrm>
          <a:prstGeom prst="rect">
            <a:avLst/>
          </a:prstGeom>
          <a:solidFill>
            <a:srgbClr val="373737"/>
          </a:solidFill>
          <a:ln w="1016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</a:rPr>
              <a:t>6.  연계 아키텍처 관리체계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3017520"/>
            <a:ext cx="4572000" cy="27432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6.1 개발 프로세스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410712"/>
            <a:ext cx="4297680" cy="292608"/>
          </a:xfrm>
          <a:prstGeom prst="rect">
            <a:avLst/>
          </a:prstGeom>
          <a:solidFill>
            <a:srgbClr val="EEEEEE"/>
          </a:solidFill>
          <a:ln w="1016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6. 연계 아키텍처 관리체계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0972800" cy="310896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□  내부표준전문 변경관리 ( 시스템 헤더부 신규/변경 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417320" cy="32004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188720"/>
            <a:ext cx="9784080" cy="32004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41732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선행 프로세스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15087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" y="2423160"/>
            <a:ext cx="141732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요청 업무팀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24231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0040" y="3337560"/>
            <a:ext cx="141732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기술혁신위원회
(표준전문검토자)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37360" y="33375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20040" y="4251960"/>
            <a:ext cx="141732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EAMS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37360" y="42519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0040" y="5166360"/>
            <a:ext cx="141732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어플리케이션
아키텍트
(표준전문관리자)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37360" y="51663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37360" y="60807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920240" y="192024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
전문신규/변경
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749039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2
아키텍처영역
검토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2402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5
전문요구사항
검토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1546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5
전문요구사항
검토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0690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5
전문요구사항
검토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4688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7
검토회의
진행 및
적용일정
수립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306324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8
타당성
검토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480060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9
요청팀으로
미반영 통보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210312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10
전문변경의뢰서
작성/변경요청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38404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11
전문변경의뢰서
전달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470916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12
전문변경의뢰서
수신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47548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13
내부표준전문
설계반영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47548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14
내부표준전문
반영일정통보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22402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15
내부표준전문
변경사항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347472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15
내부표준전문
변경사항 확인</a:t>
            </a:r>
          </a:p>
        </p:txBody>
      </p:sp>
      <p:sp>
        <p:nvSpPr>
          <p:cNvPr id="34" name="Diamond 33"/>
          <p:cNvSpPr/>
          <p:nvPr/>
        </p:nvSpPr>
        <p:spPr>
          <a:xfrm>
            <a:off x="9784080" y="2880360"/>
            <a:ext cx="548640" cy="438912"/>
          </a:xfrm>
          <a:prstGeom prst="diamond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80">
                <a:latin typeface="맑은 고딕"/>
              </a:rPr>
              <a:t>수정사항
수용여부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04120" y="49834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17
EIMS전문적용
및배포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22402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19
업무시스템설계
반영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347472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19
업무시스템설계
반영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0" y="205740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18
변경건확인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0" y="329184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18
변경건확인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240280" y="2304288"/>
            <a:ext cx="0" cy="1444751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40280" y="4133087"/>
            <a:ext cx="105156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11880" y="2651760"/>
            <a:ext cx="1051560" cy="141732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303520" y="2743200"/>
            <a:ext cx="594360" cy="50292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172200" y="2267712"/>
            <a:ext cx="640080" cy="978408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32320" y="2487168"/>
            <a:ext cx="0" cy="1353312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132320" y="4224528"/>
            <a:ext cx="0" cy="484632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06640" y="4892040"/>
            <a:ext cx="50292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21040" y="4892040"/>
            <a:ext cx="3200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89720" y="2423160"/>
            <a:ext cx="594360" cy="649224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0012680" y="2395728"/>
            <a:ext cx="228600" cy="658368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561320" y="2212848"/>
            <a:ext cx="411480" cy="18288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6. 연계 아키텍처 관리체계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0972800" cy="310896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□  내부표준전문 변경관리 ( 시스템 헤더부 신규/변경 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4709160"/>
                <a:gridCol w="2011680"/>
                <a:gridCol w="1097280"/>
              </a:tblGrid>
              <a:tr h="25831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00000"/>
                          </a:solidFill>
                          <a:latin typeface="맑은 고딕"/>
                        </a:rPr>
                        <a:t>프로세스명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00000"/>
                          </a:solidFill>
                          <a:latin typeface="맑은 고딕"/>
                        </a:rPr>
                        <a:t>정의 및 설명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00000"/>
                          </a:solidFill>
                          <a:latin typeface="맑은 고딕"/>
                        </a:rPr>
                        <a:t>수행팀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00000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1. 전문 신규/변경 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내부 표준 전문 필드 추가 및 변경 요청 함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2. 아키텍처 영역 검토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해당 영역과 관련 있는 아키텍처 영역(AA/DA/TA/SA) 검토 요청 함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EAMS 담당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3. 전문 신규/변경 필요성 검토 및 영향도 파악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내부 표준 전문 항목에 대한 요구내용 파악 및 영향도 파악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4. 전문 검토 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요청팀/기술혁신위원회 관련자/관련팀 으로 전문 검토 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5. 전문 요구사항 검토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전문 변경 요구사항 검토 및 표준전문 검토 회의 일자 확인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요청팀/기술혁신위원회/관련팀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6. 기술혁신위원회 소집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내부 표준 전문 신규/변경 타당성 검토를 위한 위원회 소집 통보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7. 검토회의 진행 및 적용일정 수립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관련팀과 전문검토 및 적용일정 수립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요청팀/기술혁신위원회/관련팀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8. 타당성 검토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요청된 전문항목에 대한 타당성 검토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요청팀/기술혁신위원회/관련팀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9. 요청팀으로 미반영 통보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전문 변경에 대한 타당성 의견 통지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10. 전문변경의뢰서 작성 및 반영요청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반영 전문필드 정의 및 반영 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11. 전문변경의뢰서 전달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전문변경의뢰서 전달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EAMS 담당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12. 전문변경의뢰서 수신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전문 변경 의뢰서 수신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13. 내부표준전문 설계반영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내부 표준 전문 산출물 수정 반영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14. 내부표준전문 반영일정 통보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전행 내부 표준 전문 반영 일정 통보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15. 내부표준전문 변경사항 확인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관련팀에서 내부표준 변경사항 확인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16. 수정사항 수용여부 판단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수정사항 수용여부 판단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17. EIMS 전문 적용 및 배포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통합전문관리 시스템에 전문 등록 및 배포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18. 변경 건 확인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테스트를 통한 변경 확인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요청팀/관련팀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19. 업무 시스템 설계반영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전문 변경에 따른 업무 설계 반영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요청팀/관련팀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6. 연계 아키텍처 관리체계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0972800" cy="310896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□  내부표준전문 변경관리 ( 거래 헤더부 신규/변경 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417320" cy="32004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188720"/>
            <a:ext cx="9784080" cy="320040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41732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선행 프로세스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15087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" y="2423160"/>
            <a:ext cx="141732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요청 업무팀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24231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0040" y="3337560"/>
            <a:ext cx="141732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관련 업무팀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37360" y="33375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20040" y="4251960"/>
            <a:ext cx="141732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EAMS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37360" y="42519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0040" y="5166360"/>
            <a:ext cx="1417320" cy="914400"/>
          </a:xfrm>
          <a:prstGeom prst="rect">
            <a:avLst/>
          </a:prstGeom>
          <a:solidFill>
            <a:srgbClr val="F8F8F8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어플리케이션
아키텍트
(표준전문관리자)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37360" y="51663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37360" y="6080760"/>
            <a:ext cx="9784080" cy="0"/>
          </a:xfrm>
          <a:prstGeom prst="line">
            <a:avLst/>
          </a:prstGeom>
          <a:ln w="8890">
            <a:solidFill>
              <a:srgbClr val="A5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920240" y="192024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
전문신규/변경
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749039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2
아키텍처영역
검토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2402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5
전문요구사항
검토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1546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5
전문요구사항
검토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0690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5
전문요구사항
검토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4688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7
검토회의
진행 및
적용일정
수립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306324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8
타당성
검토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480060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9
요청팀으로
미반영 통보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210312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10
전문변경의뢰서
작성/변경요청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38404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11
전문변경의뢰서
전달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470916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12
전문변경의뢰서
수신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47548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13
내부표준전문
설계반영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47548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14
내부표준전문
반영일정통보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22402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15
내부표준전문
변경사항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347472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15
내부표준전문
변경사항 확인</a:t>
            </a:r>
          </a:p>
        </p:txBody>
      </p:sp>
      <p:sp>
        <p:nvSpPr>
          <p:cNvPr id="34" name="Diamond 33"/>
          <p:cNvSpPr/>
          <p:nvPr/>
        </p:nvSpPr>
        <p:spPr>
          <a:xfrm>
            <a:off x="9784080" y="2880360"/>
            <a:ext cx="548640" cy="438912"/>
          </a:xfrm>
          <a:prstGeom prst="diamond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80">
                <a:latin typeface="맑은 고딕"/>
              </a:rPr>
              <a:t>수정사항
수용여부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04120" y="49834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17
EIMS전문적용
및배포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224028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19
업무시스템설계
반영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347472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19
업무시스템설계
반영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0" y="205740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18
변경건확인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0" y="3291840"/>
            <a:ext cx="640080" cy="384048"/>
          </a:xfrm>
          <a:prstGeom prst="rect">
            <a:avLst/>
          </a:prstGeom>
          <a:solidFill>
            <a:srgbClr val="EEEEEE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0">
                <a:solidFill>
                  <a:srgbClr val="000000"/>
                </a:solidFill>
                <a:latin typeface="맑은 고딕"/>
              </a:rPr>
              <a:t>18
변경건확인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240280" y="2304288"/>
            <a:ext cx="0" cy="1444751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40280" y="4133087"/>
            <a:ext cx="105156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11880" y="2651760"/>
            <a:ext cx="1051560" cy="141732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303520" y="2743200"/>
            <a:ext cx="594360" cy="50292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172200" y="2267712"/>
            <a:ext cx="640080" cy="978408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32320" y="2487168"/>
            <a:ext cx="0" cy="1353312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132320" y="4224528"/>
            <a:ext cx="0" cy="484632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06640" y="4892040"/>
            <a:ext cx="50292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21040" y="4892040"/>
            <a:ext cx="3200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89720" y="2423160"/>
            <a:ext cx="594360" cy="649224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0012680" y="2395728"/>
            <a:ext cx="228600" cy="658368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561320" y="2212848"/>
            <a:ext cx="411480" cy="18288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498079" cy="329184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6.2 표준전문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91440"/>
            <a:ext cx="2971800" cy="228600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맑은 고딕"/>
              </a:rPr>
              <a:t>6. 연계 아키텍처 관리체계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530352"/>
            <a:ext cx="11567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0972800" cy="310896"/>
          </a:xfrm>
          <a:prstGeom prst="rect">
            <a:avLst/>
          </a:prstGeom>
          <a:noFill/>
        </p:spPr>
        <p:txBody>
          <a:bodyPr wrap="square" anchor="t" lIns="9144" rIns="9144" tIns="4572" bIns="4572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□  내부표준전문 변경관리 ( 거래 헤더부 신규/변경 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4709160"/>
                <a:gridCol w="2011680"/>
                <a:gridCol w="1097280"/>
              </a:tblGrid>
              <a:tr h="25831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00000"/>
                          </a:solidFill>
                          <a:latin typeface="맑은 고딕"/>
                        </a:rPr>
                        <a:t>프로세스명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00000"/>
                          </a:solidFill>
                          <a:latin typeface="맑은 고딕"/>
                        </a:rPr>
                        <a:t>정의 및 설명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00000"/>
                          </a:solidFill>
                          <a:latin typeface="맑은 고딕"/>
                        </a:rPr>
                        <a:t>수행팀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00000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18288" marR="18288" marT="9144" marB="9144">
                    <a:solidFill>
                      <a:srgbClr val="EEEEEE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1. 전문 신규/변경 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내부 표준 전문 필드 추가 및 변경 요청 함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2. 아키텍처 영역 검토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해당 영역과 관련 있는 아키텍처 영역(AA/DA/TA/SA) 검토 요청 함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EAMS 담당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3. 전문 신규/변경 필요성 검토 및 영향도 파악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내부 표준 전문 항목에 대한 요구내용 파악 및 영향도 파악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4. 전문 검토 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요청팀/기술혁신위원회 관련자/관련팀 으로 전문 검토 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5. 전문 요구사항 검토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전문 변경 요구사항 검토 및 표준전문 검토 회의 일자 확인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요청팀/기술혁신위원회/관련팀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6. 기술혁신위원회 소집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내부 표준 전문 신규/변경 타당성 검토를 위한 위원회 소집 통보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7. 검토회의 진행 및 적용일정 수립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관련팀과 전문검토 및 적용일정 수립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요청팀/기술혁신위원회/관련팀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8. 타당성 검토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요청된 전문항목에 대한 타당성 검토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요청팀/기술혁신위원회/관련팀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9. 요청팀으로 미반영 통보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전문 변경에 대한 타당성 의견 통지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10. 전문변경의뢰서 작성 및 반영요청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반영 전문필드 정의 및 반영 요청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11. 전문변경의뢰서 전달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전문변경의뢰서 전달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EAMS 담당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12. 전문변경의뢰서 수신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전문 변경 의뢰서 수신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13. 내부표준전문 설계반영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내부 표준 전문 산출물 수정 반영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14. 내부표준전문 반영일정 통보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전행 내부 표준 전문 반영 일정 통보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15. 내부표준전문 변경사항 확인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관련팀에서 내부표준 변경사항 확인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16. 수정사항 수용여부 판단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수정사항 수용여부 판단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17. EIMS 전문 적용 및 배포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통합전문관리 시스템에 전문 등록 및 배포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AA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18. 변경 건 확인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테스트를 통한 변경 확인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요청팀/관련팀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19. 업무 시스템 설계반영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• 전문 변경에 따른 업무 설계 반영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>요청팀/관련팀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NSIGHT 시스템간 인터페이스 아키텍처 도형기반</dc:title>
  <dc:subject>NSIGHT 시스템간 인터페이스 아키텍처</dc:subject>
  <dc:creator>OpenAI</dc:creator>
  <cp:lastModifiedBy>OpenAI</cp:lastModifiedBy>
  <cp:revision>1</cp:revision>
  <dcterms:created xsi:type="dcterms:W3CDTF">2026-08-28T00:53:06Z</dcterms:created>
  <dcterms:modified xsi:type="dcterms:W3CDTF">2026-08-28T00:53:06Z</dcterms:modified>
</cp:coreProperties>
</file>