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7821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39728" y="18288"/>
            <a:ext cx="246888" cy="256032"/>
          </a:xfrm>
          <a:prstGeom prst="rect">
            <a:avLst/>
          </a:prstGeom>
          <a:solidFill>
            <a:srgbClr val="E87838"/>
          </a:solidFill>
          <a:ln w="10160">
            <a:solidFill>
              <a:srgbClr val="E87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" y="9144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3C3C3C"/>
                </a:solidFill>
                <a:latin typeface="Malgun Gothic"/>
              </a:rPr>
              <a:t>관리서버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73152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82828"/>
                </a:solidFill>
                <a:latin typeface="Malgun Gothic"/>
              </a:rPr>
              <a:t>채널통합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73152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82828"/>
                </a:solidFill>
                <a:latin typeface="Malgun Gothic"/>
              </a:rPr>
              <a:t>유관시스템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37160"/>
            <a:ext cx="0" cy="73152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" y="274320"/>
            <a:ext cx="1051560" cy="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353312" y="256032"/>
            <a:ext cx="411480" cy="201168"/>
          </a:xfrm>
          <a:prstGeom prst="rect">
            <a:avLst/>
          </a:prstGeom>
          <a:solidFill>
            <a:srgbClr val="EBEEF0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4320"/>
            <a:ext cx="374904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C7E3C"/>
                </a:solidFill>
                <a:latin typeface="Malgun Gothic"/>
              </a:rPr>
              <a:t>MCA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4752" y="493776"/>
            <a:ext cx="384048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53896" y="512064"/>
            <a:ext cx="36576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단말거래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4288" y="256032"/>
            <a:ext cx="457200" cy="146304"/>
          </a:xfrm>
          <a:prstGeom prst="rect">
            <a:avLst/>
          </a:prstGeom>
          <a:solidFill>
            <a:srgbClr val="224CAA"/>
          </a:solidFill>
          <a:ln w="10160">
            <a:solidFill>
              <a:srgbClr val="22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3432" y="256032"/>
            <a:ext cx="438912" cy="128016"/>
          </a:xfrm>
          <a:prstGeom prst="rect">
            <a:avLst/>
          </a:prstGeom>
          <a:solidFill>
            <a:srgbClr val="224CAA"/>
          </a:solidFill>
          <a:ln w="10160">
            <a:solidFill>
              <a:srgbClr val="22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계정거래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8" y="310896"/>
            <a:ext cx="411480" cy="411480"/>
          </a:xfrm>
          <a:prstGeom prst="rect">
            <a:avLst/>
          </a:prstGeom>
          <a:solidFill>
            <a:srgbClr val="EEE4A9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6368" y="347472"/>
            <a:ext cx="411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C3C3C"/>
                </a:solidFill>
                <a:latin typeface="Malgun Gothic"/>
              </a:rPr>
              <a:t>계정
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9872" y="310896"/>
            <a:ext cx="411480" cy="411480"/>
          </a:xfrm>
          <a:prstGeom prst="rect">
            <a:avLst/>
          </a:prstGeom>
          <a:solidFill>
            <a:srgbClr val="EEE4A9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347472"/>
            <a:ext cx="411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C3C3C"/>
                </a:solidFill>
                <a:latin typeface="Malgun Gothic"/>
              </a:rPr>
              <a:t>계정
연계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51392" y="310896"/>
            <a:ext cx="411480" cy="411480"/>
          </a:xfrm>
          <a:prstGeom prst="rect">
            <a:avLst/>
          </a:prstGeom>
          <a:solidFill>
            <a:srgbClr val="EEE4A9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51392" y="347472"/>
            <a:ext cx="411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C3C3C"/>
                </a:solidFill>
                <a:latin typeface="Malgun Gothic"/>
              </a:rPr>
              <a:t>단위
업무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82912" y="310896"/>
            <a:ext cx="41148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2912" y="347472"/>
            <a:ext cx="411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C3C3C"/>
                </a:solidFill>
                <a:latin typeface="Malgun Gothic"/>
              </a:rPr>
              <a:t>BCV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082528" y="228600"/>
            <a:ext cx="274320" cy="2487168"/>
          </a:xfrm>
          <a:prstGeom prst="rect">
            <a:avLst/>
          </a:prstGeom>
          <a:solidFill>
            <a:srgbClr val="36806E"/>
          </a:solidFill>
          <a:ln w="10160">
            <a:solidFill>
              <a:srgbClr val="368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대외 MCA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2568" y="164592"/>
            <a:ext cx="502920" cy="21031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2568" y="18288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NH생명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02568" y="420624"/>
            <a:ext cx="502920" cy="21031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02568" y="43891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NH손해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02568" y="676656"/>
            <a:ext cx="502920" cy="21031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02568" y="694944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NH멤버스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02568" y="932688"/>
            <a:ext cx="502920" cy="21031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02568" y="950976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농협상호금
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02568" y="1188720"/>
            <a:ext cx="502920" cy="21031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02568" y="120700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NH경제지주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2568" y="1444752"/>
            <a:ext cx="502920" cy="21031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2568" y="146304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KT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02568" y="1700784"/>
            <a:ext cx="502920" cy="21031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02568" y="171907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Nice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02568" y="1956816"/>
            <a:ext cx="502920" cy="21031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02568" y="1975104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Ko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68112" y="804672"/>
            <a:ext cx="0" cy="420624"/>
          </a:xfrm>
          <a:prstGeom prst="line">
            <a:avLst/>
          </a:prstGeom>
          <a:ln w="30480">
            <a:solidFill>
              <a:srgbClr val="224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468112" y="804672"/>
            <a:ext cx="2048256" cy="0"/>
          </a:xfrm>
          <a:prstGeom prst="line">
            <a:avLst/>
          </a:prstGeom>
          <a:ln w="30480">
            <a:solidFill>
              <a:srgbClr val="224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120640" y="603504"/>
            <a:ext cx="438912" cy="228600"/>
          </a:xfrm>
          <a:prstGeom prst="rect">
            <a:avLst/>
          </a:prstGeom>
          <a:solidFill>
            <a:srgbClr val="4C7E3C"/>
          </a:solidFill>
          <a:ln w="10160">
            <a:solidFill>
              <a:srgbClr val="4C7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GSE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4960" y="841248"/>
            <a:ext cx="210312" cy="210312"/>
          </a:xfrm>
          <a:prstGeom prst="rect">
            <a:avLst/>
          </a:prstGeom>
          <a:solidFill>
            <a:srgbClr val="E87838"/>
          </a:solidFill>
          <a:ln w="10160">
            <a:solidFill>
              <a:srgbClr val="E87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" y="1508760"/>
            <a:ext cx="41148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152704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통합업무
시스템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26464" y="1609344"/>
            <a:ext cx="438912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26464" y="162763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미니싱글뷰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728" y="2029968"/>
            <a:ext cx="438912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" y="2048256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인증인가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68680" y="2359152"/>
            <a:ext cx="438912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" y="237744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정보단말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" y="2542032"/>
            <a:ext cx="36576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" y="25603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상품뷰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0120" y="3456432"/>
            <a:ext cx="402336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0120" y="347472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Package
UI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5623560"/>
            <a:ext cx="36576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2880" y="56418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고객
행태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4592" y="6181344"/>
            <a:ext cx="384048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64592" y="6199631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SMS
PUSH
MAIL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8880" y="987552"/>
            <a:ext cx="27889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01568" y="100584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82828"/>
                </a:solidFill>
                <a:latin typeface="Malgun Gothic"/>
              </a:rPr>
              <a:t>어플리케이션 Domain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86784" y="1115568"/>
            <a:ext cx="50292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4CAA"/>
                </a:solidFill>
                <a:latin typeface="Malgun Gothic"/>
              </a:rPr>
              <a:t>마케팅플랫폼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64992" y="1399032"/>
            <a:ext cx="658368" cy="530352"/>
          </a:xfrm>
          <a:prstGeom prst="rect">
            <a:avLst/>
          </a:prstGeom>
          <a:solidFill>
            <a:srgbClr val="EEE4A9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64992" y="1417320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3C3C3C"/>
                </a:solidFill>
                <a:latin typeface="Malgun Gothic"/>
              </a:rPr>
              <a:t>미니싱글뷰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19856" y="1618488"/>
            <a:ext cx="548640" cy="11887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19856" y="1627632"/>
            <a:ext cx="54864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Service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83280" y="1755648"/>
            <a:ext cx="621792" cy="118872"/>
          </a:xfrm>
          <a:prstGeom prst="rect">
            <a:avLst/>
          </a:prstGeom>
          <a:solidFill>
            <a:srgbClr val="193C82"/>
          </a:solidFill>
          <a:ln w="10160">
            <a:solidFill>
              <a:srgbClr val="19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383280" y="1755648"/>
            <a:ext cx="621792" cy="100584"/>
          </a:xfrm>
          <a:prstGeom prst="rect">
            <a:avLst/>
          </a:prstGeom>
          <a:solidFill>
            <a:srgbClr val="193C82"/>
          </a:solidFill>
          <a:ln w="10160">
            <a:solidFill>
              <a:srgbClr val="19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NH Cloud FWK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83280" y="1883664"/>
            <a:ext cx="621792" cy="109728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383280" y="1874519"/>
            <a:ext cx="621792" cy="91440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WAS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60520" y="1399032"/>
            <a:ext cx="658368" cy="530352"/>
          </a:xfrm>
          <a:prstGeom prst="rect">
            <a:avLst/>
          </a:prstGeom>
          <a:solidFill>
            <a:srgbClr val="EEE4A9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60520" y="1417320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3C3C3C"/>
                </a:solidFill>
                <a:latin typeface="Malgun Gothic"/>
              </a:rPr>
              <a:t>마케팅플랫폼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15383" y="1618488"/>
            <a:ext cx="548640" cy="11887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15383" y="1627632"/>
            <a:ext cx="54864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Service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78807" y="1755648"/>
            <a:ext cx="621792" cy="118872"/>
          </a:xfrm>
          <a:prstGeom prst="rect">
            <a:avLst/>
          </a:prstGeom>
          <a:solidFill>
            <a:srgbClr val="193C82"/>
          </a:solidFill>
          <a:ln w="10160">
            <a:solidFill>
              <a:srgbClr val="19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178807" y="1755648"/>
            <a:ext cx="621792" cy="100584"/>
          </a:xfrm>
          <a:prstGeom prst="rect">
            <a:avLst/>
          </a:prstGeom>
          <a:solidFill>
            <a:srgbClr val="193C82"/>
          </a:solidFill>
          <a:ln w="10160">
            <a:solidFill>
              <a:srgbClr val="19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NH Cloud FWK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78807" y="1883664"/>
            <a:ext cx="621792" cy="109728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178807" y="1874519"/>
            <a:ext cx="621792" cy="91440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WAS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21992" y="1115568"/>
            <a:ext cx="210312" cy="210312"/>
          </a:xfrm>
          <a:prstGeom prst="rect">
            <a:avLst/>
          </a:prstGeom>
          <a:solidFill>
            <a:srgbClr val="E87838"/>
          </a:solidFill>
          <a:ln w="10160">
            <a:solidFill>
              <a:srgbClr val="E87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041648" y="1783080"/>
            <a:ext cx="210312" cy="210312"/>
          </a:xfrm>
          <a:prstGeom prst="rect">
            <a:avLst/>
          </a:prstGeom>
          <a:solidFill>
            <a:srgbClr val="E87838"/>
          </a:solidFill>
          <a:ln w="10160">
            <a:solidFill>
              <a:srgbClr val="E87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01952" y="2395728"/>
            <a:ext cx="320040" cy="164592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901952" y="2395728"/>
            <a:ext cx="320040" cy="128016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HTTP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532888" y="2395728"/>
            <a:ext cx="320040" cy="164592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532888" y="2395728"/>
            <a:ext cx="320040" cy="128016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JSON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35808" y="2395728"/>
            <a:ext cx="320040" cy="164592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035808" y="2395728"/>
            <a:ext cx="320040" cy="128016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GUID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21992" y="2258568"/>
            <a:ext cx="210312" cy="210312"/>
          </a:xfrm>
          <a:prstGeom prst="rect">
            <a:avLst/>
          </a:prstGeom>
          <a:solidFill>
            <a:srgbClr val="E87838"/>
          </a:solidFill>
          <a:ln w="10160">
            <a:solidFill>
              <a:srgbClr val="E87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560320" y="2770632"/>
            <a:ext cx="603504" cy="548640"/>
          </a:xfrm>
          <a:prstGeom prst="rect">
            <a:avLst/>
          </a:prstGeom>
          <a:solidFill>
            <a:srgbClr val="EEE4A9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560320" y="2779775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3C3C3C"/>
                </a:solidFill>
                <a:latin typeface="Malgun Gothic"/>
              </a:rPr>
              <a:t>BI Portal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624327" y="2935224"/>
            <a:ext cx="475488" cy="109728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24327" y="2935224"/>
            <a:ext cx="475488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3C3C3C"/>
                </a:solidFill>
                <a:latin typeface="Malgun Gothic"/>
              </a:rPr>
              <a:t>DataEye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587751" y="3054096"/>
            <a:ext cx="548640" cy="109728"/>
          </a:xfrm>
          <a:prstGeom prst="rect">
            <a:avLst/>
          </a:prstGeom>
          <a:solidFill>
            <a:srgbClr val="193C82"/>
          </a:solidFill>
          <a:ln w="10160">
            <a:solidFill>
              <a:srgbClr val="19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587751" y="3054096"/>
            <a:ext cx="548640" cy="91440"/>
          </a:xfrm>
          <a:prstGeom prst="rect">
            <a:avLst/>
          </a:prstGeom>
          <a:solidFill>
            <a:srgbClr val="193C82"/>
          </a:solidFill>
          <a:ln w="10160">
            <a:solidFill>
              <a:srgbClr val="19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Spring Boot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587751" y="3172968"/>
            <a:ext cx="548640" cy="109728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587751" y="3163824"/>
            <a:ext cx="548640" cy="91440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WAS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419856" y="2770632"/>
            <a:ext cx="603504" cy="548640"/>
          </a:xfrm>
          <a:prstGeom prst="rect">
            <a:avLst/>
          </a:prstGeom>
          <a:solidFill>
            <a:srgbClr val="DEE9BE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419856" y="2779775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3C3C3C"/>
                </a:solidFill>
                <a:latin typeface="Malgun Gothic"/>
              </a:rPr>
              <a:t>신용실적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483864" y="2935224"/>
            <a:ext cx="475488" cy="109728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483864" y="2935224"/>
            <a:ext cx="475488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3C3C3C"/>
                </a:solidFill>
                <a:latin typeface="Malgun Gothic"/>
              </a:rPr>
              <a:t>Service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447288" y="3054096"/>
            <a:ext cx="548640" cy="109728"/>
          </a:xfrm>
          <a:prstGeom prst="rect">
            <a:avLst/>
          </a:prstGeom>
          <a:solidFill>
            <a:srgbClr val="193C82"/>
          </a:solidFill>
          <a:ln w="10160">
            <a:solidFill>
              <a:srgbClr val="19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447288" y="3054096"/>
            <a:ext cx="548640" cy="91440"/>
          </a:xfrm>
          <a:prstGeom prst="rect">
            <a:avLst/>
          </a:prstGeom>
          <a:solidFill>
            <a:srgbClr val="193C82"/>
          </a:solidFill>
          <a:ln w="10160">
            <a:solidFill>
              <a:srgbClr val="19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NH Cloud FWK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447288" y="3172968"/>
            <a:ext cx="548640" cy="109728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447288" y="3163824"/>
            <a:ext cx="548640" cy="91440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WAS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261104" y="2770632"/>
            <a:ext cx="603504" cy="548640"/>
          </a:xfrm>
          <a:prstGeom prst="rect">
            <a:avLst/>
          </a:prstGeom>
          <a:solidFill>
            <a:srgbClr val="EEE4A9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261104" y="2779775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3C3C3C"/>
                </a:solidFill>
                <a:latin typeface="Malgun Gothic"/>
              </a:rPr>
              <a:t>Self BI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325112" y="2935224"/>
            <a:ext cx="475488" cy="109728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325112" y="2935224"/>
            <a:ext cx="475488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3C3C3C"/>
                </a:solidFill>
                <a:latin typeface="Malgun Gothic"/>
              </a:rPr>
              <a:t>Service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288536" y="3054096"/>
            <a:ext cx="548640" cy="109728"/>
          </a:xfrm>
          <a:prstGeom prst="rect">
            <a:avLst/>
          </a:prstGeom>
          <a:solidFill>
            <a:srgbClr val="193C82"/>
          </a:solidFill>
          <a:ln w="10160">
            <a:solidFill>
              <a:srgbClr val="19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288536" y="3054096"/>
            <a:ext cx="548640" cy="91440"/>
          </a:xfrm>
          <a:prstGeom prst="rect">
            <a:avLst/>
          </a:prstGeom>
          <a:solidFill>
            <a:srgbClr val="193C82"/>
          </a:solidFill>
          <a:ln w="10160">
            <a:solidFill>
              <a:srgbClr val="19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Engine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288536" y="3172968"/>
            <a:ext cx="548640" cy="109728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288536" y="3163824"/>
            <a:ext cx="548640" cy="91440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WAS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61688" y="2642616"/>
            <a:ext cx="256032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4CAA"/>
                </a:solidFill>
                <a:latin typeface="Malgun Gothic"/>
              </a:rPr>
              <a:t>BI 포탈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578608" y="3849624"/>
            <a:ext cx="640080" cy="548640"/>
          </a:xfrm>
          <a:prstGeom prst="rect">
            <a:avLst/>
          </a:prstGeom>
          <a:solidFill>
            <a:srgbClr val="EBEEF0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578608" y="3867911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3C3C3C"/>
                </a:solidFill>
                <a:latin typeface="Malgun Gothic"/>
              </a:rPr>
              <a:t>비즈메타/데이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651760" y="4041648"/>
            <a:ext cx="493776" cy="109728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651760" y="4041648"/>
            <a:ext cx="493776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3C3C3C"/>
                </a:solidFill>
                <a:latin typeface="Malgun Gothic"/>
              </a:rPr>
              <a:t>터품질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615184" y="4178808"/>
            <a:ext cx="566928" cy="109728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615184" y="4169663"/>
            <a:ext cx="566928" cy="91440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WAS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392424" y="3849624"/>
            <a:ext cx="640080" cy="548640"/>
          </a:xfrm>
          <a:prstGeom prst="rect">
            <a:avLst/>
          </a:prstGeom>
          <a:solidFill>
            <a:srgbClr val="EBEEF0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392424" y="3867911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3C3C3C"/>
                </a:solidFill>
                <a:latin typeface="Malgun Gothic"/>
              </a:rPr>
              <a:t>데이터흐름관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465576" y="4041648"/>
            <a:ext cx="493776" cy="109728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465576" y="4041648"/>
            <a:ext cx="493776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3C3C3C"/>
                </a:solidFill>
                <a:latin typeface="Malgun Gothic"/>
              </a:rPr>
              <a:t>리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429000" y="4178808"/>
            <a:ext cx="566928" cy="109728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429000" y="4169663"/>
            <a:ext cx="566928" cy="91440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WAS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498848" y="3822191"/>
            <a:ext cx="640080" cy="548640"/>
          </a:xfrm>
          <a:prstGeom prst="rect">
            <a:avLst/>
          </a:prstGeom>
          <a:solidFill>
            <a:srgbClr val="DEE9BE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498848" y="3840479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3C3C3C"/>
                </a:solidFill>
                <a:latin typeface="Malgun Gothic"/>
              </a:rPr>
              <a:t>OLAP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572000" y="4014215"/>
            <a:ext cx="493776" cy="109728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572000" y="4014215"/>
            <a:ext cx="493776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3C3C3C"/>
                </a:solidFill>
                <a:latin typeface="Malgun Gothic"/>
              </a:rPr>
              <a:t>Service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535424" y="4151376"/>
            <a:ext cx="566928" cy="109728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535424" y="4142231"/>
            <a:ext cx="566928" cy="91440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WAS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498848" y="4370832"/>
            <a:ext cx="640080" cy="548640"/>
          </a:xfrm>
          <a:prstGeom prst="rect">
            <a:avLst/>
          </a:prstGeom>
          <a:solidFill>
            <a:srgbClr val="DEE9BE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498848" y="4389120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3C3C3C"/>
                </a:solidFill>
                <a:latin typeface="Malgun Gothic"/>
              </a:rPr>
              <a:t>OLAP AP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572000" y="4562856"/>
            <a:ext cx="493776" cy="109728"/>
          </a:xfrm>
          <a:prstGeom prst="rect">
            <a:avLst/>
          </a:prstGeom>
          <a:solidFill>
            <a:srgbClr val="EEE4A9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572000" y="4562856"/>
            <a:ext cx="493776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3C3C3C"/>
                </a:solidFill>
                <a:latin typeface="Malgun Gothic"/>
              </a:rPr>
              <a:t>MSTR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535424" y="4700016"/>
            <a:ext cx="566928" cy="109728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535424" y="4690872"/>
            <a:ext cx="566928" cy="91440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Engine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822191" y="4535424"/>
            <a:ext cx="365760" cy="73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224CAA"/>
                </a:solidFill>
                <a:latin typeface="Malgun Gothic"/>
              </a:rPr>
              <a:t>데이터거버넌스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487168" y="5148072"/>
            <a:ext cx="2788920" cy="146304"/>
          </a:xfrm>
          <a:prstGeom prst="rect">
            <a:avLst/>
          </a:prstGeom>
          <a:solidFill>
            <a:srgbClr val="4C7E3C"/>
          </a:solidFill>
          <a:ln w="10160">
            <a:solidFill>
              <a:srgbClr val="4C7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3703320" y="5129784"/>
            <a:ext cx="365760" cy="109728"/>
          </a:xfrm>
          <a:prstGeom prst="rect">
            <a:avLst/>
          </a:prstGeom>
          <a:solidFill>
            <a:srgbClr val="4C7E3C"/>
          </a:solidFill>
          <a:ln w="10160">
            <a:solidFill>
              <a:srgbClr val="4C7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706624" y="6327648"/>
            <a:ext cx="4983480" cy="146304"/>
          </a:xfrm>
          <a:prstGeom prst="rect">
            <a:avLst/>
          </a:prstGeom>
          <a:solidFill>
            <a:srgbClr val="4C7E3C"/>
          </a:solidFill>
          <a:ln w="10160">
            <a:solidFill>
              <a:srgbClr val="4C7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74920" y="6309360"/>
            <a:ext cx="365760" cy="109728"/>
          </a:xfrm>
          <a:prstGeom prst="rect">
            <a:avLst/>
          </a:prstGeom>
          <a:solidFill>
            <a:srgbClr val="4C7E3C"/>
          </a:solidFill>
          <a:ln w="10160">
            <a:solidFill>
              <a:srgbClr val="4C7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016752" y="1737360"/>
            <a:ext cx="3767328" cy="201168"/>
          </a:xfrm>
          <a:prstGeom prst="rect">
            <a:avLst/>
          </a:prstGeom>
          <a:solidFill>
            <a:srgbClr val="224CAA"/>
          </a:solidFill>
          <a:ln w="10160">
            <a:solidFill>
              <a:srgbClr val="22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479792" y="1728216"/>
            <a:ext cx="914400" cy="146304"/>
          </a:xfrm>
          <a:prstGeom prst="rect">
            <a:avLst/>
          </a:prstGeom>
          <a:solidFill>
            <a:srgbClr val="224CAA"/>
          </a:solidFill>
          <a:ln w="10160">
            <a:solidFill>
              <a:srgbClr val="22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CruzAPIM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183879" y="1444752"/>
            <a:ext cx="164592" cy="237744"/>
          </a:xfrm>
          <a:prstGeom prst="rect">
            <a:avLst/>
          </a:prstGeom>
          <a:solidFill>
            <a:srgbClr val="224CAA"/>
          </a:solidFill>
          <a:ln w="10160">
            <a:solidFill>
              <a:srgbClr val="22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174736" y="1453896"/>
            <a:ext cx="164592" cy="201168"/>
          </a:xfrm>
          <a:prstGeom prst="rect">
            <a:avLst/>
          </a:prstGeom>
          <a:solidFill>
            <a:srgbClr val="224CAA"/>
          </a:solidFill>
          <a:ln w="10160">
            <a:solidFill>
              <a:srgbClr val="22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DG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028431" y="1417320"/>
            <a:ext cx="210312" cy="210312"/>
          </a:xfrm>
          <a:prstGeom prst="rect">
            <a:avLst/>
          </a:prstGeom>
          <a:solidFill>
            <a:srgbClr val="E87838"/>
          </a:solidFill>
          <a:ln w="10160">
            <a:solidFill>
              <a:srgbClr val="E87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366760" y="1417320"/>
            <a:ext cx="210312" cy="210312"/>
          </a:xfrm>
          <a:prstGeom prst="rect">
            <a:avLst/>
          </a:prstGeom>
          <a:solidFill>
            <a:srgbClr val="E87838"/>
          </a:solidFill>
          <a:ln w="10160">
            <a:solidFill>
              <a:srgbClr val="E87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668512" y="1078992"/>
            <a:ext cx="420624" cy="16459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677656" y="1088136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계정정보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253728" y="1280160"/>
            <a:ext cx="320040" cy="228600"/>
          </a:xfrm>
          <a:prstGeom prst="rect">
            <a:avLst/>
          </a:prstGeom>
          <a:solidFill>
            <a:srgbClr val="4C7E3C"/>
          </a:solidFill>
          <a:ln w="10160">
            <a:solidFill>
              <a:srgbClr val="4C7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EAI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9427464" y="731520"/>
            <a:ext cx="0" cy="1005840"/>
          </a:xfrm>
          <a:prstGeom prst="line">
            <a:avLst/>
          </a:prstGeom>
          <a:ln w="25400">
            <a:solidFill>
              <a:srgbClr val="224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9034272" y="731520"/>
            <a:ext cx="0" cy="548640"/>
          </a:xfrm>
          <a:prstGeom prst="line">
            <a:avLst/>
          </a:prstGeom>
          <a:ln w="25400">
            <a:solidFill>
              <a:srgbClr val="224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9994392" y="731520"/>
            <a:ext cx="0" cy="1005840"/>
          </a:xfrm>
          <a:prstGeom prst="line">
            <a:avLst/>
          </a:prstGeom>
          <a:ln w="25400">
            <a:solidFill>
              <a:srgbClr val="224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6537960" y="2139696"/>
            <a:ext cx="3246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BC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281160" y="2212848"/>
            <a:ext cx="43891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4CAA"/>
                </a:solidFill>
                <a:latin typeface="Malgun Gothic"/>
              </a:rPr>
              <a:t>데이터플랫폼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973568" y="2514600"/>
            <a:ext cx="210312" cy="210312"/>
          </a:xfrm>
          <a:prstGeom prst="rect">
            <a:avLst/>
          </a:prstGeom>
          <a:solidFill>
            <a:srgbClr val="E87838"/>
          </a:solidFill>
          <a:ln w="10160">
            <a:solidFill>
              <a:srgbClr val="E87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9628632" y="2240280"/>
            <a:ext cx="210312" cy="210312"/>
          </a:xfrm>
          <a:prstGeom prst="rect">
            <a:avLst/>
          </a:prstGeom>
          <a:solidFill>
            <a:srgbClr val="E87838"/>
          </a:solidFill>
          <a:ln w="10160">
            <a:solidFill>
              <a:srgbClr val="E87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620256" y="1965960"/>
            <a:ext cx="329184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620256" y="1993392"/>
            <a:ext cx="3291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CDC
중계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6784848" y="1938528"/>
            <a:ext cx="0" cy="201168"/>
          </a:xfrm>
          <a:prstGeom prst="line">
            <a:avLst/>
          </a:prstGeom>
          <a:ln w="1778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ectangle 159"/>
          <p:cNvSpPr/>
          <p:nvPr/>
        </p:nvSpPr>
        <p:spPr>
          <a:xfrm>
            <a:off x="5577840" y="2505456"/>
            <a:ext cx="201168" cy="658368"/>
          </a:xfrm>
          <a:prstGeom prst="rect">
            <a:avLst/>
          </a:prstGeom>
          <a:solidFill>
            <a:srgbClr val="4C7E3C"/>
          </a:solidFill>
          <a:ln w="10160">
            <a:solidFill>
              <a:srgbClr val="4C7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JDBC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062472" y="2505456"/>
            <a:ext cx="201168" cy="658368"/>
          </a:xfrm>
          <a:prstGeom prst="rect">
            <a:avLst/>
          </a:prstGeom>
          <a:solidFill>
            <a:srgbClr val="4C7E3C"/>
          </a:solidFill>
          <a:ln w="10160">
            <a:solidFill>
              <a:srgbClr val="4C7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Database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5477256" y="2834640"/>
            <a:ext cx="45720" cy="45720"/>
          </a:xfrm>
          <a:prstGeom prst="roundRect">
            <a:avLst/>
          </a:prstGeom>
          <a:solidFill>
            <a:srgbClr val="ABC7E6"/>
          </a:solidFill>
          <a:ln w="10160">
            <a:solidFill>
              <a:srgbClr val="ABC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5477256" y="4014215"/>
            <a:ext cx="45720" cy="45720"/>
          </a:xfrm>
          <a:prstGeom prst="roundRect">
            <a:avLst/>
          </a:prstGeom>
          <a:solidFill>
            <a:srgbClr val="ABC7E6"/>
          </a:solidFill>
          <a:ln w="10160">
            <a:solidFill>
              <a:srgbClr val="ABC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5806440" y="2834640"/>
            <a:ext cx="45720" cy="45720"/>
          </a:xfrm>
          <a:prstGeom prst="roundRect">
            <a:avLst/>
          </a:prstGeom>
          <a:solidFill>
            <a:srgbClr val="ABC7E6"/>
          </a:solidFill>
          <a:ln w="10160">
            <a:solidFill>
              <a:srgbClr val="ABC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5806440" y="4014215"/>
            <a:ext cx="45720" cy="45720"/>
          </a:xfrm>
          <a:prstGeom prst="roundRect">
            <a:avLst/>
          </a:prstGeom>
          <a:solidFill>
            <a:srgbClr val="ABC7E6"/>
          </a:solidFill>
          <a:ln w="10160">
            <a:solidFill>
              <a:srgbClr val="ABC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6108192" y="2834640"/>
            <a:ext cx="45720" cy="45720"/>
          </a:xfrm>
          <a:prstGeom prst="roundRect">
            <a:avLst/>
          </a:prstGeom>
          <a:solidFill>
            <a:srgbClr val="ABC7E6"/>
          </a:solidFill>
          <a:ln w="10160">
            <a:solidFill>
              <a:srgbClr val="ABC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6108192" y="4014215"/>
            <a:ext cx="45720" cy="45720"/>
          </a:xfrm>
          <a:prstGeom prst="roundRect">
            <a:avLst/>
          </a:prstGeom>
          <a:solidFill>
            <a:srgbClr val="ABC7E6"/>
          </a:solidFill>
          <a:ln w="10160">
            <a:solidFill>
              <a:srgbClr val="ABC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5504688" y="3255264"/>
            <a:ext cx="347472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5513832" y="3291840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배치
AP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879592" y="3282696"/>
            <a:ext cx="210312" cy="210312"/>
          </a:xfrm>
          <a:prstGeom prst="rect">
            <a:avLst/>
          </a:prstGeom>
          <a:solidFill>
            <a:srgbClr val="E87838"/>
          </a:solidFill>
          <a:ln w="10160">
            <a:solidFill>
              <a:srgbClr val="E87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922008" y="2615184"/>
            <a:ext cx="1078992" cy="640080"/>
          </a:xfrm>
          <a:prstGeom prst="rect">
            <a:avLst/>
          </a:prstGeom>
          <a:solidFill>
            <a:srgbClr val="EEE4A9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232904" y="2651760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3C3C3C"/>
                </a:solidFill>
                <a:latin typeface="Malgun Gothic"/>
              </a:rPr>
              <a:t>RDW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7031736" y="2834640"/>
            <a:ext cx="859536" cy="146304"/>
          </a:xfrm>
          <a:prstGeom prst="rect">
            <a:avLst/>
          </a:prstGeom>
          <a:solidFill>
            <a:srgbClr val="EEE4A9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7031736" y="2843784"/>
            <a:ext cx="859536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실시간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7013448" y="3026664"/>
            <a:ext cx="896112" cy="137160"/>
          </a:xfrm>
          <a:prstGeom prst="rect">
            <a:avLst/>
          </a:prstGeom>
          <a:solidFill>
            <a:srgbClr val="193C82"/>
          </a:solidFill>
          <a:ln w="10160">
            <a:solidFill>
              <a:srgbClr val="19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013448" y="3026664"/>
            <a:ext cx="896112" cy="118872"/>
          </a:xfrm>
          <a:prstGeom prst="rect">
            <a:avLst/>
          </a:prstGeom>
          <a:solidFill>
            <a:srgbClr val="193C82"/>
          </a:solidFill>
          <a:ln w="10160">
            <a:solidFill>
              <a:srgbClr val="19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DBMS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8394192" y="2615184"/>
            <a:ext cx="1078992" cy="640080"/>
          </a:xfrm>
          <a:prstGeom prst="rect">
            <a:avLst/>
          </a:prstGeom>
          <a:solidFill>
            <a:srgbClr val="D6E6F7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8705088" y="2651760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3C3C3C"/>
                </a:solidFill>
                <a:latin typeface="Malgun Gothic"/>
              </a:rPr>
              <a:t>ADW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503919" y="2834640"/>
            <a:ext cx="859536" cy="146304"/>
          </a:xfrm>
          <a:prstGeom prst="rect">
            <a:avLst/>
          </a:prstGeom>
          <a:solidFill>
            <a:srgbClr val="E4F0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8503919" y="2843784"/>
            <a:ext cx="859536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대량분석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8485632" y="3026664"/>
            <a:ext cx="896112" cy="137160"/>
          </a:xfrm>
          <a:prstGeom prst="rect">
            <a:avLst/>
          </a:prstGeom>
          <a:solidFill>
            <a:srgbClr val="193C82"/>
          </a:solidFill>
          <a:ln w="10160">
            <a:solidFill>
              <a:srgbClr val="19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85632" y="3026664"/>
            <a:ext cx="896112" cy="118872"/>
          </a:xfrm>
          <a:prstGeom prst="rect">
            <a:avLst/>
          </a:prstGeom>
          <a:solidFill>
            <a:srgbClr val="193C82"/>
          </a:solidFill>
          <a:ln w="10160">
            <a:solidFill>
              <a:srgbClr val="19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DBMS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790688" y="2953512"/>
            <a:ext cx="210312" cy="210312"/>
          </a:xfrm>
          <a:prstGeom prst="rect">
            <a:avLst/>
          </a:prstGeom>
          <a:solidFill>
            <a:srgbClr val="E87838"/>
          </a:solidFill>
          <a:ln w="10160">
            <a:solidFill>
              <a:srgbClr val="E87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9034272" y="3694176"/>
            <a:ext cx="1444752" cy="201168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9546336" y="3694176"/>
            <a:ext cx="438912" cy="182880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MFT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034272" y="4206240"/>
            <a:ext cx="1444752" cy="201168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546336" y="4206240"/>
            <a:ext cx="438912" cy="182880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FOS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9034272" y="4526280"/>
            <a:ext cx="1444752" cy="201168"/>
          </a:xfrm>
          <a:prstGeom prst="rect">
            <a:avLst/>
          </a:prstGeom>
          <a:solidFill>
            <a:srgbClr val="3A4A40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546336" y="4526280"/>
            <a:ext cx="438912" cy="182880"/>
          </a:xfrm>
          <a:prstGeom prst="rect">
            <a:avLst/>
          </a:prstGeom>
          <a:solidFill>
            <a:srgbClr val="3A4A40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ETL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8650224" y="4169663"/>
            <a:ext cx="210312" cy="210312"/>
          </a:xfrm>
          <a:prstGeom prst="rect">
            <a:avLst/>
          </a:prstGeom>
          <a:solidFill>
            <a:srgbClr val="E87838"/>
          </a:solidFill>
          <a:ln w="10160">
            <a:solidFill>
              <a:srgbClr val="E87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0241280" y="4718304"/>
            <a:ext cx="210312" cy="210312"/>
          </a:xfrm>
          <a:prstGeom prst="rect">
            <a:avLst/>
          </a:prstGeom>
          <a:solidFill>
            <a:srgbClr val="E87838"/>
          </a:solidFill>
          <a:ln w="10160">
            <a:solidFill>
              <a:srgbClr val="E87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5486400" y="5175504"/>
            <a:ext cx="384048" cy="201168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486400" y="5166360"/>
            <a:ext cx="384048" cy="164592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LLM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5961888" y="5175504"/>
            <a:ext cx="384048" cy="201168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961888" y="5166360"/>
            <a:ext cx="384048" cy="164592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IMDG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736592" y="553212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82828"/>
                </a:solidFill>
                <a:latin typeface="Malgun Gothic"/>
              </a:rPr>
              <a:t>마케팅 이벤트 처리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234440" y="5724144"/>
            <a:ext cx="493776" cy="384048"/>
          </a:xfrm>
          <a:prstGeom prst="rect">
            <a:avLst/>
          </a:prstGeom>
          <a:solidFill>
            <a:srgbClr val="EEE4A9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252728" y="57607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3C3C3C"/>
                </a:solidFill>
                <a:latin typeface="Malgun Gothic"/>
              </a:rPr>
              <a:t>Wise
Collector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1874519" y="5833872"/>
            <a:ext cx="310896" cy="128016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874519" y="5833872"/>
            <a:ext cx="310896" cy="109728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Event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2496312" y="5669280"/>
            <a:ext cx="6400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2542032" y="569671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3C3C3C"/>
                </a:solidFill>
                <a:latin typeface="Malgun Gothic"/>
              </a:rPr>
              <a:t>고객행동데이
터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2596896" y="5925312"/>
            <a:ext cx="457200" cy="164592"/>
          </a:xfrm>
          <a:prstGeom prst="rect">
            <a:avLst/>
          </a:prstGeom>
          <a:solidFill>
            <a:srgbClr val="193C82"/>
          </a:solidFill>
          <a:ln w="10160">
            <a:solidFill>
              <a:srgbClr val="19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2596896" y="5925312"/>
            <a:ext cx="457200" cy="128016"/>
          </a:xfrm>
          <a:prstGeom prst="rect">
            <a:avLst/>
          </a:prstGeom>
          <a:solidFill>
            <a:srgbClr val="193C82"/>
          </a:solidFill>
          <a:ln w="10160">
            <a:solidFill>
              <a:srgbClr val="19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KAFKA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3867912" y="5779008"/>
            <a:ext cx="402336" cy="16459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3867912" y="577900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고객행태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4407408" y="5797296"/>
            <a:ext cx="210312" cy="210312"/>
          </a:xfrm>
          <a:prstGeom prst="rect">
            <a:avLst/>
          </a:prstGeom>
          <a:solidFill>
            <a:srgbClr val="E87838"/>
          </a:solidFill>
          <a:ln w="10160">
            <a:solidFill>
              <a:srgbClr val="E87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cxnSp>
        <p:nvCxnSpPr>
          <p:cNvPr id="208" name="Connector 207"/>
          <p:cNvCxnSpPr/>
          <p:nvPr/>
        </p:nvCxnSpPr>
        <p:spPr>
          <a:xfrm>
            <a:off x="4261104" y="5907024"/>
            <a:ext cx="1865376" cy="0"/>
          </a:xfrm>
          <a:prstGeom prst="line">
            <a:avLst/>
          </a:prstGeom>
          <a:ln w="33020">
            <a:solidFill>
              <a:srgbClr val="368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Rectangle 208"/>
          <p:cNvSpPr/>
          <p:nvPr/>
        </p:nvSpPr>
        <p:spPr>
          <a:xfrm>
            <a:off x="6217920" y="5605272"/>
            <a:ext cx="493776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6236208" y="5623560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3C3C3C"/>
                </a:solidFill>
                <a:latin typeface="Malgun Gothic"/>
              </a:rPr>
              <a:t>행동정보처리
서버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6327648" y="5916168"/>
            <a:ext cx="310896" cy="109728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27648" y="5916168"/>
            <a:ext cx="310896" cy="91440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Daemon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7086600" y="5605272"/>
            <a:ext cx="493776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7114032" y="5623560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3C3C3C"/>
                </a:solidFill>
                <a:latin typeface="Malgun Gothic"/>
              </a:rPr>
              <a:t>실시간처리서
버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7168896" y="5916168"/>
            <a:ext cx="329184" cy="109728"/>
          </a:xfrm>
          <a:prstGeom prst="rect">
            <a:avLst/>
          </a:prstGeom>
          <a:solidFill>
            <a:srgbClr val="193C82"/>
          </a:solidFill>
          <a:ln w="10160">
            <a:solidFill>
              <a:srgbClr val="19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7168896" y="5916168"/>
            <a:ext cx="329184" cy="91440"/>
          </a:xfrm>
          <a:prstGeom prst="rect">
            <a:avLst/>
          </a:prstGeom>
          <a:solidFill>
            <a:srgbClr val="193C82"/>
          </a:solidFill>
          <a:ln w="10160">
            <a:solidFill>
              <a:srgbClr val="19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EBM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382512" y="6144768"/>
            <a:ext cx="384048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382512" y="6163056"/>
            <a:ext cx="384048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이벤트
정보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325880" y="6245352"/>
            <a:ext cx="420624" cy="310896"/>
          </a:xfrm>
          <a:prstGeom prst="rect">
            <a:avLst/>
          </a:prstGeom>
          <a:solidFill>
            <a:srgbClr val="EEE4A9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344168" y="6336792"/>
            <a:ext cx="384048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C3C3C"/>
                </a:solidFill>
                <a:latin typeface="Malgun Gothic"/>
              </a:rPr>
              <a:t>UMS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02920" y="5440680"/>
            <a:ext cx="210312" cy="210312"/>
          </a:xfrm>
          <a:prstGeom prst="rect">
            <a:avLst/>
          </a:prstGeom>
          <a:solidFill>
            <a:srgbClr val="E87838"/>
          </a:solidFill>
          <a:ln w="10160">
            <a:solidFill>
              <a:srgbClr val="E87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cxnSp>
        <p:nvCxnSpPr>
          <p:cNvPr id="222" name="Connector 221"/>
          <p:cNvCxnSpPr/>
          <p:nvPr/>
        </p:nvCxnSpPr>
        <p:spPr>
          <a:xfrm>
            <a:off x="594360" y="5824728"/>
            <a:ext cx="640080" cy="0"/>
          </a:xfrm>
          <a:prstGeom prst="line">
            <a:avLst/>
          </a:prstGeom>
          <a:ln w="31750">
            <a:solidFill>
              <a:srgbClr val="368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594360" y="6355080"/>
            <a:ext cx="731520" cy="0"/>
          </a:xfrm>
          <a:prstGeom prst="line">
            <a:avLst/>
          </a:prstGeom>
          <a:ln w="31750">
            <a:solidFill>
              <a:srgbClr val="5E3A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1755648" y="6355080"/>
            <a:ext cx="347472" cy="0"/>
          </a:xfrm>
          <a:prstGeom prst="line">
            <a:avLst/>
          </a:prstGeom>
          <a:ln w="31750">
            <a:solidFill>
              <a:srgbClr val="5E3A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Rectangle 224"/>
          <p:cNvSpPr/>
          <p:nvPr/>
        </p:nvSpPr>
        <p:spPr>
          <a:xfrm>
            <a:off x="8028431" y="5230368"/>
            <a:ext cx="1143000" cy="201168"/>
          </a:xfrm>
          <a:prstGeom prst="rect">
            <a:avLst/>
          </a:prstGeom>
          <a:solidFill>
            <a:srgbClr val="193C82"/>
          </a:solidFill>
          <a:ln w="10160">
            <a:solidFill>
              <a:srgbClr val="19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8028431" y="5230368"/>
            <a:ext cx="1143000" cy="155448"/>
          </a:xfrm>
          <a:prstGeom prst="rect">
            <a:avLst/>
          </a:prstGeom>
          <a:solidFill>
            <a:srgbClr val="193C82"/>
          </a:solidFill>
          <a:ln w="10160">
            <a:solidFill>
              <a:srgbClr val="19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통합개발 환경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485632" y="5010912"/>
            <a:ext cx="210312" cy="210312"/>
          </a:xfrm>
          <a:prstGeom prst="rect">
            <a:avLst/>
          </a:prstGeom>
          <a:solidFill>
            <a:srgbClr val="E87838"/>
          </a:solidFill>
          <a:ln w="10160">
            <a:solidFill>
              <a:srgbClr val="E87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8065008" y="5449824"/>
            <a:ext cx="438912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8065008" y="5559552"/>
            <a:ext cx="43891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C3C3C"/>
                </a:solidFill>
                <a:latin typeface="Malgun Gothic"/>
              </a:rPr>
              <a:t>GitLab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8613648" y="5449824"/>
            <a:ext cx="438912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8613648" y="5559552"/>
            <a:ext cx="43891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C3C3C"/>
                </a:solidFill>
                <a:latin typeface="Malgun Gothic"/>
              </a:rPr>
              <a:t>Runner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9144000" y="5449824"/>
            <a:ext cx="438912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9144000" y="5559552"/>
            <a:ext cx="43891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C3C3C"/>
                </a:solidFill>
                <a:latin typeface="Malgun Gothic"/>
              </a:rPr>
              <a:t>Nexus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9354312" y="5001768"/>
            <a:ext cx="685800" cy="164592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354312" y="4992624"/>
            <a:ext cx="685800" cy="128016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통신관리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354312" y="5202936"/>
            <a:ext cx="685800" cy="164592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354312" y="5193792"/>
            <a:ext cx="685800" cy="128016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FDS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9354312" y="5404104"/>
            <a:ext cx="685800" cy="164592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9354312" y="5394960"/>
            <a:ext cx="685800" cy="128016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ITSM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9354312" y="5605272"/>
            <a:ext cx="685800" cy="164592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9354312" y="5596128"/>
            <a:ext cx="685800" cy="128016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배치작업관리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0195560" y="5056632"/>
            <a:ext cx="329184" cy="146304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10195560" y="5056632"/>
            <a:ext cx="32918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단말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10561320" y="5056632"/>
            <a:ext cx="329184" cy="146304"/>
          </a:xfrm>
          <a:prstGeom prst="rect">
            <a:avLst/>
          </a:prstGeom>
          <a:solidFill>
            <a:srgbClr val="EEE4A9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10561320" y="5056632"/>
            <a:ext cx="32918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FWK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10927080" y="5056632"/>
            <a:ext cx="329184" cy="146304"/>
          </a:xfrm>
          <a:prstGeom prst="rect">
            <a:avLst/>
          </a:prstGeom>
          <a:solidFill>
            <a:srgbClr val="EEE4A9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10927080" y="5056632"/>
            <a:ext cx="32918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마케팅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11292840" y="5056632"/>
            <a:ext cx="329184" cy="146304"/>
          </a:xfrm>
          <a:prstGeom prst="rect">
            <a:avLst/>
          </a:prstGeom>
          <a:solidFill>
            <a:srgbClr val="EEE4A9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11292840" y="5056632"/>
            <a:ext cx="32918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BI포탈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0259568" y="5285232"/>
            <a:ext cx="32004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87838"/>
                </a:solidFill>
                <a:latin typeface="Malgun Gothic"/>
              </a:rPr>
              <a:t>응애배포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0277856" y="5468112"/>
            <a:ext cx="292608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87838"/>
                </a:solidFill>
                <a:latin typeface="Malgun Gothic"/>
              </a:rPr>
              <a:t>소스배포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9555480" y="5596128"/>
            <a:ext cx="1783080" cy="146304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10168128" y="5596128"/>
            <a:ext cx="548640" cy="109728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IT 메타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9555480" y="5833872"/>
            <a:ext cx="1783080" cy="146304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10168128" y="5833872"/>
            <a:ext cx="548640" cy="109728"/>
          </a:xfrm>
          <a:prstGeom prst="rect">
            <a:avLst/>
          </a:prstGeom>
          <a:solidFill>
            <a:srgbClr val="586A7B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eCAMS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9555480" y="6035040"/>
            <a:ext cx="1783080" cy="146304"/>
          </a:xfrm>
          <a:prstGeom prst="rect">
            <a:avLst/>
          </a:prstGeom>
          <a:solidFill>
            <a:srgbClr val="464646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10168128" y="6035040"/>
            <a:ext cx="548640" cy="109728"/>
          </a:xfrm>
          <a:prstGeom prst="rect">
            <a:avLst/>
          </a:prstGeom>
          <a:solidFill>
            <a:srgbClr val="464646"/>
          </a:solidFill>
          <a:ln w="10160">
            <a:solidFill>
              <a:srgbClr val="586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연계정보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9162288" y="5020056"/>
            <a:ext cx="210312" cy="210312"/>
          </a:xfrm>
          <a:prstGeom prst="rect">
            <a:avLst/>
          </a:prstGeom>
          <a:solidFill>
            <a:srgbClr val="E87838"/>
          </a:solidFill>
          <a:ln w="10160">
            <a:solidFill>
              <a:srgbClr val="E87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1109960" y="249631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82828"/>
                </a:solidFill>
                <a:latin typeface="Malgun Gothic"/>
              </a:rPr>
              <a:t>유관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11137392" y="2761488"/>
            <a:ext cx="658368" cy="182880"/>
          </a:xfrm>
          <a:prstGeom prst="rect">
            <a:avLst/>
          </a:prstGeom>
          <a:solidFill>
            <a:srgbClr val="EBEEF0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11137392" y="2770632"/>
            <a:ext cx="65836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카드정보계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11137392" y="3017520"/>
            <a:ext cx="658368" cy="182880"/>
          </a:xfrm>
          <a:prstGeom prst="rect">
            <a:avLst/>
          </a:prstGeom>
          <a:solidFill>
            <a:srgbClr val="EBEEF0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11137392" y="3026663"/>
            <a:ext cx="65836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카드DW/회계관리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11137392" y="3273552"/>
            <a:ext cx="658368" cy="182880"/>
          </a:xfrm>
          <a:prstGeom prst="rect">
            <a:avLst/>
          </a:prstGeom>
          <a:solidFill>
            <a:srgbClr val="EBEEF0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11137392" y="3282696"/>
            <a:ext cx="65836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리스크관리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11137392" y="3529584"/>
            <a:ext cx="658368" cy="182880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11137392" y="3538728"/>
            <a:ext cx="65836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회계관리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11137392" y="3785616"/>
            <a:ext cx="658368" cy="182880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11137392" y="3794760"/>
            <a:ext cx="65836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리스크관리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11137392" y="4041648"/>
            <a:ext cx="658368" cy="182880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11137392" y="4050791"/>
            <a:ext cx="65836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경제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11137392" y="4297680"/>
            <a:ext cx="658368" cy="182880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11137392" y="4306824"/>
            <a:ext cx="65836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로우코드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1119104" y="466344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algun Gothic"/>
              </a:rPr>
              <a:t>Big Data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11146536" y="4864608"/>
            <a:ext cx="502920" cy="16459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11146536" y="486460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Big Data</a:t>
            </a:r>
          </a:p>
        </p:txBody>
      </p:sp>
      <p:cxnSp>
        <p:nvCxnSpPr>
          <p:cNvPr id="277" name="Connector 276"/>
          <p:cNvCxnSpPr/>
          <p:nvPr/>
        </p:nvCxnSpPr>
        <p:spPr>
          <a:xfrm>
            <a:off x="4828032" y="1847088"/>
            <a:ext cx="1170432" cy="0"/>
          </a:xfrm>
          <a:prstGeom prst="line">
            <a:avLst/>
          </a:prstGeom>
          <a:ln w="25400">
            <a:solidFill>
              <a:srgbClr val="224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4617720" y="1938528"/>
            <a:ext cx="0" cy="603504"/>
          </a:xfrm>
          <a:prstGeom prst="line">
            <a:avLst/>
          </a:prstGeom>
          <a:ln w="22860">
            <a:solidFill>
              <a:srgbClr val="4C7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1865376" y="1719072"/>
            <a:ext cx="2249424" cy="0"/>
          </a:xfrm>
          <a:prstGeom prst="line">
            <a:avLst/>
          </a:prstGeom>
          <a:ln w="19050">
            <a:solidFill>
              <a:srgbClr val="4C7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1737360" y="2487168"/>
            <a:ext cx="2423160" cy="0"/>
          </a:xfrm>
          <a:prstGeom prst="line">
            <a:avLst/>
          </a:prstGeom>
          <a:ln w="17780">
            <a:solidFill>
              <a:srgbClr val="4C7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2898648" y="3319272"/>
            <a:ext cx="0" cy="502919"/>
          </a:xfrm>
          <a:prstGeom prst="line">
            <a:avLst/>
          </a:prstGeom>
          <a:ln w="1397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3730752" y="3319272"/>
            <a:ext cx="0" cy="502919"/>
          </a:xfrm>
          <a:prstGeom prst="line">
            <a:avLst/>
          </a:prstGeom>
          <a:ln w="1397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4590288" y="3319272"/>
            <a:ext cx="0" cy="502919"/>
          </a:xfrm>
          <a:prstGeom prst="line">
            <a:avLst/>
          </a:prstGeom>
          <a:ln w="1397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1060704" y="3611880"/>
            <a:ext cx="2551176" cy="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3611880" y="3611880"/>
            <a:ext cx="0" cy="210311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5669280" y="2834640"/>
            <a:ext cx="868680" cy="0"/>
          </a:xfrm>
          <a:prstGeom prst="line">
            <a:avLst/>
          </a:prstGeom>
          <a:ln w="20320">
            <a:solidFill>
              <a:srgbClr val="4C7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6172200" y="3127248"/>
            <a:ext cx="0" cy="1810512"/>
          </a:xfrm>
          <a:prstGeom prst="line">
            <a:avLst/>
          </a:prstGeom>
          <a:ln w="1905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5650992" y="4005072"/>
            <a:ext cx="0" cy="1097280"/>
          </a:xfrm>
          <a:prstGeom prst="line">
            <a:avLst/>
          </a:prstGeom>
          <a:ln w="1397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6419088" y="4005072"/>
            <a:ext cx="0" cy="1097280"/>
          </a:xfrm>
          <a:prstGeom prst="line">
            <a:avLst/>
          </a:prstGeom>
          <a:ln w="1397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7269480" y="3273552"/>
            <a:ext cx="0" cy="2377440"/>
          </a:xfrm>
          <a:prstGeom prst="line">
            <a:avLst/>
          </a:prstGeom>
          <a:ln w="22860">
            <a:solidFill>
              <a:srgbClr val="5E3A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6126480" y="3749039"/>
            <a:ext cx="0" cy="1901953"/>
          </a:xfrm>
          <a:prstGeom prst="line">
            <a:avLst/>
          </a:prstGeom>
          <a:ln w="17780">
            <a:solidFill>
              <a:srgbClr val="368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9756648" y="1837943"/>
            <a:ext cx="1307592" cy="0"/>
          </a:xfrm>
          <a:prstGeom prst="line">
            <a:avLst/>
          </a:prstGeom>
          <a:ln w="27940">
            <a:solidFill>
              <a:srgbClr val="224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11064240" y="1837943"/>
            <a:ext cx="0" cy="2587753"/>
          </a:xfrm>
          <a:prstGeom prst="line">
            <a:avLst/>
          </a:prstGeom>
          <a:ln w="27940">
            <a:solidFill>
              <a:srgbClr val="224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10479024" y="3794760"/>
            <a:ext cx="585216" cy="0"/>
          </a:xfrm>
          <a:prstGeom prst="line">
            <a:avLst/>
          </a:prstGeom>
          <a:ln w="15240">
            <a:solidFill>
              <a:srgbClr val="5E3A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10479024" y="4297680"/>
            <a:ext cx="585216" cy="0"/>
          </a:xfrm>
          <a:prstGeom prst="line">
            <a:avLst/>
          </a:prstGeom>
          <a:ln w="1524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10479024" y="4617720"/>
            <a:ext cx="585216" cy="0"/>
          </a:xfrm>
          <a:prstGeom prst="line">
            <a:avLst/>
          </a:prstGeom>
          <a:ln w="1524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10479024" y="822960"/>
            <a:ext cx="0" cy="1014983"/>
          </a:xfrm>
          <a:prstGeom prst="line">
            <a:avLst/>
          </a:prstGeom>
          <a:ln w="20320">
            <a:solidFill>
              <a:srgbClr val="224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10771632" y="822960"/>
            <a:ext cx="0" cy="1014983"/>
          </a:xfrm>
          <a:prstGeom prst="line">
            <a:avLst/>
          </a:prstGeom>
          <a:ln w="15240">
            <a:solidFill>
              <a:srgbClr val="5E3A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10881360" y="822960"/>
            <a:ext cx="0" cy="1014983"/>
          </a:xfrm>
          <a:prstGeom prst="line">
            <a:avLst/>
          </a:prstGeom>
          <a:ln w="1524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10991088" y="822960"/>
            <a:ext cx="0" cy="1014983"/>
          </a:xfrm>
          <a:prstGeom prst="line">
            <a:avLst/>
          </a:prstGeom>
          <a:ln w="1524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Can 300"/>
          <p:cNvSpPr/>
          <p:nvPr/>
        </p:nvSpPr>
        <p:spPr>
          <a:xfrm>
            <a:off x="3931920" y="5760720"/>
            <a:ext cx="320040" cy="201168"/>
          </a:xfrm>
          <a:prstGeom prst="can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>
                <a:solidFill>
                  <a:srgbClr val="3C3C3C"/>
                </a:solidFill>
                <a:latin typeface="Malgun Gothic"/>
              </a:rPr>
              <a:t>고객행태</a:t>
            </a:r>
          </a:p>
        </p:txBody>
      </p:sp>
      <p:sp>
        <p:nvSpPr>
          <p:cNvPr id="302" name="Can 301"/>
          <p:cNvSpPr/>
          <p:nvPr/>
        </p:nvSpPr>
        <p:spPr>
          <a:xfrm>
            <a:off x="6391656" y="6144768"/>
            <a:ext cx="320040" cy="201168"/>
          </a:xfrm>
          <a:prstGeom prst="can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>
                <a:solidFill>
                  <a:srgbClr val="3C3C3C"/>
                </a:solidFill>
                <a:latin typeface="Malgun Gothic"/>
              </a:rPr>
              <a:t>이벤트
정보</a:t>
            </a:r>
          </a:p>
        </p:txBody>
      </p:sp>
      <p:sp>
        <p:nvSpPr>
          <p:cNvPr id="303" name="Can 302"/>
          <p:cNvSpPr/>
          <p:nvPr/>
        </p:nvSpPr>
        <p:spPr>
          <a:xfrm>
            <a:off x="7059168" y="1078992"/>
            <a:ext cx="402336" cy="164592"/>
          </a:xfrm>
          <a:prstGeom prst="can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>
                <a:solidFill>
                  <a:srgbClr val="3C3C3C"/>
                </a:solidFill>
                <a:latin typeface="Malgun Gothic"/>
              </a:rPr>
              <a:t>계정정보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