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71632" y="164592"/>
            <a:ext cx="685800" cy="182880"/>
          </a:xfrm>
          <a:prstGeom prst="rect">
            <a:avLst/>
          </a:prstGeom>
          <a:noFill/>
          <a:ln w="8890">
            <a:solidFill>
              <a:srgbClr val="9D2B2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D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68680" y="777240"/>
            <a:ext cx="2926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상호금융 차세대 정보계 시스템 구축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60120" y="2761488"/>
            <a:ext cx="7589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설계전략 및 금지패턴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87552" y="342900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4572000"/>
            <a:ext cx="27432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NHNIS–IA–PL01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6071616"/>
            <a:ext cx="7132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본 문서는 “한컴 고딕”으로 작성되었습니다.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농협중앙회의 사전승인 없이 본 내용의 전부 또는 일부에 대한 복사, 전재, 배포 및 사용을 금합니다.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0012680" y="6199632"/>
            <a:ext cx="1417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22960"/>
            <a:ext cx="1828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880360" y="1481328"/>
            <a:ext cx="7680960" cy="3429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요약(목적/기간/범위/추진일정)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수행내역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연계단계 적용기준 수립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주요 성과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사전분석 단계 수행 내용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Appendix. 차세대 정보계 아키텍처 산출물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- 2 -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Appendix. 아키텍처 산출물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35640" cy="329184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57276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56232" y="1572768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정보계 아키텍처 개요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39112" y="185623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개념 아키텍처 모델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039112" y="206654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어플리케이션 아키텍처 구성도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039112" y="227685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어플리케이션 기능 분류 체계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039112" y="248716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라. 시스템 그룹 및 어플리케이션 배치 정의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039112" y="269748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마. 목표 시스템 아키텍처 구성도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039112" y="290779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바. 주요 대상 서버 식별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039112" y="311810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(Back-Up) 아키텍처 설계 전략 및 정책 및 적용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325880" y="343814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56232" y="3438144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기술 아키텍처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9112" y="372160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정보계 수행 Zone 정의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039112" y="393192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시스템 대상 노드 구성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039112" y="414223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시스템 노드 배치 구성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039112" y="435254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라. 시스템 기술 컴포넌트 정의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039112" y="456285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마. 도메인 논리 기술 아키텍처 구성 정의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720840" y="157276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51192" y="1572768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인프라 아키텍처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34072" y="185623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하드웨어 구성도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434072" y="206654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소프트웨어 구성도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720840" y="2386584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51192" y="2386584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아키텍처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34072" y="267004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정보계 인터페이스 표준 정의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434072" y="288036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기술 인터페이스 구성도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434072" y="309067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시스템 컨텍스트 다이어그램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720840" y="3410712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51192" y="3410712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아키텍처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34072" y="369417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가. 업무 처리 유형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434072" y="390448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나. 채널 업무 처리 유형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434072" y="4114800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연계 업무 처리 유형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7434072" y="4325112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라. 마케팅 이벤트 업무 처리 유형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7434072" y="4535424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마. 데이터 분석/제공 업무 처리 유형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7434072" y="4745736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바. 파일 연계 업무 처리 유형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7434072" y="4956048"/>
            <a:ext cx="4434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B61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사. 배치 업무 처리 유형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720840" y="5276088"/>
            <a:ext cx="38404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51192" y="5276088"/>
            <a:ext cx="4251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및 통합개발환경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- 3 -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(1/6)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(1/6)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 분리 핵심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169664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경계분리 핵심 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우선 설계 (Boundary First)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간 경계(Zone)을 먼저 정의하고, 경계 내에서 기능을 설계한다.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없이 기능을 먼저 개발하는 것을 금지한다.</a:t>
            </a:r>
            <a:endParaRPr lang="en-US" sz="800" dirty="0"/>
          </a:p>
          <a:p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[5대 어플리케이션 도메인 분리]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데이터플랫폼 - 정보계 데이터 기준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마케팅플랫폼 - 고객행동기반 실시간 오퍼링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BI포탈 - AI NLP 기반 의사결정지원 공간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데이터거버넌스 - IT메타기반 데이터 품질, 표준 및 모델의 일관성 유지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IT서비스 및 업무지원 - 아키텍처 일관성 유지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20240" y="3739896"/>
            <a:ext cx="566928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3739896"/>
            <a:ext cx="2148840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인터페이스 강제 (Standard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Interface Only)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3739896"/>
            <a:ext cx="7068312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시스템간 모든 연계는 CruzAPIM·CDC·Kafka·ETL·FOS·GSE로 통제 표준 경로만 허용한다. P2P 직접 연결은 어떠한 경우에도 허용하지 않는다.</a:t>
            </a:r>
            <a:endParaRPr lang="en-US" sz="730" dirty="0"/>
          </a:p>
          <a:p>
            <a:pPr algn="l" indent="0" marL="0">
              <a:buNone/>
            </a:pP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[Integration통제]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P2P(DB Link 등) 직접연결은 어떠한 경우에도 금지한다.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연계 표준 : CruzAPIM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파일 연계 표준 : FOS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대외 시스템간 파일 연계 표준 : FOS-(타외 MCA-MFT)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연계(EAI) 표준 : CruzAPIM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법인간 연계 : GSE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모든 통제된 표준 경로만 허용한다.</a:t>
            </a:r>
            <a:endParaRPr lang="en-US" sz="730" dirty="0"/>
          </a:p>
          <a:p>
            <a:pPr algn="l" indent="0" marL="0">
              <a:buNone/>
            </a:pP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[규격표준화]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HTTP/JSON 통신 규격 통일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전문 표준화 Header + Data</a:t>
            </a:r>
            <a:endParaRPr lang="en-US" sz="730" dirty="0"/>
          </a:p>
          <a:p>
            <a:pPr algn="l" indent="0" marL="0">
              <a:buNone/>
            </a:pPr>
            <a:r>
              <a:rPr lang="en-US" sz="7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GUID 기반 전문 추적성 확보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58368" y="6089904"/>
            <a:ext cx="10835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3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경계가 명확해야 확장이 쉽고, 장애가 격리되며, 운영 비용이 통제된다.  시스템 확장성 보장 ▷ 가용성 보장 ▷ 성능 보장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- 4 -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(2/6)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(2/6)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 분리 핵심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169664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책임과 경계분리 핵심정책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실시간·배치 자원 및 경로 완전분리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(Separation of Concerns)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서비스와 배치 처리는 서버·DB·네트워크 경로를 물리적으로 분리한다.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RDW(실시간)와 ADW(분석)의 혼용을 금지한다.</a:t>
            </a:r>
            <a:endParaRPr lang="en-US" sz="760" dirty="0"/>
          </a:p>
          <a:p>
            <a:pPr algn="l" indent="0" marL="0">
              <a:buNone/>
            </a:pP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[물리·논리적 자원 분리 (인프라통제)]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RDW, ADW 분리로 대량 분석 쿼리가 실시간 거래 성능 저해 원천 차단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RDW 온라인 OLTP 전용 DB, ADW 분석 대용량 DB 전용으로 활용</a:t>
            </a:r>
            <a:endParaRPr lang="en-US" sz="760" dirty="0"/>
          </a:p>
          <a:p>
            <a:pPr algn="l" indent="0" marL="0">
              <a:buNone/>
            </a:pP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[데이터 경로 이원화]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FAST 경로 : 고객행동 이벤트 - Kafka - 마케팅룰엔진 - 1초이내 오퍼링으로 DB 비경유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DEEP 경로 : 계정계 배치 - CDC 중계서버 - RDW - ETL - ADW 적재, 정확성 중심 배치 처리 (ADW-ETL 대량 배치 처리 경로)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1920240" y="3739896"/>
            <a:ext cx="566928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3739896"/>
            <a:ext cx="2148840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기능 서버 구성 (장애극복)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3739896"/>
            <a:ext cx="7068312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어플리케이션 기능 체계 분류에 따른 시스템 그룹과 대상서버 식별한다.</a:t>
            </a:r>
            <a:endParaRPr lang="en-US" sz="760" dirty="0"/>
          </a:p>
          <a:p>
            <a:pPr algn="l" indent="0" marL="0">
              <a:buNone/>
            </a:pP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[도메인 특성을 고려한 서비스 플랫폼 독립 정의]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온라인 AP / 배치 AP 자원 분리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온라인 실시간 거래와 배치 처리 자원 충돌 방지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ETL 서버 독립 서버 구성 : DataStage 기반 대량 배치 데이터 가공·정제 전용 공간 마련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이벤트 서버 분리 : Kafka 이벤트 스트리밍 전용 고속 실시간 고객 오퍼링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CDC 중계서버 제공 : 계정계 원천 DB의 변경사항 실시간 캡처, 원천 DB 부하 분산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ADW : 전략 분석 전용 대용량 데이터 관리로 데이터 기초 기반 마련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RDW : 실시간 OLTP 운영 관리로 CDC로 수집된 데이터 관리로 실시간 반응 기반 마련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- 5 -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(3/6)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(3/6)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 확보를 위해 속도는 전용자원으로 유연성은 클라우드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169664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(확장성) 속도는 전용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자원으로 유연성은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클라우드로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속도를 위한 전용자원의 확장성은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자원 확장 정책을 적용한다.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RDW와 ADW는 Oracle Exadata 26ai 기반 노드 및 랙단위 병렬 확장한다.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0240" y="3739896"/>
            <a:ext cx="566928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3739896"/>
            <a:ext cx="2148840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유연성이 필요한 서비스 자원은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확장 정책을 적용한다.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3739896"/>
            <a:ext cx="7068312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 프라이빗 클라우드 VM Scale Out(수평확장)을 이용하여 확장한다.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서비스 영역은 마케팅플랫폼과 BI포탈 그리고 데이터거버넌스 영역이다.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실시간 및 미니 싱글뷰 트래픽 급증 대처가 가능하다.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- 6 -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(4/6)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(4/6)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구성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3877056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인프라 구축 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전용 자원은 Appliance 장비를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적용하여 구축한다.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Exadata 26ai 기반 RDW와 ADW를 분리 구축한다.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Exadata는 노드 및 랙기반으로 병렬확장으로 운영성을 확보한다.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920240" y="2916936"/>
            <a:ext cx="56692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P-09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916936"/>
            <a:ext cx="2148840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자원 영역은 농협 프라이빗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클라우드로 적용하여 구축한다.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2916936"/>
            <a:ext cx="7068312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 프라이빗 클라우드 IaaS 기반으로 구축한다.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VM Scale Out(수평확장)을 이용하여 확장하고 관련 서비스 영역은 마케팅플랫폼과 BI포탈 그리고 데이터거버넌스 영역이다.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실시간 및 미니 싱글뷰 트래픽 급증 대처가 가능하다.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1920240" y="4398264"/>
            <a:ext cx="566928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87168" y="4398264"/>
            <a:ext cx="214884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성능민감영역은 가상화에 대한 오버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헤드를 감안하여 구축한다.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6008" y="4398264"/>
            <a:ext cx="7068312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장비는 Baremetal로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중계서는 Unix 기반으로 구축한다.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658368" y="6089904"/>
            <a:ext cx="10835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3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모든 서버를 Baremetal로 구성 시 확장성 리스크 발생 / 하드웨어 조달 지연 및 유연성 부족    ▪ 모든 서버를 클라우드 VM으로 구성 시 가상화 오버헤드에 의한 성능 리스크 발생 가능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- 7 -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(5/6)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(5/6)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Resilient (회복탄력성) 구성 정책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3877056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Resilient (회복탄력성)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구성정책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확장 전략 및 Tradeoff를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감안하여 아키텍처 구성한다.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[모든 서버를 Baremetal로 구성 시]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확장성 리스크 발생시 즉 신규 비즈니스 확장 시 하드웨어 조달 지연 및 유연성 부족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[모든 서버를 클라우드 VM으로 구성 시]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가상화 레이어에 오버헤드에 의한 성능 리스크 발생가능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[적용 방식]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P-8, P-9, P-10 정책으로 구성한다.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1920240" y="2916936"/>
            <a:ext cx="566928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916936"/>
            <a:ext cx="2148840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 센터를 활용한 AP 레벨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Active-Active 현실적인 고가용성 전략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6008" y="2916936"/>
            <a:ext cx="7068312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이론적으로 완벽한 DB Level A-A 구조보다 복잡한 DB 동기화를 제거하고 운영 복잡도를 고려한 AP레벨의 확장성 확보한다.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AP 서버는 양센터에서 동시 서비스, DB서비스는 주센터만 Active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DB 레벨의 양방향 동기화는 데이터 충돌·정합성·롤백 복잡도 등 운영 리스크가 과도하게 발생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운영의 복잡도를 최소화함으로써 장애 대응 실수 가능성을 최대한 줄이고 정합성을 최대한 확보한다.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대상시스템은 다음과 같다.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마케팅플랫폼 시스템 / BI 포탈 시스템 / 데이터플랫폼 시스템 / 데이터거버넌스 시스템 / IT서비스 및 업무지원 시스템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20240" y="4398264"/>
            <a:ext cx="566928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87168" y="4398264"/>
            <a:ext cx="214884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주요 서버는 이중화 구축으로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장애에 대비한다.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 센터 구축으로 장애극복한다.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6008" y="4398264"/>
            <a:ext cx="7068312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대상시스템은 다음과 같다.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마케팅플랫폼 시스템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데이터플랫폼 RDW 시스템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IT서비스 및 업무지원 시스템(단말관리/IMDG)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- 8 -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 (6/6)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 전략 (6/6)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11201400" cy="228600"/>
          </a:xfrm>
          <a:prstGeom prst="rect">
            <a:avLst/>
          </a:prstGeom>
          <a:solidFill>
            <a:srgbClr val="F3EBD7"/>
          </a:solidFill>
          <a:ln w="8890">
            <a:solidFill>
              <a:srgbClr val="D9D0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기술 메커니즘 강제 표준화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141732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435608"/>
            <a:ext cx="566928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87168" y="1435608"/>
            <a:ext cx="2148840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6008" y="1435608"/>
            <a:ext cx="7068312" cy="310896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핵심선언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1417320" cy="4572000"/>
          </a:xfrm>
          <a:prstGeom prst="rect">
            <a:avLst/>
          </a:prstGeom>
          <a:solidFill>
            <a:srgbClr val="FAFAFA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기술 메커니즘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표준화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1746504"/>
            <a:ext cx="566928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14884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규격표준화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36008" y="1746504"/>
            <a:ext cx="7068312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HTTP/JSON 통신 규격 통일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전문 표준화 Header + Data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GUID 기반 전문 추적성 확보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920240" y="2889504"/>
            <a:ext cx="566928" cy="3429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889504"/>
            <a:ext cx="2148840" cy="3429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통제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(개발 표준화)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36008" y="2889504"/>
            <a:ext cx="7068312" cy="3429000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Server Side     NH Cloud Framework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Client Side       WebTopSuite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ETL                  IBM DataStage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배치작업 관리  Control-M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이벤트 스트리밍 Kafka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실시간 데이터 동기화 OGG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소스관리 GitLab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개발소스배포관리 GitLab Runner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운영소스배포관리 eCAMS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시스템간 연계 표준 CruzAPIM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대내 시스템 파일 연계 표준 FOS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법인간 연계 GSE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- 9 -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64592"/>
            <a:ext cx="11201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8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[Back_Up] 아키텍처 설계 전략 및 금지 패턴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30936"/>
            <a:ext cx="502920" cy="50292"/>
          </a:xfrm>
          <a:prstGeom prst="rect">
            <a:avLst/>
          </a:prstGeom>
          <a:solidFill>
            <a:srgbClr val="123A7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630936"/>
            <a:ext cx="228600" cy="50292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71016" y="630936"/>
            <a:ext cx="10424160" cy="50292"/>
          </a:xfrm>
          <a:prstGeom prst="rect">
            <a:avLst/>
          </a:prstGeom>
          <a:solidFill>
            <a:srgbClr val="158A3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1201400" cy="329184"/>
          </a:xfrm>
          <a:prstGeom prst="rect">
            <a:avLst/>
          </a:prstGeom>
          <a:solidFill>
            <a:srgbClr val="0C717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금지 패턴 (Anti-Pattern/Guardrail)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197864"/>
            <a:ext cx="530352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1197864"/>
            <a:ext cx="2331720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금지패턴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64992" y="1197864"/>
            <a:ext cx="3246120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금지이유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11112" y="1197864"/>
            <a:ext cx="5093208" cy="301752"/>
          </a:xfrm>
          <a:prstGeom prst="rect">
            <a:avLst/>
          </a:prstGeom>
          <a:solidFill>
            <a:srgbClr val="123A73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허용된 대체 방법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499616"/>
            <a:ext cx="53035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G-01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033272" y="1499616"/>
            <a:ext cx="23317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P2P 직접연결 (DB Link 등)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364992" y="1499616"/>
            <a:ext cx="32461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추적불가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장애확산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감사불가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기술부채 누적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6611112" y="1499616"/>
            <a:ext cx="5093208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CruzAPIM / CDC / Kafka / ETL / FOS 표준 경로 사용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5303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G-02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033272" y="2212848"/>
            <a:ext cx="2331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RDW에서 대용량 분석 쿼리 실행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3364992" y="2212848"/>
            <a:ext cx="32461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실시간 서비스 자원 점유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서비스 장애 유발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6611112" y="2212848"/>
            <a:ext cx="509320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분석 쿼리는 반드시 ADW에서만 실행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502920" y="2798064"/>
            <a:ext cx="5303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G-03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033272" y="2798064"/>
            <a:ext cx="2331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비표준 전문(프로토콜) 사용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364992" y="2798064"/>
            <a:ext cx="32461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확장성 저하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DevOps 자동화방해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6611112" y="2798064"/>
            <a:ext cx="509320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HTTP/JSON + GUID 타입의 표준 전문 사용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53035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G-04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033272" y="3383280"/>
            <a:ext cx="23317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채널이 데이터플랫폼에 직접 쓰기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3364992" y="3383280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도메인 경계 붕괴, 채널 변경이 데이터 구조를 흔듦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611112" y="3383280"/>
            <a:ext cx="509320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채널은 이벤트 발행만 허용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53035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G-05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1033272" y="4005072"/>
            <a:ext cx="23317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센터간 DB 레벨간 Active-Active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3364992" y="4005072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트랜잭션 충돌, 정합성 불일치, 롤백 복잡도 급증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6611112" y="4005072"/>
            <a:ext cx="509320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AP레벨 Active-Active + DB 레벨 Active+Standby 구성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502920" y="4626864"/>
            <a:ext cx="530352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G-06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1033272" y="4626864"/>
            <a:ext cx="23317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배치와 실시간 동일서버 경로 처리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3364992" y="4626864"/>
            <a:ext cx="3246120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배치가 실시간 자원 점유로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SLA(Service Level Agreement) 위반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6611112" y="4626864"/>
            <a:ext cx="5093208" cy="621792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서버, 네트워크, 데이터 경로를 역할별 물리 분리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502920" y="5248656"/>
            <a:ext cx="530352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G-07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033272" y="5248656"/>
            <a:ext cx="23317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설계없는 임의 솔루션 도입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3364992" y="5248656"/>
            <a:ext cx="3246120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아키텍처 구조 훼손, 벤더 종속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6611112" y="5248656"/>
            <a:ext cx="509320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C9CDD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33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정합성 검증 후 승인 거쳐 도입</a:t>
            </a:r>
            <a:endParaRPr lang="en-US" sz="830" dirty="0"/>
          </a:p>
        </p:txBody>
      </p:sp>
      <p:sp>
        <p:nvSpPr>
          <p:cNvPr id="39" name="Text 37"/>
          <p:cNvSpPr/>
          <p:nvPr/>
        </p:nvSpPr>
        <p:spPr>
          <a:xfrm>
            <a:off x="32004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8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농협중앙회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15000" y="6574536"/>
            <a:ext cx="7772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- 10 -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652760" y="6565392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4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주식회사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[Back_Up] 아키텍처 설계 전략 및 정책 적용 (1/6)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패러다임 변화와 5대 도메인 분리 정책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182880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46888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201168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97480" y="274320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1874519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154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9204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60920" y="1828800"/>
            <a:ext cx="457200" cy="36576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60920" y="27432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60920" y="36576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1051560"/>
            <a:ext cx="105156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417320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대내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892808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정보 단말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68296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Package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43784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대고객 채널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051560"/>
            <a:ext cx="100584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417320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영업점 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1947672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미니 싱글뷰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78024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채널 통합
MCI/MQ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008376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대외 MCA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1024128"/>
            <a:ext cx="3154680" cy="448056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1097280"/>
            <a:ext cx="2971800" cy="256032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46304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미니
싱글뷰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3864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공통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732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상담
판매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791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상품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고객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개인
고객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3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기업
고객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464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행동
정보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8112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캠페인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46888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고객 행동
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행동정보
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0368" y="2788920"/>
            <a:ext cx="548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80" b="0">
                <a:solidFill>
                  <a:srgbClr val="232323"/>
                </a:solidFill>
                <a:latin typeface="Malgun Gothic"/>
              </a:rPr>
              <a:t>실시간
처리 EBM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566160"/>
            <a:ext cx="123444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BI 포털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3913632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신용실적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4178808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BI포털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4443984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709160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Self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0288" y="3566160"/>
            <a:ext cx="1298448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913632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비즈메타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42816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데이터품질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572000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데이터흐름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61772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RDW
실시간 SoR
온실시간 요약집계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ADW
분석 SoR
통합/마이데이터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1051560"/>
            <a:ext cx="86868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대내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6832" y="14173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API
G/W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6832" y="192024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56832" y="242316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GSE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6832" y="292608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FOS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6832" y="342900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CDC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56832" y="39319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ETL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1051560"/>
            <a:ext cx="91440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연계 업무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1417320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계정계
Online 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2075688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e뱅킹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2734056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카드 DW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3392424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Big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4050791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외부연계
지도GIS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17520" y="1417320"/>
            <a:ext cx="219456" cy="201168"/>
          </a:xfrm>
          <a:prstGeom prst="roundRect">
            <a:avLst/>
          </a:prstGeom>
          <a:solidFill>
            <a:srgbClr val="F29C37"/>
          </a:solidFill>
          <a:ln>
            <a:solidFill>
              <a:srgbClr val="F29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71600" y="182880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15400" y="1051560"/>
            <a:ext cx="2880360" cy="141732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988552" y="1106424"/>
            <a:ext cx="2734056" cy="256032"/>
          </a:xfrm>
          <a:prstGeom prst="round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정보계 패러다임 변화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25128" y="1380743"/>
            <a:ext cx="2660904" cy="10058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AS-IS 배치 중심 → TO-BE 실시간·병행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CDC 기반 실시간 데이터 통합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고객행동 1초 이내 반응 시스템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AI/NLP 실시간 의사결정 지원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기능 분리로 장애 격리·고가용성 확보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15400" y="2651760"/>
            <a:ext cx="2880360" cy="132588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988552" y="2706624"/>
            <a:ext cx="2734056" cy="256032"/>
          </a:xfrm>
          <a:prstGeom prst="roundRect">
            <a:avLst/>
          </a:prstGeom>
          <a:solidFill>
            <a:srgbClr val="3F9188"/>
          </a:solidFill>
          <a:ln w="7620">
            <a:solidFill>
              <a:srgbClr val="3F9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책임과 경계 분리 핵심 정책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88552" y="300837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99448" y="2980944"/>
            <a:ext cx="2386584" cy="9144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5대 도메인 분리: 데이터플랫폼·마케팅·BI·DG·IT지원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규격 표준: HTTP/JSON + Header + Data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GUID 기반 전문 추적성 확보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15400" y="4160520"/>
            <a:ext cx="2880360" cy="123444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988552" y="4215383"/>
            <a:ext cx="2734056" cy="256032"/>
          </a:xfrm>
          <a:prstGeom prst="round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규격 표준 / 기반 통제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88552" y="451713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99448" y="4489704"/>
            <a:ext cx="2386584" cy="8229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비표준 전문·P2P 직접 연결 차단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모든 통신은 표준 경로로 통제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경계가 명확해야 확장과 장애 격리가 쉬움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[Back_Up] 아키텍처 설계 전략 및 정책 적용 (2/6)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Integration 통제, 자원 분리, 독립 기능 서버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182880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46888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201168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97480" y="274320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1874519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154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9204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60920" y="1828800"/>
            <a:ext cx="457200" cy="36576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60920" y="27432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60920" y="36576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1051560"/>
            <a:ext cx="105156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417320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대내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892808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정보 단말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68296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Package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43784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대고객 채널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051560"/>
            <a:ext cx="100584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417320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영업점 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1947672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미니 싱글뷰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78024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채널 통합
MCI/MQ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008376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대외 MCA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1024128"/>
            <a:ext cx="3154680" cy="448056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1097280"/>
            <a:ext cx="2971800" cy="256032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46304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미니
싱글뷰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3864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공통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732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상담
판매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791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상품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고객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개인
고객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3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기업
고객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464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행동
정보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8112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캠페인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46888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고객 행동
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행동정보
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0368" y="2788920"/>
            <a:ext cx="548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80" b="0">
                <a:solidFill>
                  <a:srgbClr val="232323"/>
                </a:solidFill>
                <a:latin typeface="Malgun Gothic"/>
              </a:rPr>
              <a:t>실시간
처리 EBM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566160"/>
            <a:ext cx="123444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BI 포털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3913632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신용실적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4178808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BI포털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4443984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709160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Self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0288" y="3566160"/>
            <a:ext cx="1298448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913632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비즈메타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42816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데이터품질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572000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데이터흐름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61772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RDW
실시간 SoR
온실시간 요약집계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ADW
분석 SoR
통합/마이데이터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1051560"/>
            <a:ext cx="86868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대내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6832" y="14173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API
G/W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6832" y="192024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56832" y="242316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GSE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6832" y="292608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FOS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6832" y="342900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CDC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56832" y="39319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ETL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1051560"/>
            <a:ext cx="91440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연계 업무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1417320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계정계
Online 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2075688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e뱅킹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2734056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카드 DW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3392424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Big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4050791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외부연계
지도GIS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05472" y="2514600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40680" y="498348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833872" y="1481328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15400" y="1051560"/>
            <a:ext cx="2880360" cy="141732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988552" y="1106424"/>
            <a:ext cx="2734056" cy="256032"/>
          </a:xfrm>
          <a:prstGeom prst="round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Integration 통제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88552" y="140817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99448" y="1380743"/>
            <a:ext cx="2386584" cy="10058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P2P 직접 연결 금지(DB Link 포함)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대내 시스템 간 거래연계 CruzAPIM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대내·대외 파일 연계 FOS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실시간 데이터 연계 CDC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이벤트 스트리밍 연계 Kafka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15400" y="2670048"/>
            <a:ext cx="2880360" cy="123444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8988552" y="2724912"/>
            <a:ext cx="2734056" cy="256032"/>
          </a:xfrm>
          <a:prstGeom prst="round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물리·논리적 자원 분리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88552" y="3026664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99448" y="2999232"/>
            <a:ext cx="2386584" cy="8229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RDW/ADW 분리로 대용량 분석 쿼리 영향 차단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RDW는 온라인 OLTP 전용 DB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ADW는 분석 대용량 DB 전용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15400" y="4114800"/>
            <a:ext cx="2880360" cy="132588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988552" y="4169663"/>
            <a:ext cx="2734056" cy="256032"/>
          </a:xfrm>
          <a:prstGeom prst="round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독립 기능 서버 구성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88552" y="447141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99448" y="4443984"/>
            <a:ext cx="2386584" cy="9144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온라인 AP와 배치 AP 분리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ETL 독립 구성으로 대량 배치 자원 확보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CDC·이벤트·IMDG 서버 분리로 경로 이원화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[Back_Up] 아키텍처 설계 전략 및 정책 적용 (3/6)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하이브리드 확장 전략과 인프라 구성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182880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46888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201168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97480" y="274320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1874519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154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9204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60920" y="1828800"/>
            <a:ext cx="457200" cy="36576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60920" y="27432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60920" y="36576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1051560"/>
            <a:ext cx="105156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417320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대내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892808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정보 단말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68296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Package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43784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대고객 채널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051560"/>
            <a:ext cx="100584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417320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영업점 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1947672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미니 싱글뷰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78024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채널 통합
MCI/MQ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008376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대외 MCA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1024128"/>
            <a:ext cx="3154680" cy="448056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1097280"/>
            <a:ext cx="2971800" cy="256032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46304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미니
싱글뷰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3864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공통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732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상담
판매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791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상품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고객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개인
고객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3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기업
고객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464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행동
정보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8112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캠페인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46888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고객 행동
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행동정보
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0368" y="2788920"/>
            <a:ext cx="548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80" b="0">
                <a:solidFill>
                  <a:srgbClr val="232323"/>
                </a:solidFill>
                <a:latin typeface="Malgun Gothic"/>
              </a:rPr>
              <a:t>실시간
처리 EBM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566160"/>
            <a:ext cx="123444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BI 포털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3913632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신용실적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4178808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BI포털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4443984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709160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Self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0288" y="3566160"/>
            <a:ext cx="1298448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913632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비즈메타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42816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데이터품질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572000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데이터흐름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61772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RDW
실시간 SoR
온실시간 요약집계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ADW
분석 SoR
통합/마이데이터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1051560"/>
            <a:ext cx="86868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대내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6832" y="14173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API
G/W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6832" y="192024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56832" y="242316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GSE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6832" y="292608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FOS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6832" y="342900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CDC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56832" y="39319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ETL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1051560"/>
            <a:ext cx="91440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연계 업무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1417320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계정계
Online 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2075688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e뱅킹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2734056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카드 DW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3392424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Big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4050791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외부연계
지도GIS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321808" y="4590288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749039" y="3730752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7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0" y="1517904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349240" y="461772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14800" y="246888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86600" y="393192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15400" y="960120"/>
            <a:ext cx="2880360" cy="123444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988552" y="1014984"/>
            <a:ext cx="2734056" cy="256032"/>
          </a:xfrm>
          <a:prstGeom prst="round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하이브리드 전략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988552" y="131673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99448" y="1289304"/>
            <a:ext cx="2386584" cy="8229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속도는 전용자원으로, 유연성은 클라우드로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RDW/ADW는 Oracle Exadata 26ai 기반 병렬 확장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운영 확장 자원은 NH Private Cloud VM Scale-Out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15400" y="2377440"/>
            <a:ext cx="2880360" cy="123444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988552" y="2432304"/>
            <a:ext cx="2734056" cy="256032"/>
          </a:xfrm>
          <a:prstGeom prst="round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운영 확장 대상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88552" y="273405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99448" y="2706624"/>
            <a:ext cx="2386584" cy="8229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마케팅 플랫폼, BI 포털, 데이터거버넌스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실시간·미니싱글뷰 트래픽 급증 대응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DR 센터 활용 AP Active-Active 전략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15400" y="3794760"/>
            <a:ext cx="2880360" cy="141732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8988552" y="3849624"/>
            <a:ext cx="2734056" cy="256032"/>
          </a:xfrm>
          <a:prstGeom prst="round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인프라 구성 방향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988552" y="415137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99448" y="4123944"/>
            <a:ext cx="2386584" cy="10058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데이터 전용 자원: RDW·ADW 분리 구축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서비스 영역 자원: NH Cloud IaaS 기반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성능 민감 영역: ETL Baremetal, CDC Unix 기반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[Back_Up] 아키텍처 설계 전략 및 정책 적용 (4/6)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Hybrid Tradeoff, 고가용성, DR 센터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182880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46888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201168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97480" y="274320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1874519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154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9204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60920" y="1828800"/>
            <a:ext cx="457200" cy="36576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60920" y="27432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60920" y="36576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1051560"/>
            <a:ext cx="105156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417320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대내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892808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정보 단말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68296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Package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43784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대고객 채널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051560"/>
            <a:ext cx="100584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417320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영업점 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1947672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미니 싱글뷰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78024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채널 통합
MCI/MQ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008376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대외 MCA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1024128"/>
            <a:ext cx="3154680" cy="448056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1097280"/>
            <a:ext cx="2971800" cy="256032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46304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미니
싱글뷰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3864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공통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732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상담
판매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791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상품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고객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개인
고객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3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기업
고객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464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행동
정보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8112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캠페인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46888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고객 행동
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행동정보
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0368" y="2788920"/>
            <a:ext cx="548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80" b="0">
                <a:solidFill>
                  <a:srgbClr val="232323"/>
                </a:solidFill>
                <a:latin typeface="Malgun Gothic"/>
              </a:rPr>
              <a:t>실시간
처리 EBM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566160"/>
            <a:ext cx="123444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BI 포털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3913632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신용실적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4178808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BI포털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4443984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709160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Self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0288" y="3566160"/>
            <a:ext cx="1298448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913632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비즈메타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42816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데이터품질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572000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데이터흐름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61772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RDW
실시간 SoR
온실시간 요약집계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ADW
분석 SoR
통합/마이데이터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1051560"/>
            <a:ext cx="86868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대내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6832" y="14173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API
G/W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6832" y="192024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56832" y="242316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GSE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6832" y="292608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FOS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6832" y="342900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CDC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56832" y="39319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ETL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1051560"/>
            <a:ext cx="91440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연계 업무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1417320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계정계
Online 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2075688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e뱅킹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2734056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카드 DW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3392424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Big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4050791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외부연계
지도GIS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40880" y="4754880"/>
            <a:ext cx="219456" cy="201168"/>
          </a:xfrm>
          <a:prstGeom prst="roundRect">
            <a:avLst/>
          </a:prstGeom>
          <a:solidFill>
            <a:srgbClr val="F29C37"/>
          </a:solidFill>
          <a:ln>
            <a:solidFill>
              <a:srgbClr val="F29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80760" y="3611880"/>
            <a:ext cx="219456" cy="201168"/>
          </a:xfrm>
          <a:prstGeom prst="roundRect">
            <a:avLst/>
          </a:prstGeom>
          <a:solidFill>
            <a:srgbClr val="F29C37"/>
          </a:solidFill>
          <a:ln>
            <a:solidFill>
              <a:srgbClr val="F29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394960" y="388620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44368" y="109728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15400" y="1005840"/>
            <a:ext cx="2880360" cy="150876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988552" y="1060704"/>
            <a:ext cx="2734056" cy="256032"/>
          </a:xfrm>
          <a:prstGeom prst="round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Hybrid 확장 전략 및 Tradeoff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88552" y="136245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99448" y="1335024"/>
            <a:ext cx="2386584" cy="10972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모든 서버 Baremetal 구성 시: 확장성 리스크와 하드웨어 조달 지연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모든 서버 Cloud VM 구성 시: 가상화 오버헤드와 성능 리스크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적용 방식: P-8, P-9, P-10 정책 조합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915400" y="2788920"/>
            <a:ext cx="2880360" cy="137160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988552" y="2843784"/>
            <a:ext cx="2734056" cy="256032"/>
          </a:xfrm>
          <a:prstGeom prst="round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고가용성 구축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88552" y="314553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99448" y="3118103"/>
            <a:ext cx="2386584" cy="9601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주요 서버 이중화: 마케팅플랫폼, BI 포털, 데이터플랫폼, DG, 지원시스템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DR 센터 구축: 마케팅플랫폼과 RDW 대상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AP Active-Active + DB Active-Standby 현실화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15400" y="4434840"/>
            <a:ext cx="2880360" cy="114300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988552" y="4489703"/>
            <a:ext cx="2734056" cy="256032"/>
          </a:xfrm>
          <a:prstGeom prst="round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복잡도 최소화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88552" y="4791455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99448" y="4764024"/>
            <a:ext cx="2386584" cy="7315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DB 레벨 완전 Active-Active보다 AP 레벨 확장 우선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데이터 충돌·정합성·롤백 복잡도 최소화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장애 대응 실수 가능성을 줄이고 운영 정합성 확보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[Back_Up] 아키텍처 설계 전략 및 정책 적용 (5/6)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요소기술 표준화와 통합 메커니즘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182880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46888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201168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97480" y="274320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1874519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154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9204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60920" y="1828800"/>
            <a:ext cx="457200" cy="36576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60920" y="27432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60920" y="36576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1051560"/>
            <a:ext cx="105156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417320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대내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892808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정보 단말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68296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Package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43784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대고객 채널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051560"/>
            <a:ext cx="100584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417320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영업점 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1947672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미니 싱글뷰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78024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채널 통합
MCI/MQ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008376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대외 MCA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1024128"/>
            <a:ext cx="3154680" cy="448056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1097280"/>
            <a:ext cx="2971800" cy="256032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46304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미니
싱글뷰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3864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공통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732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상담
판매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791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상품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고객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개인
고객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3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기업
고객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464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행동
정보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8112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캠페인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46888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고객 행동
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행동정보
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0368" y="2788920"/>
            <a:ext cx="548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80" b="0">
                <a:solidFill>
                  <a:srgbClr val="232323"/>
                </a:solidFill>
                <a:latin typeface="Malgun Gothic"/>
              </a:rPr>
              <a:t>실시간
처리 EBM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566160"/>
            <a:ext cx="123444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BI 포털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3913632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신용실적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4178808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BI포털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4443984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709160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Self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0288" y="3566160"/>
            <a:ext cx="1298448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913632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비즈메타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42816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데이터품질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572000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데이터흐름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61772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RDW
실시간 SoR
온실시간 요약집계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ADW
분석 SoR
통합/마이데이터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1051560"/>
            <a:ext cx="86868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대내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6832" y="14173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API
G/W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6832" y="192024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56832" y="242316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GSE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6832" y="292608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FOS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6832" y="342900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CDC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56832" y="39319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ETL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1051560"/>
            <a:ext cx="91440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연계 업무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1417320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계정계
Online 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2075688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e뱅킹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2734056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카드 DW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3392424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Big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4050791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외부연계
지도GIS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4048" y="1399032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703320" y="3575304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17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95160" y="192024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95160" y="3429000"/>
            <a:ext cx="219456" cy="201168"/>
          </a:xfrm>
          <a:prstGeom prst="roundRect">
            <a:avLst/>
          </a:prstGeom>
          <a:solidFill>
            <a:srgbClr val="C84141"/>
          </a:solidFill>
          <a:ln>
            <a:solidFill>
              <a:srgbClr val="C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19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40680" y="5010912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15400" y="960120"/>
            <a:ext cx="2880360" cy="114300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988552" y="1014984"/>
            <a:ext cx="2734056" cy="256032"/>
          </a:xfrm>
          <a:prstGeom prst="round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요소기술 표준화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88552" y="131673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99448" y="1289304"/>
            <a:ext cx="2386584" cy="7315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HTTP/JSON 통신 규격 통일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전문 표준화 Header + Data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GUID 기반 전문 추적성 확보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15400" y="2267712"/>
            <a:ext cx="2880360" cy="150876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988552" y="2322576"/>
            <a:ext cx="2734056" cy="256032"/>
          </a:xfrm>
          <a:prstGeom prst="round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프레임워크 통일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88552" y="2624328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99448" y="2596896"/>
            <a:ext cx="2386584" cy="10972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Server Side: NH Cloud Framework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Client Side: WebTopSuite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ETL: IBM DataStage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배치작업 관리: Control-M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이벤트 스트리밍: Kafka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15400" y="3977639"/>
            <a:ext cx="2880360" cy="155448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988552" y="4032503"/>
            <a:ext cx="2734056" cy="256032"/>
          </a:xfrm>
          <a:prstGeom prst="round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Integration / 데이터 흐름 통제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988552" y="4334255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99448" y="4306824"/>
            <a:ext cx="2386584" cy="11430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NO P2P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CruzAPIM, FOS, GSE를 표준 연계 경로로 적용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데이터 동기화 CDC, 이벤트 수집 Kafka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ADW-ETL 전용 자원 강제화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[Back_Up] 아키텍처 설계 전략 및 정책 적용 (6/6)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FAST 실시간 마케팅과 DEEP 분석 의사결정 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920240"/>
            <a:ext cx="91440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51760" y="1920240"/>
            <a:ext cx="8229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06240" y="1920240"/>
            <a:ext cx="73152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1920240"/>
            <a:ext cx="91440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1920240"/>
            <a:ext cx="91440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49039" y="4389120"/>
            <a:ext cx="822961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4389120"/>
            <a:ext cx="73152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4389120"/>
            <a:ext cx="10058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2148840"/>
            <a:ext cx="0" cy="1828799"/>
          </a:xfrm>
          <a:prstGeom prst="line">
            <a:avLst/>
          </a:prstGeom>
          <a:ln w="15240">
            <a:solidFill>
              <a:srgbClr val="F29C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37760" y="2148840"/>
            <a:ext cx="0" cy="1828799"/>
          </a:xfrm>
          <a:prstGeom prst="line">
            <a:avLst/>
          </a:prstGeom>
          <a:ln w="15240">
            <a:solidFill>
              <a:srgbClr val="F29C3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1417320"/>
            <a:ext cx="868680" cy="114300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대고객 채널
인터넷·스마트·SMS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1600200"/>
            <a:ext cx="777240" cy="50292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Wise Collector
Proxy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1600200"/>
            <a:ext cx="777240" cy="50292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Kafka
이벤트 수집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554480"/>
            <a:ext cx="822960" cy="594360"/>
          </a:xfrm>
          <a:prstGeom prst="rect">
            <a:avLst/>
          </a:prstGeom>
          <a:solidFill>
            <a:srgbClr val="F7C630"/>
          </a:solidFill>
          <a:ln w="7620">
            <a:solidFill>
              <a:srgbClr val="F29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1">
                <a:solidFill>
                  <a:srgbClr val="232323"/>
                </a:solidFill>
                <a:latin typeface="Malgun Gothic"/>
              </a:rPr>
              <a:t>고객행동
데이터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554480"/>
            <a:ext cx="1005840" cy="59436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1">
                <a:solidFill>
                  <a:srgbClr val="232323"/>
                </a:solidFill>
                <a:latin typeface="Malgun Gothic"/>
              </a:rPr>
              <a:t>행동정보처리
실시간 EBM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600200"/>
            <a:ext cx="777240" cy="50292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UMS
오퍼링 전달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77639"/>
            <a:ext cx="868680" cy="59436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계정계 원천
Online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4069080"/>
            <a:ext cx="777240" cy="41148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CDC
실시간 전달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931920"/>
            <a:ext cx="1005840" cy="68580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1">
                <a:solidFill>
                  <a:srgbClr val="232323"/>
                </a:solidFill>
                <a:latin typeface="Malgun Gothic"/>
              </a:rPr>
              <a:t>RDW
실시간 적재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4069080"/>
            <a:ext cx="640080" cy="41148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ETL
정제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931920"/>
            <a:ext cx="1005840" cy="68580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1">
                <a:solidFill>
                  <a:srgbClr val="232323"/>
                </a:solidFill>
                <a:latin typeface="Malgun Gothic"/>
              </a:rPr>
              <a:t>ADW
전략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868680" cy="68580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BI 포털
지표 생성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" y="1234440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21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18688" y="1435608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99432" y="1325880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20" y="1389888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24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83080" y="3877056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10712" y="3749039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3168" y="388620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25312" y="3749039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3749039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1005840"/>
            <a:ext cx="2880360" cy="1874519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988552" y="1060704"/>
            <a:ext cx="2734056" cy="256032"/>
          </a:xfrm>
          <a:prstGeom prst="round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FAST – 실시간 반응형 마케팅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88552" y="136245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1335024"/>
            <a:ext cx="2386584" cy="1463039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고객행동 감지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Kafka 이벤트 수집 및 전달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마케팅플랫폼 고객행동데이터·행동정보처리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UMS를 통한 고객 오퍼링 전달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400" y="3154680"/>
            <a:ext cx="2880360" cy="2057400"/>
          </a:xfrm>
          <a:prstGeom prst="round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88552" y="3209544"/>
            <a:ext cx="2734056" cy="256032"/>
          </a:xfrm>
          <a:prstGeom prst="round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DEEP – 분석 및 전략 의사결정 지원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8552" y="351129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3483864"/>
            <a:ext cx="2386584" cy="16459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계정계 원천 데이터 발생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CDC를 통한 실시간 데이터 전달(RDW)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RDW 실시간 적재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ETL 정제 이후 ADW 적재</a:t>
            </a:r>
          </a:p>
          <a:p>
            <a:pPr>
              <a:defRPr sz="760">
                <a:solidFill>
                  <a:srgbClr val="232323"/>
                </a:solidFill>
                <a:latin typeface="Malgun Gothic"/>
              </a:defRPr>
            </a:pPr>
            <a:r>
              <a:t>→ BI포털 분석 경영지표 생성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559552"/>
            <a:ext cx="26517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315EA5"/>
                </a:solidFill>
                <a:latin typeface="Malgun Gothic"/>
              </a:rPr>
              <a:t>정확한 데이터 기반의 전략적 의사결정 및 리스크 관리 지원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도메인 아키텍처 설계 전략 적용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전체 설계전략 번호 매핑과 도메인별 적용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182880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2468880"/>
            <a:ext cx="640080" cy="0"/>
          </a:xfrm>
          <a:prstGeom prst="line">
            <a:avLst/>
          </a:prstGeom>
          <a:ln w="12700">
            <a:solidFill>
              <a:srgbClr val="78829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97480" y="201168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697480" y="2743200"/>
            <a:ext cx="36576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1874519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89320" y="3154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89204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60920" y="1828800"/>
            <a:ext cx="457200" cy="36576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60920" y="27432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60920" y="3657600"/>
            <a:ext cx="457200" cy="18288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" y="1051560"/>
            <a:ext cx="105156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417320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대내 채널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892808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정보 단말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68296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Package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843784"/>
            <a:ext cx="868680" cy="30175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60" b="0">
                <a:solidFill>
                  <a:srgbClr val="232323"/>
                </a:solidFill>
                <a:latin typeface="Malgun Gothic"/>
              </a:rPr>
              <a:t>대고객 채널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051560"/>
            <a:ext cx="100584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채널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1417320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영업점 MCA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1947672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미니 싱글뷰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2478024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채널 통합
MCI/MQ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008376"/>
            <a:ext cx="822960" cy="36576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40" b="0">
                <a:solidFill>
                  <a:srgbClr val="232323"/>
                </a:solidFill>
                <a:latin typeface="Malgun Gothic"/>
              </a:rPr>
              <a:t>대외 MCA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1024128"/>
            <a:ext cx="3154680" cy="448056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63240" y="1097280"/>
            <a:ext cx="2971800" cy="256032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146304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마케팅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미니
싱글뷰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83864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공통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6732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상담
판매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0791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상품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통합
고객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개인
고객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01183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기업
고객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84648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행동
정보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8112" y="1783080"/>
            <a:ext cx="256032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30" b="0">
                <a:solidFill>
                  <a:srgbClr val="232323"/>
                </a:solidFill>
                <a:latin typeface="Malgun Gothic"/>
              </a:rPr>
              <a:t>캠페인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46888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행동정보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고객 행동
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788920"/>
            <a:ext cx="777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행동정보
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30368" y="2788920"/>
            <a:ext cx="548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80" b="0">
                <a:solidFill>
                  <a:srgbClr val="232323"/>
                </a:solidFill>
                <a:latin typeface="Malgun Gothic"/>
              </a:rPr>
              <a:t>실시간
처리 EBM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566160"/>
            <a:ext cx="123444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BI 포털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3913632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신용실적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4178808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BI포털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4443984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3552" y="4709160"/>
            <a:ext cx="914400" cy="201168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Self BI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0288" y="3566160"/>
            <a:ext cx="1298448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913632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비즈메타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42816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데이터품질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4572000"/>
            <a:ext cx="841248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데이터흐름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617720"/>
            <a:ext cx="2743200" cy="256032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73552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RDW
실시간 SoR
온실시간 요약집계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4956048"/>
            <a:ext cx="1143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40" b="0">
                <a:solidFill>
                  <a:srgbClr val="232323"/>
                </a:solidFill>
                <a:latin typeface="Malgun Gothic"/>
              </a:rPr>
              <a:t>ADW
분석 SoR
통합/마이데이터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1051560"/>
            <a:ext cx="86868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대내 통합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6832" y="14173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API
G/W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56832" y="192024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56832" y="242316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GSE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56832" y="292608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FOS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6832" y="342900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CDC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56832" y="3931920"/>
            <a:ext cx="685800" cy="329184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ETL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1051560"/>
            <a:ext cx="914400" cy="256032"/>
          </a:xfrm>
          <a:prstGeom prst="rect">
            <a:avLst/>
          </a:prstGeom>
          <a:solidFill>
            <a:srgbClr val="226C6F"/>
          </a:solidFill>
          <a:ln w="7620">
            <a:solidFill>
              <a:srgbClr val="226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연계 업무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1417320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계정계
Online DB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2075688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e뱅킹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18120" y="2734056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카드 DW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3392424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Big 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4050791"/>
            <a:ext cx="713232" cy="438912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외부연계
지도GIS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17520" y="1417320"/>
            <a:ext cx="219456" cy="201168"/>
          </a:xfrm>
          <a:prstGeom prst="roundRect">
            <a:avLst/>
          </a:prstGeom>
          <a:solidFill>
            <a:srgbClr val="F29C37"/>
          </a:solidFill>
          <a:ln>
            <a:solidFill>
              <a:srgbClr val="F29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71600" y="182880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05472" y="2514600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40680" y="498348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33872" y="1481328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321808" y="4590288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49039" y="3730752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0" y="1517904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232323"/>
                </a:solidFill>
                <a:latin typeface="Malgun Gothic"/>
              </a:rPr>
              <a:t>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349240" y="461772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9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0" y="246888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86600" y="3931920"/>
            <a:ext cx="219456" cy="201168"/>
          </a:xfrm>
          <a:prstGeom prst="roundRect">
            <a:avLst/>
          </a:prstGeom>
          <a:solidFill>
            <a:srgbClr val="228B56"/>
          </a:solidFill>
          <a:ln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15400" y="960120"/>
            <a:ext cx="2788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Malgun Gothic"/>
              </a:rPr>
              <a:t>아키텍처 설계 전략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1289304"/>
            <a:ext cx="2423160" cy="18288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8915400" y="1453896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도메인 분리로 서비스 기능 확인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61120" y="1773936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44584" y="175564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도메인 분리로 서버 역할 정리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961120" y="2084832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44584" y="2066544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온라인/배치 영역 분리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61120" y="2395728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244584" y="2377440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ETL 별도 배치 처리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961120" y="2706624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44584" y="2688336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이벤트 전용 고속 레인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15400" y="3044951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Hybrid 인프라 구성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961120" y="3364991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44584" y="3346703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데이터 전용 영역 수직 확장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961120" y="3675887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244584" y="3657599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서비스 영역 수평 확장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961120" y="3986783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244584" y="3968496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DR 센터 활용 AP-A 전략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15400" y="4325112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규격 표준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961120" y="4645151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44584" y="4626864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거래기반 통신 HTTP/JSON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961120" y="4956047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44584" y="4937759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표준전문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961120" y="5266943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244584" y="5248655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GUID 기반 관측성 확보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도메인 아키텍처 설계 전략 적용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데이터플랫폼: RDW/ADW 이원화와 데이터 흐름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1828800"/>
            <a:ext cx="10058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2743200"/>
            <a:ext cx="10058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4023360"/>
            <a:ext cx="10058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2011680"/>
            <a:ext cx="73152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26080" y="2743200"/>
            <a:ext cx="73152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2377440"/>
            <a:ext cx="0" cy="105156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715000" y="1828800"/>
            <a:ext cx="1097280" cy="27432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715000" y="3840480"/>
            <a:ext cx="1097280" cy="27432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0040" y="1417320"/>
            <a:ext cx="868680" cy="7315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원천 시스템
계정계·연계업무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14600"/>
            <a:ext cx="868680" cy="7315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비대면 채널
Kafka 이벤트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94760"/>
            <a:ext cx="868680" cy="68580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외부/파일
FOS·MFT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1737360"/>
            <a:ext cx="868680" cy="246888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70" b="1">
                <a:solidFill>
                  <a:srgbClr val="232323"/>
                </a:solidFill>
                <a:latin typeface="Malgun Gothic"/>
              </a:rPr>
              <a:t>수집 레이어
CDC / FOS / MFT / Kafka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1143000"/>
            <a:ext cx="2377440" cy="443484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 플랫폼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508760"/>
            <a:ext cx="1828800" cy="146304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RDW
실시간 SoR · FeedBack · 공통
온실시간 요약집계 · 보고서마트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3703320"/>
            <a:ext cx="182880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ADW
분석 SoR · 통합마트 · OLAP
대량 분석 · Feedback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2" y="3127248"/>
            <a:ext cx="640080" cy="320040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1417320"/>
            <a:ext cx="1143000" cy="86868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타깃 시스템
경영관리·리스크·마이데이터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3657600"/>
            <a:ext cx="1143000" cy="77724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외부계
대외기관·지도GIS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1572768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1298448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73752" y="2944368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365760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123444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960120"/>
            <a:ext cx="2788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Malgun Gothic"/>
              </a:rPr>
              <a:t>아키텍처 설계 전략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289304"/>
            <a:ext cx="2423160" cy="18288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1453896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도메인 분리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177393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44584" y="175564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온라인/배치 영역 분리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2084832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44584" y="2066544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RDW·ADW 분리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2423160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데이터 전송 이원화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2743200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584" y="2724912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실시간 CDC 처리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3054096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44584" y="303580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이벤트 Kafka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0" y="3364991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3346703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ETL 대용량 배치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5400" y="3703320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배치 최적화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4023359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44584" y="4005072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RDW: OLTP 전용 창고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4334255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44584" y="431596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ADW: 분석 창고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업무 도메인 아키텍처 설계 전략 적용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BI 포털: 서비스 경계와 분석 연계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43000" y="2011680"/>
            <a:ext cx="731519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23160" y="2011680"/>
            <a:ext cx="68580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15000" y="2011680"/>
            <a:ext cx="68580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2011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3931920"/>
            <a:ext cx="68580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66560" y="393192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1554480"/>
            <a:ext cx="822960" cy="105156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정보단말
Package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1600200"/>
            <a:ext cx="685800" cy="91440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인증관리
L4 / WEB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1097280"/>
            <a:ext cx="2834640" cy="452628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BI 포털 VM / IaaS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463040"/>
            <a:ext cx="22860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신용실적 어플리케이션
수신·여신·저축·사무관리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286000"/>
            <a:ext cx="22860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BI 포털 어플리케이션(DataEye)
대시보드·보고서·권한·관리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108960"/>
            <a:ext cx="22860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Self-BI 어플리케이션(BI-Matrix)
비정형 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931920"/>
            <a:ext cx="228600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570" b="0">
                <a:solidFill>
                  <a:srgbClr val="232323"/>
                </a:solidFill>
                <a:latin typeface="Malgun Gothic"/>
              </a:rPr>
              <a:t>OLAP 어플리케이션(MSTR)
정형/비정형 보고서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828800"/>
            <a:ext cx="502920" cy="320040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ETL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1828800"/>
            <a:ext cx="594360" cy="365760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3749039"/>
            <a:ext cx="594360" cy="365760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4572000"/>
            <a:ext cx="1005840" cy="59436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30" b="0">
                <a:solidFill>
                  <a:srgbClr val="232323"/>
                </a:solidFill>
                <a:latin typeface="Malgun Gothic"/>
              </a:rPr>
              <a:t>CruzAPIM
EAI/FOS/MFT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55648" y="141732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118872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169164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87184" y="169164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960120"/>
            <a:ext cx="2788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Malgun Gothic"/>
              </a:rPr>
              <a:t>아키텍처 설계 전략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1289304"/>
            <a:ext cx="2423160" cy="18288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1453896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도메인 분리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177393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4584" y="175564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BI 도메인 서버 역할 분리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2084832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44584" y="2066544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서비스와 분석 경계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15400" y="2423160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규격·연계 표준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2743200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44584" y="2724912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HTTP/JSON 표준전문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3054096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4584" y="303580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CruzAPIM/FOS/MFT 경유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3392423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프레임워크 통일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3712463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3694175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NH Cloud Framework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4023359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44584" y="4005071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WebTopSuite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4334255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44584" y="4315967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Report Designer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Malgun Gothic"/>
              </a:rPr>
              <a:t>업무 도메인 아키텍처 설계 전략 적용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21792"/>
            <a:ext cx="548640" cy="36576"/>
          </a:xfrm>
          <a:prstGeom prst="rect">
            <a:avLst/>
          </a:prstGeom>
          <a:solidFill>
            <a:srgbClr val="315EA5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621792"/>
            <a:ext cx="320040" cy="36576"/>
          </a:xfrm>
          <a:prstGeom prst="rect">
            <a:avLst/>
          </a:prstGeom>
          <a:solidFill>
            <a:srgbClr val="F7C630"/>
          </a:solidFill>
          <a:ln w="7620"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21792"/>
            <a:ext cx="10424160" cy="36576"/>
          </a:xfrm>
          <a:prstGeom prst="rect">
            <a:avLst/>
          </a:prstGeom>
          <a:solidFill>
            <a:srgbClr val="228B56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877824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606060"/>
                </a:solidFill>
                <a:latin typeface="Malgun Gothic"/>
              </a:rPr>
              <a:t>데이터거버넌스: 메타·품질·흐름 관리 독립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82512"/>
            <a:ext cx="36576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606060"/>
                </a:solidFill>
                <a:latin typeface="Malgun Gothi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228B56"/>
                </a:solidFill>
                <a:latin typeface="Malgun Gothic"/>
              </a:rPr>
              <a:t>농협중앙회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92240"/>
            <a:ext cx="1097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29C37"/>
                </a:solidFill>
                <a:latin typeface="Malgun Gothic"/>
              </a:rPr>
              <a:t>SK 주식회사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43000" y="1965960"/>
            <a:ext cx="731519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68880" y="1965960"/>
            <a:ext cx="64008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15000" y="2011680"/>
            <a:ext cx="73152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03720" y="201168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3931920"/>
            <a:ext cx="73152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3931920"/>
            <a:ext cx="548640" cy="0"/>
          </a:xfrm>
          <a:prstGeom prst="line">
            <a:avLst/>
          </a:prstGeom>
          <a:ln w="12700">
            <a:solidFill>
              <a:srgbClr val="788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1463040"/>
            <a:ext cx="822960" cy="105156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패키지 단말
BI 포털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1463040"/>
            <a:ext cx="731520" cy="1325880"/>
          </a:xfrm>
          <a:prstGeom prst="rect">
            <a:avLst/>
          </a:prstGeom>
          <a:solidFill>
            <a:srgbClr val="E6F0FF"/>
          </a:solidFill>
          <a:ln w="7620"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0">
                <a:solidFill>
                  <a:srgbClr val="232323"/>
                </a:solidFill>
                <a:latin typeface="Malgun Gothic"/>
              </a:rPr>
              <a:t>인증관리
L4 / WEB
IMDG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051560"/>
            <a:ext cx="2834640" cy="4617720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232323"/>
                </a:solidFill>
                <a:latin typeface="Malgun Gothic"/>
              </a:rPr>
              <a:t>데이터거버넌스 VM / IaaS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508760"/>
            <a:ext cx="219456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비즈메타
업무용어 · 표준기준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788920"/>
            <a:ext cx="219456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데이터 품질
CTQ · DQI · 프로파일링 · BR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4114800"/>
            <a:ext cx="219456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0">
                <a:solidFill>
                  <a:srgbClr val="232323"/>
                </a:solidFill>
                <a:latin typeface="Malgun Gothic"/>
              </a:rPr>
              <a:t>데이터 흐름
흐름 수집/파싱 · 영향도/검색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828800"/>
            <a:ext cx="548640" cy="320040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20" b="1">
                <a:solidFill>
                  <a:srgbClr val="FFFFFF"/>
                </a:solidFill>
                <a:latin typeface="Malgun Gothic"/>
              </a:rPr>
              <a:t>JDBC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828800"/>
            <a:ext cx="594360" cy="365760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RDW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749039"/>
            <a:ext cx="594360" cy="365760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ADW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17720"/>
            <a:ext cx="868680" cy="777240"/>
          </a:xfrm>
          <a:prstGeom prst="rect">
            <a:avLst/>
          </a:prstGeom>
          <a:solidFill>
            <a:srgbClr val="7046A0"/>
          </a:solidFill>
          <a:ln w="7620">
            <a:solidFill>
              <a:srgbClr val="70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FOS
EAI
MFT
CruzAPIM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132588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08960" y="1261872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69164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0336" y="1691640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960120"/>
            <a:ext cx="2788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32323"/>
                </a:solidFill>
                <a:latin typeface="Malgun Gothic"/>
              </a:rPr>
              <a:t>아키텍처 설계 전략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289304"/>
            <a:ext cx="2423160" cy="18288"/>
          </a:xfrm>
          <a:prstGeom prst="rect">
            <a:avLst/>
          </a:prstGeom>
          <a:solidFill>
            <a:srgbClr val="606060"/>
          </a:solidFill>
          <a:ln w="762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Malgun Gothic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1453896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도메인 분리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1773936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44584" y="175564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DG 전용 서버 역할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2084832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44584" y="2066544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품질·메타·흐름 분리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2423160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데이터 전송 이원화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2743200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44584" y="2724912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JDBC/ETL 목적별 사용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3054096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44584" y="3035808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FOS/MFT 파일 경유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3392423"/>
            <a:ext cx="2788920" cy="237744"/>
          </a:xfrm>
          <a:prstGeom prst="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1">
                <a:solidFill>
                  <a:srgbClr val="232323"/>
                </a:solidFill>
                <a:latin typeface="Malgun Gothic"/>
              </a:rPr>
              <a:t>Integration 통제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3712463"/>
            <a:ext cx="219456" cy="201168"/>
          </a:xfrm>
          <a:prstGeom prst="roundRect">
            <a:avLst/>
          </a:prstGeom>
          <a:solidFill>
            <a:srgbClr val="F7C630"/>
          </a:solidFill>
          <a:ln>
            <a:solidFill>
              <a:srgbClr val="F7C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2323"/>
                </a:solidFill>
                <a:latin typeface="Malgun Gothic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44584" y="3694175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NO P2P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0" y="4023359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4005071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CruzAPIM·EAI 표준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4334255"/>
            <a:ext cx="219456" cy="201168"/>
          </a:xfrm>
          <a:prstGeom prst="roundRect">
            <a:avLst/>
          </a:prstGeom>
          <a:solidFill>
            <a:srgbClr val="315EA5"/>
          </a:solidFill>
          <a:ln>
            <a:solidFill>
              <a:srgbClr val="315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44584" y="4315967"/>
            <a:ext cx="2423160" cy="274320"/>
          </a:xfrm>
          <a:prstGeom prst="rect">
            <a:avLst/>
          </a:prstGeom>
          <a:solidFill>
            <a:srgbClr val="EEF0F2"/>
          </a:solidFill>
          <a:ln w="762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660" b="0">
                <a:solidFill>
                  <a:srgbClr val="232323"/>
                </a:solidFill>
                <a:latin typeface="Malgun Gothic"/>
              </a:rPr>
              <a:t>대외계 연계 통제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263746"/>
                </a:solidFill>
                <a:latin typeface="Malgun Gothic"/>
              </a:rPr>
              <a:t>추가 분석 반영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6E7378"/>
                </a:solidFill>
                <a:latin typeface="Malgun Gothic"/>
              </a:rPr>
              <a:t>전략·정책 적용 장표에서 도출한 아키텍처 통제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749808"/>
            <a:ext cx="11475720" cy="45720"/>
          </a:xfrm>
          <a:prstGeom prst="rect">
            <a:avLst/>
          </a:prstGeom>
          <a:solidFill>
            <a:srgbClr val="1C9659"/>
          </a:solidFill>
          <a:ln>
            <a:solidFill>
              <a:srgbClr val="1C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28832" y="137160"/>
            <a:ext cx="502920" cy="320040"/>
          </a:xfrm>
          <a:prstGeom prst="rect">
            <a:avLst/>
          </a:prstGeom>
          <a:solidFill>
            <a:srgbClr val="1D6E72"/>
          </a:solidFill>
          <a:ln>
            <a:solidFill>
              <a:srgbClr val="1D6E72"/>
            </a:solidFill>
          </a:ln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475488" cy="384048"/>
          </a:xfrm>
          <a:prstGeom prst="roundRect">
            <a:avLst/>
          </a:prstGeom>
          <a:solidFill>
            <a:srgbClr val="1D6E72"/>
          </a:solidFill>
          <a:ln>
            <a:solidFill>
              <a:srgbClr val="1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2529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13385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1. 경계 우선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43560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도메인·서버·데이터 경계를 먼저 정의하고 기능을 배치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475488" cy="384048"/>
          </a:xfrm>
          <a:prstGeom prst="roundRect">
            <a:avLst/>
          </a:prstGeom>
          <a:solidFill>
            <a:srgbClr val="1B4D82"/>
          </a:solidFill>
          <a:ln>
            <a:solidFill>
              <a:srgbClr val="1B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7685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18541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2. 표준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48716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CruzAPIM / FOS / GSE / CDC / Kafka / ETL 외 직접 연계 금지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46120"/>
            <a:ext cx="475488" cy="384048"/>
          </a:xfrm>
          <a:prstGeom prst="roundRect">
            <a:avLst/>
          </a:prstGeom>
          <a:solidFill>
            <a:srgbClr val="1D6E72"/>
          </a:solidFill>
          <a:ln>
            <a:solidFill>
              <a:srgbClr val="1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5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23697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3. 자원 분리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538727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온라인·배치·분석·이벤트 자원을 물리/논리적으로 분리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97679"/>
            <a:ext cx="475488" cy="384048"/>
          </a:xfrm>
          <a:prstGeom prst="roundRect">
            <a:avLst/>
          </a:prstGeom>
          <a:solidFill>
            <a:srgbClr val="1B4D82"/>
          </a:solidFill>
          <a:ln>
            <a:solidFill>
              <a:srgbClr val="1B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79975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" y="428853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4. 데이터 이원화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459028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RDW는 실시간·운영, ADW는 분석·대량 집계 중심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43000"/>
            <a:ext cx="475488" cy="384048"/>
          </a:xfrm>
          <a:prstGeom prst="roundRect">
            <a:avLst/>
          </a:prstGeom>
          <a:solidFill>
            <a:srgbClr val="1D6E72"/>
          </a:solidFill>
          <a:ln>
            <a:solidFill>
              <a:srgbClr val="1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22529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113385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5. 표준전문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143560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HTTP/JSON + Header/Data + GUID 기반 추적성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194560"/>
            <a:ext cx="475488" cy="384048"/>
          </a:xfrm>
          <a:prstGeom prst="roundRect">
            <a:avLst/>
          </a:prstGeom>
          <a:solidFill>
            <a:srgbClr val="1B4D82"/>
          </a:solidFill>
          <a:ln>
            <a:solidFill>
              <a:srgbClr val="1B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276856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18541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6. 기술 통일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248716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NH Cloud Framework, WebTopSuite, DataStage, Control-M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246120"/>
            <a:ext cx="475488" cy="384048"/>
          </a:xfrm>
          <a:prstGeom prst="roundRect">
            <a:avLst/>
          </a:prstGeom>
          <a:solidFill>
            <a:srgbClr val="1D6E72"/>
          </a:solidFill>
          <a:ln>
            <a:solidFill>
              <a:srgbClr val="1D6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328415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323697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7. Hybrid Infra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3538727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Exadata, IaaS Scale Out, Baremetal/Unix 성능 민감영역 분리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79"/>
            <a:ext cx="475488" cy="384048"/>
          </a:xfrm>
          <a:prstGeom prst="roundRect">
            <a:avLst/>
          </a:prstGeom>
          <a:solidFill>
            <a:srgbClr val="1B4D82"/>
          </a:solidFill>
          <a:ln>
            <a:solidFill>
              <a:srgbClr val="1B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379975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428853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50" b="1">
                <a:solidFill>
                  <a:srgbClr val="263746"/>
                </a:solidFill>
                <a:latin typeface="Malgun Gothic"/>
              </a:rPr>
              <a:t>8. HA/DR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459028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Malgun Gothic"/>
              </a:rPr>
              <a:t>주요 서비스 이중화, DR 센터 기반 복구 전략 적용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623560"/>
            <a:ext cx="10972800" cy="502920"/>
          </a:xfrm>
          <a:prstGeom prst="roundRect">
            <a:avLst/>
          </a:prstGeom>
          <a:solidFill>
            <a:srgbClr val="EDF7F2"/>
          </a:solidFill>
          <a:ln>
            <a:solidFill>
              <a:srgbClr val="B4D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742432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50" b="1">
                <a:solidFill>
                  <a:srgbClr val="263746"/>
                </a:solidFill>
                <a:latin typeface="Malgun Gothic"/>
              </a:rPr>
              <a:t>최종 해석: 본 추가 장표는 기존 “설계 전략 및 금지 패턴”을 실제 도메인/데이터/통합/런타임 구성에 적용한 추적성 자료로 활용한다.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" y="64465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>
                <a:solidFill>
                  <a:srgbClr val="6E7378"/>
                </a:solidFill>
                <a:latin typeface="Malgun Gothic"/>
              </a:rPr>
              <a:t>농협중앙회 | NSIGHT 아키텍처 전략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50" b="0">
                <a:solidFill>
                  <a:srgbClr val="6E7378"/>
                </a:solidFill>
                <a:latin typeface="Malgun Gothic"/>
              </a:rPr>
              <a:t>21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989320"/>
            <a:ext cx="10698480" cy="292608"/>
          </a:xfrm>
          <a:prstGeom prst="roundRect">
            <a:avLst/>
          </a:prstGeom>
          <a:solidFill>
            <a:srgbClr val="E1F5EB"/>
          </a:solidFill>
          <a:ln w="7620">
            <a:solidFill>
              <a:srgbClr val="228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228B56"/>
                </a:solidFill>
                <a:latin typeface="Malgun Gothic"/>
              </a:rPr>
              <a:t>11~20장은 이미지 캡처가 아니라 편집 가능한 PowerPoint 도형 기반 구성도로 재작성됨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아키텍처 설계전략 및 금지패턴</dc:title>
  <dc:subject>NSIGHT Architecture Strategy and Guardrails</dc:subject>
  <dc:creator>OpenAI</dc:creator>
  <cp:lastModifiedBy>OpenAI</cp:lastModifiedBy>
  <cp:revision>1</cp:revision>
  <dcterms:created xsi:type="dcterms:W3CDTF">2026-08-23T11:18:00Z</dcterms:created>
  <dcterms:modified xsi:type="dcterms:W3CDTF">2026-08-23T11:18:00Z</dcterms:modified>
</cp:coreProperties>
</file>