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71632" y="164592"/>
            <a:ext cx="685800" cy="182880"/>
          </a:xfrm>
          <a:prstGeom prst="rect">
            <a:avLst/>
          </a:prstGeom>
          <a:noFill/>
          <a:ln w="8890">
            <a:solidFill>
              <a:srgbClr val="9D2B2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D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" y="777240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상호금융 차세대 정보계 시스템 구축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60120" y="2761488"/>
            <a:ext cx="7589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설계전략 및 금지패턴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87552" y="342900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4572000"/>
            <a:ext cx="27432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NHNIS–IA–PL01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6071616"/>
            <a:ext cx="7132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본 문서는 “한컴 고딕”으로 작성되었습니다.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농협중앙회의 사전승인 없이 본 내용의 전부 또는 일부에 대한 복사, 전재, 배포 및 사용을 금합니다.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0012680" y="6199632"/>
            <a:ext cx="1417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22960"/>
            <a:ext cx="1828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880360" y="1481328"/>
            <a:ext cx="768096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요약(목적/기간/범위/추진일정)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수행내역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연계단계 적용기준 수립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주요 성과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사전분석 단계 수행 내용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Appendix. 차세대 정보계 아키텍처 산출물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- 2 -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Appendix. 아키텍처 산출물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35640" cy="329184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57276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56232" y="1572768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정보계 아키텍처 개요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39112" y="185623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개념 아키텍처 모델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039112" y="206654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어플리케이션 아키텍처 구성도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039112" y="227685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어플리케이션 기능 분류 체계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039112" y="248716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라. 시스템 그룹 및 어플리케이션 배치 정의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039112" y="269748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마. 목표 시스템 아키텍처 구성도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039112" y="290779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바. 주요 대상 서버 식별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039112" y="311810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(Back-Up) 아키텍처 설계 전략 및 정책 및 적용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325880" y="343814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56232" y="3438144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기술 아키텍처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9112" y="372160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정보계 수행 Zone 정의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039112" y="393192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시스템 대상 노드 구성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039112" y="414223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시스템 노드 배치 구성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039112" y="435254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라. 시스템 기술 컴포넌트 정의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039112" y="456285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마. 도메인 논리 기술 아키텍처 구성 정의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720840" y="157276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51192" y="1572768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인프라 아키텍처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34072" y="185623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하드웨어 구성도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434072" y="206654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소프트웨어 구성도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720840" y="238658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51192" y="2386584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아키텍처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34072" y="267004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정보계 인터페이스 표준 정의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434072" y="288036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기술 인터페이스 구성도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434072" y="309067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시스템 컨텍스트 다이어그램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720840" y="3410712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51192" y="3410712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아키텍처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34072" y="369417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업무 처리 유형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434072" y="390448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채널 업무 처리 유형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434072" y="411480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연계 업무 처리 유형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434072" y="432511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라. 마케팅 이벤트 업무 처리 유형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7434072" y="453542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마. 데이터 분석/제공 업무 처리 유형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7434072" y="474573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바. 파일 연계 업무 처리 유형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7434072" y="495604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사. 배치 업무 처리 유형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720840" y="5276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51192" y="5276088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및 통합개발환경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- 3 -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(1/6)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(1/6)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 분리 핵심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169664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경계분리 핵심 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우선 설계 (Boundary First)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간 경계(Zone)을 먼저 정의하고, 경계 내에서 기능을 설계한다.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없이 기능을 먼저 개발하는 것을 금지한다.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[5대 어플리케이션 도메인 분리]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데이터플랫폼 - 정보계 데이터 기준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마케팅플랫폼 - 고객행동기반 실시간 오퍼링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BI포탈 - AI NLP 기반 의사결정지원 공간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데이터거버넌스 - IT메타기반 데이터 품질, 표준 및 모델의 일관성 유지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IT서비스 및 업무지원 - 아키텍처 일관성 유지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20240" y="3739896"/>
            <a:ext cx="566928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3739896"/>
            <a:ext cx="2148840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인터페이스 강제 (Standard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 Only)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3739896"/>
            <a:ext cx="7068312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시스템간 모든 연계는 CruzAPIM·CDC·Kafka·ETL·FOS·GSE로 통제 표준 경로만 허용한다. P2P 직접 연결은 어떠한 경우에도 허용하지 않는다.</a:t>
            </a:r>
            <a:endParaRPr lang="en-US" sz="730" dirty="0"/>
          </a:p>
          <a:p>
            <a:pPr algn="l" indent="0" marL="0">
              <a:buNone/>
            </a:pP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[Integration통제]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P2P(DB Link 등) 직접연결은 어떠한 경우에도 금지한다.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연계 표준 : CruzAPIM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파일 연계 표준 : FOS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대외 시스템간 파일 연계 표준 : FOS-(타외 MCA-MFT)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연계(EAI) 표준 : CruzAPIM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법인간 연계 : GSE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모든 통제된 표준 경로만 허용한다.</a:t>
            </a:r>
            <a:endParaRPr lang="en-US" sz="730" dirty="0"/>
          </a:p>
          <a:p>
            <a:pPr algn="l" indent="0" marL="0">
              <a:buNone/>
            </a:pP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[규격표준화]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HTTP/JSON 통신 규격 통일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전문 표준화 Header + Data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GUID 기반 전문 추적성 확보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58368" y="6089904"/>
            <a:ext cx="10835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3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경계가 명확해야 확장이 쉽고, 장애가 격리되며, 운영 비용이 통제된다.  시스템 확장성 보장 ▷ 가용성 보장 ▷ 성능 보장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- 4 -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(2/6)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(2/6)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 분리 핵심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169664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경계분리 핵심정책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실시간·배치 자원 및 경로 완전분리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(Separation of Concerns)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서비스와 배치 처리는 서버·DB·네트워크 경로를 물리적으로 분리한다.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RDW(실시간)와 ADW(분석)의 혼용을 금지한다.</a:t>
            </a:r>
            <a:endParaRPr lang="en-US" sz="760" dirty="0"/>
          </a:p>
          <a:p>
            <a:pPr algn="l" indent="0" marL="0">
              <a:buNone/>
            </a:pP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[물리·논리적 자원 분리 (인프라통제)]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RDW, ADW 분리로 대량 분석 쿼리가 실시간 거래 성능 저해 원천 차단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RDW 온라인 OLTP 전용 DB, ADW 분석 대용량 DB 전용으로 활용</a:t>
            </a:r>
            <a:endParaRPr lang="en-US" sz="760" dirty="0"/>
          </a:p>
          <a:p>
            <a:pPr algn="l" indent="0" marL="0">
              <a:buNone/>
            </a:pP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[데이터 경로 이원화]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FAST 경로 : 고객행동 이벤트 - Kafka - 마케팅룰엔진 - 1초이내 오퍼링으로 DB 비경유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DEEP 경로 : 계정계 배치 - CDC 중계서버 - RDW - ETL - ADW 적재, 정확성 중심 배치 처리 (ADW-ETL 대량 배치 처리 경로)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1920240" y="3739896"/>
            <a:ext cx="566928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3739896"/>
            <a:ext cx="2148840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기능 서버 구성 (장애극복)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3739896"/>
            <a:ext cx="7068312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어플리케이션 기능 체계 분류에 따른 시스템 그룹과 대상서버 식별한다.</a:t>
            </a:r>
            <a:endParaRPr lang="en-US" sz="760" dirty="0"/>
          </a:p>
          <a:p>
            <a:pPr algn="l" indent="0" marL="0">
              <a:buNone/>
            </a:pP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[도메인 특성을 고려한 서비스 플랫폼 독립 정의]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온라인 AP / 배치 AP 자원 분리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온라인 실시간 거래와 배치 처리 자원 충돌 방지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ETL 서버 독립 서버 구성 : DataStage 기반 대량 배치 데이터 가공·정제 전용 공간 마련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이벤트 서버 분리 : Kafka 이벤트 스트리밍 전용 고속 실시간 고객 오퍼링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CDC 중계서버 제공 : 계정계 원천 DB의 변경사항 실시간 캡처, 원천 DB 부하 분산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ADW : 전략 분석 전용 대용량 데이터 관리로 데이터 기초 기반 마련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RDW : 실시간 OLTP 운영 관리로 CDC로 수집된 데이터 관리로 실시간 반응 기반 마련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- 5 -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(3/6)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(3/6)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 확보를 위해 속도는 전용자원으로 유연성은 클라우드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169664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(확장성) 속도는 전용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자원으로 유연성은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클라우드로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속도를 위한 전용자원의 확장성은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자원 확장 정책을 적용한다.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RDW와 ADW는 Oracle Exadata 26ai 기반 노드 및 랙단위 병렬 확장한다.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0240" y="3739896"/>
            <a:ext cx="566928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3739896"/>
            <a:ext cx="2148840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유연성이 필요한 서비스 자원은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확장 정책을 적용한다.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3739896"/>
            <a:ext cx="7068312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 프라이빗 클라우드 VM Scale Out(수평확장)을 이용하여 확장한다.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서비스 영역은 마케팅플랫폼과 BI포탈 그리고 데이터거버넌스 영역이다.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실시간 및 미니 싱글뷰 트래픽 급증 대처가 가능하다.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- 6 -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(4/6)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(4/6)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구성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3877056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인프라 구축 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전용 자원은 Appliance 장비를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적용하여 구축한다.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Exadata 26ai 기반 RDW와 ADW를 분리 구축한다.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Exadata는 노드 및 랙기반으로 병렬확장으로 운영성을 확보한다.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920240" y="2916936"/>
            <a:ext cx="56692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916936"/>
            <a:ext cx="2148840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자원 영역은 농협 프라이빗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클라우드로 적용하여 구축한다.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2916936"/>
            <a:ext cx="7068312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 프라이빗 클라우드 IaaS 기반으로 구축한다.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VM Scale Out(수평확장)을 이용하여 확장하고 관련 서비스 영역은 마케팅플랫폼과 BI포탈 그리고 데이터거버넌스 영역이다.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실시간 및 미니 싱글뷰 트래픽 급증 대처가 가능하다.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920240" y="4398264"/>
            <a:ext cx="566928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87168" y="4398264"/>
            <a:ext cx="214884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성능민감영역은 가상화에 대한 오버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헤드를 감안하여 구축한다.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6008" y="4398264"/>
            <a:ext cx="7068312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장비는 Baremetal로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중계서는 Unix 기반으로 구축한다.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58368" y="6089904"/>
            <a:ext cx="10835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3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모든 서버를 Baremetal로 구성 시 확장성 리스크 발생 / 하드웨어 조달 지연 및 유연성 부족    ▪ 모든 서버를 클라우드 VM으로 구성 시 가상화 오버헤드에 의한 성능 리스크 발생 가능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- 7 -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(5/6)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(5/6)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Resilient (회복탄력성) 구성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3877056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Resilient (회복탄력성)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확장 전략 및 Tradeoff를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감안하여 아키텍처 구성한다.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[모든 서버를 Baremetal로 구성 시]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확장성 리스크 발생시 즉 신규 비즈니스 확장 시 하드웨어 조달 지연 및 유연성 부족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[모든 서버를 클라우드 VM으로 구성 시]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가상화 레이어에 오버헤드에 의한 성능 리스크 발생가능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[적용 방식]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P-8, P-9, P-10 정책으로 구성한다.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1920240" y="2916936"/>
            <a:ext cx="56692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916936"/>
            <a:ext cx="2148840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 센터를 활용한 AP 레벨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Active-Active 현실적인 고가용성 전략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2916936"/>
            <a:ext cx="7068312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이론적으로 완벽한 DB Level A-A 구조보다 복잡한 DB 동기화를 제거하고 운영 복잡도를 고려한 AP레벨의 확장성 확보한다.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AP 서버는 양센터에서 동시 서비스, DB서비스는 주센터만 Active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레벨의 양방향 동기화는 데이터 충돌·정합성·롤백 복잡도 등 운영 리스크가 과도하게 발생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운영의 복잡도를 최소화함으로써 장애 대응 실수 가능성을 최대한 줄이고 정합성을 최대한 확보한다.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대상시스템은 다음과 같다.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마케팅플랫폼 시스템 / BI 포탈 시스템 / 데이터플랫폼 시스템 / 데이터거버넌스 시스템 / IT서비스 및 업무지원 시스템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20240" y="4398264"/>
            <a:ext cx="566928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87168" y="4398264"/>
            <a:ext cx="214884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주요 서버는 이중화 구축으로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장애에 대비한다.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 센터 구축으로 장애극복한다.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6008" y="4398264"/>
            <a:ext cx="7068312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대상시스템은 다음과 같다.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마케팅플랫폼 시스템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데이터플랫폼 RDW 시스템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IT서비스 및 업무지원 시스템(단말관리/IMDG)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- 8 -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(6/6)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(6/6)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기술 메커니즘 강제 표준화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572000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기술 메커니즘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표준화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규격표준화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HTTP/JSON 통신 규격 통일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전문 표준화 Header + Data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GUID 기반 전문 추적성 확보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920240" y="2889504"/>
            <a:ext cx="566928" cy="3429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889504"/>
            <a:ext cx="2148840" cy="3429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통제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(개발 표준화)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36008" y="2889504"/>
            <a:ext cx="7068312" cy="3429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Server Side     NH Cloud Framework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Client Side       WebTopSuite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ETL                  IBM DataStage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배치작업 관리  Control-M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이벤트 스트리밍 Kafka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실시간 데이터 동기화 OGG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소스관리 GitLab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개발소스배포관리 GitLab Runner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운영소스배포관리 eCAMS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연계 표준 CruzAPIM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 파일 연계 표준 FOS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법인간 연계 GSE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- 9 -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금지 패턴 (Anti-Pattern/Guardrail)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97864"/>
            <a:ext cx="530352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1197864"/>
            <a:ext cx="2331720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금지패턴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64992" y="1197864"/>
            <a:ext cx="3246120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금지이유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11112" y="1197864"/>
            <a:ext cx="5093208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대체 방법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499616"/>
            <a:ext cx="53035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G-01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033272" y="1499616"/>
            <a:ext cx="23317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P2P 직접연결 (DB Link 등)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364992" y="1499616"/>
            <a:ext cx="32461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추적불가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장애확산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감사불가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기술부채 누적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6611112" y="1499616"/>
            <a:ext cx="5093208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CruzAPIM / CDC / Kafka / ETL / FOS 표준 경로 사용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5303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G-02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033272" y="2212848"/>
            <a:ext cx="2331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RDW에서 대용량 분석 쿼리 실행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3364992" y="2212848"/>
            <a:ext cx="32461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실시간 서비스 자원 점유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서비스 장애 유발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6611112" y="2212848"/>
            <a:ext cx="509320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분석 쿼리는 반드시 ADW에서만 실행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502920" y="2798064"/>
            <a:ext cx="5303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G-03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033272" y="2798064"/>
            <a:ext cx="2331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비표준 전문(프로토콜) 사용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364992" y="2798064"/>
            <a:ext cx="32461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확장성 저하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DevOps 자동화방해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6611112" y="2798064"/>
            <a:ext cx="509320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HTTP/JSON + GUID 타입의 표준 전문 사용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53035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G-04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033272" y="3383280"/>
            <a:ext cx="23317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채널이 데이터플랫폼에 직접 쓰기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3364992" y="3383280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도메인 경계 붕괴, 채널 변경이 데이터 구조를 흔듦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611112" y="3383280"/>
            <a:ext cx="509320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채널은 이벤트 발행만 허용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53035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G-05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1033272" y="4005072"/>
            <a:ext cx="23317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센터간 DB 레벨간 Active-Active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3364992" y="4005072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트랜잭션 충돌, 정합성 불일치, 롤백 복잡도 급증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6611112" y="4005072"/>
            <a:ext cx="509320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AP레벨 Active-Active + DB 레벨 Active+Standby 구성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502920" y="4626864"/>
            <a:ext cx="53035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G-06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1033272" y="4626864"/>
            <a:ext cx="23317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배치와 실시간 동일서버 경로 처리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3364992" y="4626864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배치가 실시간 자원 점유로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SLA(Service Level Agreement) 위반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6611112" y="4626864"/>
            <a:ext cx="509320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서버, 네트워크, 데이터 경로를 역할별 물리 분리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502920" y="5248656"/>
            <a:ext cx="5303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G-07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033272" y="5248656"/>
            <a:ext cx="2331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설계없는 임의 솔루션 도입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3364992" y="5248656"/>
            <a:ext cx="32461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아키텍처 구조 훼손, 벤더 종속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6611112" y="5248656"/>
            <a:ext cx="509320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정합성 검증 후 승인 거쳐 도입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- 10 -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아키텍처 설계전략 및 금지패턴</dc:title>
  <dc:subject>NSIGHT Architecture Strategy and Guardrails</dc:subject>
  <dc:creator>OpenAI</dc:creator>
  <cp:lastModifiedBy>OpenAI</cp:lastModifiedBy>
  <cp:revision>1</cp:revision>
  <dcterms:created xsi:type="dcterms:W3CDTF">2026-08-23T11:18:00Z</dcterms:created>
  <dcterms:modified xsi:type="dcterms:W3CDTF">2026-08-23T11:18:00Z</dcterms:modified>
</cp:coreProperties>
</file>