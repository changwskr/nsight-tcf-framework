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9" d="100"/>
          <a:sy n="129" d="100"/>
        </p:scale>
        <p:origin x="120" y="-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8930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9DE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18900000">
            <a:off x="7406640" y="4389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B7BEC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농협 상호금융 차세대 정보계 시스템 구축  사전분석 계획서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 rot="18900000">
            <a:off x="1965960" y="48006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B7BEC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농협 상호금융 차세대 정보계 시스템 구축  사전분석 계획서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 rot="18900000">
            <a:off x="7863840" y="513892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B7BEC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농협 상호금융 차세대 정보계 시스템 구축  사전분석 계획서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193292" y="996696"/>
            <a:ext cx="41148" cy="3520440"/>
          </a:xfrm>
          <a:prstGeom prst="rect">
            <a:avLst/>
          </a:prstGeom>
          <a:solidFill>
            <a:srgbClr val="8A959B">
              <a:alpha val="52000"/>
            </a:srgbClr>
          </a:solidFill>
          <a:ln w="12700">
            <a:solidFill>
              <a:srgbClr val="8A959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9012" y="978408"/>
            <a:ext cx="68580" cy="3547872"/>
          </a:xfrm>
          <a:prstGeom prst="rect">
            <a:avLst/>
          </a:prstGeom>
          <a:solidFill>
            <a:srgbClr val="213657"/>
          </a:solidFill>
          <a:ln w="12700">
            <a:solidFill>
              <a:srgbClr val="2136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17904" y="139903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dirty="0">
                <a:solidFill>
                  <a:srgbClr val="2E33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정보계 시스템 구축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517904" y="2139696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300" dirty="0">
                <a:solidFill>
                  <a:srgbClr val="2E33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사전분석 계획서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4242816" y="2139696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300" dirty="0">
                <a:solidFill>
                  <a:srgbClr val="2E33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[인프라 아키텍처]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1243584" y="544068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E22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V0.8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43584" y="583387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2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2025-12-18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515600" y="624535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C3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 rot="1680000">
            <a:off x="10899648" y="6190488"/>
            <a:ext cx="118872" cy="109728"/>
          </a:xfrm>
          <a:prstGeom prst="triangle">
            <a:avLst/>
          </a:prstGeom>
          <a:solidFill>
            <a:srgbClr val="D13A2D"/>
          </a:solidFill>
          <a:ln w="12700">
            <a:solidFill>
              <a:srgbClr val="D13A2D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5400000">
            <a:off x="11045952" y="6199632"/>
            <a:ext cx="118872" cy="109728"/>
          </a:xfrm>
          <a:prstGeom prst="triangle">
            <a:avLst/>
          </a:prstGeom>
          <a:solidFill>
            <a:srgbClr val="E49625"/>
          </a:solidFill>
          <a:ln w="12700">
            <a:solidFill>
              <a:srgbClr val="E49625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9240000">
            <a:off x="10963656" y="6373368"/>
            <a:ext cx="109728" cy="91440"/>
          </a:xfrm>
          <a:prstGeom prst="triangle">
            <a:avLst/>
          </a:prstGeom>
          <a:solidFill>
            <a:srgbClr val="C62B28"/>
          </a:solidFill>
          <a:ln w="12700">
            <a:solidFill>
              <a:srgbClr val="C62B28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265408" y="6318504"/>
            <a:ext cx="5669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7A4C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주식회사</a:t>
            </a:r>
            <a:endParaRPr lang="en-US" sz="7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032" y="128016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300" b="1">
                <a:solidFill>
                  <a:srgbClr val="232323"/>
                </a:solidFill>
                <a:latin typeface="Malgun Gothic"/>
              </a:rPr>
              <a:t>1. 사전분석 개요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64592" y="640080"/>
            <a:ext cx="9784080" cy="0"/>
          </a:xfrm>
          <a:prstGeom prst="line">
            <a:avLst/>
          </a:prstGeom>
          <a:ln w="190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9456" y="713232"/>
            <a:ext cx="9738360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800">
                <a:solidFill>
                  <a:srgbClr val="323232"/>
                </a:solidFill>
                <a:latin typeface="Malgun Gothic"/>
              </a:rPr>
              <a:t>상호금융 「 차세대 정보계 시스템 구축」을 위한 통합 표준 </a:t>
            </a:r>
            <a:r>
              <a:rPr sz="1800">
                <a:solidFill>
                  <a:srgbClr val="A84E49"/>
                </a:solidFill>
                <a:latin typeface="Malgun Gothic"/>
              </a:rPr>
              <a:t>실행 아키텍처 관점에서 아키텍처
구조 및 기술 정의</a:t>
            </a:r>
            <a:r>
              <a:rPr sz="1800">
                <a:solidFill>
                  <a:srgbClr val="323232"/>
                </a:solidFill>
                <a:latin typeface="Malgun Gothic"/>
              </a:rPr>
              <a:t>를 수행하고, 이를 기반으로 </a:t>
            </a:r>
            <a:r>
              <a:rPr sz="1800">
                <a:solidFill>
                  <a:srgbClr val="A84E49"/>
                </a:solidFill>
                <a:latin typeface="Malgun Gothic"/>
              </a:rPr>
              <a:t>개발표준가이드</a:t>
            </a:r>
            <a:r>
              <a:rPr sz="1800">
                <a:solidFill>
                  <a:srgbClr val="323232"/>
                </a:solidFill>
                <a:latin typeface="Malgun Gothic"/>
              </a:rPr>
              <a:t>를 확보하는 활동이다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335024"/>
            <a:ext cx="3035808" cy="4434840"/>
          </a:xfrm>
          <a:prstGeom prst="rect">
            <a:avLst/>
          </a:prstGeom>
          <a:solidFill>
            <a:srgbClr val="FCFCFC"/>
          </a:solidFill>
          <a:ln w="12700">
            <a:solidFill>
              <a:srgbClr val="B9B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93192" y="1362456"/>
            <a:ext cx="2944368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5B64B6"/>
                </a:solidFill>
                <a:latin typeface="Malgun Gothic"/>
              </a:rPr>
              <a:t>(분석) 현행 아키텍처 핵심 이슈 확인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645920"/>
            <a:ext cx="2852928" cy="40233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414141"/>
                </a:solidFill>
                <a:latin typeface="Malgun Gothic"/>
              </a:rPr>
              <a:t>선행 아키텍처 분석과 현행 아키텍처 이해하고 현재 시스템의 문제점을 확인한다.
(주요활동)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2121408"/>
            <a:ext cx="2779776" cy="2578608"/>
          </a:xfrm>
          <a:prstGeom prst="rect">
            <a:avLst/>
          </a:prstGeom>
          <a:solidFill>
            <a:srgbClr val="F6F6F6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2157984"/>
            <a:ext cx="2029968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0">
                <a:solidFill>
                  <a:srgbClr val="5A5A5A"/>
                </a:solidFill>
                <a:latin typeface="Malgun Gothic"/>
              </a:rPr>
              <a:t>선행 PI 아키텍처 분석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2340864"/>
            <a:ext cx="256032" cy="179223"/>
          </a:xfrm>
          <a:prstGeom prst="rect">
            <a:avLst/>
          </a:prstGeom>
          <a:solidFill>
            <a:srgbClr val="395FA2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0352" y="2340864"/>
            <a:ext cx="256032" cy="17373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" y="2340864"/>
            <a:ext cx="2377440" cy="179223"/>
          </a:xfrm>
          <a:prstGeom prst="rect">
            <a:avLst/>
          </a:prstGeom>
          <a:solidFill>
            <a:srgbClr val="E5E5E5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2104" y="2345436"/>
            <a:ext cx="2331720" cy="16916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750" b="0">
                <a:solidFill>
                  <a:srgbClr val="373737"/>
                </a:solidFill>
                <a:latin typeface="Malgun Gothic"/>
              </a:rPr>
              <a:t>개발환경표준화와 부족으로 시스템 유지보수 품질확보 어려움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" y="2523744"/>
            <a:ext cx="256032" cy="179223"/>
          </a:xfrm>
          <a:prstGeom prst="rect">
            <a:avLst/>
          </a:prstGeom>
          <a:solidFill>
            <a:srgbClr val="395FA2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0352" y="2523744"/>
            <a:ext cx="256032" cy="17373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" y="2523744"/>
            <a:ext cx="2377440" cy="179223"/>
          </a:xfrm>
          <a:prstGeom prst="rect">
            <a:avLst/>
          </a:prstGeom>
          <a:solidFill>
            <a:srgbClr val="E5E5E5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" y="2528316"/>
            <a:ext cx="2331720" cy="16916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750" b="0">
                <a:solidFill>
                  <a:srgbClr val="373737"/>
                </a:solidFill>
                <a:latin typeface="Malgun Gothic"/>
              </a:rPr>
              <a:t>IT기술스택 및 외부 프레임워크 기술지원 불가로 유지보수 저하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" y="2706624"/>
            <a:ext cx="256032" cy="179223"/>
          </a:xfrm>
          <a:prstGeom prst="rect">
            <a:avLst/>
          </a:prstGeom>
          <a:solidFill>
            <a:srgbClr val="395FA2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0352" y="2706624"/>
            <a:ext cx="256032" cy="17373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" y="2706624"/>
            <a:ext cx="2377440" cy="179223"/>
          </a:xfrm>
          <a:prstGeom prst="rect">
            <a:avLst/>
          </a:prstGeom>
          <a:solidFill>
            <a:srgbClr val="E5E5E5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2104" y="2711196"/>
            <a:ext cx="2331720" cy="16916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750" b="0">
                <a:solidFill>
                  <a:srgbClr val="373737"/>
                </a:solidFill>
                <a:latin typeface="Malgun Gothic"/>
              </a:rPr>
              <a:t>정보계 표준 UI 프레임워크 도입 필요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0352" y="2889504"/>
            <a:ext cx="256032" cy="179223"/>
          </a:xfrm>
          <a:prstGeom prst="rect">
            <a:avLst/>
          </a:prstGeom>
          <a:solidFill>
            <a:srgbClr val="395FA2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0352" y="2889504"/>
            <a:ext cx="256032" cy="17373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" y="2889504"/>
            <a:ext cx="2377440" cy="179223"/>
          </a:xfrm>
          <a:prstGeom prst="rect">
            <a:avLst/>
          </a:prstGeom>
          <a:solidFill>
            <a:srgbClr val="E5E5E5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2104" y="2894076"/>
            <a:ext cx="2331720" cy="16916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750" b="0">
                <a:solidFill>
                  <a:srgbClr val="373737"/>
                </a:solidFill>
                <a:latin typeface="Malgun Gothic"/>
              </a:rPr>
              <a:t>다양한 데이터 송수신 환경의 기준 및 통합 필요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" y="3072384"/>
            <a:ext cx="256032" cy="179223"/>
          </a:xfrm>
          <a:prstGeom prst="rect">
            <a:avLst/>
          </a:prstGeom>
          <a:solidFill>
            <a:srgbClr val="395FA2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0352" y="3072384"/>
            <a:ext cx="256032" cy="17373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" y="3072384"/>
            <a:ext cx="2377440" cy="179223"/>
          </a:xfrm>
          <a:prstGeom prst="rect">
            <a:avLst/>
          </a:prstGeom>
          <a:solidFill>
            <a:srgbClr val="E5E5E5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2104" y="3076956"/>
            <a:ext cx="2331720" cy="16916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750" b="0">
                <a:solidFill>
                  <a:srgbClr val="373737"/>
                </a:solidFill>
                <a:latin typeface="Malgun Gothic"/>
              </a:rPr>
              <a:t>지속적 시스템 부하증가로 인한 성능적 이슈 발생 가능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0352" y="3255264"/>
            <a:ext cx="256032" cy="179223"/>
          </a:xfrm>
          <a:prstGeom prst="rect">
            <a:avLst/>
          </a:prstGeom>
          <a:solidFill>
            <a:srgbClr val="395FA2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0352" y="3255264"/>
            <a:ext cx="256032" cy="17373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672" y="3255264"/>
            <a:ext cx="2377440" cy="179223"/>
          </a:xfrm>
          <a:prstGeom prst="rect">
            <a:avLst/>
          </a:prstGeom>
          <a:solidFill>
            <a:srgbClr val="E5E5E5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2104" y="3259836"/>
            <a:ext cx="2331720" cy="16916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750" b="0">
                <a:solidFill>
                  <a:srgbClr val="373737"/>
                </a:solidFill>
                <a:latin typeface="Malgun Gothic"/>
              </a:rPr>
              <a:t>실시간성 업무의 대용량방식에 따른 인프라 확장성 저해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0352" y="3438144"/>
            <a:ext cx="256032" cy="179223"/>
          </a:xfrm>
          <a:prstGeom prst="rect">
            <a:avLst/>
          </a:prstGeom>
          <a:solidFill>
            <a:srgbClr val="395FA2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0352" y="3438144"/>
            <a:ext cx="256032" cy="17373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4672" y="3438144"/>
            <a:ext cx="2377440" cy="179223"/>
          </a:xfrm>
          <a:prstGeom prst="rect">
            <a:avLst/>
          </a:prstGeom>
          <a:solidFill>
            <a:srgbClr val="E5E5E5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32104" y="3442716"/>
            <a:ext cx="2331720" cy="16916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750" b="0">
                <a:solidFill>
                  <a:srgbClr val="373737"/>
                </a:solidFill>
                <a:latin typeface="Malgun Gothic"/>
              </a:rPr>
              <a:t>정보계 단말의 권한관리 방식 도입 필요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0352" y="3621024"/>
            <a:ext cx="256032" cy="179223"/>
          </a:xfrm>
          <a:prstGeom prst="rect">
            <a:avLst/>
          </a:prstGeom>
          <a:solidFill>
            <a:srgbClr val="395FA2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30352" y="3621024"/>
            <a:ext cx="256032" cy="17373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4672" y="3621024"/>
            <a:ext cx="2377440" cy="179223"/>
          </a:xfrm>
          <a:prstGeom prst="rect">
            <a:avLst/>
          </a:prstGeom>
          <a:solidFill>
            <a:srgbClr val="E5E5E5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32104" y="3625596"/>
            <a:ext cx="2331720" cy="16916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750" b="0">
                <a:solidFill>
                  <a:srgbClr val="373737"/>
                </a:solidFill>
                <a:latin typeface="Malgun Gothic"/>
              </a:rPr>
              <a:t>스토리지 지속적 환경증설 조건으로 인한 유지관리 어려움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0352" y="3803904"/>
            <a:ext cx="256032" cy="179223"/>
          </a:xfrm>
          <a:prstGeom prst="rect">
            <a:avLst/>
          </a:prstGeom>
          <a:solidFill>
            <a:srgbClr val="395FA2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30352" y="3803904"/>
            <a:ext cx="256032" cy="17373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4672" y="3803904"/>
            <a:ext cx="2377440" cy="179223"/>
          </a:xfrm>
          <a:prstGeom prst="rect">
            <a:avLst/>
          </a:prstGeom>
          <a:solidFill>
            <a:srgbClr val="E5E5E5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32104" y="3808476"/>
            <a:ext cx="2331720" cy="16916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750" b="0">
                <a:solidFill>
                  <a:srgbClr val="373737"/>
                </a:solidFill>
                <a:latin typeface="Malgun Gothic"/>
              </a:rPr>
              <a:t>App 및 IF, 배치 등의 모니터링 환경 필요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0352" y="3986784"/>
            <a:ext cx="256032" cy="179223"/>
          </a:xfrm>
          <a:prstGeom prst="rect">
            <a:avLst/>
          </a:prstGeom>
          <a:solidFill>
            <a:srgbClr val="395FA2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30352" y="3986784"/>
            <a:ext cx="256032" cy="17373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10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4672" y="3986784"/>
            <a:ext cx="2377440" cy="179223"/>
          </a:xfrm>
          <a:prstGeom prst="rect">
            <a:avLst/>
          </a:prstGeom>
          <a:solidFill>
            <a:srgbClr val="E5E5E5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2104" y="3991356"/>
            <a:ext cx="2331720" cy="16916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750" b="0">
                <a:solidFill>
                  <a:srgbClr val="373737"/>
                </a:solidFill>
                <a:latin typeface="Malgun Gothic"/>
              </a:rPr>
              <a:t>HW, SW 노후화 개선 필요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30352" y="4169664"/>
            <a:ext cx="256032" cy="179223"/>
          </a:xfrm>
          <a:prstGeom prst="rect">
            <a:avLst/>
          </a:prstGeom>
          <a:solidFill>
            <a:srgbClr val="395FA2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30352" y="4169664"/>
            <a:ext cx="256032" cy="17373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11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4672" y="4169664"/>
            <a:ext cx="2377440" cy="179223"/>
          </a:xfrm>
          <a:prstGeom prst="rect">
            <a:avLst/>
          </a:prstGeom>
          <a:solidFill>
            <a:srgbClr val="E5E5E5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32104" y="4174236"/>
            <a:ext cx="2331720" cy="16916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750" b="0">
                <a:solidFill>
                  <a:srgbClr val="373737"/>
                </a:solidFill>
                <a:latin typeface="Malgun Gothic"/>
              </a:rPr>
              <a:t>정보계 데이터 중복 및 분산방지를 위한 데이터 통합관리 필요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792224" y="4718304"/>
            <a:ext cx="146304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600" b="1">
                <a:solidFill>
                  <a:srgbClr val="5F5F5F"/>
                </a:solidFill>
                <a:latin typeface="Malgun Gothic"/>
              </a:rPr>
              <a:t>+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75488" y="4937760"/>
            <a:ext cx="2779776" cy="731520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30352" y="4965192"/>
            <a:ext cx="2670048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50" b="0">
                <a:solidFill>
                  <a:srgbClr val="5A5A5A"/>
                </a:solidFill>
                <a:latin typeface="Malgun Gothic"/>
              </a:rPr>
              <a:t>AS-IS 시스템 운영현황, 아키텍처/메커니즘 분석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66928" y="5175504"/>
            <a:ext cx="1097280" cy="146304"/>
          </a:xfrm>
          <a:prstGeom prst="rect">
            <a:avLst/>
          </a:prstGeom>
          <a:solidFill>
            <a:srgbClr val="EDEDED"/>
          </a:solidFill>
          <a:ln w="5080">
            <a:solidFill>
              <a:srgbClr val="B9B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66928" y="517550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60" b="0">
                <a:solidFill>
                  <a:srgbClr val="323232"/>
                </a:solidFill>
                <a:latin typeface="Malgun Gothic"/>
              </a:rPr>
              <a:t>상호금융
AS-IS 시스템 운영현황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240279" y="5221224"/>
            <a:ext cx="896112" cy="146304"/>
          </a:xfrm>
          <a:prstGeom prst="rect">
            <a:avLst/>
          </a:prstGeom>
          <a:solidFill>
            <a:srgbClr val="F5F5F5"/>
          </a:solidFill>
          <a:ln w="5080">
            <a:solidFill>
              <a:srgbClr val="B9B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240279" y="5221224"/>
            <a:ext cx="896112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80" b="0">
                <a:solidFill>
                  <a:srgbClr val="323232"/>
                </a:solidFill>
                <a:latin typeface="Malgun Gothic"/>
              </a:rPr>
              <a:t>현황 및 이슈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1664208" y="5248656"/>
            <a:ext cx="576071" cy="45720"/>
          </a:xfrm>
          <a:prstGeom prst="line">
            <a:avLst/>
          </a:prstGeom>
          <a:ln w="1016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566928" y="5330952"/>
            <a:ext cx="1097280" cy="146304"/>
          </a:xfrm>
          <a:prstGeom prst="rect">
            <a:avLst/>
          </a:prstGeom>
          <a:solidFill>
            <a:srgbClr val="EDEDED"/>
          </a:solidFill>
          <a:ln w="5080">
            <a:solidFill>
              <a:srgbClr val="B9B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66928" y="5330952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60" b="0">
                <a:solidFill>
                  <a:srgbClr val="323232"/>
                </a:solidFill>
                <a:latin typeface="Malgun Gothic"/>
              </a:rPr>
              <a:t>상호금융
AS-IS 아키텍처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240279" y="5376672"/>
            <a:ext cx="896112" cy="146304"/>
          </a:xfrm>
          <a:prstGeom prst="rect">
            <a:avLst/>
          </a:prstGeom>
          <a:solidFill>
            <a:srgbClr val="F5F5F5"/>
          </a:solidFill>
          <a:ln w="5080">
            <a:solidFill>
              <a:srgbClr val="B9B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2240279" y="5376672"/>
            <a:ext cx="896112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80" b="0">
                <a:solidFill>
                  <a:srgbClr val="323232"/>
                </a:solidFill>
                <a:latin typeface="Malgun Gothic"/>
              </a:rPr>
              <a:t>표준 원칙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1664208" y="5404104"/>
            <a:ext cx="576071" cy="45720"/>
          </a:xfrm>
          <a:prstGeom prst="line">
            <a:avLst/>
          </a:prstGeom>
          <a:ln w="1016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tangle 66"/>
          <p:cNvSpPr/>
          <p:nvPr/>
        </p:nvSpPr>
        <p:spPr>
          <a:xfrm>
            <a:off x="566928" y="5486400"/>
            <a:ext cx="1097280" cy="146304"/>
          </a:xfrm>
          <a:prstGeom prst="rect">
            <a:avLst/>
          </a:prstGeom>
          <a:solidFill>
            <a:srgbClr val="EDEDED"/>
          </a:solidFill>
          <a:ln w="5080">
            <a:solidFill>
              <a:srgbClr val="B9B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66928" y="5486400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60" b="0">
                <a:solidFill>
                  <a:srgbClr val="323232"/>
                </a:solidFill>
                <a:latin typeface="Malgun Gothic"/>
              </a:rPr>
              <a:t>상호금융
AS-IS 기술 메커니즘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240279" y="5532120"/>
            <a:ext cx="896112" cy="146304"/>
          </a:xfrm>
          <a:prstGeom prst="rect">
            <a:avLst/>
          </a:prstGeom>
          <a:solidFill>
            <a:srgbClr val="F5F5F5"/>
          </a:solidFill>
          <a:ln w="5080">
            <a:solidFill>
              <a:srgbClr val="B9B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2240279" y="5532120"/>
            <a:ext cx="896112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80" b="0">
                <a:solidFill>
                  <a:srgbClr val="323232"/>
                </a:solidFill>
                <a:latin typeface="Malgun Gothic"/>
              </a:rPr>
              <a:t>기술 메커니즘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1664208" y="5559552"/>
            <a:ext cx="576071" cy="45720"/>
          </a:xfrm>
          <a:prstGeom prst="line">
            <a:avLst/>
          </a:prstGeom>
          <a:ln w="1016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3977639" y="1335024"/>
            <a:ext cx="3108960" cy="4434840"/>
          </a:xfrm>
          <a:prstGeom prst="rect">
            <a:avLst/>
          </a:prstGeom>
          <a:solidFill>
            <a:srgbClr val="FCFCFC"/>
          </a:solidFill>
          <a:ln w="12700">
            <a:solidFill>
              <a:srgbClr val="B9B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023359" y="1362456"/>
            <a:ext cx="3017520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5B64B6"/>
                </a:solidFill>
                <a:latin typeface="Malgun Gothic"/>
              </a:rPr>
              <a:t>(변화방향) 아키텍처 Big Picture 모델 확보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069079" y="1645920"/>
            <a:ext cx="2926080" cy="40233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414141"/>
                </a:solidFill>
                <a:latin typeface="Malgun Gothic"/>
              </a:rPr>
              <a:t>선행 및 현행 아키텍처를 기반으로 초기 아키텍처를 확정하고 SK 수행 참조 모델을 도입하여 설계 방향성 수립
(주요활동)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105655" y="2121408"/>
            <a:ext cx="2852928" cy="1335024"/>
          </a:xfrm>
          <a:prstGeom prst="rect">
            <a:avLst/>
          </a:prstGeom>
          <a:solidFill>
            <a:srgbClr val="F6F6F6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160519" y="2148840"/>
            <a:ext cx="2743200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0">
                <a:solidFill>
                  <a:srgbClr val="5A5A5A"/>
                </a:solidFill>
                <a:latin typeface="Malgun Gothic"/>
              </a:rPr>
              <a:t>개선과제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197095" y="2322576"/>
            <a:ext cx="1810512" cy="160935"/>
          </a:xfrm>
          <a:prstGeom prst="rect">
            <a:avLst/>
          </a:prstGeom>
          <a:solidFill>
            <a:srgbClr val="ECECEC"/>
          </a:solidFill>
          <a:ln w="381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233671" y="2325319"/>
            <a:ext cx="1755648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700" b="0">
                <a:solidFill>
                  <a:srgbClr val="323232"/>
                </a:solidFill>
                <a:latin typeface="Malgun Gothic"/>
              </a:rPr>
              <a:t>IT 기술 아키텍처 및 개발환경 표준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062470" y="2322576"/>
            <a:ext cx="124359" cy="160935"/>
          </a:xfrm>
          <a:prstGeom prst="rect">
            <a:avLst/>
          </a:prstGeom>
          <a:solidFill>
            <a:srgbClr val="285EAB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062470" y="2322576"/>
            <a:ext cx="124359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190486" y="2322576"/>
            <a:ext cx="124359" cy="160935"/>
          </a:xfrm>
          <a:prstGeom prst="rect">
            <a:avLst/>
          </a:prstGeom>
          <a:solidFill>
            <a:srgbClr val="285EAB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190486" y="2322576"/>
            <a:ext cx="124359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18502" y="2322576"/>
            <a:ext cx="124359" cy="160935"/>
          </a:xfrm>
          <a:prstGeom prst="rect">
            <a:avLst/>
          </a:prstGeom>
          <a:solidFill>
            <a:srgbClr val="285EAB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6318502" y="2322576"/>
            <a:ext cx="124359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446518" y="2322576"/>
            <a:ext cx="124359" cy="160935"/>
          </a:xfrm>
          <a:prstGeom prst="rect">
            <a:avLst/>
          </a:prstGeom>
          <a:solidFill>
            <a:srgbClr val="285EAB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6446518" y="2322576"/>
            <a:ext cx="124359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574534" y="2322576"/>
            <a:ext cx="124359" cy="160935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6574534" y="2322576"/>
            <a:ext cx="124359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5A5A5A"/>
                </a:solidFill>
                <a:latin typeface="Malgun Gothic"/>
              </a:rPr>
              <a:t>5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702550" y="2322576"/>
            <a:ext cx="124359" cy="160935"/>
          </a:xfrm>
          <a:prstGeom prst="rect">
            <a:avLst/>
          </a:prstGeom>
          <a:solidFill>
            <a:srgbClr val="285EAB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6702550" y="2322576"/>
            <a:ext cx="124359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Malgun Gothic"/>
              </a:rPr>
              <a:t>6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830566" y="2322576"/>
            <a:ext cx="124359" cy="160935"/>
          </a:xfrm>
          <a:prstGeom prst="rect">
            <a:avLst/>
          </a:prstGeom>
          <a:solidFill>
            <a:srgbClr val="285EAB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6830566" y="2322576"/>
            <a:ext cx="124359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Malgun Gothic"/>
              </a:rPr>
              <a:t>7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958582" y="2322576"/>
            <a:ext cx="124359" cy="160935"/>
          </a:xfrm>
          <a:prstGeom prst="rect">
            <a:avLst/>
          </a:prstGeom>
          <a:solidFill>
            <a:srgbClr val="285EAB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6958582" y="2322576"/>
            <a:ext cx="124359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Malgun Gothic"/>
              </a:rPr>
              <a:t>8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086598" y="2322576"/>
            <a:ext cx="124359" cy="160935"/>
          </a:xfrm>
          <a:prstGeom prst="rect">
            <a:avLst/>
          </a:prstGeom>
          <a:solidFill>
            <a:srgbClr val="285EAB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7086598" y="2322576"/>
            <a:ext cx="124359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Malgun Gothic"/>
              </a:rPr>
              <a:t>9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214614" y="2322576"/>
            <a:ext cx="124359" cy="160935"/>
          </a:xfrm>
          <a:prstGeom prst="rect">
            <a:avLst/>
          </a:prstGeom>
          <a:solidFill>
            <a:srgbClr val="285EAB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7214614" y="2322576"/>
            <a:ext cx="124359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Malgun Gothic"/>
              </a:rPr>
              <a:t>10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342630" y="2322576"/>
            <a:ext cx="124359" cy="160935"/>
          </a:xfrm>
          <a:prstGeom prst="rect">
            <a:avLst/>
          </a:prstGeom>
          <a:solidFill>
            <a:srgbClr val="285EAB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7342630" y="2322576"/>
            <a:ext cx="124359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Malgun Gothic"/>
              </a:rPr>
              <a:t>11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197095" y="2487168"/>
            <a:ext cx="1810512" cy="160935"/>
          </a:xfrm>
          <a:prstGeom prst="rect">
            <a:avLst/>
          </a:prstGeom>
          <a:solidFill>
            <a:srgbClr val="ECECEC"/>
          </a:solidFill>
          <a:ln w="381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4233671" y="2489911"/>
            <a:ext cx="1755648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700" b="0">
                <a:solidFill>
                  <a:srgbClr val="323232"/>
                </a:solidFill>
                <a:latin typeface="Malgun Gothic"/>
              </a:rPr>
              <a:t>정보계 주요 인프라 아키텍처 구성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062470" y="2487168"/>
            <a:ext cx="124359" cy="160935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6062470" y="2487168"/>
            <a:ext cx="124359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5A5A5A"/>
                </a:solidFill>
                <a:latin typeface="Malgun Gothic"/>
              </a:rPr>
              <a:t>1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190486" y="2487168"/>
            <a:ext cx="124359" cy="160935"/>
          </a:xfrm>
          <a:prstGeom prst="rect">
            <a:avLst/>
          </a:prstGeom>
          <a:solidFill>
            <a:srgbClr val="285EAB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6190486" y="2487168"/>
            <a:ext cx="124359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318502" y="2487168"/>
            <a:ext cx="124359" cy="160935"/>
          </a:xfrm>
          <a:prstGeom prst="rect">
            <a:avLst/>
          </a:prstGeom>
          <a:solidFill>
            <a:srgbClr val="285EAB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6318502" y="2487168"/>
            <a:ext cx="124359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446518" y="2487168"/>
            <a:ext cx="124359" cy="160935"/>
          </a:xfrm>
          <a:prstGeom prst="rect">
            <a:avLst/>
          </a:prstGeom>
          <a:solidFill>
            <a:srgbClr val="285EAB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6446518" y="2487168"/>
            <a:ext cx="124359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574534" y="2487168"/>
            <a:ext cx="124359" cy="160935"/>
          </a:xfrm>
          <a:prstGeom prst="rect">
            <a:avLst/>
          </a:prstGeom>
          <a:solidFill>
            <a:srgbClr val="285EAB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6574534" y="2487168"/>
            <a:ext cx="124359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702550" y="2487168"/>
            <a:ext cx="124359" cy="160935"/>
          </a:xfrm>
          <a:prstGeom prst="rect">
            <a:avLst/>
          </a:prstGeom>
          <a:solidFill>
            <a:srgbClr val="285EAB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6702550" y="2487168"/>
            <a:ext cx="124359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Malgun Gothic"/>
              </a:rPr>
              <a:t>6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830566" y="2487168"/>
            <a:ext cx="124359" cy="160935"/>
          </a:xfrm>
          <a:prstGeom prst="rect">
            <a:avLst/>
          </a:prstGeom>
          <a:solidFill>
            <a:srgbClr val="285EAB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6830566" y="2487168"/>
            <a:ext cx="124359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Malgun Gothic"/>
              </a:rPr>
              <a:t>7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958582" y="2487168"/>
            <a:ext cx="124359" cy="160935"/>
          </a:xfrm>
          <a:prstGeom prst="rect">
            <a:avLst/>
          </a:prstGeom>
          <a:solidFill>
            <a:srgbClr val="285EAB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6958582" y="2487168"/>
            <a:ext cx="124359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Malgun Gothic"/>
              </a:rPr>
              <a:t>8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086598" y="2487168"/>
            <a:ext cx="124359" cy="160935"/>
          </a:xfrm>
          <a:prstGeom prst="rect">
            <a:avLst/>
          </a:prstGeom>
          <a:solidFill>
            <a:srgbClr val="285EAB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7086598" y="2487168"/>
            <a:ext cx="124359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Malgun Gothic"/>
              </a:rPr>
              <a:t>9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214614" y="2487168"/>
            <a:ext cx="124359" cy="160935"/>
          </a:xfrm>
          <a:prstGeom prst="rect">
            <a:avLst/>
          </a:prstGeom>
          <a:solidFill>
            <a:srgbClr val="285EAB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7214614" y="2487168"/>
            <a:ext cx="124359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Malgun Gothic"/>
              </a:rPr>
              <a:t>10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7342630" y="2487168"/>
            <a:ext cx="124359" cy="160935"/>
          </a:xfrm>
          <a:prstGeom prst="rect">
            <a:avLst/>
          </a:prstGeom>
          <a:solidFill>
            <a:srgbClr val="285EAB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7342630" y="2487168"/>
            <a:ext cx="124359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Malgun Gothic"/>
              </a:rPr>
              <a:t>11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197095" y="2651760"/>
            <a:ext cx="1810512" cy="160935"/>
          </a:xfrm>
          <a:prstGeom prst="rect">
            <a:avLst/>
          </a:prstGeom>
          <a:solidFill>
            <a:srgbClr val="ECECEC"/>
          </a:solidFill>
          <a:ln w="381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4233671" y="2654503"/>
            <a:ext cx="1755648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700" b="0">
                <a:solidFill>
                  <a:srgbClr val="323232"/>
                </a:solidFill>
                <a:latin typeface="Malgun Gothic"/>
              </a:rPr>
              <a:t>농협상호금융 통합 데이터 플랫폼 구성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062470" y="2651760"/>
            <a:ext cx="124359" cy="160935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6062470" y="2651760"/>
            <a:ext cx="124359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5A5A5A"/>
                </a:solidFill>
                <a:latin typeface="Malgun Gothic"/>
              </a:rPr>
              <a:t>1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190486" y="2651760"/>
            <a:ext cx="124359" cy="160935"/>
          </a:xfrm>
          <a:prstGeom prst="rect">
            <a:avLst/>
          </a:prstGeom>
          <a:solidFill>
            <a:srgbClr val="285EAB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6190486" y="2651760"/>
            <a:ext cx="124359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318502" y="2651760"/>
            <a:ext cx="124359" cy="160935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6318502" y="2651760"/>
            <a:ext cx="124359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5A5A5A"/>
                </a:solidFill>
                <a:latin typeface="Malgun Gothic"/>
              </a:rPr>
              <a:t>3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446518" y="2651760"/>
            <a:ext cx="124359" cy="160935"/>
          </a:xfrm>
          <a:prstGeom prst="rect">
            <a:avLst/>
          </a:prstGeom>
          <a:solidFill>
            <a:srgbClr val="285EAB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6446518" y="2651760"/>
            <a:ext cx="124359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574534" y="2651760"/>
            <a:ext cx="124359" cy="160935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6574534" y="2651760"/>
            <a:ext cx="124359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5A5A5A"/>
                </a:solidFill>
                <a:latin typeface="Malgun Gothic"/>
              </a:rPr>
              <a:t>5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6702550" y="2651760"/>
            <a:ext cx="124359" cy="160935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6702550" y="2651760"/>
            <a:ext cx="124359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5A5A5A"/>
                </a:solidFill>
                <a:latin typeface="Malgun Gothic"/>
              </a:rPr>
              <a:t>6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830566" y="2651760"/>
            <a:ext cx="124359" cy="160935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6830566" y="2651760"/>
            <a:ext cx="124359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5A5A5A"/>
                </a:solidFill>
                <a:latin typeface="Malgun Gothic"/>
              </a:rPr>
              <a:t>7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958582" y="2651760"/>
            <a:ext cx="124359" cy="160935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6958582" y="2651760"/>
            <a:ext cx="124359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5A5A5A"/>
                </a:solidFill>
                <a:latin typeface="Malgun Gothic"/>
              </a:rPr>
              <a:t>8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086598" y="2651760"/>
            <a:ext cx="124359" cy="160935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7086598" y="2651760"/>
            <a:ext cx="124359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5A5A5A"/>
                </a:solidFill>
                <a:latin typeface="Malgun Gothic"/>
              </a:rPr>
              <a:t>9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214614" y="2651760"/>
            <a:ext cx="124359" cy="160935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7214614" y="2651760"/>
            <a:ext cx="124359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5A5A5A"/>
                </a:solidFill>
                <a:latin typeface="Malgun Gothic"/>
              </a:rPr>
              <a:t>10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7342630" y="2651760"/>
            <a:ext cx="124359" cy="160935"/>
          </a:xfrm>
          <a:prstGeom prst="rect">
            <a:avLst/>
          </a:prstGeom>
          <a:solidFill>
            <a:srgbClr val="285EAB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7342630" y="2651760"/>
            <a:ext cx="124359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Malgun Gothic"/>
              </a:rPr>
              <a:t>11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4197095" y="2816352"/>
            <a:ext cx="1810512" cy="160935"/>
          </a:xfrm>
          <a:prstGeom prst="rect">
            <a:avLst/>
          </a:prstGeom>
          <a:solidFill>
            <a:srgbClr val="ECECEC"/>
          </a:solidFill>
          <a:ln w="381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4233671" y="2819095"/>
            <a:ext cx="1755648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700" b="0">
                <a:solidFill>
                  <a:srgbClr val="323232"/>
                </a:solidFill>
                <a:latin typeface="Malgun Gothic"/>
              </a:rPr>
              <a:t>정보계 인터페이스 표준화 정의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6062470" y="2816352"/>
            <a:ext cx="124359" cy="160935"/>
          </a:xfrm>
          <a:prstGeom prst="rect">
            <a:avLst/>
          </a:prstGeom>
          <a:solidFill>
            <a:srgbClr val="285EAB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6062470" y="2816352"/>
            <a:ext cx="124359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6190486" y="2816352"/>
            <a:ext cx="124359" cy="160935"/>
          </a:xfrm>
          <a:prstGeom prst="rect">
            <a:avLst/>
          </a:prstGeom>
          <a:solidFill>
            <a:srgbClr val="285EAB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6190486" y="2816352"/>
            <a:ext cx="124359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318502" y="2816352"/>
            <a:ext cx="124359" cy="160935"/>
          </a:xfrm>
          <a:prstGeom prst="rect">
            <a:avLst/>
          </a:prstGeom>
          <a:solidFill>
            <a:srgbClr val="285EAB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6318502" y="2816352"/>
            <a:ext cx="124359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6446518" y="2816352"/>
            <a:ext cx="124359" cy="160935"/>
          </a:xfrm>
          <a:prstGeom prst="rect">
            <a:avLst/>
          </a:prstGeom>
          <a:solidFill>
            <a:srgbClr val="285EAB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6446518" y="2816352"/>
            <a:ext cx="124359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6574534" y="2816352"/>
            <a:ext cx="124359" cy="160935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6574534" y="2816352"/>
            <a:ext cx="124359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5A5A5A"/>
                </a:solidFill>
                <a:latin typeface="Malgun Gothic"/>
              </a:rPr>
              <a:t>5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6702550" y="2816352"/>
            <a:ext cx="124359" cy="160935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6702550" y="2816352"/>
            <a:ext cx="124359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5A5A5A"/>
                </a:solidFill>
                <a:latin typeface="Malgun Gothic"/>
              </a:rPr>
              <a:t>6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830566" y="2816352"/>
            <a:ext cx="124359" cy="160935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6830566" y="2816352"/>
            <a:ext cx="124359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5A5A5A"/>
                </a:solidFill>
                <a:latin typeface="Malgun Gothic"/>
              </a:rPr>
              <a:t>7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958582" y="2816352"/>
            <a:ext cx="124359" cy="160935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6958582" y="2816352"/>
            <a:ext cx="124359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5A5A5A"/>
                </a:solidFill>
                <a:latin typeface="Malgun Gothic"/>
              </a:rPr>
              <a:t>8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7086598" y="2816352"/>
            <a:ext cx="124359" cy="160935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7086598" y="2816352"/>
            <a:ext cx="124359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5A5A5A"/>
                </a:solidFill>
                <a:latin typeface="Malgun Gothic"/>
              </a:rPr>
              <a:t>9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7214614" y="2816352"/>
            <a:ext cx="124359" cy="160935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7214614" y="2816352"/>
            <a:ext cx="124359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5A5A5A"/>
                </a:solidFill>
                <a:latin typeface="Malgun Gothic"/>
              </a:rPr>
              <a:t>10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7342630" y="2816352"/>
            <a:ext cx="124359" cy="160935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TextBox 171"/>
          <p:cNvSpPr txBox="1"/>
          <p:nvPr/>
        </p:nvSpPr>
        <p:spPr>
          <a:xfrm>
            <a:off x="7342630" y="2816352"/>
            <a:ext cx="124359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5A5A5A"/>
                </a:solidFill>
                <a:latin typeface="Malgun Gothic"/>
              </a:rPr>
              <a:t>11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4197095" y="2980944"/>
            <a:ext cx="1810512" cy="160935"/>
          </a:xfrm>
          <a:prstGeom prst="rect">
            <a:avLst/>
          </a:prstGeom>
          <a:solidFill>
            <a:srgbClr val="ECECEC"/>
          </a:solidFill>
          <a:ln w="381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4233671" y="2983687"/>
            <a:ext cx="1755648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700" b="0">
                <a:solidFill>
                  <a:srgbClr val="323232"/>
                </a:solidFill>
                <a:latin typeface="Malgun Gothic"/>
              </a:rPr>
              <a:t>정보계 권한관리 시스템 구성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6062470" y="2980944"/>
            <a:ext cx="124359" cy="160935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6062470" y="2980944"/>
            <a:ext cx="124359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5A5A5A"/>
                </a:solidFill>
                <a:latin typeface="Malgun Gothic"/>
              </a:rPr>
              <a:t>1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6190486" y="2980944"/>
            <a:ext cx="124359" cy="160935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6190486" y="2980944"/>
            <a:ext cx="124359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5A5A5A"/>
                </a:solidFill>
                <a:latin typeface="Malgun Gothic"/>
              </a:rPr>
              <a:t>2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6318502" y="2980944"/>
            <a:ext cx="124359" cy="160935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TextBox 179"/>
          <p:cNvSpPr txBox="1"/>
          <p:nvPr/>
        </p:nvSpPr>
        <p:spPr>
          <a:xfrm>
            <a:off x="6318502" y="2980944"/>
            <a:ext cx="124359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5A5A5A"/>
                </a:solidFill>
                <a:latin typeface="Malgun Gothic"/>
              </a:rPr>
              <a:t>3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6446518" y="2980944"/>
            <a:ext cx="124359" cy="160935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6446518" y="2980944"/>
            <a:ext cx="124359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5A5A5A"/>
                </a:solidFill>
                <a:latin typeface="Malgun Gothic"/>
              </a:rPr>
              <a:t>4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6574534" y="2980944"/>
            <a:ext cx="124359" cy="160935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TextBox 183"/>
          <p:cNvSpPr txBox="1"/>
          <p:nvPr/>
        </p:nvSpPr>
        <p:spPr>
          <a:xfrm>
            <a:off x="6574534" y="2980944"/>
            <a:ext cx="124359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5A5A5A"/>
                </a:solidFill>
                <a:latin typeface="Malgun Gothic"/>
              </a:rPr>
              <a:t>5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6702550" y="2980944"/>
            <a:ext cx="124359" cy="160935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185"/>
          <p:cNvSpPr txBox="1"/>
          <p:nvPr/>
        </p:nvSpPr>
        <p:spPr>
          <a:xfrm>
            <a:off x="6702550" y="2980944"/>
            <a:ext cx="124359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5A5A5A"/>
                </a:solidFill>
                <a:latin typeface="Malgun Gothic"/>
              </a:rPr>
              <a:t>6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6830566" y="2980944"/>
            <a:ext cx="124359" cy="160935"/>
          </a:xfrm>
          <a:prstGeom prst="rect">
            <a:avLst/>
          </a:prstGeom>
          <a:solidFill>
            <a:srgbClr val="285EAB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TextBox 187"/>
          <p:cNvSpPr txBox="1"/>
          <p:nvPr/>
        </p:nvSpPr>
        <p:spPr>
          <a:xfrm>
            <a:off x="6830566" y="2980944"/>
            <a:ext cx="124359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Malgun Gothic"/>
              </a:rPr>
              <a:t>7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6958582" y="2980944"/>
            <a:ext cx="124359" cy="160935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TextBox 189"/>
          <p:cNvSpPr txBox="1"/>
          <p:nvPr/>
        </p:nvSpPr>
        <p:spPr>
          <a:xfrm>
            <a:off x="6958582" y="2980944"/>
            <a:ext cx="124359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5A5A5A"/>
                </a:solidFill>
                <a:latin typeface="Malgun Gothic"/>
              </a:rPr>
              <a:t>8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7086598" y="2980944"/>
            <a:ext cx="124359" cy="160935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TextBox 191"/>
          <p:cNvSpPr txBox="1"/>
          <p:nvPr/>
        </p:nvSpPr>
        <p:spPr>
          <a:xfrm>
            <a:off x="7086598" y="2980944"/>
            <a:ext cx="124359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5A5A5A"/>
                </a:solidFill>
                <a:latin typeface="Malgun Gothic"/>
              </a:rPr>
              <a:t>9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7214614" y="2980944"/>
            <a:ext cx="124359" cy="160935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TextBox 193"/>
          <p:cNvSpPr txBox="1"/>
          <p:nvPr/>
        </p:nvSpPr>
        <p:spPr>
          <a:xfrm>
            <a:off x="7214614" y="2980944"/>
            <a:ext cx="124359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5A5A5A"/>
                </a:solidFill>
                <a:latin typeface="Malgun Gothic"/>
              </a:rPr>
              <a:t>10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7342630" y="2980944"/>
            <a:ext cx="124359" cy="160935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TextBox 195"/>
          <p:cNvSpPr txBox="1"/>
          <p:nvPr/>
        </p:nvSpPr>
        <p:spPr>
          <a:xfrm>
            <a:off x="7342630" y="2980944"/>
            <a:ext cx="124359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5A5A5A"/>
                </a:solidFill>
                <a:latin typeface="Malgun Gothic"/>
              </a:rPr>
              <a:t>11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4197095" y="3145536"/>
            <a:ext cx="1810512" cy="160935"/>
          </a:xfrm>
          <a:prstGeom prst="rect">
            <a:avLst/>
          </a:prstGeom>
          <a:solidFill>
            <a:srgbClr val="ECECEC"/>
          </a:solidFill>
          <a:ln w="381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TextBox 197"/>
          <p:cNvSpPr txBox="1"/>
          <p:nvPr/>
        </p:nvSpPr>
        <p:spPr>
          <a:xfrm>
            <a:off x="4233671" y="3148279"/>
            <a:ext cx="1755648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700" b="0">
                <a:solidFill>
                  <a:srgbClr val="323232"/>
                </a:solidFill>
                <a:latin typeface="Malgun Gothic"/>
              </a:rPr>
              <a:t>장애대응, 역량강화를 위한 모니터링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6062470" y="3145536"/>
            <a:ext cx="124359" cy="160935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TextBox 199"/>
          <p:cNvSpPr txBox="1"/>
          <p:nvPr/>
        </p:nvSpPr>
        <p:spPr>
          <a:xfrm>
            <a:off x="6062470" y="3145536"/>
            <a:ext cx="124359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5A5A5A"/>
                </a:solidFill>
                <a:latin typeface="Malgun Gothic"/>
              </a:rPr>
              <a:t>1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6190486" y="3145536"/>
            <a:ext cx="124359" cy="160935"/>
          </a:xfrm>
          <a:prstGeom prst="rect">
            <a:avLst/>
          </a:prstGeom>
          <a:solidFill>
            <a:srgbClr val="285EAB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TextBox 201"/>
          <p:cNvSpPr txBox="1"/>
          <p:nvPr/>
        </p:nvSpPr>
        <p:spPr>
          <a:xfrm>
            <a:off x="6190486" y="3145536"/>
            <a:ext cx="124359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6318502" y="3145536"/>
            <a:ext cx="124359" cy="160935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TextBox 203"/>
          <p:cNvSpPr txBox="1"/>
          <p:nvPr/>
        </p:nvSpPr>
        <p:spPr>
          <a:xfrm>
            <a:off x="6318502" y="3145536"/>
            <a:ext cx="124359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5A5A5A"/>
                </a:solidFill>
                <a:latin typeface="Malgun Gothic"/>
              </a:rPr>
              <a:t>3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6446518" y="3145536"/>
            <a:ext cx="124359" cy="160935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TextBox 205"/>
          <p:cNvSpPr txBox="1"/>
          <p:nvPr/>
        </p:nvSpPr>
        <p:spPr>
          <a:xfrm>
            <a:off x="6446518" y="3145536"/>
            <a:ext cx="124359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5A5A5A"/>
                </a:solidFill>
                <a:latin typeface="Malgun Gothic"/>
              </a:rPr>
              <a:t>4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6574534" y="3145536"/>
            <a:ext cx="124359" cy="160935"/>
          </a:xfrm>
          <a:prstGeom prst="rect">
            <a:avLst/>
          </a:prstGeom>
          <a:solidFill>
            <a:srgbClr val="285EAB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TextBox 207"/>
          <p:cNvSpPr txBox="1"/>
          <p:nvPr/>
        </p:nvSpPr>
        <p:spPr>
          <a:xfrm>
            <a:off x="6574534" y="3145536"/>
            <a:ext cx="124359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6702550" y="3145536"/>
            <a:ext cx="124359" cy="160935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TextBox 209"/>
          <p:cNvSpPr txBox="1"/>
          <p:nvPr/>
        </p:nvSpPr>
        <p:spPr>
          <a:xfrm>
            <a:off x="6702550" y="3145536"/>
            <a:ext cx="124359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5A5A5A"/>
                </a:solidFill>
                <a:latin typeface="Malgun Gothic"/>
              </a:rPr>
              <a:t>6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6830566" y="3145536"/>
            <a:ext cx="124359" cy="160935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TextBox 211"/>
          <p:cNvSpPr txBox="1"/>
          <p:nvPr/>
        </p:nvSpPr>
        <p:spPr>
          <a:xfrm>
            <a:off x="6830566" y="3145536"/>
            <a:ext cx="124359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5A5A5A"/>
                </a:solidFill>
                <a:latin typeface="Malgun Gothic"/>
              </a:rPr>
              <a:t>7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6958582" y="3145536"/>
            <a:ext cx="124359" cy="160935"/>
          </a:xfrm>
          <a:prstGeom prst="rect">
            <a:avLst/>
          </a:prstGeom>
          <a:solidFill>
            <a:srgbClr val="285EAB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TextBox 213"/>
          <p:cNvSpPr txBox="1"/>
          <p:nvPr/>
        </p:nvSpPr>
        <p:spPr>
          <a:xfrm>
            <a:off x="6958582" y="3145536"/>
            <a:ext cx="124359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Malgun Gothic"/>
              </a:rPr>
              <a:t>8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7086598" y="3145536"/>
            <a:ext cx="124359" cy="160935"/>
          </a:xfrm>
          <a:prstGeom prst="rect">
            <a:avLst/>
          </a:prstGeom>
          <a:solidFill>
            <a:srgbClr val="285EAB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TextBox 215"/>
          <p:cNvSpPr txBox="1"/>
          <p:nvPr/>
        </p:nvSpPr>
        <p:spPr>
          <a:xfrm>
            <a:off x="7086598" y="3145536"/>
            <a:ext cx="124359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Malgun Gothic"/>
              </a:rPr>
              <a:t>9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7214614" y="3145536"/>
            <a:ext cx="124359" cy="160935"/>
          </a:xfrm>
          <a:prstGeom prst="rect">
            <a:avLst/>
          </a:prstGeom>
          <a:solidFill>
            <a:srgbClr val="285EAB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TextBox 217"/>
          <p:cNvSpPr txBox="1"/>
          <p:nvPr/>
        </p:nvSpPr>
        <p:spPr>
          <a:xfrm>
            <a:off x="7214614" y="3145536"/>
            <a:ext cx="124359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Malgun Gothic"/>
              </a:rPr>
              <a:t>10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7342630" y="3145536"/>
            <a:ext cx="124359" cy="160935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TextBox 219"/>
          <p:cNvSpPr txBox="1"/>
          <p:nvPr/>
        </p:nvSpPr>
        <p:spPr>
          <a:xfrm>
            <a:off x="7342630" y="3145536"/>
            <a:ext cx="124359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5A5A5A"/>
                </a:solidFill>
                <a:latin typeface="Malgun Gothic"/>
              </a:rPr>
              <a:t>11</a:t>
            </a:r>
          </a:p>
        </p:txBody>
      </p:sp>
      <p:sp>
        <p:nvSpPr>
          <p:cNvPr id="221" name="Down Arrow 220"/>
          <p:cNvSpPr/>
          <p:nvPr/>
        </p:nvSpPr>
        <p:spPr>
          <a:xfrm>
            <a:off x="5422391" y="3474720"/>
            <a:ext cx="219456" cy="164592"/>
          </a:xfrm>
          <a:prstGeom prst="downArrow">
            <a:avLst/>
          </a:prstGeom>
          <a:solidFill>
            <a:srgbClr val="9B9B9B"/>
          </a:solidFill>
          <a:ln>
            <a:solidFill>
              <a:srgbClr val="9B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Rectangle 221"/>
          <p:cNvSpPr/>
          <p:nvPr/>
        </p:nvSpPr>
        <p:spPr>
          <a:xfrm>
            <a:off x="4105655" y="3694176"/>
            <a:ext cx="2852928" cy="987552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TextBox 222"/>
          <p:cNvSpPr txBox="1"/>
          <p:nvPr/>
        </p:nvSpPr>
        <p:spPr>
          <a:xfrm>
            <a:off x="4160519" y="3730752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0">
                <a:solidFill>
                  <a:srgbClr val="5A5A5A"/>
                </a:solidFill>
                <a:latin typeface="Malgun Gothic"/>
              </a:rPr>
              <a:t>아키텍처 Big Picture 초기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4343399" y="3931920"/>
            <a:ext cx="1005840" cy="548640"/>
          </a:xfrm>
          <a:prstGeom prst="rect">
            <a:avLst/>
          </a:prstGeom>
          <a:solidFill>
            <a:srgbClr val="E5ECF8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Rectangle 224"/>
          <p:cNvSpPr/>
          <p:nvPr/>
        </p:nvSpPr>
        <p:spPr>
          <a:xfrm>
            <a:off x="4398263" y="3986784"/>
            <a:ext cx="201168" cy="73152"/>
          </a:xfrm>
          <a:prstGeom prst="rect">
            <a:avLst/>
          </a:prstGeom>
          <a:solidFill>
            <a:srgbClr val="D2DCEB"/>
          </a:solidFill>
          <a:ln w="254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Rectangle 225"/>
          <p:cNvSpPr/>
          <p:nvPr/>
        </p:nvSpPr>
        <p:spPr>
          <a:xfrm>
            <a:off x="4462271" y="4032504"/>
            <a:ext cx="201168" cy="73152"/>
          </a:xfrm>
          <a:prstGeom prst="rect">
            <a:avLst/>
          </a:prstGeom>
          <a:solidFill>
            <a:srgbClr val="CAD9EB"/>
          </a:solidFill>
          <a:ln w="254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Rectangle 226"/>
          <p:cNvSpPr/>
          <p:nvPr/>
        </p:nvSpPr>
        <p:spPr>
          <a:xfrm>
            <a:off x="4526279" y="4078224"/>
            <a:ext cx="201168" cy="73152"/>
          </a:xfrm>
          <a:prstGeom prst="rect">
            <a:avLst/>
          </a:prstGeom>
          <a:solidFill>
            <a:srgbClr val="C2D6EB"/>
          </a:solidFill>
          <a:ln w="254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Rectangle 227"/>
          <p:cNvSpPr/>
          <p:nvPr/>
        </p:nvSpPr>
        <p:spPr>
          <a:xfrm>
            <a:off x="4590287" y="4123944"/>
            <a:ext cx="201168" cy="73152"/>
          </a:xfrm>
          <a:prstGeom prst="rect">
            <a:avLst/>
          </a:prstGeom>
          <a:solidFill>
            <a:srgbClr val="BAD3EB"/>
          </a:solidFill>
          <a:ln w="254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TextBox 228"/>
          <p:cNvSpPr txBox="1"/>
          <p:nvPr/>
        </p:nvSpPr>
        <p:spPr>
          <a:xfrm>
            <a:off x="4544567" y="4123944"/>
            <a:ext cx="438912" cy="146304"/>
          </a:xfrm>
          <a:prstGeom prst="rect">
            <a:avLst/>
          </a:prstGeom>
          <a:solidFill>
            <a:srgbClr val="376EC5"/>
          </a:solidFill>
          <a:ln w="12700">
            <a:solidFill>
              <a:srgbClr val="376EC5"/>
            </a:solidFill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제안 모델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5769863" y="3931920"/>
            <a:ext cx="1005840" cy="548640"/>
          </a:xfrm>
          <a:prstGeom prst="rect">
            <a:avLst/>
          </a:prstGeom>
          <a:solidFill>
            <a:srgbClr val="E5ECF8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Rectangle 230"/>
          <p:cNvSpPr/>
          <p:nvPr/>
        </p:nvSpPr>
        <p:spPr>
          <a:xfrm>
            <a:off x="5824727" y="3986784"/>
            <a:ext cx="201168" cy="73152"/>
          </a:xfrm>
          <a:prstGeom prst="rect">
            <a:avLst/>
          </a:prstGeom>
          <a:solidFill>
            <a:srgbClr val="D2DCEB"/>
          </a:solidFill>
          <a:ln w="254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Rectangle 231"/>
          <p:cNvSpPr/>
          <p:nvPr/>
        </p:nvSpPr>
        <p:spPr>
          <a:xfrm>
            <a:off x="5888735" y="4032504"/>
            <a:ext cx="201168" cy="73152"/>
          </a:xfrm>
          <a:prstGeom prst="rect">
            <a:avLst/>
          </a:prstGeom>
          <a:solidFill>
            <a:srgbClr val="CAD9EB"/>
          </a:solidFill>
          <a:ln w="254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Rectangle 232"/>
          <p:cNvSpPr/>
          <p:nvPr/>
        </p:nvSpPr>
        <p:spPr>
          <a:xfrm>
            <a:off x="5952743" y="4078224"/>
            <a:ext cx="201168" cy="73152"/>
          </a:xfrm>
          <a:prstGeom prst="rect">
            <a:avLst/>
          </a:prstGeom>
          <a:solidFill>
            <a:srgbClr val="C2D6EB"/>
          </a:solidFill>
          <a:ln w="254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Rectangle 233"/>
          <p:cNvSpPr/>
          <p:nvPr/>
        </p:nvSpPr>
        <p:spPr>
          <a:xfrm>
            <a:off x="6016751" y="4123944"/>
            <a:ext cx="201168" cy="73152"/>
          </a:xfrm>
          <a:prstGeom prst="rect">
            <a:avLst/>
          </a:prstGeom>
          <a:solidFill>
            <a:srgbClr val="BAD3EB"/>
          </a:solidFill>
          <a:ln w="254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TextBox 234"/>
          <p:cNvSpPr txBox="1"/>
          <p:nvPr/>
        </p:nvSpPr>
        <p:spPr>
          <a:xfrm>
            <a:off x="5971031" y="4123944"/>
            <a:ext cx="438912" cy="146304"/>
          </a:xfrm>
          <a:prstGeom prst="rect">
            <a:avLst/>
          </a:prstGeom>
          <a:solidFill>
            <a:srgbClr val="376EC5"/>
          </a:solidFill>
          <a:ln w="12700">
            <a:solidFill>
              <a:srgbClr val="376EC5"/>
            </a:solidFill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SK 참조모델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4105655" y="4937760"/>
            <a:ext cx="2852928" cy="731520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TextBox 236"/>
          <p:cNvSpPr txBox="1"/>
          <p:nvPr/>
        </p:nvSpPr>
        <p:spPr>
          <a:xfrm>
            <a:off x="4160519" y="4965192"/>
            <a:ext cx="2743200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0">
                <a:solidFill>
                  <a:srgbClr val="5A5A5A"/>
                </a:solidFill>
                <a:latin typeface="Malgun Gothic"/>
              </a:rPr>
              <a:t>현행 정의 대상 추출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4251959" y="5193792"/>
            <a:ext cx="585216" cy="219456"/>
          </a:xfrm>
          <a:prstGeom prst="rect">
            <a:avLst/>
          </a:prstGeom>
          <a:solidFill>
            <a:srgbClr val="EEEEEE"/>
          </a:solidFill>
          <a:ln w="5080">
            <a:solidFill>
              <a:srgbClr val="B9B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TextBox 238"/>
          <p:cNvSpPr txBox="1"/>
          <p:nvPr/>
        </p:nvSpPr>
        <p:spPr>
          <a:xfrm>
            <a:off x="4251959" y="5193792"/>
            <a:ext cx="585216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323232"/>
                </a:solidFill>
                <a:latin typeface="Malgun Gothic"/>
              </a:rPr>
              <a:t>논리 기술 아
키텍처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4928615" y="5193792"/>
            <a:ext cx="585216" cy="219456"/>
          </a:xfrm>
          <a:prstGeom prst="rect">
            <a:avLst/>
          </a:prstGeom>
          <a:solidFill>
            <a:srgbClr val="EEEEEE"/>
          </a:solidFill>
          <a:ln w="5080">
            <a:solidFill>
              <a:srgbClr val="B9B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TextBox 240"/>
          <p:cNvSpPr txBox="1"/>
          <p:nvPr/>
        </p:nvSpPr>
        <p:spPr>
          <a:xfrm>
            <a:off x="4928615" y="5193792"/>
            <a:ext cx="585216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323232"/>
                </a:solidFill>
                <a:latin typeface="Malgun Gothic"/>
              </a:rPr>
              <a:t>물리 기술 아
키텍처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5605271" y="5193792"/>
            <a:ext cx="585216" cy="219456"/>
          </a:xfrm>
          <a:prstGeom prst="rect">
            <a:avLst/>
          </a:prstGeom>
          <a:solidFill>
            <a:srgbClr val="EEEEEE"/>
          </a:solidFill>
          <a:ln w="5080">
            <a:solidFill>
              <a:srgbClr val="B9B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TextBox 242"/>
          <p:cNvSpPr txBox="1"/>
          <p:nvPr/>
        </p:nvSpPr>
        <p:spPr>
          <a:xfrm>
            <a:off x="5605271" y="5193792"/>
            <a:ext cx="585216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323232"/>
                </a:solidFill>
                <a:latin typeface="Malgun Gothic"/>
              </a:rPr>
              <a:t>표준 및 구현
가이드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6281927" y="5193792"/>
            <a:ext cx="585216" cy="219456"/>
          </a:xfrm>
          <a:prstGeom prst="rect">
            <a:avLst/>
          </a:prstGeom>
          <a:solidFill>
            <a:srgbClr val="EEEEEE"/>
          </a:solidFill>
          <a:ln w="5080">
            <a:solidFill>
              <a:srgbClr val="B9B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TextBox 244"/>
          <p:cNvSpPr txBox="1"/>
          <p:nvPr/>
        </p:nvSpPr>
        <p:spPr>
          <a:xfrm>
            <a:off x="6281927" y="5193792"/>
            <a:ext cx="585216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323232"/>
                </a:solidFill>
                <a:latin typeface="Malgun Gothic"/>
              </a:rPr>
              <a:t>기술 메커니
즘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4251959" y="5458967"/>
            <a:ext cx="2560320" cy="100584"/>
          </a:xfrm>
          <a:prstGeom prst="rect">
            <a:avLst/>
          </a:prstGeom>
          <a:solidFill>
            <a:srgbClr val="F5F5F5"/>
          </a:solidFill>
          <a:ln w="3810">
            <a:solidFill>
              <a:srgbClr val="C3C3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TextBox 246"/>
          <p:cNvSpPr txBox="1"/>
          <p:nvPr/>
        </p:nvSpPr>
        <p:spPr>
          <a:xfrm>
            <a:off x="4251959" y="5458967"/>
            <a:ext cx="2560320" cy="1005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5A5A5A"/>
                </a:solidFill>
                <a:latin typeface="Malgun Gothic"/>
              </a:rPr>
              <a:t>이슈 요건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4251959" y="5577839"/>
            <a:ext cx="2560320" cy="100584"/>
          </a:xfrm>
          <a:prstGeom prst="rect">
            <a:avLst/>
          </a:prstGeom>
          <a:solidFill>
            <a:srgbClr val="F5F5F5"/>
          </a:solidFill>
          <a:ln w="3810">
            <a:solidFill>
              <a:srgbClr val="C3C3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TextBox 248"/>
          <p:cNvSpPr txBox="1"/>
          <p:nvPr/>
        </p:nvSpPr>
        <p:spPr>
          <a:xfrm>
            <a:off x="4251959" y="5577839"/>
            <a:ext cx="2560320" cy="1005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5A5A5A"/>
                </a:solidFill>
                <a:latin typeface="Malgun Gothic"/>
              </a:rPr>
              <a:t>개선 요건</a:t>
            </a:r>
          </a:p>
        </p:txBody>
      </p:sp>
      <p:sp>
        <p:nvSpPr>
          <p:cNvPr id="250" name="Chevron 249"/>
          <p:cNvSpPr/>
          <p:nvPr/>
        </p:nvSpPr>
        <p:spPr>
          <a:xfrm>
            <a:off x="7205472" y="2962656"/>
            <a:ext cx="310896" cy="1005840"/>
          </a:xfrm>
          <a:prstGeom prst="chevron">
            <a:avLst/>
          </a:prstGeom>
          <a:solidFill>
            <a:srgbClr val="3F74E6"/>
          </a:solidFill>
          <a:ln>
            <a:solidFill>
              <a:srgbClr val="3F7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Rectangle 250"/>
          <p:cNvSpPr/>
          <p:nvPr/>
        </p:nvSpPr>
        <p:spPr>
          <a:xfrm>
            <a:off x="7726679" y="1335024"/>
            <a:ext cx="2542032" cy="4434840"/>
          </a:xfrm>
          <a:prstGeom prst="rect">
            <a:avLst/>
          </a:prstGeom>
          <a:solidFill>
            <a:srgbClr val="FCFCFC"/>
          </a:solidFill>
          <a:ln w="17780">
            <a:solidFill>
              <a:srgbClr val="507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TextBox 251"/>
          <p:cNvSpPr txBox="1"/>
          <p:nvPr/>
        </p:nvSpPr>
        <p:spPr>
          <a:xfrm>
            <a:off x="7781543" y="1362456"/>
            <a:ext cx="2432304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5B64B6"/>
                </a:solidFill>
                <a:latin typeface="Malgun Gothic"/>
              </a:rPr>
              <a:t>(Design) 최적의 아키텍처 수
행 모델(과제) 정의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7836407" y="1773936"/>
            <a:ext cx="2322576" cy="12070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30" b="0">
                <a:solidFill>
                  <a:srgbClr val="3C3C3C"/>
                </a:solidFill>
                <a:latin typeface="Malgun Gothic"/>
              </a:rPr>
              <a:t>Big Picture 제안 모델과 SK 아키텍처 참조모델
을 통해 통합과 표준 및 실행을 위한 수행모델
을 도출한다.
이 과정에서 정의된 목표 아키텍처는 응용(서
비스)관점에 기반한 아키텍처 논리적/물리적
관점으로 구조를 정의하고 이 구조에 기반한
표준 솔루션 및 요소 기술별 메커니즘 설계한다.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8065007" y="3017520"/>
            <a:ext cx="374904" cy="210312"/>
          </a:xfrm>
          <a:prstGeom prst="rect">
            <a:avLst/>
          </a:prstGeom>
          <a:solidFill>
            <a:srgbClr val="F8F8F8"/>
          </a:solidFill>
          <a:ln w="8890"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TextBox 254"/>
          <p:cNvSpPr txBox="1"/>
          <p:nvPr/>
        </p:nvSpPr>
        <p:spPr>
          <a:xfrm>
            <a:off x="8065007" y="3017520"/>
            <a:ext cx="374904" cy="2103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50" b="1">
                <a:solidFill>
                  <a:srgbClr val="373737"/>
                </a:solidFill>
                <a:latin typeface="Malgun Gothic"/>
              </a:rPr>
              <a:t>AA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8586214" y="3017520"/>
            <a:ext cx="374904" cy="210312"/>
          </a:xfrm>
          <a:prstGeom prst="rect">
            <a:avLst/>
          </a:prstGeom>
          <a:solidFill>
            <a:srgbClr val="F8F8F8"/>
          </a:solidFill>
          <a:ln w="8890"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TextBox 256"/>
          <p:cNvSpPr txBox="1"/>
          <p:nvPr/>
        </p:nvSpPr>
        <p:spPr>
          <a:xfrm>
            <a:off x="8586214" y="3017520"/>
            <a:ext cx="374904" cy="2103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50" b="1">
                <a:solidFill>
                  <a:srgbClr val="373737"/>
                </a:solidFill>
                <a:latin typeface="Malgun Gothic"/>
              </a:rPr>
              <a:t>SA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9107421" y="3017520"/>
            <a:ext cx="374904" cy="210312"/>
          </a:xfrm>
          <a:prstGeom prst="rect">
            <a:avLst/>
          </a:prstGeom>
          <a:solidFill>
            <a:srgbClr val="F8F8F8"/>
          </a:solidFill>
          <a:ln w="8890"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9" name="TextBox 258"/>
          <p:cNvSpPr txBox="1"/>
          <p:nvPr/>
        </p:nvSpPr>
        <p:spPr>
          <a:xfrm>
            <a:off x="9107421" y="3017520"/>
            <a:ext cx="374904" cy="2103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50" b="1">
                <a:solidFill>
                  <a:srgbClr val="373737"/>
                </a:solidFill>
                <a:latin typeface="Malgun Gothic"/>
              </a:rPr>
              <a:t>TA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9628628" y="3017520"/>
            <a:ext cx="374904" cy="210312"/>
          </a:xfrm>
          <a:prstGeom prst="rect">
            <a:avLst/>
          </a:prstGeom>
          <a:solidFill>
            <a:srgbClr val="F8F8F8"/>
          </a:solidFill>
          <a:ln w="8890"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TextBox 260"/>
          <p:cNvSpPr txBox="1"/>
          <p:nvPr/>
        </p:nvSpPr>
        <p:spPr>
          <a:xfrm>
            <a:off x="9628628" y="3017520"/>
            <a:ext cx="374904" cy="2103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50" b="1">
                <a:solidFill>
                  <a:srgbClr val="373737"/>
                </a:solidFill>
                <a:latin typeface="Malgun Gothic"/>
              </a:rPr>
              <a:t>DA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8092439" y="3255264"/>
            <a:ext cx="1810512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00" b="1">
                <a:solidFill>
                  <a:srgbClr val="A64C46"/>
                </a:solidFill>
                <a:latin typeface="Malgun Gothic"/>
              </a:rPr>
              <a:t>아키텍처 관심사 분리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7827263" y="3694176"/>
            <a:ext cx="237744" cy="822960"/>
          </a:xfrm>
          <a:prstGeom prst="rect">
            <a:avLst/>
          </a:prstGeom>
          <a:solidFill>
            <a:srgbClr val="EAEAEA"/>
          </a:solidFill>
          <a:ln w="508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4" name="TextBox 263"/>
          <p:cNvSpPr txBox="1"/>
          <p:nvPr/>
        </p:nvSpPr>
        <p:spPr>
          <a:xfrm>
            <a:off x="7827263" y="3694176"/>
            <a:ext cx="237744" cy="8229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80" b="0">
                <a:solidFill>
                  <a:srgbClr val="323232"/>
                </a:solidFill>
                <a:latin typeface="Malgun Gothic"/>
              </a:rPr>
              <a:t>상위 응
용 기능
체계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8275319" y="3785616"/>
            <a:ext cx="621792" cy="329184"/>
          </a:xfrm>
          <a:prstGeom prst="rect">
            <a:avLst/>
          </a:prstGeom>
          <a:solidFill>
            <a:srgbClr val="F5F5F5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6" name="TextBox 265"/>
          <p:cNvSpPr txBox="1"/>
          <p:nvPr/>
        </p:nvSpPr>
        <p:spPr>
          <a:xfrm>
            <a:off x="8275319" y="3785616"/>
            <a:ext cx="621792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80" b="0">
                <a:solidFill>
                  <a:srgbClr val="323232"/>
                </a:solidFill>
                <a:latin typeface="Malgun Gothic"/>
              </a:rPr>
              <a:t>목표 개
념 아키
텍처 정의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9125711" y="3749040"/>
            <a:ext cx="676656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8" name="TextBox 267"/>
          <p:cNvSpPr txBox="1"/>
          <p:nvPr/>
        </p:nvSpPr>
        <p:spPr>
          <a:xfrm>
            <a:off x="9125711" y="3749040"/>
            <a:ext cx="676656" cy="49377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80" b="0">
                <a:solidFill>
                  <a:srgbClr val="323232"/>
                </a:solidFill>
                <a:latin typeface="Malgun Gothic"/>
              </a:rPr>
              <a:t>데이터 아
키텍처적
관점
정의</a:t>
            </a:r>
          </a:p>
        </p:txBody>
      </p:sp>
      <p:sp>
        <p:nvSpPr>
          <p:cNvPr id="269" name="Rectangle 268"/>
          <p:cNvSpPr/>
          <p:nvPr/>
        </p:nvSpPr>
        <p:spPr>
          <a:xfrm>
            <a:off x="9043415" y="4407408"/>
            <a:ext cx="841248" cy="585216"/>
          </a:xfrm>
          <a:prstGeom prst="rect">
            <a:avLst/>
          </a:prstGeom>
          <a:solidFill>
            <a:srgbClr val="F5F5F5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TextBox 269"/>
          <p:cNvSpPr txBox="1"/>
          <p:nvPr/>
        </p:nvSpPr>
        <p:spPr>
          <a:xfrm>
            <a:off x="9043415" y="4407408"/>
            <a:ext cx="841248" cy="58521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80" b="0">
                <a:solidFill>
                  <a:srgbClr val="323232"/>
                </a:solidFill>
                <a:latin typeface="Malgun Gothic"/>
              </a:rPr>
              <a:t>논리 기
술 아키
텍처 및
최적 모
델 정의</a:t>
            </a:r>
          </a:p>
        </p:txBody>
      </p:sp>
      <p:sp>
        <p:nvSpPr>
          <p:cNvPr id="271" name="Rectangle 270"/>
          <p:cNvSpPr/>
          <p:nvPr/>
        </p:nvSpPr>
        <p:spPr>
          <a:xfrm>
            <a:off x="9985247" y="4407408"/>
            <a:ext cx="841248" cy="585216"/>
          </a:xfrm>
          <a:prstGeom prst="rect">
            <a:avLst/>
          </a:prstGeom>
          <a:solidFill>
            <a:srgbClr val="F5F5F5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2" name="TextBox 271"/>
          <p:cNvSpPr txBox="1"/>
          <p:nvPr/>
        </p:nvSpPr>
        <p:spPr>
          <a:xfrm>
            <a:off x="9985247" y="4407408"/>
            <a:ext cx="841248" cy="58521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80" b="0">
                <a:solidFill>
                  <a:srgbClr val="323232"/>
                </a:solidFill>
                <a:latin typeface="Malgun Gothic"/>
              </a:rPr>
              <a:t>물리 기
술 아키
텍처 및
최적 모
델 정의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10140695" y="3822192"/>
            <a:ext cx="603504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4" name="TextBox 273"/>
          <p:cNvSpPr txBox="1"/>
          <p:nvPr/>
        </p:nvSpPr>
        <p:spPr>
          <a:xfrm>
            <a:off x="10140695" y="3822192"/>
            <a:ext cx="603504" cy="49377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80" b="0">
                <a:solidFill>
                  <a:srgbClr val="323232"/>
                </a:solidFill>
                <a:latin typeface="Malgun Gothic"/>
              </a:rPr>
              <a:t>요소 기
술 매커
니즘
정의</a:t>
            </a:r>
          </a:p>
        </p:txBody>
      </p:sp>
      <p:sp>
        <p:nvSpPr>
          <p:cNvPr id="275" name="Rectangle 274"/>
          <p:cNvSpPr/>
          <p:nvPr/>
        </p:nvSpPr>
        <p:spPr>
          <a:xfrm>
            <a:off x="8275319" y="5376672"/>
            <a:ext cx="1737360" cy="201168"/>
          </a:xfrm>
          <a:prstGeom prst="rect">
            <a:avLst/>
          </a:prstGeom>
          <a:solidFill>
            <a:srgbClr val="ECECEC"/>
          </a:solidFill>
          <a:ln w="508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6" name="TextBox 275"/>
          <p:cNvSpPr txBox="1"/>
          <p:nvPr/>
        </p:nvSpPr>
        <p:spPr>
          <a:xfrm>
            <a:off x="8275319" y="5376672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80" b="0">
                <a:solidFill>
                  <a:srgbClr val="323232"/>
                </a:solidFill>
                <a:latin typeface="Malgun Gothic"/>
              </a:rPr>
              <a:t>요소 기술 통합 관점의 아키텍처 모델 정의</a:t>
            </a:r>
          </a:p>
        </p:txBody>
      </p:sp>
      <p:cxnSp>
        <p:nvCxnSpPr>
          <p:cNvPr id="277" name="Connector 276"/>
          <p:cNvCxnSpPr/>
          <p:nvPr/>
        </p:nvCxnSpPr>
        <p:spPr>
          <a:xfrm flipV="1">
            <a:off x="8065007" y="3950208"/>
            <a:ext cx="210312" cy="146304"/>
          </a:xfrm>
          <a:prstGeom prst="line">
            <a:avLst/>
          </a:prstGeom>
          <a:ln w="1016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>
            <a:off x="8897111" y="3950208"/>
            <a:ext cx="228600" cy="0"/>
          </a:xfrm>
          <a:prstGeom prst="line">
            <a:avLst/>
          </a:prstGeom>
          <a:ln w="1016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>
            <a:off x="9326879" y="4242816"/>
            <a:ext cx="0" cy="164592"/>
          </a:xfrm>
          <a:prstGeom prst="line">
            <a:avLst/>
          </a:prstGeom>
          <a:ln w="1016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>
            <a:off x="10241279" y="4242816"/>
            <a:ext cx="0" cy="164592"/>
          </a:xfrm>
          <a:prstGeom prst="line">
            <a:avLst/>
          </a:prstGeom>
          <a:ln w="1016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 flipH="1">
            <a:off x="9802367" y="4078224"/>
            <a:ext cx="338328" cy="0"/>
          </a:xfrm>
          <a:prstGeom prst="line">
            <a:avLst/>
          </a:prstGeom>
          <a:ln w="1016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>
            <a:off x="9464039" y="4992624"/>
            <a:ext cx="0" cy="384048"/>
          </a:xfrm>
          <a:prstGeom prst="line">
            <a:avLst/>
          </a:prstGeom>
          <a:ln w="1016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>
            <a:off x="10405871" y="4992624"/>
            <a:ext cx="0" cy="384048"/>
          </a:xfrm>
          <a:prstGeom prst="line">
            <a:avLst/>
          </a:prstGeom>
          <a:ln w="1016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>
            <a:off x="10140695" y="4736592"/>
            <a:ext cx="0" cy="640080"/>
          </a:xfrm>
          <a:prstGeom prst="line">
            <a:avLst/>
          </a:prstGeom>
          <a:ln w="1016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5" name="TextBox 284"/>
          <p:cNvSpPr txBox="1"/>
          <p:nvPr/>
        </p:nvSpPr>
        <p:spPr>
          <a:xfrm>
            <a:off x="5065776" y="5907024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464646"/>
                </a:solidFill>
                <a:latin typeface="Malgun Gothic"/>
              </a:rPr>
              <a:t>3</a:t>
            </a:r>
          </a:p>
        </p:txBody>
      </p:sp>
      <p:sp>
        <p:nvSpPr>
          <p:cNvPr id="286" name="Isosceles Triangle 285"/>
          <p:cNvSpPr/>
          <p:nvPr/>
        </p:nvSpPr>
        <p:spPr>
          <a:xfrm rot="10800000">
            <a:off x="18288" y="5815584"/>
            <a:ext cx="118872" cy="164592"/>
          </a:xfrm>
          <a:prstGeom prst="triangle">
            <a:avLst/>
          </a:prstGeom>
          <a:solidFill>
            <a:srgbClr val="EC9A34"/>
          </a:solidFill>
          <a:ln>
            <a:solidFill>
              <a:srgbClr val="EC9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7" name="Oval 286"/>
          <p:cNvSpPr/>
          <p:nvPr/>
        </p:nvSpPr>
        <p:spPr>
          <a:xfrm>
            <a:off x="109728" y="5852160"/>
            <a:ext cx="45720" cy="45720"/>
          </a:xfrm>
          <a:prstGeom prst="ellipse">
            <a:avLst/>
          </a:prstGeom>
          <a:solidFill>
            <a:srgbClr val="EC9A34"/>
          </a:solidFill>
          <a:ln>
            <a:solidFill>
              <a:srgbClr val="EC9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8" name="TextBox 287"/>
          <p:cNvSpPr txBox="1"/>
          <p:nvPr/>
        </p:nvSpPr>
        <p:spPr>
          <a:xfrm>
            <a:off x="164592" y="5806440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>
                <a:solidFill>
                  <a:srgbClr val="26854A"/>
                </a:solidFill>
                <a:latin typeface="Malgun Gothic"/>
              </a:rPr>
              <a:t>농협중앙회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6304" y="109728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300" b="1">
                <a:solidFill>
                  <a:srgbClr val="232323"/>
                </a:solidFill>
                <a:latin typeface="Malgun Gothic"/>
              </a:rPr>
              <a:t>2. 사전분석 범위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46304" y="612648"/>
            <a:ext cx="9784080" cy="0"/>
          </a:xfrm>
          <a:prstGeom prst="line">
            <a:avLst/>
          </a:prstGeom>
          <a:ln w="190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82880" y="704088"/>
            <a:ext cx="978408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750">
                <a:solidFill>
                  <a:srgbClr val="323232"/>
                </a:solidFill>
                <a:latin typeface="Malgun Gothic"/>
              </a:rPr>
              <a:t>상호금융 「 차세대 정보계 시스템 구축」을 위한 </a:t>
            </a:r>
            <a:r>
              <a:rPr sz="1750">
                <a:solidFill>
                  <a:srgbClr val="A84E49"/>
                </a:solidFill>
                <a:latin typeface="Malgun Gothic"/>
              </a:rPr>
              <a:t>실행 아키텍처 관점에서 현행 아키텍처 구조
및 기술</a:t>
            </a:r>
            <a:r>
              <a:rPr sz="1750">
                <a:solidFill>
                  <a:srgbClr val="323232"/>
                </a:solidFill>
                <a:latin typeface="Malgun Gothic"/>
              </a:rPr>
              <a:t>를 분석하고, 이를 기반으로 </a:t>
            </a:r>
            <a:r>
              <a:rPr sz="1750">
                <a:solidFill>
                  <a:srgbClr val="A84E49"/>
                </a:solidFill>
                <a:latin typeface="Malgun Gothic"/>
              </a:rPr>
              <a:t>목표 아키텍처 설계</a:t>
            </a:r>
            <a:r>
              <a:rPr sz="1750">
                <a:solidFill>
                  <a:srgbClr val="323232"/>
                </a:solidFill>
                <a:latin typeface="Malgun Gothic"/>
              </a:rPr>
              <a:t>를 위한 </a:t>
            </a:r>
            <a:r>
              <a:rPr sz="1750">
                <a:solidFill>
                  <a:srgbClr val="A84E49"/>
                </a:solidFill>
                <a:latin typeface="Malgun Gothic"/>
              </a:rPr>
              <a:t>요건</a:t>
            </a:r>
            <a:r>
              <a:rPr sz="1750">
                <a:solidFill>
                  <a:srgbClr val="323232"/>
                </a:solidFill>
                <a:latin typeface="Malgun Gothic"/>
              </a:rPr>
              <a:t>을 확보하는 활동이다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89888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600" b="1">
                <a:solidFill>
                  <a:srgbClr val="232323"/>
                </a:solidFill>
                <a:latin typeface="Malgun Gothic"/>
              </a:rPr>
              <a:t>아키텍처 주요 분석 대상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03320" y="1389888"/>
            <a:ext cx="3182112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600" b="1">
                <a:solidFill>
                  <a:srgbClr val="232323"/>
                </a:solidFill>
                <a:latin typeface="Malgun Gothic"/>
              </a:rPr>
              <a:t>현행 및 선행 아키텍처 요건 정의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9456" y="1682496"/>
            <a:ext cx="2926080" cy="0"/>
          </a:xfrm>
          <a:prstGeom prst="line">
            <a:avLst/>
          </a:prstGeom>
          <a:ln w="1016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538728" y="1682496"/>
            <a:ext cx="3401568" cy="0"/>
          </a:xfrm>
          <a:prstGeom prst="line">
            <a:avLst/>
          </a:prstGeom>
          <a:ln w="1016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19456" y="1737360"/>
            <a:ext cx="2697480" cy="4160520"/>
          </a:xfrm>
          <a:prstGeom prst="rect">
            <a:avLst/>
          </a:prstGeom>
          <a:solidFill>
            <a:srgbClr val="FCFCFC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19456" y="1737360"/>
            <a:ext cx="475488" cy="182880"/>
          </a:xfrm>
          <a:prstGeom prst="rect">
            <a:avLst/>
          </a:prstGeom>
          <a:solidFill>
            <a:srgbClr val="E8ECF2"/>
          </a:solidFill>
          <a:ln w="508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19456" y="1737360"/>
            <a:ext cx="475488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00" b="1">
                <a:solidFill>
                  <a:srgbClr val="373737"/>
                </a:solidFill>
                <a:latin typeface="Malgun Gothic"/>
              </a:rPr>
              <a:t>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" y="1737360"/>
            <a:ext cx="822960" cy="182880"/>
          </a:xfrm>
          <a:prstGeom prst="rect">
            <a:avLst/>
          </a:prstGeom>
          <a:solidFill>
            <a:srgbClr val="E8ECF2"/>
          </a:solidFill>
          <a:ln w="508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4944" y="1737360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00" b="1">
                <a:solidFill>
                  <a:srgbClr val="373737"/>
                </a:solidFill>
                <a:latin typeface="Malgun Gothic"/>
              </a:rPr>
              <a:t>분류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17904" y="1737360"/>
            <a:ext cx="960120" cy="182880"/>
          </a:xfrm>
          <a:prstGeom prst="rect">
            <a:avLst/>
          </a:prstGeom>
          <a:solidFill>
            <a:srgbClr val="E8ECF2"/>
          </a:solidFill>
          <a:ln w="508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517904" y="1737360"/>
            <a:ext cx="96012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00" b="1">
                <a:solidFill>
                  <a:srgbClr val="373737"/>
                </a:solidFill>
                <a:latin typeface="Malgun Gothic"/>
              </a:rPr>
              <a:t>대상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78024" y="1737360"/>
            <a:ext cx="438912" cy="182880"/>
          </a:xfrm>
          <a:prstGeom prst="rect">
            <a:avLst/>
          </a:prstGeom>
          <a:solidFill>
            <a:srgbClr val="E8ECF2"/>
          </a:solidFill>
          <a:ln w="508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478024" y="1737360"/>
            <a:ext cx="438912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00" b="1">
                <a:solidFill>
                  <a:srgbClr val="373737"/>
                </a:solidFill>
                <a:latin typeface="Malgun Gothic"/>
              </a:rPr>
              <a:t>비고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9456" y="1920240"/>
            <a:ext cx="475488" cy="96012"/>
          </a:xfrm>
          <a:prstGeom prst="rect">
            <a:avLst/>
          </a:prstGeom>
          <a:solidFill>
            <a:srgbClr val="FAFAFA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28600" y="1920240"/>
            <a:ext cx="457200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기술운영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4944" y="1920240"/>
            <a:ext cx="822960" cy="96012"/>
          </a:xfrm>
          <a:prstGeom prst="rect">
            <a:avLst/>
          </a:prstGeom>
          <a:solidFill>
            <a:srgbClr val="FAFAFA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4088" y="1920240"/>
            <a:ext cx="80467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개발환경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17904" y="1920240"/>
            <a:ext cx="960120" cy="96012"/>
          </a:xfrm>
          <a:prstGeom prst="rect">
            <a:avLst/>
          </a:prstGeom>
          <a:solidFill>
            <a:srgbClr val="F1E46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527048" y="1920240"/>
            <a:ext cx="94183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개발프로세스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78024" y="1920240"/>
            <a:ext cx="438912" cy="96012"/>
          </a:xfrm>
          <a:prstGeom prst="rect">
            <a:avLst/>
          </a:prstGeom>
          <a:solidFill>
            <a:srgbClr val="FAFAFA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487168" y="1920240"/>
            <a:ext cx="420624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19456" y="2016252"/>
            <a:ext cx="475488" cy="96012"/>
          </a:xfrm>
          <a:prstGeom prst="rect">
            <a:avLst/>
          </a:prstGeom>
          <a:solidFill>
            <a:srgbClr val="F5F5F5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28600" y="2016252"/>
            <a:ext cx="457200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기술운영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4944" y="2016252"/>
            <a:ext cx="822960" cy="96012"/>
          </a:xfrm>
          <a:prstGeom prst="rect">
            <a:avLst/>
          </a:prstGeom>
          <a:solidFill>
            <a:srgbClr val="F5F5F5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04088" y="2016252"/>
            <a:ext cx="80467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개발환경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17904" y="2016252"/>
            <a:ext cx="960120" cy="96012"/>
          </a:xfrm>
          <a:prstGeom prst="rect">
            <a:avLst/>
          </a:prstGeom>
          <a:solidFill>
            <a:srgbClr val="F5F5F5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527048" y="2016252"/>
            <a:ext cx="94183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개발방법론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78024" y="2016252"/>
            <a:ext cx="438912" cy="96012"/>
          </a:xfrm>
          <a:prstGeom prst="rect">
            <a:avLst/>
          </a:prstGeom>
          <a:solidFill>
            <a:srgbClr val="F5F5F5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487168" y="2016252"/>
            <a:ext cx="420624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19456" y="2112264"/>
            <a:ext cx="475488" cy="96012"/>
          </a:xfrm>
          <a:prstGeom prst="rect">
            <a:avLst/>
          </a:prstGeom>
          <a:solidFill>
            <a:srgbClr val="FAFAFA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28600" y="2112264"/>
            <a:ext cx="457200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기술운영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4944" y="2112264"/>
            <a:ext cx="822960" cy="96012"/>
          </a:xfrm>
          <a:prstGeom prst="rect">
            <a:avLst/>
          </a:prstGeom>
          <a:solidFill>
            <a:srgbClr val="FAFAFA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04088" y="2112264"/>
            <a:ext cx="80467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개발환경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517904" y="2112264"/>
            <a:ext cx="960120" cy="96012"/>
          </a:xfrm>
          <a:prstGeom prst="rect">
            <a:avLst/>
          </a:prstGeom>
          <a:solidFill>
            <a:srgbClr val="FAFAFA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527048" y="2112264"/>
            <a:ext cx="94183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요구사항관리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78024" y="2112264"/>
            <a:ext cx="438912" cy="96012"/>
          </a:xfrm>
          <a:prstGeom prst="rect">
            <a:avLst/>
          </a:prstGeom>
          <a:solidFill>
            <a:srgbClr val="FAFAFA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487168" y="2112264"/>
            <a:ext cx="420624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219456" y="2208276"/>
            <a:ext cx="475488" cy="96012"/>
          </a:xfrm>
          <a:prstGeom prst="rect">
            <a:avLst/>
          </a:prstGeom>
          <a:solidFill>
            <a:srgbClr val="F5F5F5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28600" y="2208276"/>
            <a:ext cx="457200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기술운영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4944" y="2208276"/>
            <a:ext cx="822960" cy="96012"/>
          </a:xfrm>
          <a:prstGeom prst="rect">
            <a:avLst/>
          </a:prstGeom>
          <a:solidFill>
            <a:srgbClr val="F5F5F5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04088" y="2208276"/>
            <a:ext cx="80467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개발환경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17904" y="2208276"/>
            <a:ext cx="960120" cy="96012"/>
          </a:xfrm>
          <a:prstGeom prst="rect">
            <a:avLst/>
          </a:prstGeom>
          <a:solidFill>
            <a:srgbClr val="F5F5F5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527048" y="2208276"/>
            <a:ext cx="94183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형상관리도구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478024" y="2208276"/>
            <a:ext cx="438912" cy="96012"/>
          </a:xfrm>
          <a:prstGeom prst="rect">
            <a:avLst/>
          </a:prstGeom>
          <a:solidFill>
            <a:srgbClr val="F5F5F5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487168" y="2208276"/>
            <a:ext cx="420624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219456" y="2304288"/>
            <a:ext cx="475488" cy="96012"/>
          </a:xfrm>
          <a:prstGeom prst="rect">
            <a:avLst/>
          </a:prstGeom>
          <a:solidFill>
            <a:srgbClr val="FAFAFA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28600" y="2304288"/>
            <a:ext cx="457200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기술운영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4944" y="2304288"/>
            <a:ext cx="822960" cy="96012"/>
          </a:xfrm>
          <a:prstGeom prst="rect">
            <a:avLst/>
          </a:prstGeom>
          <a:solidFill>
            <a:srgbClr val="FAFAFA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04088" y="2304288"/>
            <a:ext cx="80467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개발환경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517904" y="2304288"/>
            <a:ext cx="960120" cy="96012"/>
          </a:xfrm>
          <a:prstGeom prst="rect">
            <a:avLst/>
          </a:prstGeom>
          <a:solidFill>
            <a:srgbClr val="FAFAFA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527048" y="2304288"/>
            <a:ext cx="94183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구현도구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478024" y="2304288"/>
            <a:ext cx="438912" cy="96012"/>
          </a:xfrm>
          <a:prstGeom prst="rect">
            <a:avLst/>
          </a:prstGeom>
          <a:solidFill>
            <a:srgbClr val="FAFAFA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487168" y="2304288"/>
            <a:ext cx="420624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219456" y="2400300"/>
            <a:ext cx="475488" cy="96012"/>
          </a:xfrm>
          <a:prstGeom prst="rect">
            <a:avLst/>
          </a:prstGeom>
          <a:solidFill>
            <a:srgbClr val="F5F5F5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28600" y="2400300"/>
            <a:ext cx="457200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기술운영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94944" y="2400300"/>
            <a:ext cx="822960" cy="96012"/>
          </a:xfrm>
          <a:prstGeom prst="rect">
            <a:avLst/>
          </a:prstGeom>
          <a:solidFill>
            <a:srgbClr val="F5F5F5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04088" y="2400300"/>
            <a:ext cx="80467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개발환경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517904" y="2400300"/>
            <a:ext cx="960120" cy="96012"/>
          </a:xfrm>
          <a:prstGeom prst="rect">
            <a:avLst/>
          </a:prstGeom>
          <a:solidFill>
            <a:srgbClr val="F5F5F5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527048" y="2400300"/>
            <a:ext cx="94183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테스트도구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478024" y="2400300"/>
            <a:ext cx="438912" cy="96012"/>
          </a:xfrm>
          <a:prstGeom prst="rect">
            <a:avLst/>
          </a:prstGeom>
          <a:solidFill>
            <a:srgbClr val="F5F5F5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2487168" y="2400300"/>
            <a:ext cx="420624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219456" y="2496312"/>
            <a:ext cx="475488" cy="96012"/>
          </a:xfrm>
          <a:prstGeom prst="rect">
            <a:avLst/>
          </a:prstGeom>
          <a:solidFill>
            <a:srgbClr val="FAFAFA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228600" y="2496312"/>
            <a:ext cx="457200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기술운영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94944" y="2496312"/>
            <a:ext cx="822960" cy="96012"/>
          </a:xfrm>
          <a:prstGeom prst="rect">
            <a:avLst/>
          </a:prstGeom>
          <a:solidFill>
            <a:srgbClr val="FAFAFA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04088" y="2496312"/>
            <a:ext cx="80467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개발환경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517904" y="2496312"/>
            <a:ext cx="960120" cy="96012"/>
          </a:xfrm>
          <a:prstGeom prst="rect">
            <a:avLst/>
          </a:prstGeom>
          <a:solidFill>
            <a:srgbClr val="FAFAFA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527048" y="2496312"/>
            <a:ext cx="94183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릴리즈도구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478024" y="2496312"/>
            <a:ext cx="438912" cy="96012"/>
          </a:xfrm>
          <a:prstGeom prst="rect">
            <a:avLst/>
          </a:prstGeom>
          <a:solidFill>
            <a:srgbClr val="FAFAFA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2487168" y="2496312"/>
            <a:ext cx="420624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219456" y="2592324"/>
            <a:ext cx="475488" cy="96012"/>
          </a:xfrm>
          <a:prstGeom prst="rect">
            <a:avLst/>
          </a:prstGeom>
          <a:solidFill>
            <a:srgbClr val="F5F5F5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228600" y="2592324"/>
            <a:ext cx="457200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기술운영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94944" y="2592324"/>
            <a:ext cx="822960" cy="96012"/>
          </a:xfrm>
          <a:prstGeom prst="rect">
            <a:avLst/>
          </a:prstGeom>
          <a:solidFill>
            <a:srgbClr val="F5F5F5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704088" y="2592324"/>
            <a:ext cx="80467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개발환경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517904" y="2592324"/>
            <a:ext cx="960120" cy="96012"/>
          </a:xfrm>
          <a:prstGeom prst="rect">
            <a:avLst/>
          </a:prstGeom>
          <a:solidFill>
            <a:srgbClr val="F5F5F5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1527048" y="2592324"/>
            <a:ext cx="94183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통합운영도구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478024" y="2592324"/>
            <a:ext cx="438912" cy="96012"/>
          </a:xfrm>
          <a:prstGeom prst="rect">
            <a:avLst/>
          </a:prstGeom>
          <a:solidFill>
            <a:srgbClr val="F5F5F5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2487168" y="2592324"/>
            <a:ext cx="420624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219456" y="2688336"/>
            <a:ext cx="475488" cy="96012"/>
          </a:xfrm>
          <a:prstGeom prst="rect">
            <a:avLst/>
          </a:prstGeom>
          <a:solidFill>
            <a:srgbClr val="FAFAFA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228600" y="2688336"/>
            <a:ext cx="457200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기술운영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94944" y="2688336"/>
            <a:ext cx="822960" cy="96012"/>
          </a:xfrm>
          <a:prstGeom prst="rect">
            <a:avLst/>
          </a:prstGeom>
          <a:solidFill>
            <a:srgbClr val="FAFAFA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04088" y="2688336"/>
            <a:ext cx="80467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개발환경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517904" y="2688336"/>
            <a:ext cx="960120" cy="96012"/>
          </a:xfrm>
          <a:prstGeom prst="rect">
            <a:avLst/>
          </a:prstGeom>
          <a:solidFill>
            <a:srgbClr val="FAFAFA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1527048" y="2688336"/>
            <a:ext cx="94183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모니터링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478024" y="2688336"/>
            <a:ext cx="438912" cy="96012"/>
          </a:xfrm>
          <a:prstGeom prst="rect">
            <a:avLst/>
          </a:prstGeom>
          <a:solidFill>
            <a:srgbClr val="FAFAFA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2487168" y="2688336"/>
            <a:ext cx="420624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219456" y="2784348"/>
            <a:ext cx="475488" cy="96012"/>
          </a:xfrm>
          <a:prstGeom prst="rect">
            <a:avLst/>
          </a:prstGeom>
          <a:solidFill>
            <a:srgbClr val="F5F5F5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228600" y="2784348"/>
            <a:ext cx="457200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기술운영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94944" y="2784348"/>
            <a:ext cx="822960" cy="96012"/>
          </a:xfrm>
          <a:prstGeom prst="rect">
            <a:avLst/>
          </a:prstGeom>
          <a:solidFill>
            <a:srgbClr val="F5F5F5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704088" y="2784348"/>
            <a:ext cx="80467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개발환경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517904" y="2784348"/>
            <a:ext cx="960120" cy="96012"/>
          </a:xfrm>
          <a:prstGeom prst="rect">
            <a:avLst/>
          </a:prstGeom>
          <a:solidFill>
            <a:srgbClr val="F5F5F5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1527048" y="2784348"/>
            <a:ext cx="94183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백업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478024" y="2784348"/>
            <a:ext cx="438912" cy="96012"/>
          </a:xfrm>
          <a:prstGeom prst="rect">
            <a:avLst/>
          </a:prstGeom>
          <a:solidFill>
            <a:srgbClr val="F5F5F5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2487168" y="2784348"/>
            <a:ext cx="420624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219456" y="2880360"/>
            <a:ext cx="475488" cy="96012"/>
          </a:xfrm>
          <a:prstGeom prst="rect">
            <a:avLst/>
          </a:prstGeom>
          <a:solidFill>
            <a:srgbClr val="FAFAFA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228600" y="2880360"/>
            <a:ext cx="457200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응용분석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94944" y="2880360"/>
            <a:ext cx="822960" cy="96012"/>
          </a:xfrm>
          <a:prstGeom prst="rect">
            <a:avLst/>
          </a:prstGeom>
          <a:solidFill>
            <a:srgbClr val="FAFAFA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704088" y="2880360"/>
            <a:ext cx="80467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사용자 화면환경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517904" y="2880360"/>
            <a:ext cx="960120" cy="96012"/>
          </a:xfrm>
          <a:prstGeom prst="rect">
            <a:avLst/>
          </a:prstGeom>
          <a:solidFill>
            <a:srgbClr val="F1E46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1527048" y="2880360"/>
            <a:ext cx="94183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UI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478024" y="2880360"/>
            <a:ext cx="438912" cy="96012"/>
          </a:xfrm>
          <a:prstGeom prst="rect">
            <a:avLst/>
          </a:prstGeom>
          <a:solidFill>
            <a:srgbClr val="FAFAFA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2487168" y="2880360"/>
            <a:ext cx="420624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219456" y="2976372"/>
            <a:ext cx="475488" cy="96012"/>
          </a:xfrm>
          <a:prstGeom prst="rect">
            <a:avLst/>
          </a:prstGeom>
          <a:solidFill>
            <a:srgbClr val="F5F5F5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228600" y="2976372"/>
            <a:ext cx="457200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응용분석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94944" y="2976372"/>
            <a:ext cx="822960" cy="96012"/>
          </a:xfrm>
          <a:prstGeom prst="rect">
            <a:avLst/>
          </a:prstGeom>
          <a:solidFill>
            <a:srgbClr val="F5F5F5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704088" y="2976372"/>
            <a:ext cx="80467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사용자 화면환경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517904" y="2976372"/>
            <a:ext cx="960120" cy="96012"/>
          </a:xfrm>
          <a:prstGeom prst="rect">
            <a:avLst/>
          </a:prstGeom>
          <a:solidFill>
            <a:srgbClr val="F5F5F5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1527048" y="2976372"/>
            <a:ext cx="94183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Portal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478024" y="2976372"/>
            <a:ext cx="438912" cy="96012"/>
          </a:xfrm>
          <a:prstGeom prst="rect">
            <a:avLst/>
          </a:prstGeom>
          <a:solidFill>
            <a:srgbClr val="F5F5F5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2487168" y="2976372"/>
            <a:ext cx="420624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219456" y="3072384"/>
            <a:ext cx="475488" cy="96012"/>
          </a:xfrm>
          <a:prstGeom prst="rect">
            <a:avLst/>
          </a:prstGeom>
          <a:solidFill>
            <a:srgbClr val="FAFAFA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228600" y="3072384"/>
            <a:ext cx="457200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응용분석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94944" y="3072384"/>
            <a:ext cx="822960" cy="96012"/>
          </a:xfrm>
          <a:prstGeom prst="rect">
            <a:avLst/>
          </a:prstGeom>
          <a:solidFill>
            <a:srgbClr val="FAFAFA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704088" y="3072384"/>
            <a:ext cx="80467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사용자 화면환경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517904" y="3072384"/>
            <a:ext cx="960120" cy="96012"/>
          </a:xfrm>
          <a:prstGeom prst="rect">
            <a:avLst/>
          </a:prstGeom>
          <a:solidFill>
            <a:srgbClr val="FAFAFA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1527048" y="3072384"/>
            <a:ext cx="94183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그룹웨어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2478024" y="3072384"/>
            <a:ext cx="438912" cy="96012"/>
          </a:xfrm>
          <a:prstGeom prst="rect">
            <a:avLst/>
          </a:prstGeom>
          <a:solidFill>
            <a:srgbClr val="FAFAFA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2487168" y="3072384"/>
            <a:ext cx="420624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219456" y="3168396"/>
            <a:ext cx="475488" cy="96012"/>
          </a:xfrm>
          <a:prstGeom prst="rect">
            <a:avLst/>
          </a:prstGeom>
          <a:solidFill>
            <a:srgbClr val="F5F5F5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228600" y="3168396"/>
            <a:ext cx="457200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응용분석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694944" y="3168396"/>
            <a:ext cx="822960" cy="96012"/>
          </a:xfrm>
          <a:prstGeom prst="rect">
            <a:avLst/>
          </a:prstGeom>
          <a:solidFill>
            <a:srgbClr val="F5F5F5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704088" y="3168396"/>
            <a:ext cx="80467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사용자 화면환경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517904" y="3168396"/>
            <a:ext cx="960120" cy="96012"/>
          </a:xfrm>
          <a:prstGeom prst="rect">
            <a:avLst/>
          </a:prstGeom>
          <a:solidFill>
            <a:srgbClr val="F5F5F5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1527048" y="3168396"/>
            <a:ext cx="94183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배치스케줄러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2478024" y="3168396"/>
            <a:ext cx="438912" cy="96012"/>
          </a:xfrm>
          <a:prstGeom prst="rect">
            <a:avLst/>
          </a:prstGeom>
          <a:solidFill>
            <a:srgbClr val="F5F5F5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2487168" y="3168396"/>
            <a:ext cx="420624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219456" y="3264408"/>
            <a:ext cx="475488" cy="96012"/>
          </a:xfrm>
          <a:prstGeom prst="rect">
            <a:avLst/>
          </a:prstGeom>
          <a:solidFill>
            <a:srgbClr val="FAFAFA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228600" y="3264408"/>
            <a:ext cx="457200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응용분석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94944" y="3264408"/>
            <a:ext cx="822960" cy="96012"/>
          </a:xfrm>
          <a:prstGeom prst="rect">
            <a:avLst/>
          </a:prstGeom>
          <a:solidFill>
            <a:srgbClr val="FAFAFA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704088" y="3264408"/>
            <a:ext cx="80467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어플리케이션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517904" y="3264408"/>
            <a:ext cx="960120" cy="96012"/>
          </a:xfrm>
          <a:prstGeom prst="rect">
            <a:avLst/>
          </a:prstGeom>
          <a:solidFill>
            <a:srgbClr val="F1E46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1527048" y="3264408"/>
            <a:ext cx="94183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프레임워크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2478024" y="3264408"/>
            <a:ext cx="438912" cy="96012"/>
          </a:xfrm>
          <a:prstGeom prst="rect">
            <a:avLst/>
          </a:prstGeom>
          <a:solidFill>
            <a:srgbClr val="FAFAFA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2487168" y="3264408"/>
            <a:ext cx="420624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219456" y="3360420"/>
            <a:ext cx="475488" cy="96012"/>
          </a:xfrm>
          <a:prstGeom prst="rect">
            <a:avLst/>
          </a:prstGeom>
          <a:solidFill>
            <a:srgbClr val="F5F5F5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228600" y="3360420"/>
            <a:ext cx="457200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응용분석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694944" y="3360420"/>
            <a:ext cx="822960" cy="96012"/>
          </a:xfrm>
          <a:prstGeom prst="rect">
            <a:avLst/>
          </a:prstGeom>
          <a:solidFill>
            <a:srgbClr val="F5F5F5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704088" y="3360420"/>
            <a:ext cx="80467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어플리케이션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517904" y="3360420"/>
            <a:ext cx="960120" cy="96012"/>
          </a:xfrm>
          <a:prstGeom prst="rect">
            <a:avLst/>
          </a:prstGeom>
          <a:solidFill>
            <a:srgbClr val="F1E46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1527048" y="3360420"/>
            <a:ext cx="94183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배치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2478024" y="3360420"/>
            <a:ext cx="438912" cy="96012"/>
          </a:xfrm>
          <a:prstGeom prst="rect">
            <a:avLst/>
          </a:prstGeom>
          <a:solidFill>
            <a:srgbClr val="F5F5F5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2487168" y="3360420"/>
            <a:ext cx="420624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endParaRPr/>
          </a:p>
        </p:txBody>
      </p:sp>
      <p:sp>
        <p:nvSpPr>
          <p:cNvPr id="146" name="Rectangle 145"/>
          <p:cNvSpPr/>
          <p:nvPr/>
        </p:nvSpPr>
        <p:spPr>
          <a:xfrm>
            <a:off x="219456" y="3456432"/>
            <a:ext cx="475488" cy="96012"/>
          </a:xfrm>
          <a:prstGeom prst="rect">
            <a:avLst/>
          </a:prstGeom>
          <a:solidFill>
            <a:srgbClr val="FAFAFA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228600" y="3456432"/>
            <a:ext cx="457200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응용분석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694944" y="3456432"/>
            <a:ext cx="822960" cy="96012"/>
          </a:xfrm>
          <a:prstGeom prst="rect">
            <a:avLst/>
          </a:prstGeom>
          <a:solidFill>
            <a:srgbClr val="FAFAFA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704088" y="3456432"/>
            <a:ext cx="80467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어플리케이션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1517904" y="3456432"/>
            <a:ext cx="960120" cy="96012"/>
          </a:xfrm>
          <a:prstGeom prst="rect">
            <a:avLst/>
          </a:prstGeom>
          <a:solidFill>
            <a:srgbClr val="FAFAFA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1527048" y="3456432"/>
            <a:ext cx="94183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어플리케이션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2478024" y="3456432"/>
            <a:ext cx="438912" cy="96012"/>
          </a:xfrm>
          <a:prstGeom prst="rect">
            <a:avLst/>
          </a:prstGeom>
          <a:solidFill>
            <a:srgbClr val="FAFAFA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2487168" y="3456432"/>
            <a:ext cx="420624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endParaRPr/>
          </a:p>
        </p:txBody>
      </p:sp>
      <p:sp>
        <p:nvSpPr>
          <p:cNvPr id="154" name="Rectangle 153"/>
          <p:cNvSpPr/>
          <p:nvPr/>
        </p:nvSpPr>
        <p:spPr>
          <a:xfrm>
            <a:off x="219456" y="3552444"/>
            <a:ext cx="475488" cy="96012"/>
          </a:xfrm>
          <a:prstGeom prst="rect">
            <a:avLst/>
          </a:prstGeom>
          <a:solidFill>
            <a:srgbClr val="F5F5F5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228600" y="3552444"/>
            <a:ext cx="457200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응용분석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94944" y="3552444"/>
            <a:ext cx="822960" cy="96012"/>
          </a:xfrm>
          <a:prstGeom prst="rect">
            <a:avLst/>
          </a:prstGeom>
          <a:solidFill>
            <a:srgbClr val="F5F5F5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704088" y="3552444"/>
            <a:ext cx="80467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어플리케이션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1517904" y="3552444"/>
            <a:ext cx="960120" cy="96012"/>
          </a:xfrm>
          <a:prstGeom prst="rect">
            <a:avLst/>
          </a:prstGeom>
          <a:solidFill>
            <a:srgbClr val="D0EBF2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1527048" y="3552444"/>
            <a:ext cx="94183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보안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2478024" y="3552444"/>
            <a:ext cx="438912" cy="96012"/>
          </a:xfrm>
          <a:prstGeom prst="rect">
            <a:avLst/>
          </a:prstGeom>
          <a:solidFill>
            <a:srgbClr val="F5F5F5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2487168" y="3552444"/>
            <a:ext cx="420624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endParaRPr/>
          </a:p>
        </p:txBody>
      </p:sp>
      <p:sp>
        <p:nvSpPr>
          <p:cNvPr id="162" name="Rectangle 161"/>
          <p:cNvSpPr/>
          <p:nvPr/>
        </p:nvSpPr>
        <p:spPr>
          <a:xfrm>
            <a:off x="219456" y="3648456"/>
            <a:ext cx="475488" cy="96012"/>
          </a:xfrm>
          <a:prstGeom prst="rect">
            <a:avLst/>
          </a:prstGeom>
          <a:solidFill>
            <a:srgbClr val="FAFAFA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228600" y="3648456"/>
            <a:ext cx="457200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응용분석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694944" y="3648456"/>
            <a:ext cx="822960" cy="96012"/>
          </a:xfrm>
          <a:prstGeom prst="rect">
            <a:avLst/>
          </a:prstGeom>
          <a:solidFill>
            <a:srgbClr val="FAFAFA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704088" y="3648456"/>
            <a:ext cx="80467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어플리케이션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1517904" y="3648456"/>
            <a:ext cx="960120" cy="96012"/>
          </a:xfrm>
          <a:prstGeom prst="rect">
            <a:avLst/>
          </a:prstGeom>
          <a:solidFill>
            <a:srgbClr val="F1E46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1527048" y="3648456"/>
            <a:ext cx="94183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MQ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2478024" y="3648456"/>
            <a:ext cx="438912" cy="96012"/>
          </a:xfrm>
          <a:prstGeom prst="rect">
            <a:avLst/>
          </a:prstGeom>
          <a:solidFill>
            <a:srgbClr val="FAFAFA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TextBox 168"/>
          <p:cNvSpPr txBox="1"/>
          <p:nvPr/>
        </p:nvSpPr>
        <p:spPr>
          <a:xfrm>
            <a:off x="2487168" y="3648456"/>
            <a:ext cx="420624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endParaRPr/>
          </a:p>
        </p:txBody>
      </p:sp>
      <p:sp>
        <p:nvSpPr>
          <p:cNvPr id="170" name="Rectangle 169"/>
          <p:cNvSpPr/>
          <p:nvPr/>
        </p:nvSpPr>
        <p:spPr>
          <a:xfrm>
            <a:off x="219456" y="3744468"/>
            <a:ext cx="475488" cy="96012"/>
          </a:xfrm>
          <a:prstGeom prst="rect">
            <a:avLst/>
          </a:prstGeom>
          <a:solidFill>
            <a:srgbClr val="F5F5F5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228600" y="3744468"/>
            <a:ext cx="457200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응용분석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694944" y="3744468"/>
            <a:ext cx="822960" cy="96012"/>
          </a:xfrm>
          <a:prstGeom prst="rect">
            <a:avLst/>
          </a:prstGeom>
          <a:solidFill>
            <a:srgbClr val="F5F5F5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extBox 172"/>
          <p:cNvSpPr txBox="1"/>
          <p:nvPr/>
        </p:nvSpPr>
        <p:spPr>
          <a:xfrm>
            <a:off x="704088" y="3744468"/>
            <a:ext cx="80467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어플리케이션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1517904" y="3744468"/>
            <a:ext cx="960120" cy="96012"/>
          </a:xfrm>
          <a:prstGeom prst="rect">
            <a:avLst/>
          </a:prstGeom>
          <a:solidFill>
            <a:srgbClr val="F1E46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1527048" y="3744468"/>
            <a:ext cx="94183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EAI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2478024" y="3744468"/>
            <a:ext cx="438912" cy="96012"/>
          </a:xfrm>
          <a:prstGeom prst="rect">
            <a:avLst/>
          </a:prstGeom>
          <a:solidFill>
            <a:srgbClr val="F5F5F5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TextBox 176"/>
          <p:cNvSpPr txBox="1"/>
          <p:nvPr/>
        </p:nvSpPr>
        <p:spPr>
          <a:xfrm>
            <a:off x="2487168" y="3744468"/>
            <a:ext cx="420624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endParaRPr/>
          </a:p>
        </p:txBody>
      </p:sp>
      <p:sp>
        <p:nvSpPr>
          <p:cNvPr id="178" name="Rectangle 177"/>
          <p:cNvSpPr/>
          <p:nvPr/>
        </p:nvSpPr>
        <p:spPr>
          <a:xfrm>
            <a:off x="219456" y="3840480"/>
            <a:ext cx="475488" cy="96012"/>
          </a:xfrm>
          <a:prstGeom prst="rect">
            <a:avLst/>
          </a:prstGeom>
          <a:solidFill>
            <a:srgbClr val="FAFAFA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TextBox 178"/>
          <p:cNvSpPr txBox="1"/>
          <p:nvPr/>
        </p:nvSpPr>
        <p:spPr>
          <a:xfrm>
            <a:off x="228600" y="3840480"/>
            <a:ext cx="457200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응용분석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694944" y="3840480"/>
            <a:ext cx="822960" cy="96012"/>
          </a:xfrm>
          <a:prstGeom prst="rect">
            <a:avLst/>
          </a:prstGeom>
          <a:solidFill>
            <a:srgbClr val="FAFAFA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TextBox 180"/>
          <p:cNvSpPr txBox="1"/>
          <p:nvPr/>
        </p:nvSpPr>
        <p:spPr>
          <a:xfrm>
            <a:off x="704088" y="3840480"/>
            <a:ext cx="80467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어플리케이션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1517904" y="3840480"/>
            <a:ext cx="960120" cy="96012"/>
          </a:xfrm>
          <a:prstGeom prst="rect">
            <a:avLst/>
          </a:prstGeom>
          <a:solidFill>
            <a:srgbClr val="F1E46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TextBox 182"/>
          <p:cNvSpPr txBox="1"/>
          <p:nvPr/>
        </p:nvSpPr>
        <p:spPr>
          <a:xfrm>
            <a:off x="1527048" y="3840480"/>
            <a:ext cx="94183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FEP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2478024" y="3840480"/>
            <a:ext cx="438912" cy="96012"/>
          </a:xfrm>
          <a:prstGeom prst="rect">
            <a:avLst/>
          </a:prstGeom>
          <a:solidFill>
            <a:srgbClr val="FAFAFA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TextBox 184"/>
          <p:cNvSpPr txBox="1"/>
          <p:nvPr/>
        </p:nvSpPr>
        <p:spPr>
          <a:xfrm>
            <a:off x="2487168" y="3840480"/>
            <a:ext cx="420624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endParaRPr/>
          </a:p>
        </p:txBody>
      </p:sp>
      <p:sp>
        <p:nvSpPr>
          <p:cNvPr id="186" name="Rectangle 185"/>
          <p:cNvSpPr/>
          <p:nvPr/>
        </p:nvSpPr>
        <p:spPr>
          <a:xfrm>
            <a:off x="219456" y="3936492"/>
            <a:ext cx="475488" cy="96012"/>
          </a:xfrm>
          <a:prstGeom prst="rect">
            <a:avLst/>
          </a:prstGeom>
          <a:solidFill>
            <a:srgbClr val="F5F5F5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TextBox 186"/>
          <p:cNvSpPr txBox="1"/>
          <p:nvPr/>
        </p:nvSpPr>
        <p:spPr>
          <a:xfrm>
            <a:off x="228600" y="3936492"/>
            <a:ext cx="457200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응용분석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694944" y="3936492"/>
            <a:ext cx="822960" cy="96012"/>
          </a:xfrm>
          <a:prstGeom prst="rect">
            <a:avLst/>
          </a:prstGeom>
          <a:solidFill>
            <a:srgbClr val="F5F5F5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TextBox 188"/>
          <p:cNvSpPr txBox="1"/>
          <p:nvPr/>
        </p:nvSpPr>
        <p:spPr>
          <a:xfrm>
            <a:off x="704088" y="3936492"/>
            <a:ext cx="80467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어플리케이션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1517904" y="3936492"/>
            <a:ext cx="960120" cy="96012"/>
          </a:xfrm>
          <a:prstGeom prst="rect">
            <a:avLst/>
          </a:prstGeom>
          <a:solidFill>
            <a:srgbClr val="F1E46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TextBox 190"/>
          <p:cNvSpPr txBox="1"/>
          <p:nvPr/>
        </p:nvSpPr>
        <p:spPr>
          <a:xfrm>
            <a:off x="1527048" y="3936492"/>
            <a:ext cx="94183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U2L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2478024" y="3936492"/>
            <a:ext cx="438912" cy="96012"/>
          </a:xfrm>
          <a:prstGeom prst="rect">
            <a:avLst/>
          </a:prstGeom>
          <a:solidFill>
            <a:srgbClr val="F5F5F5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TextBox 192"/>
          <p:cNvSpPr txBox="1"/>
          <p:nvPr/>
        </p:nvSpPr>
        <p:spPr>
          <a:xfrm>
            <a:off x="2487168" y="3936492"/>
            <a:ext cx="420624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endParaRPr/>
          </a:p>
        </p:txBody>
      </p:sp>
      <p:sp>
        <p:nvSpPr>
          <p:cNvPr id="194" name="Rectangle 193"/>
          <p:cNvSpPr/>
          <p:nvPr/>
        </p:nvSpPr>
        <p:spPr>
          <a:xfrm>
            <a:off x="219456" y="4032504"/>
            <a:ext cx="475488" cy="96012"/>
          </a:xfrm>
          <a:prstGeom prst="rect">
            <a:avLst/>
          </a:prstGeom>
          <a:solidFill>
            <a:srgbClr val="FAFAFA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TextBox 194"/>
          <p:cNvSpPr txBox="1"/>
          <p:nvPr/>
        </p:nvSpPr>
        <p:spPr>
          <a:xfrm>
            <a:off x="228600" y="4032504"/>
            <a:ext cx="457200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응용분석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694944" y="4032504"/>
            <a:ext cx="822960" cy="96012"/>
          </a:xfrm>
          <a:prstGeom prst="rect">
            <a:avLst/>
          </a:prstGeom>
          <a:solidFill>
            <a:srgbClr val="FAFAFA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TextBox 196"/>
          <p:cNvSpPr txBox="1"/>
          <p:nvPr/>
        </p:nvSpPr>
        <p:spPr>
          <a:xfrm>
            <a:off x="704088" y="4032504"/>
            <a:ext cx="80467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어플리케이션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1517904" y="4032504"/>
            <a:ext cx="960120" cy="96012"/>
          </a:xfrm>
          <a:prstGeom prst="rect">
            <a:avLst/>
          </a:prstGeom>
          <a:solidFill>
            <a:srgbClr val="F1E46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TextBox 198"/>
          <p:cNvSpPr txBox="1"/>
          <p:nvPr/>
        </p:nvSpPr>
        <p:spPr>
          <a:xfrm>
            <a:off x="1527048" y="4032504"/>
            <a:ext cx="94183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MFT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2478024" y="4032504"/>
            <a:ext cx="438912" cy="96012"/>
          </a:xfrm>
          <a:prstGeom prst="rect">
            <a:avLst/>
          </a:prstGeom>
          <a:solidFill>
            <a:srgbClr val="FAFAFA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TextBox 200"/>
          <p:cNvSpPr txBox="1"/>
          <p:nvPr/>
        </p:nvSpPr>
        <p:spPr>
          <a:xfrm>
            <a:off x="2487168" y="4032504"/>
            <a:ext cx="420624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endParaRPr/>
          </a:p>
        </p:txBody>
      </p:sp>
      <p:sp>
        <p:nvSpPr>
          <p:cNvPr id="202" name="Rectangle 201"/>
          <p:cNvSpPr/>
          <p:nvPr/>
        </p:nvSpPr>
        <p:spPr>
          <a:xfrm>
            <a:off x="219456" y="4128516"/>
            <a:ext cx="475488" cy="96012"/>
          </a:xfrm>
          <a:prstGeom prst="rect">
            <a:avLst/>
          </a:prstGeom>
          <a:solidFill>
            <a:srgbClr val="F5F5F5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TextBox 202"/>
          <p:cNvSpPr txBox="1"/>
          <p:nvPr/>
        </p:nvSpPr>
        <p:spPr>
          <a:xfrm>
            <a:off x="228600" y="4128516"/>
            <a:ext cx="457200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응용분석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694944" y="4128516"/>
            <a:ext cx="822960" cy="96012"/>
          </a:xfrm>
          <a:prstGeom prst="rect">
            <a:avLst/>
          </a:prstGeom>
          <a:solidFill>
            <a:srgbClr val="F5F5F5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TextBox 204"/>
          <p:cNvSpPr txBox="1"/>
          <p:nvPr/>
        </p:nvSpPr>
        <p:spPr>
          <a:xfrm>
            <a:off x="704088" y="4128516"/>
            <a:ext cx="80467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어플리케이션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1517904" y="4128516"/>
            <a:ext cx="960120" cy="96012"/>
          </a:xfrm>
          <a:prstGeom prst="rect">
            <a:avLst/>
          </a:prstGeom>
          <a:solidFill>
            <a:srgbClr val="F1E46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TextBox 206"/>
          <p:cNvSpPr txBox="1"/>
          <p:nvPr/>
        </p:nvSpPr>
        <p:spPr>
          <a:xfrm>
            <a:off x="1527048" y="4128516"/>
            <a:ext cx="94183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ETL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2478024" y="4128516"/>
            <a:ext cx="438912" cy="96012"/>
          </a:xfrm>
          <a:prstGeom prst="rect">
            <a:avLst/>
          </a:prstGeom>
          <a:solidFill>
            <a:srgbClr val="F5F5F5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TextBox 208"/>
          <p:cNvSpPr txBox="1"/>
          <p:nvPr/>
        </p:nvSpPr>
        <p:spPr>
          <a:xfrm>
            <a:off x="2487168" y="4128516"/>
            <a:ext cx="420624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endParaRPr/>
          </a:p>
        </p:txBody>
      </p:sp>
      <p:sp>
        <p:nvSpPr>
          <p:cNvPr id="210" name="Rectangle 209"/>
          <p:cNvSpPr/>
          <p:nvPr/>
        </p:nvSpPr>
        <p:spPr>
          <a:xfrm>
            <a:off x="219456" y="4224528"/>
            <a:ext cx="475488" cy="96012"/>
          </a:xfrm>
          <a:prstGeom prst="rect">
            <a:avLst/>
          </a:prstGeom>
          <a:solidFill>
            <a:srgbClr val="FAFAFA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TextBox 210"/>
          <p:cNvSpPr txBox="1"/>
          <p:nvPr/>
        </p:nvSpPr>
        <p:spPr>
          <a:xfrm>
            <a:off x="228600" y="4224528"/>
            <a:ext cx="457200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데이터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694944" y="4224528"/>
            <a:ext cx="822960" cy="96012"/>
          </a:xfrm>
          <a:prstGeom prst="rect">
            <a:avLst/>
          </a:prstGeom>
          <a:solidFill>
            <a:srgbClr val="FAFAFA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TextBox 212"/>
          <p:cNvSpPr txBox="1"/>
          <p:nvPr/>
        </p:nvSpPr>
        <p:spPr>
          <a:xfrm>
            <a:off x="704088" y="4224528"/>
            <a:ext cx="80467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데이터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1517904" y="4224528"/>
            <a:ext cx="960120" cy="96012"/>
          </a:xfrm>
          <a:prstGeom prst="rect">
            <a:avLst/>
          </a:prstGeom>
          <a:solidFill>
            <a:srgbClr val="FAFAFA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1527048" y="4224528"/>
            <a:ext cx="94183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데이터분석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2478024" y="4224528"/>
            <a:ext cx="438912" cy="96012"/>
          </a:xfrm>
          <a:prstGeom prst="rect">
            <a:avLst/>
          </a:prstGeom>
          <a:solidFill>
            <a:srgbClr val="FAFAFA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TextBox 216"/>
          <p:cNvSpPr txBox="1"/>
          <p:nvPr/>
        </p:nvSpPr>
        <p:spPr>
          <a:xfrm>
            <a:off x="2487168" y="4224528"/>
            <a:ext cx="420624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endParaRPr/>
          </a:p>
        </p:txBody>
      </p:sp>
      <p:sp>
        <p:nvSpPr>
          <p:cNvPr id="218" name="Rectangle 217"/>
          <p:cNvSpPr/>
          <p:nvPr/>
        </p:nvSpPr>
        <p:spPr>
          <a:xfrm>
            <a:off x="219456" y="4320540"/>
            <a:ext cx="475488" cy="96012"/>
          </a:xfrm>
          <a:prstGeom prst="rect">
            <a:avLst/>
          </a:prstGeom>
          <a:solidFill>
            <a:srgbClr val="F5F5F5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TextBox 218"/>
          <p:cNvSpPr txBox="1"/>
          <p:nvPr/>
        </p:nvSpPr>
        <p:spPr>
          <a:xfrm>
            <a:off x="228600" y="4320540"/>
            <a:ext cx="457200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데이터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694944" y="4320540"/>
            <a:ext cx="822960" cy="96012"/>
          </a:xfrm>
          <a:prstGeom prst="rect">
            <a:avLst/>
          </a:prstGeom>
          <a:solidFill>
            <a:srgbClr val="F5F5F5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TextBox 220"/>
          <p:cNvSpPr txBox="1"/>
          <p:nvPr/>
        </p:nvSpPr>
        <p:spPr>
          <a:xfrm>
            <a:off x="704088" y="4320540"/>
            <a:ext cx="80467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데이터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1517904" y="4320540"/>
            <a:ext cx="960120" cy="96012"/>
          </a:xfrm>
          <a:prstGeom prst="rect">
            <a:avLst/>
          </a:prstGeom>
          <a:solidFill>
            <a:srgbClr val="F5F5F5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TextBox 222"/>
          <p:cNvSpPr txBox="1"/>
          <p:nvPr/>
        </p:nvSpPr>
        <p:spPr>
          <a:xfrm>
            <a:off x="1527048" y="4320540"/>
            <a:ext cx="94183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데이터관리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2478024" y="4320540"/>
            <a:ext cx="438912" cy="96012"/>
          </a:xfrm>
          <a:prstGeom prst="rect">
            <a:avLst/>
          </a:prstGeom>
          <a:solidFill>
            <a:srgbClr val="F5F5F5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TextBox 224"/>
          <p:cNvSpPr txBox="1"/>
          <p:nvPr/>
        </p:nvSpPr>
        <p:spPr>
          <a:xfrm>
            <a:off x="2487168" y="4320540"/>
            <a:ext cx="420624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endParaRPr/>
          </a:p>
        </p:txBody>
      </p:sp>
      <p:sp>
        <p:nvSpPr>
          <p:cNvPr id="226" name="Rectangle 225"/>
          <p:cNvSpPr/>
          <p:nvPr/>
        </p:nvSpPr>
        <p:spPr>
          <a:xfrm>
            <a:off x="219456" y="4416552"/>
            <a:ext cx="475488" cy="96012"/>
          </a:xfrm>
          <a:prstGeom prst="rect">
            <a:avLst/>
          </a:prstGeom>
          <a:solidFill>
            <a:srgbClr val="FAFAFA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TextBox 226"/>
          <p:cNvSpPr txBox="1"/>
          <p:nvPr/>
        </p:nvSpPr>
        <p:spPr>
          <a:xfrm>
            <a:off x="228600" y="4416552"/>
            <a:ext cx="457200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데이터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694944" y="4416552"/>
            <a:ext cx="822960" cy="96012"/>
          </a:xfrm>
          <a:prstGeom prst="rect">
            <a:avLst/>
          </a:prstGeom>
          <a:solidFill>
            <a:srgbClr val="FAFAFA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TextBox 228"/>
          <p:cNvSpPr txBox="1"/>
          <p:nvPr/>
        </p:nvSpPr>
        <p:spPr>
          <a:xfrm>
            <a:off x="704088" y="4416552"/>
            <a:ext cx="80467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데이터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1517904" y="4416552"/>
            <a:ext cx="960120" cy="96012"/>
          </a:xfrm>
          <a:prstGeom prst="rect">
            <a:avLst/>
          </a:prstGeom>
          <a:solidFill>
            <a:srgbClr val="FAFAFA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TextBox 230"/>
          <p:cNvSpPr txBox="1"/>
          <p:nvPr/>
        </p:nvSpPr>
        <p:spPr>
          <a:xfrm>
            <a:off x="1527048" y="4416552"/>
            <a:ext cx="94183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데이터정제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2478024" y="4416552"/>
            <a:ext cx="438912" cy="96012"/>
          </a:xfrm>
          <a:prstGeom prst="rect">
            <a:avLst/>
          </a:prstGeom>
          <a:solidFill>
            <a:srgbClr val="FAFAFA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TextBox 232"/>
          <p:cNvSpPr txBox="1"/>
          <p:nvPr/>
        </p:nvSpPr>
        <p:spPr>
          <a:xfrm>
            <a:off x="2487168" y="4416552"/>
            <a:ext cx="420624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endParaRPr/>
          </a:p>
        </p:txBody>
      </p:sp>
      <p:sp>
        <p:nvSpPr>
          <p:cNvPr id="234" name="Rectangle 233"/>
          <p:cNvSpPr/>
          <p:nvPr/>
        </p:nvSpPr>
        <p:spPr>
          <a:xfrm>
            <a:off x="219456" y="4512564"/>
            <a:ext cx="475488" cy="96012"/>
          </a:xfrm>
          <a:prstGeom prst="rect">
            <a:avLst/>
          </a:prstGeom>
          <a:solidFill>
            <a:srgbClr val="F5F5F5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TextBox 234"/>
          <p:cNvSpPr txBox="1"/>
          <p:nvPr/>
        </p:nvSpPr>
        <p:spPr>
          <a:xfrm>
            <a:off x="228600" y="4512564"/>
            <a:ext cx="457200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데이터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694944" y="4512564"/>
            <a:ext cx="822960" cy="96012"/>
          </a:xfrm>
          <a:prstGeom prst="rect">
            <a:avLst/>
          </a:prstGeom>
          <a:solidFill>
            <a:srgbClr val="F5F5F5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TextBox 236"/>
          <p:cNvSpPr txBox="1"/>
          <p:nvPr/>
        </p:nvSpPr>
        <p:spPr>
          <a:xfrm>
            <a:off x="704088" y="4512564"/>
            <a:ext cx="80467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데이터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1517904" y="4512564"/>
            <a:ext cx="960120" cy="96012"/>
          </a:xfrm>
          <a:prstGeom prst="rect">
            <a:avLst/>
          </a:prstGeom>
          <a:solidFill>
            <a:srgbClr val="F5F5F5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TextBox 238"/>
          <p:cNvSpPr txBox="1"/>
          <p:nvPr/>
        </p:nvSpPr>
        <p:spPr>
          <a:xfrm>
            <a:off x="1527048" y="4512564"/>
            <a:ext cx="94183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데이터저장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2478024" y="4512564"/>
            <a:ext cx="438912" cy="96012"/>
          </a:xfrm>
          <a:prstGeom prst="rect">
            <a:avLst/>
          </a:prstGeom>
          <a:solidFill>
            <a:srgbClr val="F5F5F5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TextBox 240"/>
          <p:cNvSpPr txBox="1"/>
          <p:nvPr/>
        </p:nvSpPr>
        <p:spPr>
          <a:xfrm>
            <a:off x="2487168" y="4512564"/>
            <a:ext cx="420624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endParaRPr/>
          </a:p>
        </p:txBody>
      </p:sp>
      <p:sp>
        <p:nvSpPr>
          <p:cNvPr id="242" name="Rectangle 241"/>
          <p:cNvSpPr/>
          <p:nvPr/>
        </p:nvSpPr>
        <p:spPr>
          <a:xfrm>
            <a:off x="219456" y="4608576"/>
            <a:ext cx="475488" cy="96012"/>
          </a:xfrm>
          <a:prstGeom prst="rect">
            <a:avLst/>
          </a:prstGeom>
          <a:solidFill>
            <a:srgbClr val="FAFAFA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TextBox 242"/>
          <p:cNvSpPr txBox="1"/>
          <p:nvPr/>
        </p:nvSpPr>
        <p:spPr>
          <a:xfrm>
            <a:off x="228600" y="4608576"/>
            <a:ext cx="457200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인프라SW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694944" y="4608576"/>
            <a:ext cx="822960" cy="96012"/>
          </a:xfrm>
          <a:prstGeom prst="rect">
            <a:avLst/>
          </a:prstGeom>
          <a:solidFill>
            <a:srgbClr val="FAFAFA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TextBox 244"/>
          <p:cNvSpPr txBox="1"/>
          <p:nvPr/>
        </p:nvSpPr>
        <p:spPr>
          <a:xfrm>
            <a:off x="704088" y="4608576"/>
            <a:ext cx="80467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인프라SW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1517904" y="4608576"/>
            <a:ext cx="960120" cy="96012"/>
          </a:xfrm>
          <a:prstGeom prst="rect">
            <a:avLst/>
          </a:prstGeom>
          <a:solidFill>
            <a:srgbClr val="D0EBF2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TextBox 246"/>
          <p:cNvSpPr txBox="1"/>
          <p:nvPr/>
        </p:nvSpPr>
        <p:spPr>
          <a:xfrm>
            <a:off x="1527048" y="4608576"/>
            <a:ext cx="94183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DBMS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2478024" y="4608576"/>
            <a:ext cx="438912" cy="96012"/>
          </a:xfrm>
          <a:prstGeom prst="rect">
            <a:avLst/>
          </a:prstGeom>
          <a:solidFill>
            <a:srgbClr val="FAFAFA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TextBox 248"/>
          <p:cNvSpPr txBox="1"/>
          <p:nvPr/>
        </p:nvSpPr>
        <p:spPr>
          <a:xfrm>
            <a:off x="2487168" y="4608576"/>
            <a:ext cx="420624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endParaRPr/>
          </a:p>
        </p:txBody>
      </p:sp>
      <p:sp>
        <p:nvSpPr>
          <p:cNvPr id="250" name="Rectangle 249"/>
          <p:cNvSpPr/>
          <p:nvPr/>
        </p:nvSpPr>
        <p:spPr>
          <a:xfrm>
            <a:off x="219456" y="4704588"/>
            <a:ext cx="475488" cy="96012"/>
          </a:xfrm>
          <a:prstGeom prst="rect">
            <a:avLst/>
          </a:prstGeom>
          <a:solidFill>
            <a:srgbClr val="F5F5F5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TextBox 250"/>
          <p:cNvSpPr txBox="1"/>
          <p:nvPr/>
        </p:nvSpPr>
        <p:spPr>
          <a:xfrm>
            <a:off x="228600" y="4704588"/>
            <a:ext cx="457200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인프라SW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694944" y="4704588"/>
            <a:ext cx="822960" cy="96012"/>
          </a:xfrm>
          <a:prstGeom prst="rect">
            <a:avLst/>
          </a:prstGeom>
          <a:solidFill>
            <a:srgbClr val="F5F5F5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TextBox 252"/>
          <p:cNvSpPr txBox="1"/>
          <p:nvPr/>
        </p:nvSpPr>
        <p:spPr>
          <a:xfrm>
            <a:off x="704088" y="4704588"/>
            <a:ext cx="80467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인프라SW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1517904" y="4704588"/>
            <a:ext cx="960120" cy="96012"/>
          </a:xfrm>
          <a:prstGeom prst="rect">
            <a:avLst/>
          </a:prstGeom>
          <a:solidFill>
            <a:srgbClr val="D0EBF2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TextBox 254"/>
          <p:cNvSpPr txBox="1"/>
          <p:nvPr/>
        </p:nvSpPr>
        <p:spPr>
          <a:xfrm>
            <a:off x="1527048" y="4704588"/>
            <a:ext cx="94183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가상화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2478024" y="4704588"/>
            <a:ext cx="438912" cy="96012"/>
          </a:xfrm>
          <a:prstGeom prst="rect">
            <a:avLst/>
          </a:prstGeom>
          <a:solidFill>
            <a:srgbClr val="F5F5F5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TextBox 256"/>
          <p:cNvSpPr txBox="1"/>
          <p:nvPr/>
        </p:nvSpPr>
        <p:spPr>
          <a:xfrm>
            <a:off x="2487168" y="4704588"/>
            <a:ext cx="420624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endParaRPr/>
          </a:p>
        </p:txBody>
      </p:sp>
      <p:sp>
        <p:nvSpPr>
          <p:cNvPr id="258" name="Rectangle 257"/>
          <p:cNvSpPr/>
          <p:nvPr/>
        </p:nvSpPr>
        <p:spPr>
          <a:xfrm>
            <a:off x="219456" y="4800600"/>
            <a:ext cx="475488" cy="96012"/>
          </a:xfrm>
          <a:prstGeom prst="rect">
            <a:avLst/>
          </a:prstGeom>
          <a:solidFill>
            <a:srgbClr val="FAFAFA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9" name="TextBox 258"/>
          <p:cNvSpPr txBox="1"/>
          <p:nvPr/>
        </p:nvSpPr>
        <p:spPr>
          <a:xfrm>
            <a:off x="228600" y="4800600"/>
            <a:ext cx="457200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인프라SW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694944" y="4800600"/>
            <a:ext cx="822960" cy="96012"/>
          </a:xfrm>
          <a:prstGeom prst="rect">
            <a:avLst/>
          </a:prstGeom>
          <a:solidFill>
            <a:srgbClr val="FAFAFA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TextBox 260"/>
          <p:cNvSpPr txBox="1"/>
          <p:nvPr/>
        </p:nvSpPr>
        <p:spPr>
          <a:xfrm>
            <a:off x="704088" y="4800600"/>
            <a:ext cx="80467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인프라SW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1517904" y="4800600"/>
            <a:ext cx="960120" cy="96012"/>
          </a:xfrm>
          <a:prstGeom prst="rect">
            <a:avLst/>
          </a:prstGeom>
          <a:solidFill>
            <a:srgbClr val="D0EBF2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TextBox 262"/>
          <p:cNvSpPr txBox="1"/>
          <p:nvPr/>
        </p:nvSpPr>
        <p:spPr>
          <a:xfrm>
            <a:off x="1527048" y="4800600"/>
            <a:ext cx="94183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보안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2478024" y="4800600"/>
            <a:ext cx="438912" cy="96012"/>
          </a:xfrm>
          <a:prstGeom prst="rect">
            <a:avLst/>
          </a:prstGeom>
          <a:solidFill>
            <a:srgbClr val="FAFAFA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TextBox 264"/>
          <p:cNvSpPr txBox="1"/>
          <p:nvPr/>
        </p:nvSpPr>
        <p:spPr>
          <a:xfrm>
            <a:off x="2487168" y="4800600"/>
            <a:ext cx="420624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endParaRPr/>
          </a:p>
        </p:txBody>
      </p:sp>
      <p:sp>
        <p:nvSpPr>
          <p:cNvPr id="266" name="Rectangle 265"/>
          <p:cNvSpPr/>
          <p:nvPr/>
        </p:nvSpPr>
        <p:spPr>
          <a:xfrm>
            <a:off x="219456" y="4896612"/>
            <a:ext cx="475488" cy="96012"/>
          </a:xfrm>
          <a:prstGeom prst="rect">
            <a:avLst/>
          </a:prstGeom>
          <a:solidFill>
            <a:srgbClr val="F5F5F5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TextBox 266"/>
          <p:cNvSpPr txBox="1"/>
          <p:nvPr/>
        </p:nvSpPr>
        <p:spPr>
          <a:xfrm>
            <a:off x="228600" y="4896612"/>
            <a:ext cx="457200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인프라SW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694944" y="4896612"/>
            <a:ext cx="822960" cy="96012"/>
          </a:xfrm>
          <a:prstGeom prst="rect">
            <a:avLst/>
          </a:prstGeom>
          <a:solidFill>
            <a:srgbClr val="F5F5F5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TextBox 268"/>
          <p:cNvSpPr txBox="1"/>
          <p:nvPr/>
        </p:nvSpPr>
        <p:spPr>
          <a:xfrm>
            <a:off x="704088" y="4896612"/>
            <a:ext cx="80467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인프라SW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1517904" y="4896612"/>
            <a:ext cx="960120" cy="96012"/>
          </a:xfrm>
          <a:prstGeom prst="rect">
            <a:avLst/>
          </a:prstGeom>
          <a:solidFill>
            <a:srgbClr val="D0EBF2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TextBox 270"/>
          <p:cNvSpPr txBox="1"/>
          <p:nvPr/>
        </p:nvSpPr>
        <p:spPr>
          <a:xfrm>
            <a:off x="1527048" y="4896612"/>
            <a:ext cx="94183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OS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2478024" y="4896612"/>
            <a:ext cx="438912" cy="96012"/>
          </a:xfrm>
          <a:prstGeom prst="rect">
            <a:avLst/>
          </a:prstGeom>
          <a:solidFill>
            <a:srgbClr val="F5F5F5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3" name="TextBox 272"/>
          <p:cNvSpPr txBox="1"/>
          <p:nvPr/>
        </p:nvSpPr>
        <p:spPr>
          <a:xfrm>
            <a:off x="2487168" y="4896612"/>
            <a:ext cx="420624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endParaRPr/>
          </a:p>
        </p:txBody>
      </p:sp>
      <p:sp>
        <p:nvSpPr>
          <p:cNvPr id="274" name="Rectangle 273"/>
          <p:cNvSpPr/>
          <p:nvPr/>
        </p:nvSpPr>
        <p:spPr>
          <a:xfrm>
            <a:off x="219456" y="4992624"/>
            <a:ext cx="475488" cy="96012"/>
          </a:xfrm>
          <a:prstGeom prst="rect">
            <a:avLst/>
          </a:prstGeom>
          <a:solidFill>
            <a:srgbClr val="FAFAFA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5" name="TextBox 274"/>
          <p:cNvSpPr txBox="1"/>
          <p:nvPr/>
        </p:nvSpPr>
        <p:spPr>
          <a:xfrm>
            <a:off x="228600" y="4992624"/>
            <a:ext cx="457200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인프라SW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694944" y="4992624"/>
            <a:ext cx="822960" cy="96012"/>
          </a:xfrm>
          <a:prstGeom prst="rect">
            <a:avLst/>
          </a:prstGeom>
          <a:solidFill>
            <a:srgbClr val="FAFAFA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7" name="TextBox 276"/>
          <p:cNvSpPr txBox="1"/>
          <p:nvPr/>
        </p:nvSpPr>
        <p:spPr>
          <a:xfrm>
            <a:off x="704088" y="4992624"/>
            <a:ext cx="80467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인프라SW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1517904" y="4992624"/>
            <a:ext cx="960120" cy="96012"/>
          </a:xfrm>
          <a:prstGeom prst="rect">
            <a:avLst/>
          </a:prstGeom>
          <a:solidFill>
            <a:srgbClr val="D0EBF2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9" name="TextBox 278"/>
          <p:cNvSpPr txBox="1"/>
          <p:nvPr/>
        </p:nvSpPr>
        <p:spPr>
          <a:xfrm>
            <a:off x="1527048" y="4992624"/>
            <a:ext cx="94183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서버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2478024" y="4992624"/>
            <a:ext cx="438912" cy="96012"/>
          </a:xfrm>
          <a:prstGeom prst="rect">
            <a:avLst/>
          </a:prstGeom>
          <a:solidFill>
            <a:srgbClr val="FAFAFA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1" name="TextBox 280"/>
          <p:cNvSpPr txBox="1"/>
          <p:nvPr/>
        </p:nvSpPr>
        <p:spPr>
          <a:xfrm>
            <a:off x="2487168" y="4992624"/>
            <a:ext cx="420624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endParaRPr/>
          </a:p>
        </p:txBody>
      </p:sp>
      <p:sp>
        <p:nvSpPr>
          <p:cNvPr id="282" name="Rectangle 281"/>
          <p:cNvSpPr/>
          <p:nvPr/>
        </p:nvSpPr>
        <p:spPr>
          <a:xfrm>
            <a:off x="219456" y="5088636"/>
            <a:ext cx="475488" cy="96012"/>
          </a:xfrm>
          <a:prstGeom prst="rect">
            <a:avLst/>
          </a:prstGeom>
          <a:solidFill>
            <a:srgbClr val="F5F5F5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3" name="TextBox 282"/>
          <p:cNvSpPr txBox="1"/>
          <p:nvPr/>
        </p:nvSpPr>
        <p:spPr>
          <a:xfrm>
            <a:off x="228600" y="5088636"/>
            <a:ext cx="457200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인프라SW</a:t>
            </a:r>
          </a:p>
        </p:txBody>
      </p:sp>
      <p:sp>
        <p:nvSpPr>
          <p:cNvPr id="284" name="Rectangle 283"/>
          <p:cNvSpPr/>
          <p:nvPr/>
        </p:nvSpPr>
        <p:spPr>
          <a:xfrm>
            <a:off x="694944" y="5088636"/>
            <a:ext cx="822960" cy="96012"/>
          </a:xfrm>
          <a:prstGeom prst="rect">
            <a:avLst/>
          </a:prstGeom>
          <a:solidFill>
            <a:srgbClr val="F5F5F5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TextBox 284"/>
          <p:cNvSpPr txBox="1"/>
          <p:nvPr/>
        </p:nvSpPr>
        <p:spPr>
          <a:xfrm>
            <a:off x="704088" y="5088636"/>
            <a:ext cx="80467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인프라SW</a:t>
            </a:r>
          </a:p>
        </p:txBody>
      </p:sp>
      <p:sp>
        <p:nvSpPr>
          <p:cNvPr id="286" name="Rectangle 285"/>
          <p:cNvSpPr/>
          <p:nvPr/>
        </p:nvSpPr>
        <p:spPr>
          <a:xfrm>
            <a:off x="1517904" y="5088636"/>
            <a:ext cx="960120" cy="96012"/>
          </a:xfrm>
          <a:prstGeom prst="rect">
            <a:avLst/>
          </a:prstGeom>
          <a:solidFill>
            <a:srgbClr val="D0EBF2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7" name="TextBox 286"/>
          <p:cNvSpPr txBox="1"/>
          <p:nvPr/>
        </p:nvSpPr>
        <p:spPr>
          <a:xfrm>
            <a:off x="1527048" y="5088636"/>
            <a:ext cx="94183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스토리지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2478024" y="5088636"/>
            <a:ext cx="438912" cy="96012"/>
          </a:xfrm>
          <a:prstGeom prst="rect">
            <a:avLst/>
          </a:prstGeom>
          <a:solidFill>
            <a:srgbClr val="F5F5F5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TextBox 288"/>
          <p:cNvSpPr txBox="1"/>
          <p:nvPr/>
        </p:nvSpPr>
        <p:spPr>
          <a:xfrm>
            <a:off x="2487168" y="5088636"/>
            <a:ext cx="420624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endParaRPr/>
          </a:p>
        </p:txBody>
      </p:sp>
      <p:sp>
        <p:nvSpPr>
          <p:cNvPr id="290" name="Rectangle 289"/>
          <p:cNvSpPr/>
          <p:nvPr/>
        </p:nvSpPr>
        <p:spPr>
          <a:xfrm>
            <a:off x="219456" y="5184648"/>
            <a:ext cx="475488" cy="96012"/>
          </a:xfrm>
          <a:prstGeom prst="rect">
            <a:avLst/>
          </a:prstGeom>
          <a:solidFill>
            <a:srgbClr val="FAFAFA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1" name="TextBox 290"/>
          <p:cNvSpPr txBox="1"/>
          <p:nvPr/>
        </p:nvSpPr>
        <p:spPr>
          <a:xfrm>
            <a:off x="228600" y="5184648"/>
            <a:ext cx="457200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인프라SW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694944" y="5184648"/>
            <a:ext cx="822960" cy="96012"/>
          </a:xfrm>
          <a:prstGeom prst="rect">
            <a:avLst/>
          </a:prstGeom>
          <a:solidFill>
            <a:srgbClr val="FAFAFA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TextBox 292"/>
          <p:cNvSpPr txBox="1"/>
          <p:nvPr/>
        </p:nvSpPr>
        <p:spPr>
          <a:xfrm>
            <a:off x="704088" y="5184648"/>
            <a:ext cx="80467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인프라SW</a:t>
            </a:r>
          </a:p>
        </p:txBody>
      </p:sp>
      <p:sp>
        <p:nvSpPr>
          <p:cNvPr id="294" name="Rectangle 293"/>
          <p:cNvSpPr/>
          <p:nvPr/>
        </p:nvSpPr>
        <p:spPr>
          <a:xfrm>
            <a:off x="1517904" y="5184648"/>
            <a:ext cx="960120" cy="96012"/>
          </a:xfrm>
          <a:prstGeom prst="rect">
            <a:avLst/>
          </a:prstGeom>
          <a:solidFill>
            <a:srgbClr val="D0EBF2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5" name="TextBox 294"/>
          <p:cNvSpPr txBox="1"/>
          <p:nvPr/>
        </p:nvSpPr>
        <p:spPr>
          <a:xfrm>
            <a:off x="1527048" y="5184648"/>
            <a:ext cx="94183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네트워크</a:t>
            </a:r>
          </a:p>
        </p:txBody>
      </p:sp>
      <p:sp>
        <p:nvSpPr>
          <p:cNvPr id="296" name="Rectangle 295"/>
          <p:cNvSpPr/>
          <p:nvPr/>
        </p:nvSpPr>
        <p:spPr>
          <a:xfrm>
            <a:off x="2478024" y="5184648"/>
            <a:ext cx="438912" cy="96012"/>
          </a:xfrm>
          <a:prstGeom prst="rect">
            <a:avLst/>
          </a:prstGeom>
          <a:solidFill>
            <a:srgbClr val="FAFAFA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7" name="TextBox 296"/>
          <p:cNvSpPr txBox="1"/>
          <p:nvPr/>
        </p:nvSpPr>
        <p:spPr>
          <a:xfrm>
            <a:off x="2487168" y="5184648"/>
            <a:ext cx="420624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endParaRPr/>
          </a:p>
        </p:txBody>
      </p:sp>
      <p:sp>
        <p:nvSpPr>
          <p:cNvPr id="298" name="Rectangle 297"/>
          <p:cNvSpPr/>
          <p:nvPr/>
        </p:nvSpPr>
        <p:spPr>
          <a:xfrm>
            <a:off x="219456" y="5280660"/>
            <a:ext cx="475488" cy="96012"/>
          </a:xfrm>
          <a:prstGeom prst="rect">
            <a:avLst/>
          </a:prstGeom>
          <a:solidFill>
            <a:srgbClr val="F5F5F5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9" name="TextBox 298"/>
          <p:cNvSpPr txBox="1"/>
          <p:nvPr/>
        </p:nvSpPr>
        <p:spPr>
          <a:xfrm>
            <a:off x="228600" y="5280660"/>
            <a:ext cx="457200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운영관리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694944" y="5280660"/>
            <a:ext cx="822960" cy="96012"/>
          </a:xfrm>
          <a:prstGeom prst="rect">
            <a:avLst/>
          </a:prstGeom>
          <a:solidFill>
            <a:srgbClr val="F5F5F5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1" name="TextBox 300"/>
          <p:cNvSpPr txBox="1"/>
          <p:nvPr/>
        </p:nvSpPr>
        <p:spPr>
          <a:xfrm>
            <a:off x="704088" y="5280660"/>
            <a:ext cx="80467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운영관리</a:t>
            </a:r>
          </a:p>
        </p:txBody>
      </p:sp>
      <p:sp>
        <p:nvSpPr>
          <p:cNvPr id="302" name="Rectangle 301"/>
          <p:cNvSpPr/>
          <p:nvPr/>
        </p:nvSpPr>
        <p:spPr>
          <a:xfrm>
            <a:off x="1517904" y="5280660"/>
            <a:ext cx="960120" cy="96012"/>
          </a:xfrm>
          <a:prstGeom prst="rect">
            <a:avLst/>
          </a:prstGeom>
          <a:solidFill>
            <a:srgbClr val="F5F5F5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TextBox 302"/>
          <p:cNvSpPr txBox="1"/>
          <p:nvPr/>
        </p:nvSpPr>
        <p:spPr>
          <a:xfrm>
            <a:off x="1527048" y="5280660"/>
            <a:ext cx="94183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모니터링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2478024" y="5280660"/>
            <a:ext cx="438912" cy="96012"/>
          </a:xfrm>
          <a:prstGeom prst="rect">
            <a:avLst/>
          </a:prstGeom>
          <a:solidFill>
            <a:srgbClr val="F5F5F5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5" name="TextBox 304"/>
          <p:cNvSpPr txBox="1"/>
          <p:nvPr/>
        </p:nvSpPr>
        <p:spPr>
          <a:xfrm>
            <a:off x="2487168" y="5280660"/>
            <a:ext cx="420624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endParaRPr/>
          </a:p>
        </p:txBody>
      </p:sp>
      <p:sp>
        <p:nvSpPr>
          <p:cNvPr id="306" name="Rectangle 305"/>
          <p:cNvSpPr/>
          <p:nvPr/>
        </p:nvSpPr>
        <p:spPr>
          <a:xfrm>
            <a:off x="219456" y="5376672"/>
            <a:ext cx="475488" cy="96012"/>
          </a:xfrm>
          <a:prstGeom prst="rect">
            <a:avLst/>
          </a:prstGeom>
          <a:solidFill>
            <a:srgbClr val="FAFAFA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7" name="TextBox 306"/>
          <p:cNvSpPr txBox="1"/>
          <p:nvPr/>
        </p:nvSpPr>
        <p:spPr>
          <a:xfrm>
            <a:off x="228600" y="5376672"/>
            <a:ext cx="457200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운영관리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694944" y="5376672"/>
            <a:ext cx="822960" cy="96012"/>
          </a:xfrm>
          <a:prstGeom prst="rect">
            <a:avLst/>
          </a:prstGeom>
          <a:solidFill>
            <a:srgbClr val="FAFAFA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TextBox 308"/>
          <p:cNvSpPr txBox="1"/>
          <p:nvPr/>
        </p:nvSpPr>
        <p:spPr>
          <a:xfrm>
            <a:off x="704088" y="5376672"/>
            <a:ext cx="80467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운영관리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1517904" y="5376672"/>
            <a:ext cx="960120" cy="96012"/>
          </a:xfrm>
          <a:prstGeom prst="rect">
            <a:avLst/>
          </a:prstGeom>
          <a:solidFill>
            <a:srgbClr val="FAFAFA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1" name="TextBox 310"/>
          <p:cNvSpPr txBox="1"/>
          <p:nvPr/>
        </p:nvSpPr>
        <p:spPr>
          <a:xfrm>
            <a:off x="1527048" y="5376672"/>
            <a:ext cx="94183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백업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2478024" y="5376672"/>
            <a:ext cx="438912" cy="96012"/>
          </a:xfrm>
          <a:prstGeom prst="rect">
            <a:avLst/>
          </a:prstGeom>
          <a:solidFill>
            <a:srgbClr val="FAFAFA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" name="TextBox 312"/>
          <p:cNvSpPr txBox="1"/>
          <p:nvPr/>
        </p:nvSpPr>
        <p:spPr>
          <a:xfrm>
            <a:off x="2487168" y="5376672"/>
            <a:ext cx="420624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endParaRPr/>
          </a:p>
        </p:txBody>
      </p:sp>
      <p:sp>
        <p:nvSpPr>
          <p:cNvPr id="314" name="Rectangle 313"/>
          <p:cNvSpPr/>
          <p:nvPr/>
        </p:nvSpPr>
        <p:spPr>
          <a:xfrm>
            <a:off x="219456" y="5472684"/>
            <a:ext cx="475488" cy="96012"/>
          </a:xfrm>
          <a:prstGeom prst="rect">
            <a:avLst/>
          </a:prstGeom>
          <a:solidFill>
            <a:srgbClr val="F5F5F5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" name="TextBox 314"/>
          <p:cNvSpPr txBox="1"/>
          <p:nvPr/>
        </p:nvSpPr>
        <p:spPr>
          <a:xfrm>
            <a:off x="228600" y="5472684"/>
            <a:ext cx="457200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운영관리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694944" y="5472684"/>
            <a:ext cx="822960" cy="96012"/>
          </a:xfrm>
          <a:prstGeom prst="rect">
            <a:avLst/>
          </a:prstGeom>
          <a:solidFill>
            <a:srgbClr val="F5F5F5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7" name="TextBox 316"/>
          <p:cNvSpPr txBox="1"/>
          <p:nvPr/>
        </p:nvSpPr>
        <p:spPr>
          <a:xfrm>
            <a:off x="704088" y="5472684"/>
            <a:ext cx="80467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운영관리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1517904" y="5472684"/>
            <a:ext cx="960120" cy="96012"/>
          </a:xfrm>
          <a:prstGeom prst="rect">
            <a:avLst/>
          </a:prstGeom>
          <a:solidFill>
            <a:srgbClr val="F5F5F5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9" name="TextBox 318"/>
          <p:cNvSpPr txBox="1"/>
          <p:nvPr/>
        </p:nvSpPr>
        <p:spPr>
          <a:xfrm>
            <a:off x="1527048" y="5472684"/>
            <a:ext cx="94183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가용성관리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2478024" y="5472684"/>
            <a:ext cx="438912" cy="96012"/>
          </a:xfrm>
          <a:prstGeom prst="rect">
            <a:avLst/>
          </a:prstGeom>
          <a:solidFill>
            <a:srgbClr val="F5F5F5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1" name="TextBox 320"/>
          <p:cNvSpPr txBox="1"/>
          <p:nvPr/>
        </p:nvSpPr>
        <p:spPr>
          <a:xfrm>
            <a:off x="2487168" y="5472684"/>
            <a:ext cx="420624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endParaRPr/>
          </a:p>
        </p:txBody>
      </p:sp>
      <p:sp>
        <p:nvSpPr>
          <p:cNvPr id="322" name="Rectangle 321"/>
          <p:cNvSpPr/>
          <p:nvPr/>
        </p:nvSpPr>
        <p:spPr>
          <a:xfrm>
            <a:off x="219456" y="5568696"/>
            <a:ext cx="475488" cy="96012"/>
          </a:xfrm>
          <a:prstGeom prst="rect">
            <a:avLst/>
          </a:prstGeom>
          <a:solidFill>
            <a:srgbClr val="FAFAFA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3" name="TextBox 322"/>
          <p:cNvSpPr txBox="1"/>
          <p:nvPr/>
        </p:nvSpPr>
        <p:spPr>
          <a:xfrm>
            <a:off x="228600" y="5568696"/>
            <a:ext cx="457200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운영관리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694944" y="5568696"/>
            <a:ext cx="822960" cy="96012"/>
          </a:xfrm>
          <a:prstGeom prst="rect">
            <a:avLst/>
          </a:prstGeom>
          <a:solidFill>
            <a:srgbClr val="FAFAFA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5" name="TextBox 324"/>
          <p:cNvSpPr txBox="1"/>
          <p:nvPr/>
        </p:nvSpPr>
        <p:spPr>
          <a:xfrm>
            <a:off x="704088" y="5568696"/>
            <a:ext cx="80467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운영관리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1517904" y="5568696"/>
            <a:ext cx="960120" cy="96012"/>
          </a:xfrm>
          <a:prstGeom prst="rect">
            <a:avLst/>
          </a:prstGeom>
          <a:solidFill>
            <a:srgbClr val="FAFAFA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7" name="TextBox 326"/>
          <p:cNvSpPr txBox="1"/>
          <p:nvPr/>
        </p:nvSpPr>
        <p:spPr>
          <a:xfrm>
            <a:off x="1527048" y="5568696"/>
            <a:ext cx="941832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73737"/>
                </a:solidFill>
                <a:latin typeface="Malgun Gothic"/>
              </a:rPr>
              <a:t>재해복구관리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2478024" y="5568696"/>
            <a:ext cx="438912" cy="96012"/>
          </a:xfrm>
          <a:prstGeom prst="rect">
            <a:avLst/>
          </a:prstGeom>
          <a:solidFill>
            <a:srgbClr val="FAFAFA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9" name="TextBox 328"/>
          <p:cNvSpPr txBox="1"/>
          <p:nvPr/>
        </p:nvSpPr>
        <p:spPr>
          <a:xfrm>
            <a:off x="2487168" y="5568696"/>
            <a:ext cx="420624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endParaRPr/>
          </a:p>
        </p:txBody>
      </p:sp>
      <p:sp>
        <p:nvSpPr>
          <p:cNvPr id="330" name="TextBox 329"/>
          <p:cNvSpPr txBox="1"/>
          <p:nvPr/>
        </p:nvSpPr>
        <p:spPr>
          <a:xfrm>
            <a:off x="237744" y="5925312"/>
            <a:ext cx="2560320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0">
                <a:solidFill>
                  <a:srgbClr val="4B4B4B"/>
                </a:solidFill>
                <a:latin typeface="Malgun Gothic"/>
              </a:rPr>
              <a:t>※ 기술 참조 모델(TRM) 기준</a:t>
            </a:r>
          </a:p>
        </p:txBody>
      </p:sp>
      <p:sp>
        <p:nvSpPr>
          <p:cNvPr id="331" name="Rectangle 330"/>
          <p:cNvSpPr/>
          <p:nvPr/>
        </p:nvSpPr>
        <p:spPr>
          <a:xfrm>
            <a:off x="3657600" y="1773936"/>
            <a:ext cx="3520440" cy="4087368"/>
          </a:xfrm>
          <a:prstGeom prst="rect">
            <a:avLst/>
          </a:prstGeom>
          <a:solidFill>
            <a:srgbClr val="FCFCFC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2" name="TextBox 331"/>
          <p:cNvSpPr txBox="1"/>
          <p:nvPr/>
        </p:nvSpPr>
        <p:spPr>
          <a:xfrm>
            <a:off x="3895344" y="1847088"/>
            <a:ext cx="3044952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5B64B6"/>
                </a:solidFill>
                <a:latin typeface="Malgun Gothic"/>
              </a:rPr>
              <a:t>(분석) 현행 아키텍처 핵심 이슈 확인</a:t>
            </a:r>
          </a:p>
        </p:txBody>
      </p:sp>
      <p:sp>
        <p:nvSpPr>
          <p:cNvPr id="333" name="TextBox 332"/>
          <p:cNvSpPr txBox="1"/>
          <p:nvPr/>
        </p:nvSpPr>
        <p:spPr>
          <a:xfrm>
            <a:off x="3822192" y="2121408"/>
            <a:ext cx="3191256" cy="40233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414141"/>
                </a:solidFill>
                <a:latin typeface="Malgun Gothic"/>
              </a:rPr>
              <a:t>선행 아키텍처 분석과 현행 아키텍처 이해하고 현재 시스템의 문제점을 확인한다.
(주요활동)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3785616" y="2560320"/>
            <a:ext cx="3264408" cy="2048256"/>
          </a:xfrm>
          <a:prstGeom prst="rect">
            <a:avLst/>
          </a:prstGeom>
          <a:solidFill>
            <a:srgbClr val="F6F6F6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5" name="TextBox 334"/>
          <p:cNvSpPr txBox="1"/>
          <p:nvPr/>
        </p:nvSpPr>
        <p:spPr>
          <a:xfrm>
            <a:off x="4206240" y="2606040"/>
            <a:ext cx="2423160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0">
                <a:solidFill>
                  <a:srgbClr val="5A5A5A"/>
                </a:solidFill>
                <a:latin typeface="Malgun Gothic"/>
              </a:rPr>
              <a:t>선행 PI 아키텍처 분석</a:t>
            </a:r>
          </a:p>
        </p:txBody>
      </p:sp>
      <p:sp>
        <p:nvSpPr>
          <p:cNvPr id="336" name="Rectangle 335"/>
          <p:cNvSpPr/>
          <p:nvPr/>
        </p:nvSpPr>
        <p:spPr>
          <a:xfrm>
            <a:off x="3858768" y="2779776"/>
            <a:ext cx="256032" cy="160935"/>
          </a:xfrm>
          <a:prstGeom prst="rect">
            <a:avLst/>
          </a:prstGeom>
          <a:solidFill>
            <a:srgbClr val="285EAB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7" name="TextBox 336"/>
          <p:cNvSpPr txBox="1"/>
          <p:nvPr/>
        </p:nvSpPr>
        <p:spPr>
          <a:xfrm>
            <a:off x="3858768" y="2779776"/>
            <a:ext cx="256032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338" name="Rectangle 337"/>
          <p:cNvSpPr/>
          <p:nvPr/>
        </p:nvSpPr>
        <p:spPr>
          <a:xfrm>
            <a:off x="4133088" y="2779776"/>
            <a:ext cx="3008376" cy="160935"/>
          </a:xfrm>
          <a:prstGeom prst="rect">
            <a:avLst/>
          </a:prstGeom>
          <a:solidFill>
            <a:srgbClr val="E5E5E5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9" name="TextBox 338"/>
          <p:cNvSpPr txBox="1"/>
          <p:nvPr/>
        </p:nvSpPr>
        <p:spPr>
          <a:xfrm>
            <a:off x="4160520" y="2781604"/>
            <a:ext cx="2935224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740" b="0">
                <a:solidFill>
                  <a:srgbClr val="373737"/>
                </a:solidFill>
                <a:latin typeface="Malgun Gothic"/>
              </a:rPr>
              <a:t>개발환경표준화 부족으로 시스템 유지보수 품질확보 어려움</a:t>
            </a:r>
          </a:p>
        </p:txBody>
      </p:sp>
      <p:sp>
        <p:nvSpPr>
          <p:cNvPr id="340" name="Rectangle 339"/>
          <p:cNvSpPr/>
          <p:nvPr/>
        </p:nvSpPr>
        <p:spPr>
          <a:xfrm>
            <a:off x="3858768" y="2944368"/>
            <a:ext cx="256032" cy="160935"/>
          </a:xfrm>
          <a:prstGeom prst="rect">
            <a:avLst/>
          </a:prstGeom>
          <a:solidFill>
            <a:srgbClr val="285EAB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1" name="TextBox 340"/>
          <p:cNvSpPr txBox="1"/>
          <p:nvPr/>
        </p:nvSpPr>
        <p:spPr>
          <a:xfrm>
            <a:off x="3858768" y="2944368"/>
            <a:ext cx="256032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342" name="Rectangle 341"/>
          <p:cNvSpPr/>
          <p:nvPr/>
        </p:nvSpPr>
        <p:spPr>
          <a:xfrm>
            <a:off x="4133088" y="2944368"/>
            <a:ext cx="3008376" cy="160935"/>
          </a:xfrm>
          <a:prstGeom prst="rect">
            <a:avLst/>
          </a:prstGeom>
          <a:solidFill>
            <a:srgbClr val="E5E5E5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3" name="TextBox 342"/>
          <p:cNvSpPr txBox="1"/>
          <p:nvPr/>
        </p:nvSpPr>
        <p:spPr>
          <a:xfrm>
            <a:off x="4160520" y="2946196"/>
            <a:ext cx="2935224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740" b="0">
                <a:solidFill>
                  <a:srgbClr val="373737"/>
                </a:solidFill>
                <a:latin typeface="Malgun Gothic"/>
              </a:rPr>
              <a:t>IT기술스택 및 외부 프레임워크 기술지원 불가로 유지보수 저하</a:t>
            </a:r>
          </a:p>
        </p:txBody>
      </p:sp>
      <p:sp>
        <p:nvSpPr>
          <p:cNvPr id="344" name="Rectangle 343"/>
          <p:cNvSpPr/>
          <p:nvPr/>
        </p:nvSpPr>
        <p:spPr>
          <a:xfrm>
            <a:off x="3858768" y="3108960"/>
            <a:ext cx="256032" cy="160935"/>
          </a:xfrm>
          <a:prstGeom prst="rect">
            <a:avLst/>
          </a:prstGeom>
          <a:solidFill>
            <a:srgbClr val="285EAB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5" name="TextBox 344"/>
          <p:cNvSpPr txBox="1"/>
          <p:nvPr/>
        </p:nvSpPr>
        <p:spPr>
          <a:xfrm>
            <a:off x="3858768" y="3108960"/>
            <a:ext cx="256032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346" name="Rectangle 345"/>
          <p:cNvSpPr/>
          <p:nvPr/>
        </p:nvSpPr>
        <p:spPr>
          <a:xfrm>
            <a:off x="4133088" y="3108960"/>
            <a:ext cx="3008376" cy="160935"/>
          </a:xfrm>
          <a:prstGeom prst="rect">
            <a:avLst/>
          </a:prstGeom>
          <a:solidFill>
            <a:srgbClr val="E5E5E5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7" name="TextBox 346"/>
          <p:cNvSpPr txBox="1"/>
          <p:nvPr/>
        </p:nvSpPr>
        <p:spPr>
          <a:xfrm>
            <a:off x="4160520" y="3110788"/>
            <a:ext cx="2935224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740" b="0">
                <a:solidFill>
                  <a:srgbClr val="373737"/>
                </a:solidFill>
                <a:latin typeface="Malgun Gothic"/>
              </a:rPr>
              <a:t>정보계 표준 UI 프레임워크 도입 필요</a:t>
            </a:r>
          </a:p>
        </p:txBody>
      </p:sp>
      <p:sp>
        <p:nvSpPr>
          <p:cNvPr id="348" name="Rectangle 347"/>
          <p:cNvSpPr/>
          <p:nvPr/>
        </p:nvSpPr>
        <p:spPr>
          <a:xfrm>
            <a:off x="3858768" y="3273552"/>
            <a:ext cx="256032" cy="160935"/>
          </a:xfrm>
          <a:prstGeom prst="rect">
            <a:avLst/>
          </a:prstGeom>
          <a:solidFill>
            <a:srgbClr val="285EAB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9" name="TextBox 348"/>
          <p:cNvSpPr txBox="1"/>
          <p:nvPr/>
        </p:nvSpPr>
        <p:spPr>
          <a:xfrm>
            <a:off x="3858768" y="3273552"/>
            <a:ext cx="256032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350" name="Rectangle 349"/>
          <p:cNvSpPr/>
          <p:nvPr/>
        </p:nvSpPr>
        <p:spPr>
          <a:xfrm>
            <a:off x="4133088" y="3273552"/>
            <a:ext cx="3008376" cy="160935"/>
          </a:xfrm>
          <a:prstGeom prst="rect">
            <a:avLst/>
          </a:prstGeom>
          <a:solidFill>
            <a:srgbClr val="E5E5E5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1" name="TextBox 350"/>
          <p:cNvSpPr txBox="1"/>
          <p:nvPr/>
        </p:nvSpPr>
        <p:spPr>
          <a:xfrm>
            <a:off x="4160520" y="3275380"/>
            <a:ext cx="2935224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740" b="0">
                <a:solidFill>
                  <a:srgbClr val="373737"/>
                </a:solidFill>
                <a:latin typeface="Malgun Gothic"/>
              </a:rPr>
              <a:t>다양한 데이터 송수신 환경의 기준 및 통합 필요</a:t>
            </a:r>
          </a:p>
        </p:txBody>
      </p:sp>
      <p:sp>
        <p:nvSpPr>
          <p:cNvPr id="352" name="Rectangle 351"/>
          <p:cNvSpPr/>
          <p:nvPr/>
        </p:nvSpPr>
        <p:spPr>
          <a:xfrm>
            <a:off x="3858768" y="3438144"/>
            <a:ext cx="256032" cy="160935"/>
          </a:xfrm>
          <a:prstGeom prst="rect">
            <a:avLst/>
          </a:prstGeom>
          <a:solidFill>
            <a:srgbClr val="285EAB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3" name="TextBox 352"/>
          <p:cNvSpPr txBox="1"/>
          <p:nvPr/>
        </p:nvSpPr>
        <p:spPr>
          <a:xfrm>
            <a:off x="3858768" y="3438144"/>
            <a:ext cx="256032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354" name="Rectangle 353"/>
          <p:cNvSpPr/>
          <p:nvPr/>
        </p:nvSpPr>
        <p:spPr>
          <a:xfrm>
            <a:off x="4133088" y="3438144"/>
            <a:ext cx="3008376" cy="160935"/>
          </a:xfrm>
          <a:prstGeom prst="rect">
            <a:avLst/>
          </a:prstGeom>
          <a:solidFill>
            <a:srgbClr val="E5E5E5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5" name="TextBox 354"/>
          <p:cNvSpPr txBox="1"/>
          <p:nvPr/>
        </p:nvSpPr>
        <p:spPr>
          <a:xfrm>
            <a:off x="4160520" y="3439972"/>
            <a:ext cx="2935224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740" b="0">
                <a:solidFill>
                  <a:srgbClr val="373737"/>
                </a:solidFill>
                <a:latin typeface="Malgun Gothic"/>
              </a:rPr>
              <a:t>지속적 시스템 부하증가로 인한 성능적 이슈 발생 가능</a:t>
            </a:r>
          </a:p>
        </p:txBody>
      </p:sp>
      <p:sp>
        <p:nvSpPr>
          <p:cNvPr id="356" name="Rectangle 355"/>
          <p:cNvSpPr/>
          <p:nvPr/>
        </p:nvSpPr>
        <p:spPr>
          <a:xfrm>
            <a:off x="3858768" y="3602736"/>
            <a:ext cx="256032" cy="160935"/>
          </a:xfrm>
          <a:prstGeom prst="rect">
            <a:avLst/>
          </a:prstGeom>
          <a:solidFill>
            <a:srgbClr val="285EAB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7" name="TextBox 356"/>
          <p:cNvSpPr txBox="1"/>
          <p:nvPr/>
        </p:nvSpPr>
        <p:spPr>
          <a:xfrm>
            <a:off x="3858768" y="3602736"/>
            <a:ext cx="256032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Malgun Gothic"/>
              </a:rPr>
              <a:t>6</a:t>
            </a:r>
          </a:p>
        </p:txBody>
      </p:sp>
      <p:sp>
        <p:nvSpPr>
          <p:cNvPr id="358" name="Rectangle 357"/>
          <p:cNvSpPr/>
          <p:nvPr/>
        </p:nvSpPr>
        <p:spPr>
          <a:xfrm>
            <a:off x="4133088" y="3602736"/>
            <a:ext cx="3008376" cy="160935"/>
          </a:xfrm>
          <a:prstGeom prst="rect">
            <a:avLst/>
          </a:prstGeom>
          <a:solidFill>
            <a:srgbClr val="E5E5E5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9" name="TextBox 358"/>
          <p:cNvSpPr txBox="1"/>
          <p:nvPr/>
        </p:nvSpPr>
        <p:spPr>
          <a:xfrm>
            <a:off x="4160520" y="3604564"/>
            <a:ext cx="2935224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740" b="0">
                <a:solidFill>
                  <a:srgbClr val="373737"/>
                </a:solidFill>
                <a:latin typeface="Malgun Gothic"/>
              </a:rPr>
              <a:t>실시간성 업무의 대용량방식에 따른 인프라 확장성 저해</a:t>
            </a:r>
          </a:p>
        </p:txBody>
      </p:sp>
      <p:sp>
        <p:nvSpPr>
          <p:cNvPr id="360" name="Rectangle 359"/>
          <p:cNvSpPr/>
          <p:nvPr/>
        </p:nvSpPr>
        <p:spPr>
          <a:xfrm>
            <a:off x="3858768" y="3767328"/>
            <a:ext cx="256032" cy="160935"/>
          </a:xfrm>
          <a:prstGeom prst="rect">
            <a:avLst/>
          </a:prstGeom>
          <a:solidFill>
            <a:srgbClr val="285EAB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1" name="TextBox 360"/>
          <p:cNvSpPr txBox="1"/>
          <p:nvPr/>
        </p:nvSpPr>
        <p:spPr>
          <a:xfrm>
            <a:off x="3858768" y="3767328"/>
            <a:ext cx="256032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Malgun Gothic"/>
              </a:rPr>
              <a:t>7</a:t>
            </a:r>
          </a:p>
        </p:txBody>
      </p:sp>
      <p:sp>
        <p:nvSpPr>
          <p:cNvPr id="362" name="Rectangle 361"/>
          <p:cNvSpPr/>
          <p:nvPr/>
        </p:nvSpPr>
        <p:spPr>
          <a:xfrm>
            <a:off x="4133088" y="3767328"/>
            <a:ext cx="3008376" cy="160935"/>
          </a:xfrm>
          <a:prstGeom prst="rect">
            <a:avLst/>
          </a:prstGeom>
          <a:solidFill>
            <a:srgbClr val="E5E5E5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3" name="TextBox 362"/>
          <p:cNvSpPr txBox="1"/>
          <p:nvPr/>
        </p:nvSpPr>
        <p:spPr>
          <a:xfrm>
            <a:off x="4160520" y="3769156"/>
            <a:ext cx="2935224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740" b="0">
                <a:solidFill>
                  <a:srgbClr val="373737"/>
                </a:solidFill>
                <a:latin typeface="Malgun Gothic"/>
              </a:rPr>
              <a:t>정보계 단말의 권한관리 방식 도입 필요</a:t>
            </a:r>
          </a:p>
        </p:txBody>
      </p:sp>
      <p:sp>
        <p:nvSpPr>
          <p:cNvPr id="364" name="Rectangle 363"/>
          <p:cNvSpPr/>
          <p:nvPr/>
        </p:nvSpPr>
        <p:spPr>
          <a:xfrm>
            <a:off x="3858768" y="3931920"/>
            <a:ext cx="256032" cy="160935"/>
          </a:xfrm>
          <a:prstGeom prst="rect">
            <a:avLst/>
          </a:prstGeom>
          <a:solidFill>
            <a:srgbClr val="285EAB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5" name="TextBox 364"/>
          <p:cNvSpPr txBox="1"/>
          <p:nvPr/>
        </p:nvSpPr>
        <p:spPr>
          <a:xfrm>
            <a:off x="3858768" y="3931920"/>
            <a:ext cx="256032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Malgun Gothic"/>
              </a:rPr>
              <a:t>8</a:t>
            </a:r>
          </a:p>
        </p:txBody>
      </p:sp>
      <p:sp>
        <p:nvSpPr>
          <p:cNvPr id="366" name="Rectangle 365"/>
          <p:cNvSpPr/>
          <p:nvPr/>
        </p:nvSpPr>
        <p:spPr>
          <a:xfrm>
            <a:off x="4133088" y="3931920"/>
            <a:ext cx="3008376" cy="160935"/>
          </a:xfrm>
          <a:prstGeom prst="rect">
            <a:avLst/>
          </a:prstGeom>
          <a:solidFill>
            <a:srgbClr val="E5E5E5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7" name="TextBox 366"/>
          <p:cNvSpPr txBox="1"/>
          <p:nvPr/>
        </p:nvSpPr>
        <p:spPr>
          <a:xfrm>
            <a:off x="4160520" y="3933748"/>
            <a:ext cx="2935224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740" b="0">
                <a:solidFill>
                  <a:srgbClr val="373737"/>
                </a:solidFill>
                <a:latin typeface="Malgun Gothic"/>
              </a:rPr>
              <a:t>스토리지 지속적 환경증설 조건으로 인한 유지관리 어려움</a:t>
            </a:r>
          </a:p>
        </p:txBody>
      </p:sp>
      <p:sp>
        <p:nvSpPr>
          <p:cNvPr id="368" name="Rectangle 367"/>
          <p:cNvSpPr/>
          <p:nvPr/>
        </p:nvSpPr>
        <p:spPr>
          <a:xfrm>
            <a:off x="3858768" y="4096512"/>
            <a:ext cx="256032" cy="160935"/>
          </a:xfrm>
          <a:prstGeom prst="rect">
            <a:avLst/>
          </a:prstGeom>
          <a:solidFill>
            <a:srgbClr val="285EAB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9" name="TextBox 368"/>
          <p:cNvSpPr txBox="1"/>
          <p:nvPr/>
        </p:nvSpPr>
        <p:spPr>
          <a:xfrm>
            <a:off x="3858768" y="4096512"/>
            <a:ext cx="256032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Malgun Gothic"/>
              </a:rPr>
              <a:t>9</a:t>
            </a:r>
          </a:p>
        </p:txBody>
      </p:sp>
      <p:sp>
        <p:nvSpPr>
          <p:cNvPr id="370" name="Rectangle 369"/>
          <p:cNvSpPr/>
          <p:nvPr/>
        </p:nvSpPr>
        <p:spPr>
          <a:xfrm>
            <a:off x="4133088" y="4096512"/>
            <a:ext cx="3008376" cy="160935"/>
          </a:xfrm>
          <a:prstGeom prst="rect">
            <a:avLst/>
          </a:prstGeom>
          <a:solidFill>
            <a:srgbClr val="E5E5E5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1" name="TextBox 370"/>
          <p:cNvSpPr txBox="1"/>
          <p:nvPr/>
        </p:nvSpPr>
        <p:spPr>
          <a:xfrm>
            <a:off x="4160520" y="4098340"/>
            <a:ext cx="2935224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740" b="0">
                <a:solidFill>
                  <a:srgbClr val="373737"/>
                </a:solidFill>
                <a:latin typeface="Malgun Gothic"/>
              </a:rPr>
              <a:t>App 및 IF, 배치 등의 모니터링 환경 필요</a:t>
            </a:r>
          </a:p>
        </p:txBody>
      </p:sp>
      <p:sp>
        <p:nvSpPr>
          <p:cNvPr id="372" name="Rectangle 371"/>
          <p:cNvSpPr/>
          <p:nvPr/>
        </p:nvSpPr>
        <p:spPr>
          <a:xfrm>
            <a:off x="3858768" y="4261104"/>
            <a:ext cx="256032" cy="160935"/>
          </a:xfrm>
          <a:prstGeom prst="rect">
            <a:avLst/>
          </a:prstGeom>
          <a:solidFill>
            <a:srgbClr val="285EAB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3" name="TextBox 372"/>
          <p:cNvSpPr txBox="1"/>
          <p:nvPr/>
        </p:nvSpPr>
        <p:spPr>
          <a:xfrm>
            <a:off x="3858768" y="4261104"/>
            <a:ext cx="256032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Malgun Gothic"/>
              </a:rPr>
              <a:t>10</a:t>
            </a:r>
          </a:p>
        </p:txBody>
      </p:sp>
      <p:sp>
        <p:nvSpPr>
          <p:cNvPr id="374" name="Rectangle 373"/>
          <p:cNvSpPr/>
          <p:nvPr/>
        </p:nvSpPr>
        <p:spPr>
          <a:xfrm>
            <a:off x="4133088" y="4261104"/>
            <a:ext cx="3008376" cy="160935"/>
          </a:xfrm>
          <a:prstGeom prst="rect">
            <a:avLst/>
          </a:prstGeom>
          <a:solidFill>
            <a:srgbClr val="E5E5E5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5" name="TextBox 374"/>
          <p:cNvSpPr txBox="1"/>
          <p:nvPr/>
        </p:nvSpPr>
        <p:spPr>
          <a:xfrm>
            <a:off x="4160520" y="4262932"/>
            <a:ext cx="2935224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740" b="0">
                <a:solidFill>
                  <a:srgbClr val="373737"/>
                </a:solidFill>
                <a:latin typeface="Malgun Gothic"/>
              </a:rPr>
              <a:t>HW, SW 노후화 개선 필요</a:t>
            </a:r>
          </a:p>
        </p:txBody>
      </p:sp>
      <p:sp>
        <p:nvSpPr>
          <p:cNvPr id="376" name="Rectangle 375"/>
          <p:cNvSpPr/>
          <p:nvPr/>
        </p:nvSpPr>
        <p:spPr>
          <a:xfrm>
            <a:off x="3858768" y="4425696"/>
            <a:ext cx="256032" cy="160935"/>
          </a:xfrm>
          <a:prstGeom prst="rect">
            <a:avLst/>
          </a:prstGeom>
          <a:solidFill>
            <a:srgbClr val="285EAB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7" name="TextBox 376"/>
          <p:cNvSpPr txBox="1"/>
          <p:nvPr/>
        </p:nvSpPr>
        <p:spPr>
          <a:xfrm>
            <a:off x="3858768" y="4425696"/>
            <a:ext cx="256032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Malgun Gothic"/>
              </a:rPr>
              <a:t>11</a:t>
            </a:r>
          </a:p>
        </p:txBody>
      </p:sp>
      <p:sp>
        <p:nvSpPr>
          <p:cNvPr id="378" name="Rectangle 377"/>
          <p:cNvSpPr/>
          <p:nvPr/>
        </p:nvSpPr>
        <p:spPr>
          <a:xfrm>
            <a:off x="4133088" y="4425696"/>
            <a:ext cx="3008376" cy="160935"/>
          </a:xfrm>
          <a:prstGeom prst="rect">
            <a:avLst/>
          </a:prstGeom>
          <a:solidFill>
            <a:srgbClr val="E5E5E5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9" name="TextBox 378"/>
          <p:cNvSpPr txBox="1"/>
          <p:nvPr/>
        </p:nvSpPr>
        <p:spPr>
          <a:xfrm>
            <a:off x="4160520" y="4427524"/>
            <a:ext cx="2935224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740" b="0">
                <a:solidFill>
                  <a:srgbClr val="373737"/>
                </a:solidFill>
                <a:latin typeface="Malgun Gothic"/>
              </a:rPr>
              <a:t>정보계 데이터 중복 및 분산방지를 위한 데이터 통합관리 필요</a:t>
            </a:r>
          </a:p>
        </p:txBody>
      </p:sp>
      <p:sp>
        <p:nvSpPr>
          <p:cNvPr id="380" name="TextBox 379"/>
          <p:cNvSpPr txBox="1"/>
          <p:nvPr/>
        </p:nvSpPr>
        <p:spPr>
          <a:xfrm>
            <a:off x="5344668" y="4626864"/>
            <a:ext cx="146304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600" b="1">
                <a:solidFill>
                  <a:srgbClr val="5F5F5F"/>
                </a:solidFill>
                <a:latin typeface="Malgun Gothic"/>
              </a:rPr>
              <a:t>+</a:t>
            </a:r>
          </a:p>
        </p:txBody>
      </p:sp>
      <p:sp>
        <p:nvSpPr>
          <p:cNvPr id="381" name="Rectangle 380"/>
          <p:cNvSpPr/>
          <p:nvPr/>
        </p:nvSpPr>
        <p:spPr>
          <a:xfrm>
            <a:off x="3785616" y="4828032"/>
            <a:ext cx="3264408" cy="786384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2" name="TextBox 381"/>
          <p:cNvSpPr txBox="1"/>
          <p:nvPr/>
        </p:nvSpPr>
        <p:spPr>
          <a:xfrm>
            <a:off x="3822192" y="4855464"/>
            <a:ext cx="31912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50" b="0">
                <a:solidFill>
                  <a:srgbClr val="5A5A5A"/>
                </a:solidFill>
                <a:latin typeface="Malgun Gothic"/>
              </a:rPr>
              <a:t>AS-IS 시스템 운영현황, 아키텍처/메커니즘 분석</a:t>
            </a:r>
          </a:p>
        </p:txBody>
      </p:sp>
      <p:sp>
        <p:nvSpPr>
          <p:cNvPr id="383" name="Rectangle 382"/>
          <p:cNvSpPr/>
          <p:nvPr/>
        </p:nvSpPr>
        <p:spPr>
          <a:xfrm>
            <a:off x="3840480" y="5065776"/>
            <a:ext cx="1170432" cy="146304"/>
          </a:xfrm>
          <a:prstGeom prst="rect">
            <a:avLst/>
          </a:prstGeom>
          <a:solidFill>
            <a:srgbClr val="EDEDED"/>
          </a:solidFill>
          <a:ln w="5080">
            <a:solidFill>
              <a:srgbClr val="B9B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4" name="TextBox 383"/>
          <p:cNvSpPr txBox="1"/>
          <p:nvPr/>
        </p:nvSpPr>
        <p:spPr>
          <a:xfrm>
            <a:off x="3840480" y="5065776"/>
            <a:ext cx="1170432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23232"/>
                </a:solidFill>
                <a:latin typeface="Malgun Gothic"/>
              </a:rPr>
              <a:t>상호금융
AS-IS 시스템 운영 현황</a:t>
            </a:r>
          </a:p>
        </p:txBody>
      </p:sp>
      <p:sp>
        <p:nvSpPr>
          <p:cNvPr id="385" name="Rectangle 384"/>
          <p:cNvSpPr/>
          <p:nvPr/>
        </p:nvSpPr>
        <p:spPr>
          <a:xfrm>
            <a:off x="5742431" y="5102352"/>
            <a:ext cx="914400" cy="146304"/>
          </a:xfrm>
          <a:prstGeom prst="rect">
            <a:avLst/>
          </a:prstGeom>
          <a:solidFill>
            <a:srgbClr val="F5F5F5"/>
          </a:solidFill>
          <a:ln w="5080">
            <a:solidFill>
              <a:srgbClr val="B9B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6" name="TextBox 385"/>
          <p:cNvSpPr txBox="1"/>
          <p:nvPr/>
        </p:nvSpPr>
        <p:spPr>
          <a:xfrm>
            <a:off x="5742431" y="5102352"/>
            <a:ext cx="914400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60" b="0">
                <a:solidFill>
                  <a:srgbClr val="323232"/>
                </a:solidFill>
                <a:latin typeface="Malgun Gothic"/>
              </a:rPr>
              <a:t>현황 및 이슈</a:t>
            </a:r>
          </a:p>
        </p:txBody>
      </p:sp>
      <p:cxnSp>
        <p:nvCxnSpPr>
          <p:cNvPr id="387" name="Connector 386"/>
          <p:cNvCxnSpPr/>
          <p:nvPr/>
        </p:nvCxnSpPr>
        <p:spPr>
          <a:xfrm>
            <a:off x="5010912" y="5138928"/>
            <a:ext cx="731519" cy="36576"/>
          </a:xfrm>
          <a:prstGeom prst="line">
            <a:avLst/>
          </a:prstGeom>
          <a:ln w="1016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8" name="Rectangle 387"/>
          <p:cNvSpPr/>
          <p:nvPr/>
        </p:nvSpPr>
        <p:spPr>
          <a:xfrm>
            <a:off x="3840480" y="5221224"/>
            <a:ext cx="1170432" cy="146304"/>
          </a:xfrm>
          <a:prstGeom prst="rect">
            <a:avLst/>
          </a:prstGeom>
          <a:solidFill>
            <a:srgbClr val="EDEDED"/>
          </a:solidFill>
          <a:ln w="5080">
            <a:solidFill>
              <a:srgbClr val="B9B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9" name="TextBox 388"/>
          <p:cNvSpPr txBox="1"/>
          <p:nvPr/>
        </p:nvSpPr>
        <p:spPr>
          <a:xfrm>
            <a:off x="3840480" y="5221224"/>
            <a:ext cx="1170432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23232"/>
                </a:solidFill>
                <a:latin typeface="Malgun Gothic"/>
              </a:rPr>
              <a:t>상호금융
AS-IS 아키텍처</a:t>
            </a:r>
          </a:p>
        </p:txBody>
      </p:sp>
      <p:sp>
        <p:nvSpPr>
          <p:cNvPr id="390" name="Rectangle 389"/>
          <p:cNvSpPr/>
          <p:nvPr/>
        </p:nvSpPr>
        <p:spPr>
          <a:xfrm>
            <a:off x="5742431" y="5257800"/>
            <a:ext cx="914400" cy="146304"/>
          </a:xfrm>
          <a:prstGeom prst="rect">
            <a:avLst/>
          </a:prstGeom>
          <a:solidFill>
            <a:srgbClr val="F5F5F5"/>
          </a:solidFill>
          <a:ln w="5080">
            <a:solidFill>
              <a:srgbClr val="B9B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1" name="TextBox 390"/>
          <p:cNvSpPr txBox="1"/>
          <p:nvPr/>
        </p:nvSpPr>
        <p:spPr>
          <a:xfrm>
            <a:off x="5742431" y="5257800"/>
            <a:ext cx="914400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60" b="0">
                <a:solidFill>
                  <a:srgbClr val="323232"/>
                </a:solidFill>
                <a:latin typeface="Malgun Gothic"/>
              </a:rPr>
              <a:t>표준 원칙</a:t>
            </a:r>
          </a:p>
        </p:txBody>
      </p:sp>
      <p:cxnSp>
        <p:nvCxnSpPr>
          <p:cNvPr id="392" name="Connector 391"/>
          <p:cNvCxnSpPr/>
          <p:nvPr/>
        </p:nvCxnSpPr>
        <p:spPr>
          <a:xfrm>
            <a:off x="5010912" y="5294376"/>
            <a:ext cx="731519" cy="36576"/>
          </a:xfrm>
          <a:prstGeom prst="line">
            <a:avLst/>
          </a:prstGeom>
          <a:ln w="1016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3" name="Rectangle 392"/>
          <p:cNvSpPr/>
          <p:nvPr/>
        </p:nvSpPr>
        <p:spPr>
          <a:xfrm>
            <a:off x="3840480" y="5376672"/>
            <a:ext cx="1170432" cy="146304"/>
          </a:xfrm>
          <a:prstGeom prst="rect">
            <a:avLst/>
          </a:prstGeom>
          <a:solidFill>
            <a:srgbClr val="EDEDED"/>
          </a:solidFill>
          <a:ln w="5080">
            <a:solidFill>
              <a:srgbClr val="B9B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4" name="TextBox 393"/>
          <p:cNvSpPr txBox="1"/>
          <p:nvPr/>
        </p:nvSpPr>
        <p:spPr>
          <a:xfrm>
            <a:off x="3840480" y="5376672"/>
            <a:ext cx="1170432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40" b="0">
                <a:solidFill>
                  <a:srgbClr val="323232"/>
                </a:solidFill>
                <a:latin typeface="Malgun Gothic"/>
              </a:rPr>
              <a:t>상호금융
AS-IS 기술 메커니즘</a:t>
            </a:r>
          </a:p>
        </p:txBody>
      </p:sp>
      <p:sp>
        <p:nvSpPr>
          <p:cNvPr id="395" name="Rectangle 394"/>
          <p:cNvSpPr/>
          <p:nvPr/>
        </p:nvSpPr>
        <p:spPr>
          <a:xfrm>
            <a:off x="5742431" y="5413248"/>
            <a:ext cx="914400" cy="146304"/>
          </a:xfrm>
          <a:prstGeom prst="rect">
            <a:avLst/>
          </a:prstGeom>
          <a:solidFill>
            <a:srgbClr val="F5F5F5"/>
          </a:solidFill>
          <a:ln w="5080">
            <a:solidFill>
              <a:srgbClr val="B9B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6" name="TextBox 395"/>
          <p:cNvSpPr txBox="1"/>
          <p:nvPr/>
        </p:nvSpPr>
        <p:spPr>
          <a:xfrm>
            <a:off x="5742431" y="5413248"/>
            <a:ext cx="914400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60" b="0">
                <a:solidFill>
                  <a:srgbClr val="323232"/>
                </a:solidFill>
                <a:latin typeface="Malgun Gothic"/>
              </a:rPr>
              <a:t>기술 메커니즘</a:t>
            </a:r>
          </a:p>
        </p:txBody>
      </p:sp>
      <p:cxnSp>
        <p:nvCxnSpPr>
          <p:cNvPr id="397" name="Connector 396"/>
          <p:cNvCxnSpPr/>
          <p:nvPr/>
        </p:nvCxnSpPr>
        <p:spPr>
          <a:xfrm>
            <a:off x="5010912" y="5449824"/>
            <a:ext cx="731519" cy="36576"/>
          </a:xfrm>
          <a:prstGeom prst="line">
            <a:avLst/>
          </a:prstGeom>
          <a:ln w="1016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8" name="Chevron 397"/>
          <p:cNvSpPr/>
          <p:nvPr/>
        </p:nvSpPr>
        <p:spPr>
          <a:xfrm>
            <a:off x="2999232" y="3127248"/>
            <a:ext cx="310896" cy="603504"/>
          </a:xfrm>
          <a:prstGeom prst="chevron">
            <a:avLst/>
          </a:prstGeom>
          <a:solidFill>
            <a:srgbClr val="141414"/>
          </a:solidFill>
          <a:ln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9" name="TextBox 398"/>
          <p:cNvSpPr txBox="1"/>
          <p:nvPr/>
        </p:nvSpPr>
        <p:spPr>
          <a:xfrm>
            <a:off x="7388352" y="1783080"/>
            <a:ext cx="2304288" cy="256032"/>
          </a:xfrm>
          <a:prstGeom prst="rect">
            <a:avLst/>
          </a:prstGeom>
          <a:solidFill>
            <a:srgbClr val="29478B"/>
          </a:solidFill>
          <a:ln w="12700">
            <a:solidFill>
              <a:srgbClr val="29478B"/>
            </a:solidFill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인프라 HW,SW,NW 현황 및 이슈</a:t>
            </a:r>
          </a:p>
        </p:txBody>
      </p:sp>
      <p:sp>
        <p:nvSpPr>
          <p:cNvPr id="400" name="TextBox 399"/>
          <p:cNvSpPr txBox="1"/>
          <p:nvPr/>
        </p:nvSpPr>
        <p:spPr>
          <a:xfrm>
            <a:off x="7434072" y="2093976"/>
            <a:ext cx="2267712" cy="107899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900" b="0">
                <a:solidFill>
                  <a:srgbClr val="3C3C3C"/>
                </a:solidFill>
                <a:latin typeface="Malgun Gothic"/>
              </a:rPr>
              <a:t>· 서버, 네트워크, 스토리지, 백업 등 주요 시스템의
  IT 인프라 하드웨어 분석
· 기반구조 구성현황 분석(HW,NW)
· 주요 시스템 인프라 대상 기반 SW 현황 분석</a:t>
            </a:r>
          </a:p>
        </p:txBody>
      </p:sp>
      <p:sp>
        <p:nvSpPr>
          <p:cNvPr id="401" name="TextBox 400"/>
          <p:cNvSpPr txBox="1"/>
          <p:nvPr/>
        </p:nvSpPr>
        <p:spPr>
          <a:xfrm>
            <a:off x="7388352" y="3081528"/>
            <a:ext cx="2304288" cy="256032"/>
          </a:xfrm>
          <a:prstGeom prst="rect">
            <a:avLst/>
          </a:prstGeom>
          <a:solidFill>
            <a:srgbClr val="29478B"/>
          </a:solidFill>
          <a:ln w="12700">
            <a:solidFill>
              <a:srgbClr val="29478B"/>
            </a:solidFill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어플리케이션 현황 및 이슈</a:t>
            </a:r>
          </a:p>
        </p:txBody>
      </p:sp>
      <p:sp>
        <p:nvSpPr>
          <p:cNvPr id="402" name="TextBox 401"/>
          <p:cNvSpPr txBox="1"/>
          <p:nvPr/>
        </p:nvSpPr>
        <p:spPr>
          <a:xfrm>
            <a:off x="7434072" y="3392424"/>
            <a:ext cx="2267712" cy="841248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900" b="0">
                <a:solidFill>
                  <a:srgbClr val="3C3C3C"/>
                </a:solidFill>
                <a:latin typeface="Malgun Gothic"/>
              </a:rPr>
              <a:t>· 주요 시스템 대상의 구현 어플리케이션 현황 분석</a:t>
            </a:r>
          </a:p>
        </p:txBody>
      </p:sp>
      <p:sp>
        <p:nvSpPr>
          <p:cNvPr id="403" name="TextBox 402"/>
          <p:cNvSpPr txBox="1"/>
          <p:nvPr/>
        </p:nvSpPr>
        <p:spPr>
          <a:xfrm>
            <a:off x="7388352" y="4169663"/>
            <a:ext cx="2304288" cy="256032"/>
          </a:xfrm>
          <a:prstGeom prst="rect">
            <a:avLst/>
          </a:prstGeom>
          <a:solidFill>
            <a:srgbClr val="29478B"/>
          </a:solidFill>
          <a:ln w="12700">
            <a:solidFill>
              <a:srgbClr val="29478B"/>
            </a:solidFill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운영관리 현황 및 이슈</a:t>
            </a:r>
          </a:p>
        </p:txBody>
      </p:sp>
      <p:sp>
        <p:nvSpPr>
          <p:cNvPr id="404" name="TextBox 403"/>
          <p:cNvSpPr txBox="1"/>
          <p:nvPr/>
        </p:nvSpPr>
        <p:spPr>
          <a:xfrm>
            <a:off x="7434072" y="4480559"/>
            <a:ext cx="2267712" cy="932688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900" b="0">
                <a:solidFill>
                  <a:srgbClr val="3C3C3C"/>
                </a:solidFill>
                <a:latin typeface="Malgun Gothic"/>
              </a:rPr>
              <a:t>· 가용성 관리, 통합관제 등 인프라 전반적인 운영
  관리 현황 분석
· 운영관리를 위한 단위 솔루션 현황 분석</a:t>
            </a:r>
          </a:p>
        </p:txBody>
      </p:sp>
      <p:sp>
        <p:nvSpPr>
          <p:cNvPr id="405" name="TextBox 404"/>
          <p:cNvSpPr txBox="1"/>
          <p:nvPr/>
        </p:nvSpPr>
        <p:spPr>
          <a:xfrm>
            <a:off x="7388352" y="5321808"/>
            <a:ext cx="2304288" cy="256032"/>
          </a:xfrm>
          <a:prstGeom prst="rect">
            <a:avLst/>
          </a:prstGeom>
          <a:solidFill>
            <a:srgbClr val="29478B"/>
          </a:solidFill>
          <a:ln w="12700">
            <a:solidFill>
              <a:srgbClr val="29478B"/>
            </a:solidFill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보안 현황 및 이슈</a:t>
            </a:r>
          </a:p>
        </p:txBody>
      </p:sp>
      <p:sp>
        <p:nvSpPr>
          <p:cNvPr id="406" name="TextBox 405"/>
          <p:cNvSpPr txBox="1"/>
          <p:nvPr/>
        </p:nvSpPr>
        <p:spPr>
          <a:xfrm>
            <a:off x="7434072" y="5632704"/>
            <a:ext cx="2267712" cy="71323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900" b="0">
                <a:solidFill>
                  <a:srgbClr val="3C3C3C"/>
                </a:solidFill>
                <a:latin typeface="Malgun Gothic"/>
              </a:rPr>
              <a:t>· 인프라/데이터 및 보안 솔루션 현황 및 이슈경도
  전반적 기술보안 적용 현황 분석</a:t>
            </a:r>
          </a:p>
        </p:txBody>
      </p:sp>
      <p:sp>
        <p:nvSpPr>
          <p:cNvPr id="407" name="TextBox 406"/>
          <p:cNvSpPr txBox="1"/>
          <p:nvPr/>
        </p:nvSpPr>
        <p:spPr>
          <a:xfrm>
            <a:off x="5065776" y="5907024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464646"/>
                </a:solidFill>
                <a:latin typeface="Malgun Gothic"/>
              </a:rPr>
              <a:t>4</a:t>
            </a:r>
          </a:p>
        </p:txBody>
      </p:sp>
      <p:sp>
        <p:nvSpPr>
          <p:cNvPr id="408" name="Isosceles Triangle 407"/>
          <p:cNvSpPr/>
          <p:nvPr/>
        </p:nvSpPr>
        <p:spPr>
          <a:xfrm rot="10800000">
            <a:off x="18288" y="5815584"/>
            <a:ext cx="118872" cy="164592"/>
          </a:xfrm>
          <a:prstGeom prst="triangle">
            <a:avLst/>
          </a:prstGeom>
          <a:solidFill>
            <a:srgbClr val="EC9A34"/>
          </a:solidFill>
          <a:ln>
            <a:solidFill>
              <a:srgbClr val="EC9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9" name="Oval 408"/>
          <p:cNvSpPr/>
          <p:nvPr/>
        </p:nvSpPr>
        <p:spPr>
          <a:xfrm>
            <a:off x="109728" y="5852160"/>
            <a:ext cx="45720" cy="45720"/>
          </a:xfrm>
          <a:prstGeom prst="ellipse">
            <a:avLst/>
          </a:prstGeom>
          <a:solidFill>
            <a:srgbClr val="EC9A34"/>
          </a:solidFill>
          <a:ln>
            <a:solidFill>
              <a:srgbClr val="EC9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0" name="TextBox 409"/>
          <p:cNvSpPr txBox="1"/>
          <p:nvPr/>
        </p:nvSpPr>
        <p:spPr>
          <a:xfrm>
            <a:off x="164592" y="5806440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>
                <a:solidFill>
                  <a:srgbClr val="26854A"/>
                </a:solidFill>
                <a:latin typeface="Malgun Gothic"/>
              </a:rPr>
              <a:t>농협중앙회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8016" y="91440"/>
            <a:ext cx="7498079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Malgun Gothic"/>
              </a:rPr>
              <a:t>(Backup) 최상위 목표 아키텍처 Big Picture 모델 (25/12/25기준)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28016" y="594360"/>
            <a:ext cx="9838944" cy="0"/>
          </a:xfrm>
          <a:prstGeom prst="line">
            <a:avLst/>
          </a:prstGeom>
          <a:ln w="190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46304" y="694944"/>
            <a:ext cx="7863840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600">
                <a:solidFill>
                  <a:srgbClr val="323232"/>
                </a:solidFill>
                <a:latin typeface="Malgun Gothic"/>
              </a:rPr>
              <a:t>다음의 「 차세대 정보계 시스템 구축」을 위한 </a:t>
            </a:r>
            <a:r>
              <a:rPr sz="1600">
                <a:solidFill>
                  <a:srgbClr val="A84E49"/>
                </a:solidFill>
                <a:latin typeface="Malgun Gothic"/>
              </a:rPr>
              <a:t>최상위 아키텍처 빅픽처</a:t>
            </a:r>
            <a:r>
              <a:rPr sz="1600">
                <a:solidFill>
                  <a:srgbClr val="323232"/>
                </a:solidFill>
                <a:latin typeface="Malgun Gothic"/>
              </a:rPr>
              <a:t>이다. 이 모델은
25/12/25일자를 기준으로 제안모델이 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389888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600" b="1">
                <a:solidFill>
                  <a:srgbClr val="2D2D2D"/>
                </a:solidFill>
                <a:latin typeface="Malgun Gothic"/>
              </a:rPr>
              <a:t>최상위 목표 아키텍처 모델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792224" y="1636776"/>
            <a:ext cx="3383280" cy="0"/>
          </a:xfrm>
          <a:prstGeom prst="line">
            <a:avLst/>
          </a:prstGeom>
          <a:ln w="10160">
            <a:solidFill>
              <a:srgbClr val="828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82880" y="1847088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1">
                <a:solidFill>
                  <a:srgbClr val="4B4B4B"/>
                </a:solidFill>
                <a:latin typeface="Malgun Gothic"/>
              </a:rPr>
              <a:t>채널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847088"/>
            <a:ext cx="749808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1">
                <a:solidFill>
                  <a:srgbClr val="4B4B4B"/>
                </a:solidFill>
                <a:latin typeface="Malgun Gothic"/>
              </a:rPr>
              <a:t>채널통합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847088"/>
            <a:ext cx="306324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1">
                <a:solidFill>
                  <a:srgbClr val="4B4B4B"/>
                </a:solidFill>
                <a:latin typeface="Malgun Gothic"/>
              </a:rPr>
              <a:t>마케팅플랫폼/BI 포탈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847088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1">
                <a:solidFill>
                  <a:srgbClr val="4B4B4B"/>
                </a:solidFill>
                <a:latin typeface="Malgun Gothic"/>
              </a:rPr>
              <a:t>운영시스템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2" y="1993392"/>
            <a:ext cx="347472" cy="201168"/>
          </a:xfrm>
          <a:prstGeom prst="rect">
            <a:avLst/>
          </a:prstGeom>
          <a:solidFill>
            <a:srgbClr val="EBEEF1"/>
          </a:solidFill>
          <a:ln w="508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4592" y="1993392"/>
            <a:ext cx="347472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373737"/>
                </a:solidFill>
                <a:latin typeface="Malgun Gothic"/>
              </a:rPr>
              <a:t>계정 단말
UI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" y="2267712"/>
            <a:ext cx="347472" cy="201168"/>
          </a:xfrm>
          <a:prstGeom prst="rect">
            <a:avLst/>
          </a:prstGeom>
          <a:solidFill>
            <a:srgbClr val="EBEEF1"/>
          </a:solidFill>
          <a:ln w="508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64592" y="2267712"/>
            <a:ext cx="347472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373737"/>
                </a:solidFill>
                <a:latin typeface="Malgun Gothic"/>
              </a:rPr>
              <a:t>정보 단말
UI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4592" y="2542032"/>
            <a:ext cx="347472" cy="201168"/>
          </a:xfrm>
          <a:prstGeom prst="rect">
            <a:avLst/>
          </a:prstGeom>
          <a:solidFill>
            <a:srgbClr val="EBEEF1"/>
          </a:solidFill>
          <a:ln w="508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4592" y="2542032"/>
            <a:ext cx="347472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373737"/>
                </a:solidFill>
                <a:latin typeface="Malgun Gothic"/>
              </a:rPr>
              <a:t>Package
UI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2" y="4206240"/>
            <a:ext cx="347472" cy="228600"/>
          </a:xfrm>
          <a:prstGeom prst="rect">
            <a:avLst/>
          </a:prstGeom>
          <a:solidFill>
            <a:srgbClr val="EBEEF1"/>
          </a:solidFill>
          <a:ln w="508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64592" y="4206240"/>
            <a:ext cx="347472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373737"/>
                </a:solidFill>
                <a:latin typeface="Malgun Gothic"/>
              </a:rPr>
              <a:t>Web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4592" y="4507992"/>
            <a:ext cx="347472" cy="228600"/>
          </a:xfrm>
          <a:prstGeom prst="rect">
            <a:avLst/>
          </a:prstGeom>
          <a:solidFill>
            <a:srgbClr val="EBEEF1"/>
          </a:solidFill>
          <a:ln w="508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64592" y="4507992"/>
            <a:ext cx="347472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373737"/>
                </a:solidFill>
                <a:latin typeface="Malgun Gothic"/>
              </a:rPr>
              <a:t>Mobile
UI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4592" y="4855464"/>
            <a:ext cx="347472" cy="411480"/>
          </a:xfrm>
          <a:prstGeom prst="rect">
            <a:avLst/>
          </a:prstGeom>
          <a:solidFill>
            <a:srgbClr val="EBEEF1"/>
          </a:solidFill>
          <a:ln w="508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64592" y="4855464"/>
            <a:ext cx="347472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373737"/>
                </a:solidFill>
                <a:latin typeface="Malgun Gothic"/>
              </a:rPr>
              <a:t>SMS
PUSH
MAIL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1993392"/>
            <a:ext cx="201168" cy="219456"/>
          </a:xfrm>
          <a:prstGeom prst="rect">
            <a:avLst/>
          </a:prstGeom>
          <a:solidFill>
            <a:srgbClr val="5A6468"/>
          </a:solidFill>
          <a:ln w="5080">
            <a:solidFill>
              <a:srgbClr val="5A6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1993392"/>
            <a:ext cx="201168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Malgun Gothic"/>
              </a:rPr>
              <a:t>MCA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2157984"/>
            <a:ext cx="329184" cy="164592"/>
          </a:xfrm>
          <a:prstGeom prst="rect">
            <a:avLst/>
          </a:prstGeom>
          <a:solidFill>
            <a:srgbClr val="E1E1E1"/>
          </a:solidFill>
          <a:ln w="508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5840" y="2157984"/>
            <a:ext cx="329184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50" b="0">
                <a:solidFill>
                  <a:srgbClr val="323232"/>
                </a:solidFill>
                <a:latin typeface="Malgun Gothic"/>
              </a:rPr>
              <a:t>단말거래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" y="4315968"/>
            <a:ext cx="502920" cy="310896"/>
          </a:xfrm>
          <a:prstGeom prst="rect">
            <a:avLst/>
          </a:prstGeom>
          <a:solidFill>
            <a:srgbClr val="EAE7BA"/>
          </a:solidFill>
          <a:ln w="5080">
            <a:solidFill>
              <a:srgbClr val="B4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1248" y="431596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50" b="0">
                <a:solidFill>
                  <a:srgbClr val="464646"/>
                </a:solidFill>
                <a:latin typeface="Malgun Gothic"/>
              </a:rPr>
              <a:t>Wise
Collector
Proxy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212080"/>
            <a:ext cx="457200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00" b="1">
                <a:solidFill>
                  <a:srgbClr val="464646"/>
                </a:solidFill>
                <a:latin typeface="Malgun Gothic"/>
              </a:rPr>
              <a:t>DMZ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12064" y="2093976"/>
            <a:ext cx="310896" cy="0"/>
          </a:xfrm>
          <a:prstGeom prst="line">
            <a:avLst/>
          </a:prstGeom>
          <a:ln w="127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12064" y="2368296"/>
            <a:ext cx="310896" cy="0"/>
          </a:xfrm>
          <a:prstGeom prst="line">
            <a:avLst/>
          </a:prstGeom>
          <a:ln w="127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12064" y="2642616"/>
            <a:ext cx="310896" cy="0"/>
          </a:xfrm>
          <a:prstGeom prst="line">
            <a:avLst/>
          </a:prstGeom>
          <a:ln w="127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12064" y="4325112"/>
            <a:ext cx="329184" cy="0"/>
          </a:xfrm>
          <a:prstGeom prst="line">
            <a:avLst/>
          </a:prstGeom>
          <a:ln w="127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12064" y="4608576"/>
            <a:ext cx="329184" cy="0"/>
          </a:xfrm>
          <a:prstGeom prst="line">
            <a:avLst/>
          </a:prstGeom>
          <a:ln w="127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12064" y="4974336"/>
            <a:ext cx="329184" cy="0"/>
          </a:xfrm>
          <a:prstGeom prst="line">
            <a:avLst/>
          </a:prstGeom>
          <a:ln w="127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1627632" y="1993392"/>
            <a:ext cx="3236976" cy="2011680"/>
          </a:xfrm>
          <a:prstGeom prst="rect">
            <a:avLst/>
          </a:prstGeom>
          <a:solidFill>
            <a:srgbClr val="F6F6F6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2688336" y="2039112"/>
            <a:ext cx="1316736" cy="182880"/>
          </a:xfrm>
          <a:prstGeom prst="rect">
            <a:avLst/>
          </a:prstGeom>
          <a:solidFill>
            <a:srgbClr val="DBCA76"/>
          </a:solidFill>
          <a:ln w="5080">
            <a:solidFill>
              <a:srgbClr val="BEA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688336" y="2039112"/>
            <a:ext cx="1316736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50" b="0">
                <a:solidFill>
                  <a:srgbClr val="323232"/>
                </a:solidFill>
                <a:latin typeface="Malgun Gothic"/>
              </a:rPr>
              <a:t>Single View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20240" y="2542032"/>
            <a:ext cx="438912" cy="384048"/>
          </a:xfrm>
          <a:prstGeom prst="rect">
            <a:avLst/>
          </a:prstGeom>
          <a:solidFill>
            <a:srgbClr val="3D4346"/>
          </a:solidFill>
          <a:ln w="5080">
            <a:solidFill>
              <a:srgbClr val="3D43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920240" y="2542032"/>
            <a:ext cx="438912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50" b="0">
                <a:solidFill>
                  <a:srgbClr val="FFFFFF"/>
                </a:solidFill>
                <a:latin typeface="Malgun Gothic"/>
              </a:rPr>
              <a:t>마케팅
플랫폼
WEB
IaaS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432304" y="2560320"/>
            <a:ext cx="566928" cy="310896"/>
          </a:xfrm>
          <a:prstGeom prst="rect">
            <a:avLst/>
          </a:prstGeom>
          <a:solidFill>
            <a:srgbClr val="3C3C3C"/>
          </a:solidFill>
          <a:ln w="508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432304" y="2560320"/>
            <a:ext cx="566928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20" b="0">
                <a:solidFill>
                  <a:srgbClr val="FFFFFF"/>
                </a:solidFill>
                <a:latin typeface="Malgun Gothic"/>
              </a:rPr>
              <a:t>마케팅
업무관리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08960" y="2249424"/>
            <a:ext cx="1078992" cy="1078992"/>
          </a:xfrm>
          <a:prstGeom prst="rect">
            <a:avLst/>
          </a:prstGeom>
          <a:solidFill>
            <a:srgbClr val="F4E294"/>
          </a:solidFill>
          <a:ln w="6350">
            <a:solidFill>
              <a:srgbClr val="D2B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145536" y="2286000"/>
            <a:ext cx="1005840" cy="10058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650" b="0">
                <a:solidFill>
                  <a:srgbClr val="373737"/>
                </a:solidFill>
                <a:latin typeface="Malgun Gothic"/>
              </a:rPr>
              <a:t>마케팅플랫폼 BI
통합고객관리
통합상담관리
상담연계관리
상품연계관리
마케팅공통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901952" y="3145536"/>
            <a:ext cx="438912" cy="384048"/>
          </a:xfrm>
          <a:prstGeom prst="rect">
            <a:avLst/>
          </a:prstGeom>
          <a:solidFill>
            <a:srgbClr val="3D4346"/>
          </a:solidFill>
          <a:ln w="5080">
            <a:solidFill>
              <a:srgbClr val="3D43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901952" y="3145536"/>
            <a:ext cx="438912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50" b="0">
                <a:solidFill>
                  <a:srgbClr val="FFFFFF"/>
                </a:solidFill>
                <a:latin typeface="Malgun Gothic"/>
              </a:rPr>
              <a:t>BI포탈
WEB
IaaS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108960" y="3200400"/>
            <a:ext cx="1078992" cy="694944"/>
          </a:xfrm>
          <a:prstGeom prst="rect">
            <a:avLst/>
          </a:prstGeom>
          <a:solidFill>
            <a:srgbClr val="ECEDDC"/>
          </a:solidFill>
          <a:ln w="6350">
            <a:solidFill>
              <a:srgbClr val="BE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145536" y="3227832"/>
            <a:ext cx="1005840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650" b="0">
                <a:solidFill>
                  <a:srgbClr val="373737"/>
                </a:solidFill>
                <a:latin typeface="Malgun Gothic"/>
              </a:rPr>
              <a:t>BI포탈 BT
분석관리
OLAP
데이터분석서비스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377440" y="3227832"/>
            <a:ext cx="301752" cy="310896"/>
          </a:xfrm>
          <a:prstGeom prst="rect">
            <a:avLst/>
          </a:prstGeom>
          <a:solidFill>
            <a:srgbClr val="3F4448"/>
          </a:solidFill>
          <a:ln w="5080">
            <a:solidFill>
              <a:srgbClr val="3F4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377440" y="3227832"/>
            <a:ext cx="301752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580" b="0">
                <a:solidFill>
                  <a:srgbClr val="FFFFFF"/>
                </a:solidFill>
                <a:latin typeface="Malgun Gothic"/>
              </a:rPr>
              <a:t>BI포탈
BT
관리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79776" y="2843784"/>
            <a:ext cx="301752" cy="310896"/>
          </a:xfrm>
          <a:prstGeom prst="rect">
            <a:avLst/>
          </a:prstGeom>
          <a:solidFill>
            <a:srgbClr val="3F4448"/>
          </a:solidFill>
          <a:ln w="5080">
            <a:solidFill>
              <a:srgbClr val="3F4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779776" y="2843784"/>
            <a:ext cx="301752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580" b="0">
                <a:solidFill>
                  <a:srgbClr val="FFFFFF"/>
                </a:solidFill>
                <a:latin typeface="Malgun Gothic"/>
              </a:rPr>
              <a:t>ETI
연계
타겟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828800" y="4160520"/>
            <a:ext cx="1901952" cy="237744"/>
          </a:xfrm>
          <a:prstGeom prst="rect">
            <a:avLst/>
          </a:prstGeom>
          <a:solidFill>
            <a:srgbClr val="E3CB71"/>
          </a:solidFill>
          <a:ln w="5080">
            <a:solidFill>
              <a:srgbClr val="BEA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395728" y="4178808"/>
            <a:ext cx="694944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00" b="0">
                <a:solidFill>
                  <a:srgbClr val="3C3C3C"/>
                </a:solidFill>
                <a:latin typeface="Malgun Gothic"/>
              </a:rPr>
              <a:t>Hydra-K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920240" y="4407408"/>
            <a:ext cx="1591056" cy="502920"/>
          </a:xfrm>
          <a:prstGeom prst="rect">
            <a:avLst/>
          </a:prstGeom>
          <a:solidFill>
            <a:srgbClr val="F0E191"/>
          </a:solidFill>
          <a:ln w="5080">
            <a:solidFill>
              <a:srgbClr val="C8B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194560" y="4471416"/>
            <a:ext cx="1042415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00" b="0">
                <a:solidFill>
                  <a:srgbClr val="3C3C3C"/>
                </a:solidFill>
                <a:latin typeface="Malgun Gothic"/>
              </a:rPr>
              <a:t>Wise Collector 수집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054096" y="4590288"/>
            <a:ext cx="347472" cy="146304"/>
          </a:xfrm>
          <a:prstGeom prst="rect">
            <a:avLst/>
          </a:prstGeom>
          <a:solidFill>
            <a:srgbClr val="3F58C1"/>
          </a:solidFill>
          <a:ln w="2540">
            <a:solidFill>
              <a:srgbClr val="3F5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054096" y="4590288"/>
            <a:ext cx="347472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00" b="0">
                <a:solidFill>
                  <a:srgbClr val="FFFFFF"/>
                </a:solidFill>
                <a:latin typeface="Malgun Gothic"/>
              </a:rPr>
              <a:t>KAFKA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664208" y="4572000"/>
            <a:ext cx="365760" cy="219456"/>
          </a:xfrm>
          <a:prstGeom prst="rect">
            <a:avLst/>
          </a:prstGeom>
          <a:solidFill>
            <a:srgbClr val="F1F1F1"/>
          </a:solidFill>
          <a:ln w="508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664208" y="4572000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550" b="0">
                <a:solidFill>
                  <a:srgbClr val="373737"/>
                </a:solidFill>
                <a:latin typeface="Malgun Gothic"/>
              </a:rPr>
              <a:t>고객행태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438144" y="4572000"/>
            <a:ext cx="365760" cy="219456"/>
          </a:xfrm>
          <a:prstGeom prst="rect">
            <a:avLst/>
          </a:prstGeom>
          <a:solidFill>
            <a:srgbClr val="F1F1F1"/>
          </a:solidFill>
          <a:ln w="508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438144" y="4572000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550" b="0">
                <a:solidFill>
                  <a:srgbClr val="373737"/>
                </a:solidFill>
                <a:latin typeface="Malgun Gothic"/>
              </a:rPr>
              <a:t>단말거래
고객행태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0" y="4956048"/>
            <a:ext cx="1755648" cy="658368"/>
          </a:xfrm>
          <a:prstGeom prst="rect">
            <a:avLst/>
          </a:prstGeom>
          <a:solidFill>
            <a:srgbClr val="F0E191"/>
          </a:solidFill>
          <a:ln w="5080">
            <a:solidFill>
              <a:srgbClr val="C8B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2157984" y="5440680"/>
            <a:ext cx="1097280" cy="1097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00" b="0">
                <a:solidFill>
                  <a:srgbClr val="3C3C3C"/>
                </a:solidFill>
                <a:latin typeface="Malgun Gothic"/>
              </a:rPr>
              <a:t>마케팅 이벤트 처리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901952" y="4992624"/>
            <a:ext cx="310896" cy="256032"/>
          </a:xfrm>
          <a:prstGeom prst="rect">
            <a:avLst/>
          </a:prstGeom>
          <a:solidFill>
            <a:srgbClr val="F4F4F4"/>
          </a:solidFill>
          <a:ln w="508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901952" y="4992624"/>
            <a:ext cx="310896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580" b="0">
                <a:solidFill>
                  <a:srgbClr val="373737"/>
                </a:solidFill>
                <a:latin typeface="Malgun Gothic"/>
              </a:rPr>
              <a:t>마케팅
정보
DB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90672" y="4992624"/>
            <a:ext cx="310896" cy="256032"/>
          </a:xfrm>
          <a:prstGeom prst="rect">
            <a:avLst/>
          </a:prstGeom>
          <a:solidFill>
            <a:srgbClr val="F4F4F4"/>
          </a:solidFill>
          <a:ln w="508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3090672" y="4992624"/>
            <a:ext cx="310896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580" b="0">
                <a:solidFill>
                  <a:srgbClr val="373737"/>
                </a:solidFill>
                <a:latin typeface="Malgun Gothic"/>
              </a:rPr>
              <a:t>마케팅
정보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432304" y="5248656"/>
            <a:ext cx="274320" cy="146304"/>
          </a:xfrm>
          <a:prstGeom prst="rect">
            <a:avLst/>
          </a:prstGeom>
          <a:solidFill>
            <a:srgbClr val="DFC264"/>
          </a:solidFill>
          <a:ln w="508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2432304" y="5248656"/>
            <a:ext cx="274320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580" b="0">
                <a:solidFill>
                  <a:srgbClr val="373737"/>
                </a:solidFill>
                <a:latin typeface="Malgun Gothic"/>
              </a:rPr>
              <a:t>UMS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127248" y="5212080"/>
            <a:ext cx="310896" cy="146304"/>
          </a:xfrm>
          <a:prstGeom prst="rect">
            <a:avLst/>
          </a:prstGeom>
          <a:solidFill>
            <a:srgbClr val="F4F4F4"/>
          </a:solidFill>
          <a:ln w="508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127248" y="5212080"/>
            <a:ext cx="31089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580" b="0">
                <a:solidFill>
                  <a:srgbClr val="373737"/>
                </a:solidFill>
                <a:latin typeface="Malgun Gothic"/>
              </a:rPr>
              <a:t>EBM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230368" y="1975104"/>
            <a:ext cx="256032" cy="256032"/>
          </a:xfrm>
          <a:prstGeom prst="rect">
            <a:avLst/>
          </a:prstGeom>
          <a:solidFill>
            <a:srgbClr val="F5F5F5"/>
          </a:solidFill>
          <a:ln w="508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230368" y="197510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550" b="0">
                <a:solidFill>
                  <a:srgbClr val="373737"/>
                </a:solidFill>
                <a:latin typeface="Malgun Gothic"/>
              </a:rPr>
              <a:t>계정
코어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559552" y="1975104"/>
            <a:ext cx="256032" cy="256032"/>
          </a:xfrm>
          <a:prstGeom prst="rect">
            <a:avLst/>
          </a:prstGeom>
          <a:solidFill>
            <a:srgbClr val="F5F5F5"/>
          </a:solidFill>
          <a:ln w="508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559552" y="197510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550" b="0">
                <a:solidFill>
                  <a:srgbClr val="373737"/>
                </a:solidFill>
                <a:latin typeface="Malgun Gothic"/>
              </a:rPr>
              <a:t>계정
연계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888736" y="1975104"/>
            <a:ext cx="256032" cy="256032"/>
          </a:xfrm>
          <a:prstGeom prst="rect">
            <a:avLst/>
          </a:prstGeom>
          <a:solidFill>
            <a:srgbClr val="F5F5F5"/>
          </a:solidFill>
          <a:ln w="508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888736" y="197510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550" b="0">
                <a:solidFill>
                  <a:srgbClr val="373737"/>
                </a:solidFill>
                <a:latin typeface="Malgun Gothic"/>
              </a:rPr>
              <a:t>경영
관리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217920" y="1975104"/>
            <a:ext cx="256032" cy="256032"/>
          </a:xfrm>
          <a:prstGeom prst="rect">
            <a:avLst/>
          </a:prstGeom>
          <a:solidFill>
            <a:srgbClr val="F5F5F5"/>
          </a:solidFill>
          <a:ln w="508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217920" y="197510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550" b="0">
                <a:solidFill>
                  <a:srgbClr val="373737"/>
                </a:solidFill>
                <a:latin typeface="Malgun Gothic"/>
              </a:rPr>
              <a:t>리스크
관리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547104" y="1975104"/>
            <a:ext cx="256032" cy="256032"/>
          </a:xfrm>
          <a:prstGeom prst="rect">
            <a:avLst/>
          </a:prstGeom>
          <a:solidFill>
            <a:srgbClr val="F5F5F5"/>
          </a:solidFill>
          <a:ln w="508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547104" y="197510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550" b="0">
                <a:solidFill>
                  <a:srgbClr val="373737"/>
                </a:solidFill>
                <a:latin typeface="Malgun Gothic"/>
              </a:rPr>
              <a:t>BCV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882896" y="2779776"/>
            <a:ext cx="2157984" cy="128016"/>
          </a:xfrm>
          <a:prstGeom prst="rect">
            <a:avLst/>
          </a:prstGeom>
          <a:solidFill>
            <a:srgbClr val="35938A"/>
          </a:solidFill>
          <a:ln w="2540">
            <a:solidFill>
              <a:srgbClr val="3593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852160" y="2734056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EAI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230368" y="3044952"/>
            <a:ext cx="1280160" cy="128016"/>
          </a:xfrm>
          <a:prstGeom prst="rect">
            <a:avLst/>
          </a:prstGeom>
          <a:solidFill>
            <a:srgbClr val="4E5E79"/>
          </a:solidFill>
          <a:ln w="2540">
            <a:solidFill>
              <a:srgbClr val="4E5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577840" y="2999232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720" b="0">
                <a:solidFill>
                  <a:srgbClr val="FFFFFF"/>
                </a:solidFill>
                <a:latin typeface="Malgun Gothic"/>
              </a:rPr>
              <a:t>데이터 플랫폼(Storage)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937760" y="3246120"/>
            <a:ext cx="457200" cy="493776"/>
          </a:xfrm>
          <a:prstGeom prst="rect">
            <a:avLst/>
          </a:prstGeom>
          <a:solidFill>
            <a:srgbClr val="E0DCB4"/>
          </a:solidFill>
          <a:ln w="6350">
            <a:solidFill>
              <a:srgbClr val="B4A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4937760" y="3273552"/>
            <a:ext cx="457200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00" b="1">
                <a:solidFill>
                  <a:srgbClr val="323232"/>
                </a:solidFill>
                <a:latin typeface="Malgun Gothic"/>
              </a:rPr>
              <a:t>RDW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974336" y="3438144"/>
            <a:ext cx="384048" cy="73152"/>
          </a:xfrm>
          <a:prstGeom prst="rect">
            <a:avLst/>
          </a:prstGeom>
          <a:solidFill>
            <a:srgbClr val="F5F5F5"/>
          </a:solidFill>
          <a:ln w="3175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4974336" y="3438144"/>
            <a:ext cx="384048" cy="7315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420" b="0">
                <a:solidFill>
                  <a:srgbClr val="323232"/>
                </a:solidFill>
                <a:latin typeface="Malgun Gothic"/>
              </a:rPr>
              <a:t>마케팅플랫폼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974336" y="3529584"/>
            <a:ext cx="384048" cy="73152"/>
          </a:xfrm>
          <a:prstGeom prst="rect">
            <a:avLst/>
          </a:prstGeom>
          <a:solidFill>
            <a:srgbClr val="F5F5F5"/>
          </a:solidFill>
          <a:ln w="3175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974336" y="3529584"/>
            <a:ext cx="384048" cy="7315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420" b="0">
                <a:solidFill>
                  <a:srgbClr val="323232"/>
                </a:solidFill>
                <a:latin typeface="Malgun Gothic"/>
              </a:rPr>
              <a:t>상담/분석관리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974336" y="3621024"/>
            <a:ext cx="384048" cy="73152"/>
          </a:xfrm>
          <a:prstGeom prst="rect">
            <a:avLst/>
          </a:prstGeom>
          <a:solidFill>
            <a:srgbClr val="F5F5F5"/>
          </a:solidFill>
          <a:ln w="3175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4974336" y="3621024"/>
            <a:ext cx="384048" cy="7315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420" b="0">
                <a:solidFill>
                  <a:srgbClr val="323232"/>
                </a:solidFill>
                <a:latin typeface="Malgun Gothic"/>
              </a:rPr>
              <a:t>SingleView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513832" y="3246120"/>
            <a:ext cx="457200" cy="493776"/>
          </a:xfrm>
          <a:prstGeom prst="rect">
            <a:avLst/>
          </a:prstGeom>
          <a:solidFill>
            <a:srgbClr val="E0DCB4"/>
          </a:solidFill>
          <a:ln w="6350">
            <a:solidFill>
              <a:srgbClr val="B4A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5513832" y="3273552"/>
            <a:ext cx="457200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00" b="1">
                <a:solidFill>
                  <a:srgbClr val="323232"/>
                </a:solidFill>
                <a:latin typeface="Malgun Gothic"/>
              </a:rPr>
              <a:t>ADW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550408" y="3438144"/>
            <a:ext cx="384048" cy="73152"/>
          </a:xfrm>
          <a:prstGeom prst="rect">
            <a:avLst/>
          </a:prstGeom>
          <a:solidFill>
            <a:srgbClr val="F5F5F5"/>
          </a:solidFill>
          <a:ln w="3175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5550408" y="3438144"/>
            <a:ext cx="384048" cy="7315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420" b="0">
                <a:solidFill>
                  <a:srgbClr val="323232"/>
                </a:solidFill>
                <a:latin typeface="Malgun Gothic"/>
              </a:rPr>
              <a:t>마케팅플랫폼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550408" y="3529584"/>
            <a:ext cx="384048" cy="73152"/>
          </a:xfrm>
          <a:prstGeom prst="rect">
            <a:avLst/>
          </a:prstGeom>
          <a:solidFill>
            <a:srgbClr val="F5F5F5"/>
          </a:solidFill>
          <a:ln w="3175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5550408" y="3529584"/>
            <a:ext cx="384048" cy="7315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420" b="0">
                <a:solidFill>
                  <a:srgbClr val="323232"/>
                </a:solidFill>
                <a:latin typeface="Malgun Gothic"/>
              </a:rPr>
              <a:t>상담/분석관리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550408" y="3621024"/>
            <a:ext cx="384048" cy="73152"/>
          </a:xfrm>
          <a:prstGeom prst="rect">
            <a:avLst/>
          </a:prstGeom>
          <a:solidFill>
            <a:srgbClr val="F5F5F5"/>
          </a:solidFill>
          <a:ln w="3175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5550408" y="3621024"/>
            <a:ext cx="384048" cy="7315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420" b="0">
                <a:solidFill>
                  <a:srgbClr val="323232"/>
                </a:solidFill>
                <a:latin typeface="Malgun Gothic"/>
              </a:rPr>
              <a:t>SingleView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089904" y="3273552"/>
            <a:ext cx="438912" cy="621792"/>
          </a:xfrm>
          <a:prstGeom prst="rect">
            <a:avLst/>
          </a:prstGeom>
          <a:solidFill>
            <a:srgbClr val="F3F3F3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6089904" y="3291840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700" b="0">
                <a:solidFill>
                  <a:srgbClr val="373737"/>
                </a:solidFill>
                <a:latin typeface="Malgun Gothic"/>
              </a:rPr>
              <a:t>사용자
분석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135624" y="3529584"/>
            <a:ext cx="347472" cy="73152"/>
          </a:xfrm>
          <a:prstGeom prst="rect">
            <a:avLst/>
          </a:prstGeom>
          <a:solidFill>
            <a:srgbClr val="F8F8F8"/>
          </a:solidFill>
          <a:ln w="3175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6135624" y="3529584"/>
            <a:ext cx="347472" cy="7315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450" b="0">
                <a:solidFill>
                  <a:srgbClr val="373737"/>
                </a:solidFill>
                <a:latin typeface="Malgun Gothic"/>
              </a:rPr>
              <a:t>캠페인분석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135624" y="3621024"/>
            <a:ext cx="347472" cy="73152"/>
          </a:xfrm>
          <a:prstGeom prst="rect">
            <a:avLst/>
          </a:prstGeom>
          <a:solidFill>
            <a:srgbClr val="F8F8F8"/>
          </a:solidFill>
          <a:ln w="3175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6135624" y="3621024"/>
            <a:ext cx="347472" cy="7315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450" b="0">
                <a:solidFill>
                  <a:srgbClr val="373737"/>
                </a:solidFill>
                <a:latin typeface="Malgun Gothic"/>
              </a:rPr>
              <a:t>행태분석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135624" y="3712463"/>
            <a:ext cx="347472" cy="73152"/>
          </a:xfrm>
          <a:prstGeom prst="rect">
            <a:avLst/>
          </a:prstGeom>
          <a:solidFill>
            <a:srgbClr val="F8F8F8"/>
          </a:solidFill>
          <a:ln w="3175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6135624" y="3712463"/>
            <a:ext cx="347472" cy="7315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450" b="0">
                <a:solidFill>
                  <a:srgbClr val="373737"/>
                </a:solidFill>
                <a:latin typeface="Malgun Gothic"/>
              </a:rPr>
              <a:t>OLAP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583680" y="3273552"/>
            <a:ext cx="438912" cy="621792"/>
          </a:xfrm>
          <a:prstGeom prst="rect">
            <a:avLst/>
          </a:prstGeom>
          <a:solidFill>
            <a:srgbClr val="F3F3F3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6583680" y="3291840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700" b="0">
                <a:solidFill>
                  <a:srgbClr val="373737"/>
                </a:solidFill>
                <a:latin typeface="Malgun Gothic"/>
              </a:rPr>
              <a:t>데이터
버스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629400" y="3529584"/>
            <a:ext cx="347472" cy="73152"/>
          </a:xfrm>
          <a:prstGeom prst="rect">
            <a:avLst/>
          </a:prstGeom>
          <a:solidFill>
            <a:srgbClr val="F8F8F8"/>
          </a:solidFill>
          <a:ln w="3175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6629400" y="3529584"/>
            <a:ext cx="347472" cy="7315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450" b="0">
                <a:solidFill>
                  <a:srgbClr val="373737"/>
                </a:solidFill>
                <a:latin typeface="Malgun Gothic"/>
              </a:rPr>
              <a:t>배치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629400" y="3621024"/>
            <a:ext cx="347472" cy="73152"/>
          </a:xfrm>
          <a:prstGeom prst="rect">
            <a:avLst/>
          </a:prstGeom>
          <a:solidFill>
            <a:srgbClr val="F8F8F8"/>
          </a:solidFill>
          <a:ln w="3175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6629400" y="3621024"/>
            <a:ext cx="347472" cy="7315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450" b="0">
                <a:solidFill>
                  <a:srgbClr val="373737"/>
                </a:solidFill>
                <a:latin typeface="Malgun Gothic"/>
              </a:rPr>
              <a:t>대외연계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629400" y="3712463"/>
            <a:ext cx="347472" cy="73152"/>
          </a:xfrm>
          <a:prstGeom prst="rect">
            <a:avLst/>
          </a:prstGeom>
          <a:solidFill>
            <a:srgbClr val="F8F8F8"/>
          </a:solidFill>
          <a:ln w="3175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6629400" y="3712463"/>
            <a:ext cx="347472" cy="7315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450" b="0">
                <a:solidFill>
                  <a:srgbClr val="373737"/>
                </a:solidFill>
                <a:latin typeface="Malgun Gothic"/>
              </a:rPr>
              <a:t>전송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059168" y="3246120"/>
            <a:ext cx="384048" cy="822960"/>
          </a:xfrm>
          <a:prstGeom prst="rect">
            <a:avLst/>
          </a:prstGeom>
          <a:solidFill>
            <a:srgbClr val="DFE2CE"/>
          </a:solidFill>
          <a:ln w="508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7059168" y="3255264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700" b="1">
                <a:solidFill>
                  <a:srgbClr val="3C3C3C"/>
                </a:solidFill>
                <a:latin typeface="Malgun Gothic"/>
              </a:rPr>
              <a:t>유관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095744" y="3493008"/>
            <a:ext cx="310896" cy="91440"/>
          </a:xfrm>
          <a:prstGeom prst="rect">
            <a:avLst/>
          </a:prstGeom>
          <a:solidFill>
            <a:srgbClr val="F5F5F5"/>
          </a:solidFill>
          <a:ln w="3175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7095744" y="3493008"/>
            <a:ext cx="310896" cy="914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420" b="0">
                <a:solidFill>
                  <a:srgbClr val="373737"/>
                </a:solidFill>
                <a:latin typeface="Malgun Gothic"/>
              </a:rPr>
              <a:t>정보관리업무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7095744" y="3621024"/>
            <a:ext cx="310896" cy="91440"/>
          </a:xfrm>
          <a:prstGeom prst="rect">
            <a:avLst/>
          </a:prstGeom>
          <a:solidFill>
            <a:srgbClr val="F5F5F5"/>
          </a:solidFill>
          <a:ln w="3175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7095744" y="3621024"/>
            <a:ext cx="310896" cy="914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420" b="0">
                <a:solidFill>
                  <a:srgbClr val="373737"/>
                </a:solidFill>
                <a:latin typeface="Malgun Gothic"/>
              </a:rPr>
              <a:t>성과관리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7095744" y="3749039"/>
            <a:ext cx="310896" cy="91440"/>
          </a:xfrm>
          <a:prstGeom prst="rect">
            <a:avLst/>
          </a:prstGeom>
          <a:solidFill>
            <a:srgbClr val="F5F5F5"/>
          </a:solidFill>
          <a:ln w="3175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7095744" y="3749039"/>
            <a:ext cx="310896" cy="914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420" b="0">
                <a:solidFill>
                  <a:srgbClr val="373737"/>
                </a:solidFill>
                <a:latin typeface="Malgun Gothic"/>
              </a:rPr>
              <a:t>환경/관리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931152" y="4151376"/>
            <a:ext cx="512064" cy="128016"/>
          </a:xfrm>
          <a:prstGeom prst="rect">
            <a:avLst/>
          </a:prstGeom>
          <a:solidFill>
            <a:srgbClr val="DBCD75"/>
          </a:solidFill>
          <a:ln w="3810">
            <a:solidFill>
              <a:srgbClr val="B4A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6931152" y="4151376"/>
            <a:ext cx="512064" cy="12801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00" b="0">
                <a:solidFill>
                  <a:srgbClr val="373737"/>
                </a:solidFill>
                <a:latin typeface="Malgun Gothic"/>
              </a:rPr>
              <a:t>Big Data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931152" y="4352544"/>
            <a:ext cx="512064" cy="128016"/>
          </a:xfrm>
          <a:prstGeom prst="rect">
            <a:avLst/>
          </a:prstGeom>
          <a:solidFill>
            <a:srgbClr val="DBCD75"/>
          </a:solidFill>
          <a:ln w="3810">
            <a:solidFill>
              <a:srgbClr val="B4A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6931152" y="4352544"/>
            <a:ext cx="512064" cy="12801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00" b="0">
                <a:solidFill>
                  <a:srgbClr val="373737"/>
                </a:solidFill>
                <a:latin typeface="Malgun Gothic"/>
              </a:rPr>
              <a:t>데이터분석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931152" y="4553712"/>
            <a:ext cx="512064" cy="128016"/>
          </a:xfrm>
          <a:prstGeom prst="rect">
            <a:avLst/>
          </a:prstGeom>
          <a:solidFill>
            <a:srgbClr val="DBCD75"/>
          </a:solidFill>
          <a:ln w="3810">
            <a:solidFill>
              <a:srgbClr val="B4A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6931152" y="4553712"/>
            <a:ext cx="512064" cy="12801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00" b="0">
                <a:solidFill>
                  <a:srgbClr val="373737"/>
                </a:solidFill>
                <a:latin typeface="Malgun Gothic"/>
              </a:rPr>
              <a:t>Big Data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486400" y="4681728"/>
            <a:ext cx="1280160" cy="12801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00" b="0">
                <a:solidFill>
                  <a:srgbClr val="464646"/>
                </a:solidFill>
                <a:latin typeface="Malgun Gothic"/>
              </a:rPr>
              <a:t>데이터 플랫폼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956048" y="4919472"/>
            <a:ext cx="2286000" cy="109728"/>
          </a:xfrm>
          <a:prstGeom prst="rect">
            <a:avLst/>
          </a:prstGeom>
          <a:solidFill>
            <a:srgbClr val="9D2125"/>
          </a:solidFill>
          <a:ln w="2540">
            <a:solidFill>
              <a:srgbClr val="9D21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5989320" y="4882896"/>
            <a:ext cx="237744" cy="1097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ETL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4956048" y="5084064"/>
            <a:ext cx="2286000" cy="109728"/>
          </a:xfrm>
          <a:prstGeom prst="rect">
            <a:avLst/>
          </a:prstGeom>
          <a:solidFill>
            <a:srgbClr val="787878"/>
          </a:solidFill>
          <a:ln w="25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5961888" y="5047488"/>
            <a:ext cx="347472" cy="1097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Malgun Gothic"/>
              </a:rPr>
              <a:t>SDS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4956048" y="5248656"/>
            <a:ext cx="2286000" cy="109728"/>
          </a:xfrm>
          <a:prstGeom prst="rect">
            <a:avLst/>
          </a:prstGeom>
          <a:solidFill>
            <a:srgbClr val="30887C"/>
          </a:solidFill>
          <a:ln w="2540">
            <a:solidFill>
              <a:srgbClr val="308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5961888" y="5212080"/>
            <a:ext cx="347472" cy="1097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Malgun Gothic"/>
              </a:rPr>
              <a:t>대외MCA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4892040" y="5422392"/>
            <a:ext cx="310896" cy="109728"/>
          </a:xfrm>
          <a:prstGeom prst="rect">
            <a:avLst/>
          </a:prstGeom>
          <a:solidFill>
            <a:srgbClr val="F5F5F5"/>
          </a:solidFill>
          <a:ln w="317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4892040" y="5422392"/>
            <a:ext cx="310896" cy="1097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430" b="0">
                <a:solidFill>
                  <a:srgbClr val="373737"/>
                </a:solidFill>
                <a:latin typeface="Malgun Gothic"/>
              </a:rPr>
              <a:t>NH증권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5230368" y="5422392"/>
            <a:ext cx="310896" cy="109728"/>
          </a:xfrm>
          <a:prstGeom prst="rect">
            <a:avLst/>
          </a:prstGeom>
          <a:solidFill>
            <a:srgbClr val="F5F5F5"/>
          </a:solidFill>
          <a:ln w="317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5230368" y="5422392"/>
            <a:ext cx="310896" cy="1097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430" b="0">
                <a:solidFill>
                  <a:srgbClr val="373737"/>
                </a:solidFill>
                <a:latin typeface="Malgun Gothic"/>
              </a:rPr>
              <a:t>NH손보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5568696" y="5422392"/>
            <a:ext cx="310896" cy="109728"/>
          </a:xfrm>
          <a:prstGeom prst="rect">
            <a:avLst/>
          </a:prstGeom>
          <a:solidFill>
            <a:srgbClr val="F5F5F5"/>
          </a:solidFill>
          <a:ln w="317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5568696" y="5422392"/>
            <a:ext cx="310896" cy="1097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430" b="0">
                <a:solidFill>
                  <a:srgbClr val="373737"/>
                </a:solidFill>
                <a:latin typeface="Malgun Gothic"/>
              </a:rPr>
              <a:t>NH캐피탈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5907023" y="5422392"/>
            <a:ext cx="310896" cy="109728"/>
          </a:xfrm>
          <a:prstGeom prst="rect">
            <a:avLst/>
          </a:prstGeom>
          <a:solidFill>
            <a:srgbClr val="F5F5F5"/>
          </a:solidFill>
          <a:ln w="317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5907023" y="5422392"/>
            <a:ext cx="310896" cy="1097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430" b="0">
                <a:solidFill>
                  <a:srgbClr val="373737"/>
                </a:solidFill>
                <a:latin typeface="Malgun Gothic"/>
              </a:rPr>
              <a:t>저축은행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6245352" y="5422392"/>
            <a:ext cx="310896" cy="109728"/>
          </a:xfrm>
          <a:prstGeom prst="rect">
            <a:avLst/>
          </a:prstGeom>
          <a:solidFill>
            <a:srgbClr val="F5F5F5"/>
          </a:solidFill>
          <a:ln w="317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6245352" y="5422392"/>
            <a:ext cx="310896" cy="1097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430" b="0">
                <a:solidFill>
                  <a:srgbClr val="373737"/>
                </a:solidFill>
                <a:latin typeface="Malgun Gothic"/>
              </a:rPr>
              <a:t>KT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583679" y="5422392"/>
            <a:ext cx="310896" cy="109728"/>
          </a:xfrm>
          <a:prstGeom prst="rect">
            <a:avLst/>
          </a:prstGeom>
          <a:solidFill>
            <a:srgbClr val="F5F5F5"/>
          </a:solidFill>
          <a:ln w="317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6583679" y="5422392"/>
            <a:ext cx="310896" cy="1097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430" b="0">
                <a:solidFill>
                  <a:srgbClr val="373737"/>
                </a:solidFill>
                <a:latin typeface="Malgun Gothic"/>
              </a:rPr>
              <a:t>Nice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6922007" y="5422392"/>
            <a:ext cx="310896" cy="109728"/>
          </a:xfrm>
          <a:prstGeom prst="rect">
            <a:avLst/>
          </a:prstGeom>
          <a:solidFill>
            <a:srgbClr val="F5F5F5"/>
          </a:solidFill>
          <a:ln w="317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6922007" y="5422392"/>
            <a:ext cx="310896" cy="1097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430" b="0">
                <a:solidFill>
                  <a:srgbClr val="373737"/>
                </a:solidFill>
                <a:latin typeface="Malgun Gothic"/>
              </a:rPr>
              <a:t>KoData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7187184" y="5532120"/>
            <a:ext cx="420624" cy="1097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00" b="0">
                <a:solidFill>
                  <a:srgbClr val="464646"/>
                </a:solidFill>
                <a:latin typeface="Malgun Gothic"/>
              </a:rPr>
              <a:t>외부기관</a:t>
            </a:r>
          </a:p>
        </p:txBody>
      </p:sp>
      <p:cxnSp>
        <p:nvCxnSpPr>
          <p:cNvPr id="155" name="Connector 154"/>
          <p:cNvCxnSpPr/>
          <p:nvPr/>
        </p:nvCxnSpPr>
        <p:spPr>
          <a:xfrm>
            <a:off x="1335024" y="2093976"/>
            <a:ext cx="292608" cy="0"/>
          </a:xfrm>
          <a:prstGeom prst="line">
            <a:avLst/>
          </a:prstGeom>
          <a:ln w="12700">
            <a:solidFill>
              <a:srgbClr val="ADAD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1335024" y="2368296"/>
            <a:ext cx="292608" cy="0"/>
          </a:xfrm>
          <a:prstGeom prst="line">
            <a:avLst/>
          </a:prstGeom>
          <a:ln w="12700">
            <a:solidFill>
              <a:srgbClr val="ADAD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1335024" y="2642616"/>
            <a:ext cx="292608" cy="0"/>
          </a:xfrm>
          <a:prstGeom prst="line">
            <a:avLst/>
          </a:prstGeom>
          <a:ln w="12700">
            <a:solidFill>
              <a:srgbClr val="ADAD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4187952" y="2697480"/>
            <a:ext cx="694944" cy="0"/>
          </a:xfrm>
          <a:prstGeom prst="line">
            <a:avLst/>
          </a:prstGeom>
          <a:ln w="15240">
            <a:solidFill>
              <a:srgbClr val="5082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4187952" y="2880360"/>
            <a:ext cx="694944" cy="0"/>
          </a:xfrm>
          <a:prstGeom prst="line">
            <a:avLst/>
          </a:prstGeom>
          <a:ln w="15240">
            <a:solidFill>
              <a:srgbClr val="5082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4187952" y="3200400"/>
            <a:ext cx="694944" cy="0"/>
          </a:xfrm>
          <a:prstGeom prst="line">
            <a:avLst/>
          </a:prstGeom>
          <a:ln w="15240">
            <a:solidFill>
              <a:srgbClr val="5082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4187952" y="3703320"/>
            <a:ext cx="694944" cy="0"/>
          </a:xfrm>
          <a:prstGeom prst="line">
            <a:avLst/>
          </a:prstGeom>
          <a:ln w="15240">
            <a:solidFill>
              <a:srgbClr val="5082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4187952" y="4572000"/>
            <a:ext cx="694944" cy="0"/>
          </a:xfrm>
          <a:prstGeom prst="line">
            <a:avLst/>
          </a:prstGeom>
          <a:ln w="15240">
            <a:solidFill>
              <a:srgbClr val="5082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4187952" y="5321808"/>
            <a:ext cx="694944" cy="0"/>
          </a:xfrm>
          <a:prstGeom prst="line">
            <a:avLst/>
          </a:prstGeom>
          <a:ln w="15240">
            <a:solidFill>
              <a:srgbClr val="5082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1344168" y="4462272"/>
            <a:ext cx="484632" cy="0"/>
          </a:xfrm>
          <a:prstGeom prst="line">
            <a:avLst/>
          </a:prstGeom>
          <a:ln w="12700">
            <a:solidFill>
              <a:srgbClr val="B999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1344168" y="4599432"/>
            <a:ext cx="484632" cy="0"/>
          </a:xfrm>
          <a:prstGeom prst="line">
            <a:avLst/>
          </a:prstGeom>
          <a:ln w="12700">
            <a:solidFill>
              <a:srgbClr val="B999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1344168" y="4974336"/>
            <a:ext cx="484632" cy="0"/>
          </a:xfrm>
          <a:prstGeom prst="line">
            <a:avLst/>
          </a:prstGeom>
          <a:ln w="12700">
            <a:solidFill>
              <a:srgbClr val="B999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5166360" y="2231136"/>
            <a:ext cx="0" cy="557784"/>
          </a:xfrm>
          <a:prstGeom prst="line">
            <a:avLst/>
          </a:prstGeom>
          <a:ln w="10160">
            <a:solidFill>
              <a:srgbClr val="835B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5559552" y="2231136"/>
            <a:ext cx="0" cy="557784"/>
          </a:xfrm>
          <a:prstGeom prst="line">
            <a:avLst/>
          </a:prstGeom>
          <a:ln w="10160">
            <a:solidFill>
              <a:srgbClr val="835B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5870448" y="2231136"/>
            <a:ext cx="0" cy="557784"/>
          </a:xfrm>
          <a:prstGeom prst="line">
            <a:avLst/>
          </a:prstGeom>
          <a:ln w="10160">
            <a:solidFill>
              <a:srgbClr val="835B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6199632" y="2231136"/>
            <a:ext cx="0" cy="557784"/>
          </a:xfrm>
          <a:prstGeom prst="line">
            <a:avLst/>
          </a:prstGeom>
          <a:ln w="10160">
            <a:solidFill>
              <a:srgbClr val="835B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6492240" y="2231136"/>
            <a:ext cx="0" cy="557784"/>
          </a:xfrm>
          <a:prstGeom prst="line">
            <a:avLst/>
          </a:prstGeom>
          <a:ln w="10160">
            <a:solidFill>
              <a:srgbClr val="835B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TextBox 171"/>
          <p:cNvSpPr txBox="1"/>
          <p:nvPr/>
        </p:nvSpPr>
        <p:spPr>
          <a:xfrm>
            <a:off x="7882127" y="1920240"/>
            <a:ext cx="1938528" cy="7315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464646"/>
                </a:solidFill>
                <a:latin typeface="Malgun Gothic"/>
              </a:rPr>
              <a:t>•  이 Big Picture 모델은 고객
   사이의 선수형한 컨설팅의
   이슈와 개선사항에 대해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7882127" y="2615184"/>
            <a:ext cx="1938528" cy="19385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464646"/>
                </a:solidFill>
                <a:latin typeface="Malgun Gothic"/>
              </a:rPr>
              <a:t>•  SK가 보유한 아키텍처 참
   조모델을 기반으로 작성되
   었다.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882127" y="3273552"/>
            <a:ext cx="1938528" cy="19385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464646"/>
                </a:solidFill>
                <a:latin typeface="Malgun Gothic"/>
              </a:rPr>
              <a:t>•  이 목표 아키텍처는 다음
   의 아키텍처 방법론을 통
   해서 정의된다.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7882127" y="3950208"/>
            <a:ext cx="1938528" cy="19385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464646"/>
                </a:solidFill>
                <a:latin typeface="Malgun Gothic"/>
              </a:rPr>
              <a:t>•  응용(서비스)관점 기능정
   리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882127" y="4389120"/>
            <a:ext cx="1938528" cy="19385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464646"/>
                </a:solidFill>
                <a:latin typeface="Malgun Gothic"/>
              </a:rPr>
              <a:t>•  논리적/물리적 관점의 구
   조를 정의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7882127" y="4828032"/>
            <a:ext cx="1938528" cy="19385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464646"/>
                </a:solidFill>
                <a:latin typeface="Malgun Gothic"/>
              </a:rPr>
              <a:t>•  이 구조에 기반한 각종 솔
   루션 및 요소 기술 별 메커
   니즘 설계한다.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5065776" y="5907024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464646"/>
                </a:solidFill>
                <a:latin typeface="Malgun Gothic"/>
              </a:rPr>
              <a:t>5</a:t>
            </a:r>
          </a:p>
        </p:txBody>
      </p:sp>
      <p:sp>
        <p:nvSpPr>
          <p:cNvPr id="179" name="Isosceles Triangle 178"/>
          <p:cNvSpPr/>
          <p:nvPr/>
        </p:nvSpPr>
        <p:spPr>
          <a:xfrm rot="10800000">
            <a:off x="18288" y="5815584"/>
            <a:ext cx="118872" cy="164592"/>
          </a:xfrm>
          <a:prstGeom prst="triangle">
            <a:avLst/>
          </a:prstGeom>
          <a:solidFill>
            <a:srgbClr val="EC9A34"/>
          </a:solidFill>
          <a:ln>
            <a:solidFill>
              <a:srgbClr val="EC9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Oval 179"/>
          <p:cNvSpPr/>
          <p:nvPr/>
        </p:nvSpPr>
        <p:spPr>
          <a:xfrm>
            <a:off x="109728" y="5852160"/>
            <a:ext cx="45720" cy="45720"/>
          </a:xfrm>
          <a:prstGeom prst="ellipse">
            <a:avLst/>
          </a:prstGeom>
          <a:solidFill>
            <a:srgbClr val="EC9A34"/>
          </a:solidFill>
          <a:ln>
            <a:solidFill>
              <a:srgbClr val="EC9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TextBox 180"/>
          <p:cNvSpPr txBox="1"/>
          <p:nvPr/>
        </p:nvSpPr>
        <p:spPr>
          <a:xfrm>
            <a:off x="164592" y="5806440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>
                <a:solidFill>
                  <a:srgbClr val="26854A"/>
                </a:solidFill>
                <a:latin typeface="Malgun Gothic"/>
              </a:rPr>
              <a:t>농협중앙회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6304" y="10972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Malgun Gothic"/>
              </a:rPr>
              <a:t>(Backup) 어플리케이션 구성도 (25/12/25기준)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46304" y="612648"/>
            <a:ext cx="9802368" cy="0"/>
          </a:xfrm>
          <a:prstGeom prst="line">
            <a:avLst/>
          </a:prstGeom>
          <a:ln w="190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28600" y="932688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>
                <a:solidFill>
                  <a:srgbClr val="373737"/>
                </a:solidFill>
                <a:latin typeface="Malgun Gothic"/>
              </a:rPr>
              <a:t>어플리케이션 구축 대상 및 범위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" y="859536"/>
            <a:ext cx="0" cy="356616"/>
          </a:xfrm>
          <a:prstGeom prst="line">
            <a:avLst/>
          </a:prstGeom>
          <a:ln w="16510">
            <a:solidFill>
              <a:srgbClr val="6474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800600" y="868680"/>
            <a:ext cx="310896" cy="146304"/>
          </a:xfrm>
          <a:prstGeom prst="rect">
            <a:avLst/>
          </a:prstGeom>
          <a:solidFill>
            <a:srgbClr val="5F6968"/>
          </a:solidFill>
          <a:ln w="7620">
            <a:solidFill>
              <a:srgbClr val="5F6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00600" y="868680"/>
            <a:ext cx="310896" cy="14630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Malgun Gothic"/>
              </a:rPr>
              <a:t>범례</a:t>
            </a:r>
          </a:p>
        </p:txBody>
      </p:sp>
      <p:sp>
        <p:nvSpPr>
          <p:cNvPr id="8" name="Rectangle 7"/>
          <p:cNvSpPr/>
          <p:nvPr/>
        </p:nvSpPr>
        <p:spPr>
          <a:xfrm>
            <a:off x="5166360" y="868680"/>
            <a:ext cx="621792" cy="146304"/>
          </a:xfrm>
          <a:prstGeom prst="rect">
            <a:avLst/>
          </a:prstGeom>
          <a:solidFill>
            <a:srgbClr val="ECF2F4"/>
          </a:solidFill>
          <a:ln w="13970">
            <a:solidFill>
              <a:srgbClr val="1F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166360" y="868680"/>
            <a:ext cx="621792" cy="14630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50" b="1">
                <a:solidFill>
                  <a:srgbClr val="2D2D2D"/>
                </a:solidFill>
                <a:latin typeface="Malgun Gothic"/>
              </a:rPr>
              <a:t>신규구축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24728" y="868680"/>
            <a:ext cx="713232" cy="146304"/>
          </a:xfrm>
          <a:prstGeom prst="rect">
            <a:avLst/>
          </a:prstGeom>
          <a:solidFill>
            <a:srgbClr val="313848"/>
          </a:solidFill>
          <a:ln w="7620">
            <a:solidFill>
              <a:srgbClr val="1F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824728" y="868680"/>
            <a:ext cx="713232" cy="14630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Malgun Gothic"/>
              </a:rPr>
              <a:t>전면 재구축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74536" y="868680"/>
            <a:ext cx="786384" cy="146304"/>
          </a:xfrm>
          <a:prstGeom prst="rect">
            <a:avLst/>
          </a:prstGeom>
          <a:solidFill>
            <a:srgbClr val="D5D5D5"/>
          </a:solidFill>
          <a:ln w="762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74536" y="868680"/>
            <a:ext cx="786384" cy="14630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20" b="1">
                <a:solidFill>
                  <a:srgbClr val="2D2D2D"/>
                </a:solidFill>
                <a:latin typeface="Malgun Gothic"/>
              </a:rPr>
              <a:t>현행재개발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97496" y="868680"/>
            <a:ext cx="841248" cy="146304"/>
          </a:xfrm>
          <a:prstGeom prst="rect">
            <a:avLst/>
          </a:prstGeom>
          <a:solidFill>
            <a:srgbClr val="CCCCCC"/>
          </a:solidFill>
          <a:ln w="762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97496" y="868680"/>
            <a:ext cx="841248" cy="14630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590" b="1">
                <a:solidFill>
                  <a:srgbClr val="2D2D2D"/>
                </a:solidFill>
                <a:latin typeface="Malgun Gothic"/>
              </a:rPr>
              <a:t>기능추가 대응개발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5320" y="868680"/>
            <a:ext cx="841248" cy="146304"/>
          </a:xfrm>
          <a:prstGeom prst="rect">
            <a:avLst/>
          </a:prstGeom>
          <a:solidFill>
            <a:srgbClr val="BEBEBE"/>
          </a:solidFill>
          <a:ln w="762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5320" y="868680"/>
            <a:ext cx="841248" cy="14630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570" b="1">
                <a:solidFill>
                  <a:srgbClr val="2D2D2D"/>
                </a:solidFill>
                <a:latin typeface="Malgun Gothic"/>
              </a:rPr>
              <a:t>인터페이스 대응개발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53144" y="868680"/>
            <a:ext cx="475488" cy="146304"/>
          </a:xfrm>
          <a:prstGeom prst="rect">
            <a:avLst/>
          </a:prstGeom>
          <a:solidFill>
            <a:srgbClr val="E6E6E6"/>
          </a:solidFill>
          <a:ln w="762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53144" y="868680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20" b="1">
                <a:solidFill>
                  <a:srgbClr val="2D2D2D"/>
                </a:solidFill>
                <a:latin typeface="Malgun Gothic"/>
              </a:rPr>
              <a:t>유지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7744" y="1481328"/>
            <a:ext cx="2240280" cy="3063240"/>
          </a:xfrm>
          <a:prstGeom prst="rect">
            <a:avLst/>
          </a:prstGeom>
          <a:solidFill>
            <a:srgbClr val="E6EDEA"/>
          </a:solidFill>
          <a:ln w="762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7472" y="1572768"/>
            <a:ext cx="54864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323232"/>
                </a:solidFill>
                <a:latin typeface="Malgun Gothic"/>
              </a:rPr>
              <a:t>채널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1792224"/>
            <a:ext cx="68580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23232"/>
                </a:solidFill>
                <a:latin typeface="Malgun Gothic"/>
              </a:rPr>
              <a:t>대외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" y="2011680"/>
            <a:ext cx="457200" cy="182880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8912" y="201168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40" b="0">
                <a:solidFill>
                  <a:srgbClr val="2D2D2D"/>
                </a:solidFill>
                <a:latin typeface="Malgun Gothic"/>
              </a:rPr>
              <a:t>금융공동망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1832" y="2011680"/>
            <a:ext cx="457200" cy="182880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1832" y="201168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40" b="0">
                <a:solidFill>
                  <a:srgbClr val="2D2D2D"/>
                </a:solidFill>
                <a:latin typeface="Malgun Gothic"/>
              </a:rPr>
              <a:t>실시간이체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44752" y="2011680"/>
            <a:ext cx="457200" cy="182880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444752" y="201168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40" b="0">
                <a:solidFill>
                  <a:srgbClr val="2D2D2D"/>
                </a:solidFill>
                <a:latin typeface="Malgun Gothic"/>
              </a:rPr>
              <a:t>안심IC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8912" y="2286000"/>
            <a:ext cx="457200" cy="182880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8912" y="228600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40" b="0">
                <a:solidFill>
                  <a:srgbClr val="2D2D2D"/>
                </a:solidFill>
                <a:latin typeface="Malgun Gothic"/>
              </a:rPr>
              <a:t>자동화기기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1832" y="2286000"/>
            <a:ext cx="457200" cy="182880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41832" y="228600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40" b="0">
                <a:solidFill>
                  <a:srgbClr val="2D2D2D"/>
                </a:solidFill>
                <a:latin typeface="Malgun Gothic"/>
              </a:rPr>
              <a:t>가상계좌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" y="2514600"/>
            <a:ext cx="68580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23232"/>
                </a:solidFill>
                <a:latin typeface="Malgun Gothic"/>
              </a:rPr>
              <a:t>대행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" y="2734056"/>
            <a:ext cx="457200" cy="182880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8912" y="2734056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40" b="0">
                <a:solidFill>
                  <a:srgbClr val="2D2D2D"/>
                </a:solidFill>
                <a:latin typeface="Malgun Gothic"/>
              </a:rPr>
              <a:t>자동이체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41832" y="2734056"/>
            <a:ext cx="457200" cy="182880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41832" y="2734056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40" b="0">
                <a:solidFill>
                  <a:srgbClr val="2D2D2D"/>
                </a:solidFill>
                <a:latin typeface="Malgun Gothic"/>
              </a:rPr>
              <a:t>CMS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444752" y="2734056"/>
            <a:ext cx="457200" cy="182880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444752" y="2734056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40" b="0">
                <a:solidFill>
                  <a:srgbClr val="2D2D2D"/>
                </a:solidFill>
                <a:latin typeface="Malgun Gothic"/>
              </a:rPr>
              <a:t>방카슈랑스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8912" y="3008376"/>
            <a:ext cx="457200" cy="182880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38912" y="3008376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40" b="0">
                <a:solidFill>
                  <a:srgbClr val="2D2D2D"/>
                </a:solidFill>
                <a:latin typeface="Malgun Gothic"/>
              </a:rPr>
              <a:t>펌뱅킹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41832" y="3008376"/>
            <a:ext cx="457200" cy="182880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41832" y="3008376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40" b="0">
                <a:solidFill>
                  <a:srgbClr val="2D2D2D"/>
                </a:solidFill>
                <a:latin typeface="Malgun Gothic"/>
              </a:rPr>
              <a:t>판매대행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444752" y="3008376"/>
            <a:ext cx="457200" cy="182880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444752" y="3008376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40" b="0">
                <a:solidFill>
                  <a:srgbClr val="2D2D2D"/>
                </a:solidFill>
                <a:latin typeface="Malgun Gothic"/>
              </a:rPr>
              <a:t>장표지로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4048" y="3236976"/>
            <a:ext cx="68580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23232"/>
                </a:solidFill>
                <a:latin typeface="Malgun Gothic"/>
              </a:rPr>
              <a:t>전자금융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8912" y="3456432"/>
            <a:ext cx="457200" cy="182880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38912" y="345643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40" b="0">
                <a:solidFill>
                  <a:srgbClr val="2D2D2D"/>
                </a:solidFill>
                <a:latin typeface="Malgun Gothic"/>
              </a:rPr>
              <a:t>인터넷뱅킹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41832" y="3456432"/>
            <a:ext cx="457200" cy="182880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41832" y="345643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40" b="0">
                <a:solidFill>
                  <a:srgbClr val="2D2D2D"/>
                </a:solidFill>
                <a:latin typeface="Malgun Gothic"/>
              </a:rPr>
              <a:t>스마트뱅킹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444752" y="3456432"/>
            <a:ext cx="457200" cy="182880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444752" y="345643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40" b="0">
                <a:solidFill>
                  <a:srgbClr val="2D2D2D"/>
                </a:solidFill>
                <a:latin typeface="Malgun Gothic"/>
              </a:rPr>
              <a:t>e-정보계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8912" y="3730752"/>
            <a:ext cx="457200" cy="182880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38912" y="373075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40" b="0">
                <a:solidFill>
                  <a:srgbClr val="2D2D2D"/>
                </a:solidFill>
                <a:latin typeface="Malgun Gothic"/>
              </a:rPr>
              <a:t>콕뱅킹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41832" y="3730752"/>
            <a:ext cx="457200" cy="182880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41832" y="373075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40" b="0">
                <a:solidFill>
                  <a:srgbClr val="2D2D2D"/>
                </a:solidFill>
                <a:latin typeface="Malgun Gothic"/>
              </a:rPr>
              <a:t>오픈뱅킹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444752" y="3730752"/>
            <a:ext cx="475488" cy="182880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444752" y="3730752"/>
            <a:ext cx="475488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40" b="0">
                <a:solidFill>
                  <a:srgbClr val="2D2D2D"/>
                </a:solidFill>
                <a:latin typeface="Malgun Gothic"/>
              </a:rPr>
              <a:t>스마트기업마케팅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8912" y="4005072"/>
            <a:ext cx="457200" cy="182880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38912" y="400507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40" b="0">
                <a:solidFill>
                  <a:srgbClr val="2D2D2D"/>
                </a:solidFill>
                <a:latin typeface="Malgun Gothic"/>
              </a:rPr>
              <a:t>UMS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41832" y="4005072"/>
            <a:ext cx="475488" cy="182880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41832" y="4005072"/>
            <a:ext cx="475488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40" b="0">
                <a:solidFill>
                  <a:srgbClr val="2D2D2D"/>
                </a:solidFill>
                <a:latin typeface="Malgun Gothic"/>
              </a:rPr>
              <a:t>고객행동센터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444752" y="4005072"/>
            <a:ext cx="457200" cy="182880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444752" y="400507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40" b="0">
                <a:solidFill>
                  <a:srgbClr val="2D2D2D"/>
                </a:solidFill>
                <a:latin typeface="Malgun Gothic"/>
              </a:rPr>
              <a:t>e-마케팅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37744" y="4645152"/>
            <a:ext cx="3968496" cy="960120"/>
          </a:xfrm>
          <a:prstGeom prst="rect">
            <a:avLst/>
          </a:prstGeom>
          <a:solidFill>
            <a:srgbClr val="E6EDEA"/>
          </a:solidFill>
          <a:ln w="762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65760" y="4736592"/>
            <a:ext cx="73152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323232"/>
                </a:solidFill>
                <a:latin typeface="Malgun Gothic"/>
              </a:rPr>
              <a:t>전사지원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61872" y="4736592"/>
            <a:ext cx="8229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323232"/>
                </a:solidFill>
                <a:latin typeface="Malgun Gothic"/>
              </a:rPr>
              <a:t>데이터
관리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755648" y="4828032"/>
            <a:ext cx="594360" cy="219456"/>
          </a:xfrm>
          <a:prstGeom prst="rect">
            <a:avLst/>
          </a:prstGeom>
          <a:solidFill>
            <a:srgbClr val="EEF3F5"/>
          </a:solidFill>
          <a:ln w="16510">
            <a:solidFill>
              <a:srgbClr val="1A2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755648" y="4828032"/>
            <a:ext cx="59436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700" b="1">
                <a:solidFill>
                  <a:srgbClr val="2D2D2D"/>
                </a:solidFill>
                <a:latin typeface="Malgun Gothic"/>
              </a:rPr>
              <a:t>메타관리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65760" y="5047488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323232"/>
                </a:solidFill>
                <a:latin typeface="Malgun Gothic"/>
              </a:rPr>
              <a:t>전사공통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38912" y="5212080"/>
            <a:ext cx="530352" cy="164592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38912" y="5212080"/>
            <a:ext cx="530352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550" b="0">
                <a:solidFill>
                  <a:srgbClr val="2D2D2D"/>
                </a:solidFill>
                <a:latin typeface="Malgun Gothic"/>
              </a:rPr>
              <a:t>통합로그인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38912" y="5394960"/>
            <a:ext cx="530352" cy="274320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38912" y="5394960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550" b="0">
                <a:solidFill>
                  <a:srgbClr val="2D2D2D"/>
                </a:solidFill>
                <a:latin typeface="Malgun Gothic"/>
              </a:rPr>
              <a:t>통합UI
권한관리
(IMMS)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15568" y="5184648"/>
            <a:ext cx="73152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323232"/>
                </a:solidFill>
                <a:latin typeface="Malgun Gothic"/>
              </a:rPr>
              <a:t>업무 지원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755648" y="5175504"/>
            <a:ext cx="530352" cy="173736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1755648" y="5175504"/>
            <a:ext cx="530352" cy="173736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50" b="0">
                <a:solidFill>
                  <a:srgbClr val="2D2D2D"/>
                </a:solidFill>
                <a:latin typeface="Malgun Gothic"/>
              </a:rPr>
              <a:t>아리오피스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340864" y="5175504"/>
            <a:ext cx="530352" cy="173736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340864" y="5175504"/>
            <a:ext cx="530352" cy="173736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50" b="0">
                <a:solidFill>
                  <a:srgbClr val="2D2D2D"/>
                </a:solidFill>
                <a:latin typeface="Malgun Gothic"/>
              </a:rPr>
              <a:t>인사정보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926080" y="5175504"/>
            <a:ext cx="530352" cy="173736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2926080" y="5175504"/>
            <a:ext cx="530352" cy="173736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50" b="0">
                <a:solidFill>
                  <a:srgbClr val="2D2D2D"/>
                </a:solidFill>
                <a:latin typeface="Malgun Gothic"/>
              </a:rPr>
              <a:t>교육정보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511296" y="5175504"/>
            <a:ext cx="530352" cy="173736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3511296" y="5175504"/>
            <a:ext cx="530352" cy="173736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50" b="0">
                <a:solidFill>
                  <a:srgbClr val="2D2D2D"/>
                </a:solidFill>
                <a:latin typeface="Malgun Gothic"/>
              </a:rPr>
              <a:t>고정자산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755648" y="5440680"/>
            <a:ext cx="530352" cy="173736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1755648" y="5440680"/>
            <a:ext cx="530352" cy="173736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50" b="0">
                <a:solidFill>
                  <a:srgbClr val="2D2D2D"/>
                </a:solidFill>
                <a:latin typeface="Malgun Gothic"/>
              </a:rPr>
              <a:t>인력관리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340864" y="5440680"/>
            <a:ext cx="530352" cy="173736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2340864" y="5440680"/>
            <a:ext cx="530352" cy="173736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50" b="0">
                <a:solidFill>
                  <a:srgbClr val="2D2D2D"/>
                </a:solidFill>
                <a:latin typeface="Malgun Gothic"/>
              </a:rPr>
              <a:t>화상회의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926080" y="5440680"/>
            <a:ext cx="530352" cy="173736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2926080" y="5440680"/>
            <a:ext cx="530352" cy="173736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50" b="0">
                <a:solidFill>
                  <a:srgbClr val="2D2D2D"/>
                </a:solidFill>
                <a:latin typeface="Malgun Gothic"/>
              </a:rPr>
              <a:t>급여정보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511296" y="5440680"/>
            <a:ext cx="530352" cy="173736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3511296" y="5440680"/>
            <a:ext cx="530352" cy="173736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50" b="0">
                <a:solidFill>
                  <a:srgbClr val="2D2D2D"/>
                </a:solidFill>
                <a:latin typeface="Malgun Gothic"/>
              </a:rPr>
              <a:t>상호이미지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633472" y="1481328"/>
            <a:ext cx="4261104" cy="2880360"/>
          </a:xfrm>
          <a:prstGeom prst="rect">
            <a:avLst/>
          </a:prstGeom>
          <a:solidFill>
            <a:srgbClr val="E6EDEA"/>
          </a:solidFill>
          <a:ln w="762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2743200" y="1581912"/>
            <a:ext cx="54864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323232"/>
                </a:solidFill>
                <a:latin typeface="Malgun Gothic"/>
              </a:rPr>
              <a:t>금융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798064" y="1847088"/>
            <a:ext cx="384048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323232"/>
                </a:solidFill>
                <a:latin typeface="Malgun Gothic"/>
              </a:rPr>
              <a:t>뱅킹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852928" y="2048256"/>
            <a:ext cx="310896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80" b="1">
                <a:solidFill>
                  <a:srgbClr val="323232"/>
                </a:solidFill>
                <a:latin typeface="Malgun Gothic"/>
              </a:rPr>
              <a:t>수신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926080" y="2221992"/>
            <a:ext cx="475488" cy="182880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2926080" y="2221992"/>
            <a:ext cx="475488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40" b="0">
                <a:solidFill>
                  <a:srgbClr val="2D2D2D"/>
                </a:solidFill>
                <a:latin typeface="Malgun Gothic"/>
              </a:rPr>
              <a:t>요구불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429000" y="2221992"/>
            <a:ext cx="475488" cy="182880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3429000" y="2221992"/>
            <a:ext cx="475488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40" b="0">
                <a:solidFill>
                  <a:srgbClr val="2D2D2D"/>
                </a:solidFill>
                <a:latin typeface="Malgun Gothic"/>
              </a:rPr>
              <a:t>저축성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926080" y="2514600"/>
            <a:ext cx="475488" cy="182880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2926080" y="2514600"/>
            <a:ext cx="475488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40" b="0">
                <a:solidFill>
                  <a:srgbClr val="2D2D2D"/>
                </a:solidFill>
                <a:latin typeface="Malgun Gothic"/>
              </a:rPr>
              <a:t>수익증권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429000" y="2514600"/>
            <a:ext cx="475488" cy="182880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3429000" y="2514600"/>
            <a:ext cx="475488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40" b="0">
                <a:solidFill>
                  <a:srgbClr val="2D2D2D"/>
                </a:solidFill>
                <a:latin typeface="Malgun Gothic"/>
              </a:rPr>
              <a:t>마이너스대출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926080" y="2798064"/>
            <a:ext cx="475488" cy="182880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2926080" y="2798064"/>
            <a:ext cx="475488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40" b="0">
                <a:solidFill>
                  <a:srgbClr val="2D2D2D"/>
                </a:solidFill>
                <a:latin typeface="Malgun Gothic"/>
              </a:rPr>
              <a:t>수신공통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429000" y="2798064"/>
            <a:ext cx="475488" cy="182880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3429000" y="2798064"/>
            <a:ext cx="475488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40" b="0">
                <a:solidFill>
                  <a:srgbClr val="2D2D2D"/>
                </a:solidFill>
                <a:latin typeface="Malgun Gothic"/>
              </a:rPr>
              <a:t>수표어음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114800" y="2048256"/>
            <a:ext cx="310896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80" b="1">
                <a:solidFill>
                  <a:srgbClr val="323232"/>
                </a:solidFill>
                <a:latin typeface="Malgun Gothic"/>
              </a:rPr>
              <a:t>외환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160520" y="2221992"/>
            <a:ext cx="475488" cy="182880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4160520" y="2221992"/>
            <a:ext cx="475488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40" b="0">
                <a:solidFill>
                  <a:srgbClr val="2D2D2D"/>
                </a:solidFill>
                <a:latin typeface="Malgun Gothic"/>
              </a:rPr>
              <a:t>외환공통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681728" y="2221992"/>
            <a:ext cx="475488" cy="182880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4681728" y="2221992"/>
            <a:ext cx="475488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40" b="0">
                <a:solidFill>
                  <a:srgbClr val="2D2D2D"/>
                </a:solidFill>
                <a:latin typeface="Malgun Gothic"/>
              </a:rPr>
              <a:t>무역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160520" y="2514600"/>
            <a:ext cx="475488" cy="182880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4160520" y="2514600"/>
            <a:ext cx="475488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40" b="0">
                <a:solidFill>
                  <a:srgbClr val="2D2D2D"/>
                </a:solidFill>
                <a:latin typeface="Malgun Gothic"/>
              </a:rPr>
              <a:t>무역외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681728" y="2514600"/>
            <a:ext cx="475488" cy="182880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4681728" y="2514600"/>
            <a:ext cx="475488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40" b="0">
                <a:solidFill>
                  <a:srgbClr val="2D2D2D"/>
                </a:solidFill>
                <a:latin typeface="Malgun Gothic"/>
              </a:rPr>
              <a:t>유가증권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160520" y="2798064"/>
            <a:ext cx="475488" cy="182880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4160520" y="2798064"/>
            <a:ext cx="475488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40" b="0">
                <a:solidFill>
                  <a:srgbClr val="2D2D2D"/>
                </a:solidFill>
                <a:latin typeface="Malgun Gothic"/>
              </a:rPr>
              <a:t>대체투자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681728" y="2798064"/>
            <a:ext cx="475488" cy="182880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4681728" y="2798064"/>
            <a:ext cx="475488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40" b="0">
                <a:solidFill>
                  <a:srgbClr val="2D2D2D"/>
                </a:solidFill>
                <a:latin typeface="Malgun Gothic"/>
              </a:rPr>
              <a:t>해외투자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522976" y="2011680"/>
            <a:ext cx="502920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80" b="1">
                <a:solidFill>
                  <a:srgbClr val="323232"/>
                </a:solidFill>
                <a:latin typeface="Malgun Gothic"/>
              </a:rPr>
              <a:t>재무회계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504688" y="2212848"/>
            <a:ext cx="566928" cy="310896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5504688" y="2212848"/>
            <a:ext cx="566928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20" b="0">
                <a:solidFill>
                  <a:srgbClr val="2D2D2D"/>
                </a:solidFill>
                <a:latin typeface="Malgun Gothic"/>
              </a:rPr>
              <a:t>재무회계 /
계정처리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504688" y="2688336"/>
            <a:ext cx="502920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80" b="1">
                <a:solidFill>
                  <a:srgbClr val="323232"/>
                </a:solidFill>
                <a:latin typeface="Malgun Gothic"/>
              </a:rPr>
              <a:t>고객정보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504688" y="2880360"/>
            <a:ext cx="566928" cy="219456"/>
          </a:xfrm>
          <a:prstGeom prst="rect">
            <a:avLst/>
          </a:prstGeom>
          <a:solidFill>
            <a:srgbClr val="D9E1DD"/>
          </a:solidFill>
          <a:ln w="13970">
            <a:solidFill>
              <a:srgbClr val="1A2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5504688" y="2880360"/>
            <a:ext cx="566928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70" b="0">
                <a:solidFill>
                  <a:srgbClr val="2D2D2D"/>
                </a:solidFill>
                <a:latin typeface="Malgun Gothic"/>
              </a:rPr>
              <a:t>고객정보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788920" y="3227832"/>
            <a:ext cx="640080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323232"/>
                </a:solidFill>
                <a:latin typeface="Malgun Gothic"/>
              </a:rPr>
              <a:t>여신계정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2926080" y="3429000"/>
            <a:ext cx="502920" cy="182880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2926080" y="3429000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30" b="0">
                <a:solidFill>
                  <a:srgbClr val="2D2D2D"/>
                </a:solidFill>
                <a:latin typeface="Malgun Gothic"/>
              </a:rPr>
              <a:t>대출신규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3474720" y="3429000"/>
            <a:ext cx="502920" cy="182880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3474720" y="3429000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30" b="0">
                <a:solidFill>
                  <a:srgbClr val="2D2D2D"/>
                </a:solidFill>
                <a:latin typeface="Malgun Gothic"/>
              </a:rPr>
              <a:t>대출상환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2926080" y="3712463"/>
            <a:ext cx="502920" cy="182880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2926080" y="3712463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30" b="0">
                <a:solidFill>
                  <a:srgbClr val="2D2D2D"/>
                </a:solidFill>
                <a:latin typeface="Malgun Gothic"/>
              </a:rPr>
              <a:t>금리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3474720" y="3712463"/>
            <a:ext cx="502920" cy="182880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3474720" y="3712463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30" b="0">
                <a:solidFill>
                  <a:srgbClr val="2D2D2D"/>
                </a:solidFill>
                <a:latin typeface="Malgun Gothic"/>
              </a:rPr>
              <a:t>이자/결산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2926080" y="3986784"/>
            <a:ext cx="502920" cy="182880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2926080" y="398678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30" b="0">
                <a:solidFill>
                  <a:srgbClr val="2D2D2D"/>
                </a:solidFill>
                <a:latin typeface="Malgun Gothic"/>
              </a:rPr>
              <a:t>전자보증서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3474720" y="3986784"/>
            <a:ext cx="502920" cy="182880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3474720" y="398678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30" b="0">
                <a:solidFill>
                  <a:srgbClr val="2D2D2D"/>
                </a:solidFill>
                <a:latin typeface="Malgun Gothic"/>
              </a:rPr>
              <a:t>전자결재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114800" y="3227832"/>
            <a:ext cx="594360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323232"/>
                </a:solidFill>
                <a:latin typeface="Malgun Gothic"/>
              </a:rPr>
              <a:t>여신심사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4187952" y="3429000"/>
            <a:ext cx="502920" cy="182880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4187952" y="3429000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20" b="0">
                <a:solidFill>
                  <a:srgbClr val="2D2D2D"/>
                </a:solidFill>
                <a:latin typeface="Malgun Gothic"/>
              </a:rPr>
              <a:t>개인심사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4736592" y="3429000"/>
            <a:ext cx="502920" cy="182880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4736592" y="3429000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20" b="0">
                <a:solidFill>
                  <a:srgbClr val="2D2D2D"/>
                </a:solidFill>
                <a:latin typeface="Malgun Gothic"/>
              </a:rPr>
              <a:t>기업심사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5285232" y="3429000"/>
            <a:ext cx="502920" cy="182880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5285232" y="3429000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20" b="0">
                <a:solidFill>
                  <a:srgbClr val="2D2D2D"/>
                </a:solidFill>
                <a:latin typeface="Malgun Gothic"/>
              </a:rPr>
              <a:t>기금대출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4187952" y="3712463"/>
            <a:ext cx="502920" cy="182880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4187952" y="3712463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20" b="0">
                <a:solidFill>
                  <a:srgbClr val="2D2D2D"/>
                </a:solidFill>
                <a:latin typeface="Malgun Gothic"/>
              </a:rPr>
              <a:t>신용평가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4736592" y="3712463"/>
            <a:ext cx="502920" cy="182880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4736592" y="3712463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20" b="0">
                <a:solidFill>
                  <a:srgbClr val="2D2D2D"/>
                </a:solidFill>
                <a:latin typeface="Malgun Gothic"/>
              </a:rPr>
              <a:t>심사공통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5285232" y="3712463"/>
            <a:ext cx="502920" cy="182880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5285232" y="3712463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20" b="0">
                <a:solidFill>
                  <a:srgbClr val="2D2D2D"/>
                </a:solidFill>
                <a:latin typeface="Malgun Gothic"/>
              </a:rPr>
              <a:t>금리결정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4187952" y="3986784"/>
            <a:ext cx="502920" cy="182880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4187952" y="398678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20" b="0">
                <a:solidFill>
                  <a:srgbClr val="2D2D2D"/>
                </a:solidFill>
                <a:latin typeface="Malgun Gothic"/>
              </a:rPr>
              <a:t>감정/담보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4736592" y="3986784"/>
            <a:ext cx="502920" cy="182880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4736592" y="398678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20" b="0">
                <a:solidFill>
                  <a:srgbClr val="2D2D2D"/>
                </a:solidFill>
                <a:latin typeface="Malgun Gothic"/>
              </a:rPr>
              <a:t>조기경보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5285232" y="3986784"/>
            <a:ext cx="502920" cy="182880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5285232" y="398678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20" b="0">
                <a:solidFill>
                  <a:srgbClr val="2D2D2D"/>
                </a:solidFill>
                <a:latin typeface="Malgun Gothic"/>
              </a:rPr>
              <a:t>종합자금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2788920" y="4498848"/>
            <a:ext cx="640080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323232"/>
                </a:solidFill>
                <a:latin typeface="Malgun Gothic"/>
              </a:rPr>
              <a:t>금융공통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2926080" y="4645152"/>
            <a:ext cx="502920" cy="182880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2926080" y="464515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20" b="0">
                <a:solidFill>
                  <a:srgbClr val="2D2D2D"/>
                </a:solidFill>
                <a:latin typeface="Malgun Gothic"/>
              </a:rPr>
              <a:t>공통정보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3474720" y="4645152"/>
            <a:ext cx="502920" cy="182880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3474720" y="464515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20" b="0">
                <a:solidFill>
                  <a:srgbClr val="2D2D2D"/>
                </a:solidFill>
                <a:latin typeface="Malgun Gothic"/>
              </a:rPr>
              <a:t>상품팩토리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4023360" y="4645152"/>
            <a:ext cx="502920" cy="182880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4023360" y="464515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20" b="0">
                <a:solidFill>
                  <a:srgbClr val="2D2D2D"/>
                </a:solidFill>
                <a:latin typeface="Malgun Gothic"/>
              </a:rPr>
              <a:t>중요공지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718304" y="4498848"/>
            <a:ext cx="640080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323232"/>
                </a:solidFill>
                <a:latin typeface="Malgun Gothic"/>
              </a:rPr>
              <a:t>마케팅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4773168" y="4645152"/>
            <a:ext cx="411480" cy="182880"/>
          </a:xfrm>
          <a:prstGeom prst="rect">
            <a:avLst/>
          </a:prstGeom>
          <a:solidFill>
            <a:srgbClr val="EEF3F5"/>
          </a:solidFill>
          <a:ln w="13970">
            <a:solidFill>
              <a:srgbClr val="1A2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4773168" y="4645152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700" b="0">
                <a:solidFill>
                  <a:srgbClr val="2D2D2D"/>
                </a:solidFill>
                <a:latin typeface="Malgun Gothic"/>
              </a:rPr>
              <a:t>CRM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327648" y="1901952"/>
            <a:ext cx="384048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323232"/>
                </a:solidFill>
                <a:latin typeface="Malgun Gothic"/>
              </a:rPr>
              <a:t>카드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6355080" y="2121408"/>
            <a:ext cx="493776" cy="310896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6355080" y="2121408"/>
            <a:ext cx="493776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80" b="0">
                <a:solidFill>
                  <a:srgbClr val="2D2D2D"/>
                </a:solidFill>
                <a:latin typeface="Malgun Gothic"/>
              </a:rPr>
              <a:t>상품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6355080" y="2514600"/>
            <a:ext cx="493776" cy="310896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extBox 172"/>
          <p:cNvSpPr txBox="1"/>
          <p:nvPr/>
        </p:nvSpPr>
        <p:spPr>
          <a:xfrm>
            <a:off x="6355080" y="2514600"/>
            <a:ext cx="493776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80" b="0">
                <a:solidFill>
                  <a:srgbClr val="2D2D2D"/>
                </a:solidFill>
                <a:latin typeface="Malgun Gothic"/>
              </a:rPr>
              <a:t>승인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355080" y="2907791"/>
            <a:ext cx="493776" cy="310896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6355080" y="2907791"/>
            <a:ext cx="493776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80" b="0">
                <a:solidFill>
                  <a:srgbClr val="2D2D2D"/>
                </a:solidFill>
                <a:latin typeface="Malgun Gothic"/>
              </a:rPr>
              <a:t>결제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6355080" y="3300984"/>
            <a:ext cx="493776" cy="310896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TextBox 176"/>
          <p:cNvSpPr txBox="1"/>
          <p:nvPr/>
        </p:nvSpPr>
        <p:spPr>
          <a:xfrm>
            <a:off x="6355080" y="3300984"/>
            <a:ext cx="493776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80" b="0">
                <a:solidFill>
                  <a:srgbClr val="2D2D2D"/>
                </a:solidFill>
                <a:latin typeface="Malgun Gothic"/>
              </a:rPr>
              <a:t>매출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6355080" y="3694176"/>
            <a:ext cx="493776" cy="310896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TextBox 178"/>
          <p:cNvSpPr txBox="1"/>
          <p:nvPr/>
        </p:nvSpPr>
        <p:spPr>
          <a:xfrm>
            <a:off x="6355080" y="3694176"/>
            <a:ext cx="493776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80" b="0">
                <a:solidFill>
                  <a:srgbClr val="2D2D2D"/>
                </a:solidFill>
                <a:latin typeface="Malgun Gothic"/>
              </a:rPr>
              <a:t>회원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6355080" y="4087368"/>
            <a:ext cx="493776" cy="347472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TextBox 180"/>
          <p:cNvSpPr txBox="1"/>
          <p:nvPr/>
        </p:nvSpPr>
        <p:spPr>
          <a:xfrm>
            <a:off x="6355080" y="4087368"/>
            <a:ext cx="49377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80" b="0">
                <a:solidFill>
                  <a:srgbClr val="2D2D2D"/>
                </a:solidFill>
                <a:latin typeface="Malgun Gothic"/>
              </a:rPr>
              <a:t>카드정보계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6355080" y="4480560"/>
            <a:ext cx="493776" cy="310896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TextBox 182"/>
          <p:cNvSpPr txBox="1"/>
          <p:nvPr/>
        </p:nvSpPr>
        <p:spPr>
          <a:xfrm>
            <a:off x="6355080" y="4480560"/>
            <a:ext cx="493776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80" b="0">
                <a:solidFill>
                  <a:srgbClr val="2D2D2D"/>
                </a:solidFill>
                <a:latin typeface="Malgun Gothic"/>
              </a:rPr>
              <a:t>가맹점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4096512" y="4901184"/>
            <a:ext cx="2944368" cy="713232"/>
          </a:xfrm>
          <a:prstGeom prst="rect">
            <a:avLst/>
          </a:prstGeom>
          <a:solidFill>
            <a:srgbClr val="E6EDEA"/>
          </a:solidFill>
          <a:ln w="762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TextBox 184"/>
          <p:cNvSpPr txBox="1"/>
          <p:nvPr/>
        </p:nvSpPr>
        <p:spPr>
          <a:xfrm>
            <a:off x="4206240" y="5029200"/>
            <a:ext cx="50292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323232"/>
                </a:solidFill>
                <a:latin typeface="Malgun Gothic"/>
              </a:rPr>
              <a:t>마케팅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4206240" y="5285232"/>
            <a:ext cx="50292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23232"/>
                </a:solidFill>
                <a:latin typeface="Malgun Gothic"/>
              </a:rPr>
              <a:t>마케팅
플랫폼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4754880" y="5010912"/>
            <a:ext cx="457200" cy="210312"/>
          </a:xfrm>
          <a:prstGeom prst="rect">
            <a:avLst/>
          </a:prstGeom>
          <a:solidFill>
            <a:srgbClr val="EEF3F5"/>
          </a:solidFill>
          <a:ln w="12700">
            <a:solidFill>
              <a:srgbClr val="1A2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TextBox 187"/>
          <p:cNvSpPr txBox="1"/>
          <p:nvPr/>
        </p:nvSpPr>
        <p:spPr>
          <a:xfrm>
            <a:off x="4754880" y="5010912"/>
            <a:ext cx="457200" cy="21031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590" b="0">
                <a:solidFill>
                  <a:srgbClr val="2D2D2D"/>
                </a:solidFill>
                <a:latin typeface="Malgun Gothic"/>
              </a:rPr>
              <a:t>중앙회대출
관리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5248656" y="5010912"/>
            <a:ext cx="457200" cy="210312"/>
          </a:xfrm>
          <a:prstGeom prst="rect">
            <a:avLst/>
          </a:prstGeom>
          <a:solidFill>
            <a:srgbClr val="EEF3F5"/>
          </a:solidFill>
          <a:ln w="12700">
            <a:solidFill>
              <a:srgbClr val="1A2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TextBox 189"/>
          <p:cNvSpPr txBox="1"/>
          <p:nvPr/>
        </p:nvSpPr>
        <p:spPr>
          <a:xfrm>
            <a:off x="5248656" y="5010912"/>
            <a:ext cx="457200" cy="21031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590" b="0">
                <a:solidFill>
                  <a:srgbClr val="2D2D2D"/>
                </a:solidFill>
                <a:latin typeface="Malgun Gothic"/>
              </a:rPr>
              <a:t>중앙회공판
관리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5742432" y="5010912"/>
            <a:ext cx="457200" cy="210312"/>
          </a:xfrm>
          <a:prstGeom prst="rect">
            <a:avLst/>
          </a:prstGeom>
          <a:solidFill>
            <a:srgbClr val="EEF3F5"/>
          </a:solidFill>
          <a:ln w="12700">
            <a:solidFill>
              <a:srgbClr val="1A2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TextBox 191"/>
          <p:cNvSpPr txBox="1"/>
          <p:nvPr/>
        </p:nvSpPr>
        <p:spPr>
          <a:xfrm>
            <a:off x="5742432" y="5010912"/>
            <a:ext cx="457200" cy="21031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590" b="0">
                <a:solidFill>
                  <a:srgbClr val="2D2D2D"/>
                </a:solidFill>
                <a:latin typeface="Malgun Gothic"/>
              </a:rPr>
              <a:t>정급판매지
원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6236208" y="5010912"/>
            <a:ext cx="457200" cy="210312"/>
          </a:xfrm>
          <a:prstGeom prst="rect">
            <a:avLst/>
          </a:prstGeom>
          <a:solidFill>
            <a:srgbClr val="EEF3F5"/>
          </a:solidFill>
          <a:ln w="12700">
            <a:solidFill>
              <a:srgbClr val="1A2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TextBox 193"/>
          <p:cNvSpPr txBox="1"/>
          <p:nvPr/>
        </p:nvSpPr>
        <p:spPr>
          <a:xfrm>
            <a:off x="6236208" y="5010912"/>
            <a:ext cx="457200" cy="21031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590" b="0">
                <a:solidFill>
                  <a:srgbClr val="2D2D2D"/>
                </a:solidFill>
                <a:latin typeface="Malgun Gothic"/>
              </a:rPr>
              <a:t>개인고객관
리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6729984" y="5010912"/>
            <a:ext cx="457200" cy="210312"/>
          </a:xfrm>
          <a:prstGeom prst="rect">
            <a:avLst/>
          </a:prstGeom>
          <a:solidFill>
            <a:srgbClr val="EEF3F5"/>
          </a:solidFill>
          <a:ln w="12700">
            <a:solidFill>
              <a:srgbClr val="1A2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TextBox 195"/>
          <p:cNvSpPr txBox="1"/>
          <p:nvPr/>
        </p:nvSpPr>
        <p:spPr>
          <a:xfrm>
            <a:off x="6729984" y="5010912"/>
            <a:ext cx="457200" cy="21031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590" b="0">
                <a:solidFill>
                  <a:srgbClr val="2D2D2D"/>
                </a:solidFill>
                <a:latin typeface="Malgun Gothic"/>
              </a:rPr>
              <a:t>기업고객관
리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4754880" y="5358384"/>
            <a:ext cx="457200" cy="210312"/>
          </a:xfrm>
          <a:prstGeom prst="rect">
            <a:avLst/>
          </a:prstGeom>
          <a:solidFill>
            <a:srgbClr val="EEF3F5"/>
          </a:solidFill>
          <a:ln w="12700">
            <a:solidFill>
              <a:srgbClr val="1A2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TextBox 197"/>
          <p:cNvSpPr txBox="1"/>
          <p:nvPr/>
        </p:nvSpPr>
        <p:spPr>
          <a:xfrm>
            <a:off x="4754880" y="5358384"/>
            <a:ext cx="457200" cy="21031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590" b="0">
                <a:solidFill>
                  <a:srgbClr val="2D2D2D"/>
                </a:solidFill>
                <a:latin typeface="Malgun Gothic"/>
              </a:rPr>
              <a:t>영업지원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5248656" y="5358384"/>
            <a:ext cx="457200" cy="210312"/>
          </a:xfrm>
          <a:prstGeom prst="rect">
            <a:avLst/>
          </a:prstGeom>
          <a:solidFill>
            <a:srgbClr val="EEF3F5"/>
          </a:solidFill>
          <a:ln w="12700">
            <a:solidFill>
              <a:srgbClr val="1A2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TextBox 199"/>
          <p:cNvSpPr txBox="1"/>
          <p:nvPr/>
        </p:nvSpPr>
        <p:spPr>
          <a:xfrm>
            <a:off x="5248656" y="5358384"/>
            <a:ext cx="457200" cy="21031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590" b="0">
                <a:solidFill>
                  <a:srgbClr val="2D2D2D"/>
                </a:solidFill>
                <a:latin typeface="Malgun Gothic"/>
              </a:rPr>
              <a:t>캠페인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5742432" y="5358384"/>
            <a:ext cx="457200" cy="210312"/>
          </a:xfrm>
          <a:prstGeom prst="rect">
            <a:avLst/>
          </a:prstGeom>
          <a:solidFill>
            <a:srgbClr val="EEF3F5"/>
          </a:solidFill>
          <a:ln w="12700">
            <a:solidFill>
              <a:srgbClr val="1A2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TextBox 201"/>
          <p:cNvSpPr txBox="1"/>
          <p:nvPr/>
        </p:nvSpPr>
        <p:spPr>
          <a:xfrm>
            <a:off x="5742432" y="5358384"/>
            <a:ext cx="457200" cy="21031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590" b="0">
                <a:solidFill>
                  <a:srgbClr val="2D2D2D"/>
                </a:solidFill>
                <a:latin typeface="Malgun Gothic"/>
              </a:rPr>
              <a:t>개인CRM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6236208" y="5358384"/>
            <a:ext cx="457200" cy="210312"/>
          </a:xfrm>
          <a:prstGeom prst="rect">
            <a:avLst/>
          </a:prstGeom>
          <a:solidFill>
            <a:srgbClr val="EEF3F5"/>
          </a:solidFill>
          <a:ln w="12700">
            <a:solidFill>
              <a:srgbClr val="1A2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TextBox 203"/>
          <p:cNvSpPr txBox="1"/>
          <p:nvPr/>
        </p:nvSpPr>
        <p:spPr>
          <a:xfrm>
            <a:off x="6236208" y="5358384"/>
            <a:ext cx="457200" cy="21031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590" b="0">
                <a:solidFill>
                  <a:srgbClr val="2D2D2D"/>
                </a:solidFill>
                <a:latin typeface="Malgun Gothic"/>
              </a:rPr>
              <a:t>전략소개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6729984" y="5358384"/>
            <a:ext cx="457200" cy="210312"/>
          </a:xfrm>
          <a:prstGeom prst="rect">
            <a:avLst/>
          </a:prstGeom>
          <a:solidFill>
            <a:srgbClr val="EEF3F5"/>
          </a:solidFill>
          <a:ln w="12700">
            <a:solidFill>
              <a:srgbClr val="1A2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TextBox 205"/>
          <p:cNvSpPr txBox="1"/>
          <p:nvPr/>
        </p:nvSpPr>
        <p:spPr>
          <a:xfrm>
            <a:off x="6729984" y="5358384"/>
            <a:ext cx="457200" cy="21031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590" b="0">
                <a:solidFill>
                  <a:srgbClr val="2D2D2D"/>
                </a:solidFill>
                <a:latin typeface="Malgun Gothic"/>
              </a:rPr>
              <a:t>고객행동정
보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7187184" y="1481328"/>
            <a:ext cx="2505456" cy="4297680"/>
          </a:xfrm>
          <a:prstGeom prst="rect">
            <a:avLst/>
          </a:prstGeom>
          <a:solidFill>
            <a:srgbClr val="E6EDEA"/>
          </a:solidFill>
          <a:ln w="762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TextBox 207"/>
          <p:cNvSpPr txBox="1"/>
          <p:nvPr/>
        </p:nvSpPr>
        <p:spPr>
          <a:xfrm>
            <a:off x="7315200" y="1600200"/>
            <a:ext cx="91440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323232"/>
                </a:solidFill>
                <a:latin typeface="Malgun Gothic"/>
              </a:rPr>
              <a:t>경영정보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7388352" y="1883664"/>
            <a:ext cx="822960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323232"/>
                </a:solidFill>
                <a:latin typeface="Malgun Gothic"/>
              </a:rPr>
              <a:t>데이터 분석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7406640" y="2121408"/>
            <a:ext cx="777240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20" b="1">
                <a:solidFill>
                  <a:srgbClr val="323232"/>
                </a:solidFill>
                <a:latin typeface="Malgun Gothic"/>
              </a:rPr>
              <a:t>데이터 플랫폼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7443216" y="2276856"/>
            <a:ext cx="502920" cy="164592"/>
          </a:xfrm>
          <a:prstGeom prst="rect">
            <a:avLst/>
          </a:prstGeom>
          <a:solidFill>
            <a:srgbClr val="EEF3F5"/>
          </a:solidFill>
          <a:ln w="12700">
            <a:solidFill>
              <a:srgbClr val="1A2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TextBox 211"/>
          <p:cNvSpPr txBox="1"/>
          <p:nvPr/>
        </p:nvSpPr>
        <p:spPr>
          <a:xfrm>
            <a:off x="7443216" y="2276856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50" b="0">
                <a:solidFill>
                  <a:srgbClr val="2D2D2D"/>
                </a:solidFill>
                <a:latin typeface="Malgun Gothic"/>
              </a:rPr>
              <a:t>실시간DW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7991856" y="2276856"/>
            <a:ext cx="502920" cy="164592"/>
          </a:xfrm>
          <a:prstGeom prst="rect">
            <a:avLst/>
          </a:prstGeom>
          <a:solidFill>
            <a:srgbClr val="2A313E"/>
          </a:solidFill>
          <a:ln w="7620">
            <a:solidFill>
              <a:srgbClr val="2A3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TextBox 213"/>
          <p:cNvSpPr txBox="1"/>
          <p:nvPr/>
        </p:nvSpPr>
        <p:spPr>
          <a:xfrm>
            <a:off x="7991856" y="2276856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Malgun Gothic"/>
              </a:rPr>
              <a:t>분석DW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8759952" y="2066543"/>
            <a:ext cx="731520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80" b="1">
                <a:solidFill>
                  <a:srgbClr val="323232"/>
                </a:solidFill>
                <a:latin typeface="Malgun Gothic"/>
              </a:rPr>
              <a:t>빅데이터플랫폼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8778240" y="2276856"/>
            <a:ext cx="502920" cy="164592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TextBox 216"/>
          <p:cNvSpPr txBox="1"/>
          <p:nvPr/>
        </p:nvSpPr>
        <p:spPr>
          <a:xfrm>
            <a:off x="8778240" y="2276856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50" b="0">
                <a:solidFill>
                  <a:srgbClr val="2D2D2D"/>
                </a:solidFill>
                <a:latin typeface="Malgun Gothic"/>
              </a:rPr>
              <a:t>CDSW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7388352" y="2688336"/>
            <a:ext cx="822960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323232"/>
                </a:solidFill>
                <a:latin typeface="Malgun Gothic"/>
              </a:rPr>
              <a:t>BI 포탈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7443216" y="2907792"/>
            <a:ext cx="502920" cy="164592"/>
          </a:xfrm>
          <a:prstGeom prst="rect">
            <a:avLst/>
          </a:prstGeom>
          <a:solidFill>
            <a:srgbClr val="EEF3F5"/>
          </a:solidFill>
          <a:ln w="12700">
            <a:solidFill>
              <a:srgbClr val="1A2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TextBox 219"/>
          <p:cNvSpPr txBox="1"/>
          <p:nvPr/>
        </p:nvSpPr>
        <p:spPr>
          <a:xfrm>
            <a:off x="7443216" y="2907792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20" b="0">
                <a:solidFill>
                  <a:srgbClr val="2D2D2D"/>
                </a:solidFill>
                <a:latin typeface="Malgun Gothic"/>
              </a:rPr>
              <a:t>실적관리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7991856" y="2907792"/>
            <a:ext cx="502920" cy="164592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TextBox 221"/>
          <p:cNvSpPr txBox="1"/>
          <p:nvPr/>
        </p:nvSpPr>
        <p:spPr>
          <a:xfrm>
            <a:off x="7991856" y="2907792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20" b="0">
                <a:solidFill>
                  <a:srgbClr val="2D2D2D"/>
                </a:solidFill>
                <a:latin typeface="Malgun Gothic"/>
              </a:rPr>
              <a:t>OLAP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7443216" y="3182112"/>
            <a:ext cx="502920" cy="164592"/>
          </a:xfrm>
          <a:prstGeom prst="rect">
            <a:avLst/>
          </a:prstGeom>
          <a:solidFill>
            <a:srgbClr val="EEF3F5"/>
          </a:solidFill>
          <a:ln w="12700">
            <a:solidFill>
              <a:srgbClr val="1A2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TextBox 223"/>
          <p:cNvSpPr txBox="1"/>
          <p:nvPr/>
        </p:nvSpPr>
        <p:spPr>
          <a:xfrm>
            <a:off x="7443216" y="3182112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20" b="0">
                <a:solidFill>
                  <a:srgbClr val="2D2D2D"/>
                </a:solidFill>
                <a:latin typeface="Malgun Gothic"/>
              </a:rPr>
              <a:t>비즈메타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7991856" y="3182112"/>
            <a:ext cx="502920" cy="164592"/>
          </a:xfrm>
          <a:prstGeom prst="rect">
            <a:avLst/>
          </a:prstGeom>
          <a:solidFill>
            <a:srgbClr val="EEF3F5"/>
          </a:solidFill>
          <a:ln w="12700">
            <a:solidFill>
              <a:srgbClr val="1A2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TextBox 225"/>
          <p:cNvSpPr txBox="1"/>
          <p:nvPr/>
        </p:nvSpPr>
        <p:spPr>
          <a:xfrm>
            <a:off x="7991856" y="3182112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20" b="0">
                <a:solidFill>
                  <a:srgbClr val="2D2D2D"/>
                </a:solidFill>
                <a:latin typeface="Malgun Gothic"/>
              </a:rPr>
              <a:t>데이터품질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8540496" y="3182112"/>
            <a:ext cx="502920" cy="164592"/>
          </a:xfrm>
          <a:prstGeom prst="rect">
            <a:avLst/>
          </a:prstGeom>
          <a:solidFill>
            <a:srgbClr val="EEF3F5"/>
          </a:solidFill>
          <a:ln w="12700">
            <a:solidFill>
              <a:srgbClr val="1A2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8540496" y="3182112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20" b="0">
                <a:solidFill>
                  <a:srgbClr val="2D2D2D"/>
                </a:solidFill>
                <a:latin typeface="Malgun Gothic"/>
              </a:rPr>
              <a:t>데이터흐름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7388352" y="3575304"/>
            <a:ext cx="822960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323232"/>
                </a:solidFill>
                <a:latin typeface="Malgun Gothic"/>
              </a:rPr>
              <a:t>경영관리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7443216" y="3767328"/>
            <a:ext cx="502920" cy="155448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TextBox 230"/>
          <p:cNvSpPr txBox="1"/>
          <p:nvPr/>
        </p:nvSpPr>
        <p:spPr>
          <a:xfrm>
            <a:off x="7443216" y="3767328"/>
            <a:ext cx="502920" cy="155448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570" b="0">
                <a:solidFill>
                  <a:srgbClr val="2D2D2D"/>
                </a:solidFill>
                <a:latin typeface="Malgun Gothic"/>
              </a:rPr>
              <a:t>종합수익관리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7991856" y="3767328"/>
            <a:ext cx="502920" cy="155448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TextBox 232"/>
          <p:cNvSpPr txBox="1"/>
          <p:nvPr/>
        </p:nvSpPr>
        <p:spPr>
          <a:xfrm>
            <a:off x="7991856" y="3767328"/>
            <a:ext cx="502920" cy="155448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570" b="0">
                <a:solidFill>
                  <a:srgbClr val="2D2D2D"/>
                </a:solidFill>
                <a:latin typeface="Malgun Gothic"/>
              </a:rPr>
              <a:t>업적평가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8540496" y="3767328"/>
            <a:ext cx="502920" cy="155448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TextBox 234"/>
          <p:cNvSpPr txBox="1"/>
          <p:nvPr/>
        </p:nvSpPr>
        <p:spPr>
          <a:xfrm>
            <a:off x="8540496" y="3767328"/>
            <a:ext cx="502920" cy="155448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570" b="0">
                <a:solidFill>
                  <a:srgbClr val="2D2D2D"/>
                </a:solidFill>
                <a:latin typeface="Malgun Gothic"/>
              </a:rPr>
              <a:t>환원자료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7443216" y="4023360"/>
            <a:ext cx="502920" cy="155448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TextBox 236"/>
          <p:cNvSpPr txBox="1"/>
          <p:nvPr/>
        </p:nvSpPr>
        <p:spPr>
          <a:xfrm>
            <a:off x="7443216" y="4023360"/>
            <a:ext cx="502920" cy="155448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570" b="0">
                <a:solidFill>
                  <a:srgbClr val="2D2D2D"/>
                </a:solidFill>
                <a:latin typeface="Malgun Gothic"/>
              </a:rPr>
              <a:t>재무원가관리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7991856" y="4023360"/>
            <a:ext cx="502920" cy="155448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TextBox 238"/>
          <p:cNvSpPr txBox="1"/>
          <p:nvPr/>
        </p:nvSpPr>
        <p:spPr>
          <a:xfrm>
            <a:off x="7991856" y="4023360"/>
            <a:ext cx="502920" cy="155448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570" b="0">
                <a:solidFill>
                  <a:srgbClr val="2D2D2D"/>
                </a:solidFill>
                <a:latin typeface="Malgun Gothic"/>
              </a:rPr>
              <a:t>감사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8540496" y="4023360"/>
            <a:ext cx="502920" cy="155448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TextBox 240"/>
          <p:cNvSpPr txBox="1"/>
          <p:nvPr/>
        </p:nvSpPr>
        <p:spPr>
          <a:xfrm>
            <a:off x="8540496" y="4023360"/>
            <a:ext cx="502920" cy="155448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570" b="0">
                <a:solidFill>
                  <a:srgbClr val="2D2D2D"/>
                </a:solidFill>
                <a:latin typeface="Malgun Gothic"/>
              </a:rPr>
              <a:t>조합원관리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7443216" y="4279392"/>
            <a:ext cx="502920" cy="155448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TextBox 242"/>
          <p:cNvSpPr txBox="1"/>
          <p:nvPr/>
        </p:nvSpPr>
        <p:spPr>
          <a:xfrm>
            <a:off x="7443216" y="4279392"/>
            <a:ext cx="502920" cy="155448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570" b="0">
                <a:solidFill>
                  <a:srgbClr val="2D2D2D"/>
                </a:solidFill>
                <a:latin typeface="Malgun Gothic"/>
              </a:rPr>
              <a:t>자금세탁방지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7991856" y="4279392"/>
            <a:ext cx="502920" cy="155448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TextBox 244"/>
          <p:cNvSpPr txBox="1"/>
          <p:nvPr/>
        </p:nvSpPr>
        <p:spPr>
          <a:xfrm>
            <a:off x="7991856" y="4279392"/>
            <a:ext cx="502920" cy="155448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570" b="0">
                <a:solidFill>
                  <a:srgbClr val="2D2D2D"/>
                </a:solidFill>
                <a:latin typeface="Malgun Gothic"/>
              </a:rPr>
              <a:t>FATCA/CRS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8540496" y="4279392"/>
            <a:ext cx="502920" cy="155448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TextBox 246"/>
          <p:cNvSpPr txBox="1"/>
          <p:nvPr/>
        </p:nvSpPr>
        <p:spPr>
          <a:xfrm>
            <a:off x="8540496" y="4279392"/>
            <a:ext cx="502920" cy="155448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570" b="0">
                <a:solidFill>
                  <a:srgbClr val="2D2D2D"/>
                </a:solidFill>
                <a:latin typeface="Malgun Gothic"/>
              </a:rPr>
              <a:t>준법감사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7443216" y="4535424"/>
            <a:ext cx="502920" cy="155448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TextBox 248"/>
          <p:cNvSpPr txBox="1"/>
          <p:nvPr/>
        </p:nvSpPr>
        <p:spPr>
          <a:xfrm>
            <a:off x="7443216" y="4535424"/>
            <a:ext cx="502920" cy="155448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570" b="0">
                <a:solidFill>
                  <a:srgbClr val="2D2D2D"/>
                </a:solidFill>
                <a:latin typeface="Malgun Gothic"/>
              </a:rPr>
              <a:t>금융정보제공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7991856" y="4535424"/>
            <a:ext cx="502920" cy="155448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TextBox 250"/>
          <p:cNvSpPr txBox="1"/>
          <p:nvPr/>
        </p:nvSpPr>
        <p:spPr>
          <a:xfrm>
            <a:off x="7991856" y="4535424"/>
            <a:ext cx="502920" cy="155448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570" b="0">
                <a:solidFill>
                  <a:srgbClr val="2D2D2D"/>
                </a:solidFill>
                <a:latin typeface="Malgun Gothic"/>
              </a:rPr>
              <a:t>원천징수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8540496" y="4535424"/>
            <a:ext cx="502920" cy="155448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TextBox 252"/>
          <p:cNvSpPr txBox="1"/>
          <p:nvPr/>
        </p:nvSpPr>
        <p:spPr>
          <a:xfrm>
            <a:off x="8540496" y="4535424"/>
            <a:ext cx="502920" cy="155448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570" b="0">
                <a:solidFill>
                  <a:srgbClr val="2D2D2D"/>
                </a:solidFill>
                <a:latin typeface="Malgun Gothic"/>
              </a:rPr>
              <a:t>내부회계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7388352" y="4919472"/>
            <a:ext cx="822960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323232"/>
                </a:solidFill>
                <a:latin typeface="Malgun Gothic"/>
              </a:rPr>
              <a:t>리스크 관리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7991856" y="4882896"/>
            <a:ext cx="502920" cy="164592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TextBox 255"/>
          <p:cNvSpPr txBox="1"/>
          <p:nvPr/>
        </p:nvSpPr>
        <p:spPr>
          <a:xfrm>
            <a:off x="7991856" y="4882896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540" b="0">
                <a:solidFill>
                  <a:srgbClr val="2D2D2D"/>
                </a:solidFill>
                <a:latin typeface="Malgun Gothic"/>
              </a:rPr>
              <a:t>통합구조개선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8540496" y="4882896"/>
            <a:ext cx="502920" cy="164592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8" name="TextBox 257"/>
          <p:cNvSpPr txBox="1"/>
          <p:nvPr/>
        </p:nvSpPr>
        <p:spPr>
          <a:xfrm>
            <a:off x="8540496" y="4882896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540" b="0">
                <a:solidFill>
                  <a:srgbClr val="2D2D2D"/>
                </a:solidFill>
                <a:latin typeface="Malgun Gothic"/>
              </a:rPr>
              <a:t>사무소조기경
보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7991856" y="5138928"/>
            <a:ext cx="502920" cy="164592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TextBox 259"/>
          <p:cNvSpPr txBox="1"/>
          <p:nvPr/>
        </p:nvSpPr>
        <p:spPr>
          <a:xfrm>
            <a:off x="7991856" y="5138928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540" b="0">
                <a:solidFill>
                  <a:srgbClr val="2D2D2D"/>
                </a:solidFill>
                <a:latin typeface="Malgun Gothic"/>
              </a:rPr>
              <a:t>상호금융 ALM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8540496" y="5138928"/>
            <a:ext cx="502920" cy="164592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2" name="TextBox 261"/>
          <p:cNvSpPr txBox="1"/>
          <p:nvPr/>
        </p:nvSpPr>
        <p:spPr>
          <a:xfrm>
            <a:off x="8540496" y="5138928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540" b="0">
                <a:solidFill>
                  <a:srgbClr val="2D2D2D"/>
                </a:solidFill>
                <a:latin typeface="Malgun Gothic"/>
              </a:rPr>
              <a:t>여신BSS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7991856" y="5394960"/>
            <a:ext cx="502920" cy="164592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4" name="TextBox 263"/>
          <p:cNvSpPr txBox="1"/>
          <p:nvPr/>
        </p:nvSpPr>
        <p:spPr>
          <a:xfrm>
            <a:off x="7991856" y="5394960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540" b="0">
                <a:solidFill>
                  <a:srgbClr val="2D2D2D"/>
                </a:solidFill>
                <a:latin typeface="Malgun Gothic"/>
              </a:rPr>
              <a:t>상속인 금융조
회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8540496" y="5394960"/>
            <a:ext cx="502920" cy="164592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6" name="TextBox 265"/>
          <p:cNvSpPr txBox="1"/>
          <p:nvPr/>
        </p:nvSpPr>
        <p:spPr>
          <a:xfrm>
            <a:off x="8540496" y="5394960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540" b="0">
                <a:solidFill>
                  <a:srgbClr val="2D2D2D"/>
                </a:solidFill>
                <a:latin typeface="Malgun Gothic"/>
              </a:rPr>
              <a:t>사무관리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7991856" y="5650992"/>
            <a:ext cx="502920" cy="164592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8" name="TextBox 267"/>
          <p:cNvSpPr txBox="1"/>
          <p:nvPr/>
        </p:nvSpPr>
        <p:spPr>
          <a:xfrm>
            <a:off x="7991856" y="5650992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540" b="0">
                <a:solidFill>
                  <a:srgbClr val="2D2D2D"/>
                </a:solidFill>
                <a:latin typeface="Malgun Gothic"/>
              </a:rPr>
              <a:t>예보부실 예방</a:t>
            </a:r>
          </a:p>
        </p:txBody>
      </p:sp>
      <p:sp>
        <p:nvSpPr>
          <p:cNvPr id="269" name="Rectangle 268"/>
          <p:cNvSpPr/>
          <p:nvPr/>
        </p:nvSpPr>
        <p:spPr>
          <a:xfrm>
            <a:off x="8540496" y="5650992"/>
            <a:ext cx="502920" cy="164592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TextBox 269"/>
          <p:cNvSpPr txBox="1"/>
          <p:nvPr/>
        </p:nvSpPr>
        <p:spPr>
          <a:xfrm>
            <a:off x="8540496" y="5650992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540" b="0">
                <a:solidFill>
                  <a:srgbClr val="2D2D2D"/>
                </a:solidFill>
                <a:latin typeface="Malgun Gothic"/>
              </a:rPr>
              <a:t>채권관리</a:t>
            </a:r>
          </a:p>
        </p:txBody>
      </p:sp>
      <p:sp>
        <p:nvSpPr>
          <p:cNvPr id="271" name="Rectangle 270"/>
          <p:cNvSpPr/>
          <p:nvPr/>
        </p:nvSpPr>
        <p:spPr>
          <a:xfrm>
            <a:off x="7991856" y="5907024"/>
            <a:ext cx="502920" cy="164592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2" name="TextBox 271"/>
          <p:cNvSpPr txBox="1"/>
          <p:nvPr/>
        </p:nvSpPr>
        <p:spPr>
          <a:xfrm>
            <a:off x="7991856" y="5907024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540" b="0">
                <a:solidFill>
                  <a:srgbClr val="2D2D2D"/>
                </a:solidFill>
                <a:latin typeface="Malgun Gothic"/>
              </a:rPr>
              <a:t>신용리스크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8540496" y="5907024"/>
            <a:ext cx="502920" cy="164592"/>
          </a:xfrm>
          <a:prstGeom prst="rect">
            <a:avLst/>
          </a:prstGeom>
          <a:solidFill>
            <a:srgbClr val="D9E1D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4" name="TextBox 273"/>
          <p:cNvSpPr txBox="1"/>
          <p:nvPr/>
        </p:nvSpPr>
        <p:spPr>
          <a:xfrm>
            <a:off x="8540496" y="5907024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540" b="0">
                <a:solidFill>
                  <a:srgbClr val="2D2D2D"/>
                </a:solidFill>
                <a:latin typeface="Malgun Gothic"/>
              </a:rPr>
              <a:t>운영리스크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5065776" y="5907024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464646"/>
                </a:solidFill>
                <a:latin typeface="Malgun Gothic"/>
              </a:rPr>
              <a:t>6</a:t>
            </a:r>
          </a:p>
        </p:txBody>
      </p:sp>
      <p:sp>
        <p:nvSpPr>
          <p:cNvPr id="276" name="Isosceles Triangle 275"/>
          <p:cNvSpPr/>
          <p:nvPr/>
        </p:nvSpPr>
        <p:spPr>
          <a:xfrm rot="10800000">
            <a:off x="18288" y="5815584"/>
            <a:ext cx="118872" cy="164592"/>
          </a:xfrm>
          <a:prstGeom prst="triangle">
            <a:avLst/>
          </a:prstGeom>
          <a:solidFill>
            <a:srgbClr val="EC9A34"/>
          </a:solidFill>
          <a:ln>
            <a:solidFill>
              <a:srgbClr val="EC9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7" name="Oval 276"/>
          <p:cNvSpPr/>
          <p:nvPr/>
        </p:nvSpPr>
        <p:spPr>
          <a:xfrm>
            <a:off x="109728" y="5852160"/>
            <a:ext cx="45720" cy="45720"/>
          </a:xfrm>
          <a:prstGeom prst="ellipse">
            <a:avLst/>
          </a:prstGeom>
          <a:solidFill>
            <a:srgbClr val="EC9A34"/>
          </a:solidFill>
          <a:ln>
            <a:solidFill>
              <a:srgbClr val="EC9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8" name="TextBox 277"/>
          <p:cNvSpPr txBox="1"/>
          <p:nvPr/>
        </p:nvSpPr>
        <p:spPr>
          <a:xfrm>
            <a:off x="164592" y="5806440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>
                <a:solidFill>
                  <a:srgbClr val="26854A"/>
                </a:solidFill>
                <a:latin typeface="Malgun Gothic"/>
              </a:rPr>
              <a:t>농협중앙회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8872" y="91440"/>
            <a:ext cx="740664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100" b="1">
                <a:solidFill>
                  <a:srgbClr val="282828"/>
                </a:solidFill>
                <a:latin typeface="Malgun Gothic"/>
              </a:rPr>
              <a:t>(Backup) 『 차세대 정보계 시스템 구축』 아키텍처 수행 방법론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8872" y="585216"/>
            <a:ext cx="9848088" cy="0"/>
          </a:xfrm>
          <a:prstGeom prst="line">
            <a:avLst/>
          </a:prstGeom>
          <a:ln w="19050">
            <a:solidFill>
              <a:srgbClr val="3737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335024" y="786384"/>
            <a:ext cx="8156448" cy="5212080"/>
          </a:xfrm>
          <a:prstGeom prst="rect">
            <a:avLst/>
          </a:prstGeom>
          <a:solidFill>
            <a:srgbClr val="FAFAFA"/>
          </a:solidFill>
          <a:ln w="13970">
            <a:solidFill>
              <a:srgbClr val="3D5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56032" y="749808"/>
            <a:ext cx="1005840" cy="5303520"/>
          </a:xfrm>
          <a:prstGeom prst="rect">
            <a:avLst/>
          </a:prstGeom>
          <a:solidFill>
            <a:srgbClr val="F0F5F5"/>
          </a:solidFill>
          <a:ln w="635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283464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500" b="0">
                <a:solidFill>
                  <a:srgbClr val="2D2D2D"/>
                </a:solidFill>
                <a:latin typeface="Malgun Gothic"/>
              </a:rPr>
              <a:t>아키텍처
수행추진
방법론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758952"/>
            <a:ext cx="1024128" cy="182880"/>
          </a:xfrm>
          <a:prstGeom prst="rect">
            <a:avLst/>
          </a:prstGeom>
          <a:solidFill>
            <a:srgbClr val="304EAF"/>
          </a:solidFill>
          <a:ln w="6350">
            <a:solidFill>
              <a:srgbClr val="304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6032" y="768096"/>
            <a:ext cx="1024128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수행성격-분별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950976"/>
            <a:ext cx="1024128" cy="118872"/>
          </a:xfrm>
          <a:prstGeom prst="rect">
            <a:avLst/>
          </a:prstGeom>
          <a:solidFill>
            <a:srgbClr val="DDE1D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3464" y="950976"/>
            <a:ext cx="960120" cy="1097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680" b="0">
                <a:solidFill>
                  <a:srgbClr val="323232"/>
                </a:solidFill>
                <a:latin typeface="Malgun Gothic"/>
              </a:rPr>
              <a:t>제안모델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1078992"/>
            <a:ext cx="1024128" cy="118872"/>
          </a:xfrm>
          <a:prstGeom prst="rect">
            <a:avLst/>
          </a:prstGeom>
          <a:solidFill>
            <a:srgbClr val="DDE1D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3464" y="1078992"/>
            <a:ext cx="960120" cy="1097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680" b="0">
                <a:solidFill>
                  <a:srgbClr val="323232"/>
                </a:solidFill>
                <a:latin typeface="Malgun Gothic"/>
              </a:rPr>
              <a:t>목표정의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" y="1207008"/>
            <a:ext cx="1024128" cy="118872"/>
          </a:xfrm>
          <a:prstGeom prst="rect">
            <a:avLst/>
          </a:prstGeom>
          <a:solidFill>
            <a:srgbClr val="DDE1D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3464" y="1207008"/>
            <a:ext cx="960120" cy="1097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680" b="0">
                <a:solidFill>
                  <a:srgbClr val="323232"/>
                </a:solidFill>
                <a:latin typeface="Malgun Gothic"/>
              </a:rPr>
              <a:t>RFP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896112"/>
            <a:ext cx="7269480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150">
                <a:solidFill>
                  <a:srgbClr val="AA4642"/>
                </a:solidFill>
                <a:latin typeface="Malgun Gothic"/>
              </a:rPr>
              <a:t>선행 아키텍처(ISP, 제안서, 농협은행, 타사례)를 기반으로 검증된 Next Architecture 기반을 구축하여 확장성 있는 서비스를 지원한다. 이를 위한 수행 전략은 수립/확립/고도화이행 단계로 세분화 해서 추진한다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81328" y="1463040"/>
            <a:ext cx="1828800" cy="164592"/>
          </a:xfrm>
          <a:prstGeom prst="rect">
            <a:avLst/>
          </a:prstGeom>
          <a:solidFill>
            <a:srgbClr val="E6EBE9"/>
          </a:solidFill>
          <a:ln w="508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517904" y="1463040"/>
            <a:ext cx="1755648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720" b="0">
                <a:solidFill>
                  <a:srgbClr val="323232"/>
                </a:solidFill>
                <a:latin typeface="Malgun Gothic"/>
              </a:rPr>
              <a:t>목표 (현립) 아키텍처 정의서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81328" y="1691640"/>
            <a:ext cx="1828800" cy="164592"/>
          </a:xfrm>
          <a:prstGeom prst="rect">
            <a:avLst/>
          </a:prstGeom>
          <a:solidFill>
            <a:srgbClr val="E6EBE9"/>
          </a:solidFill>
          <a:ln w="508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17904" y="1691640"/>
            <a:ext cx="1755648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720" b="0">
                <a:solidFill>
                  <a:srgbClr val="323232"/>
                </a:solidFill>
                <a:latin typeface="Malgun Gothic"/>
              </a:rPr>
              <a:t>개발표준          가이드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2258568" y="1892807"/>
            <a:ext cx="274320" cy="219456"/>
          </a:xfrm>
          <a:prstGeom prst="downArrow">
            <a:avLst/>
          </a:prstGeom>
          <a:solidFill>
            <a:srgbClr val="A5413C"/>
          </a:solidFill>
          <a:ln>
            <a:solidFill>
              <a:srgbClr val="A54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886200" y="1463040"/>
            <a:ext cx="1828800" cy="164592"/>
          </a:xfrm>
          <a:prstGeom prst="rect">
            <a:avLst/>
          </a:prstGeom>
          <a:solidFill>
            <a:srgbClr val="E6EBE9"/>
          </a:solidFill>
          <a:ln w="508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922776" y="1463040"/>
            <a:ext cx="1755648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720" b="0">
                <a:solidFill>
                  <a:srgbClr val="323232"/>
                </a:solidFill>
                <a:latin typeface="Malgun Gothic"/>
              </a:rPr>
              <a:t>목표 (수립) 아키텍처 정의서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86200" y="1691640"/>
            <a:ext cx="1828800" cy="164592"/>
          </a:xfrm>
          <a:prstGeom prst="rect">
            <a:avLst/>
          </a:prstGeom>
          <a:solidFill>
            <a:srgbClr val="E6EBE9"/>
          </a:solidFill>
          <a:ln w="508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922776" y="1691640"/>
            <a:ext cx="1755648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720" b="0">
                <a:solidFill>
                  <a:srgbClr val="323232"/>
                </a:solidFill>
                <a:latin typeface="Malgun Gothic"/>
              </a:rPr>
              <a:t>현행 아키텍처 자료       제안서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4663440" y="1892807"/>
            <a:ext cx="274320" cy="219456"/>
          </a:xfrm>
          <a:prstGeom prst="downArrow">
            <a:avLst/>
          </a:prstGeom>
          <a:solidFill>
            <a:srgbClr val="A5413C"/>
          </a:solidFill>
          <a:ln>
            <a:solidFill>
              <a:srgbClr val="A54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72784" y="1463040"/>
            <a:ext cx="1828800" cy="164592"/>
          </a:xfrm>
          <a:prstGeom prst="rect">
            <a:avLst/>
          </a:prstGeom>
          <a:solidFill>
            <a:srgbClr val="E6EBE9"/>
          </a:solidFill>
          <a:ln w="508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09360" y="1463040"/>
            <a:ext cx="1755648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720" b="0">
                <a:solidFill>
                  <a:srgbClr val="323232"/>
                </a:solidFill>
                <a:latin typeface="Malgun Gothic"/>
              </a:rPr>
              <a:t>컨설팅 자료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72784" y="1691640"/>
            <a:ext cx="1828800" cy="164592"/>
          </a:xfrm>
          <a:prstGeom prst="rect">
            <a:avLst/>
          </a:prstGeom>
          <a:solidFill>
            <a:srgbClr val="E6EBE9"/>
          </a:solidFill>
          <a:ln w="508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09360" y="1691640"/>
            <a:ext cx="1755648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720" b="0">
                <a:solidFill>
                  <a:srgbClr val="323232"/>
                </a:solidFill>
                <a:latin typeface="Malgun Gothic"/>
              </a:rPr>
              <a:t>현행 아키텍처 자료       제안서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7050024" y="1892807"/>
            <a:ext cx="274320" cy="219456"/>
          </a:xfrm>
          <a:prstGeom prst="downArrow">
            <a:avLst/>
          </a:prstGeom>
          <a:solidFill>
            <a:srgbClr val="A5413C"/>
          </a:solidFill>
          <a:ln>
            <a:solidFill>
              <a:srgbClr val="A54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Left Arrow 30"/>
          <p:cNvSpPr/>
          <p:nvPr/>
        </p:nvSpPr>
        <p:spPr>
          <a:xfrm>
            <a:off x="3493008" y="2761488"/>
            <a:ext cx="274320" cy="137160"/>
          </a:xfrm>
          <a:prstGeom prst="leftArrow">
            <a:avLst/>
          </a:prstGeom>
          <a:solidFill>
            <a:srgbClr val="AA4642"/>
          </a:solidFill>
          <a:ln>
            <a:solidFill>
              <a:srgbClr val="AA4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Left Arrow 31"/>
          <p:cNvSpPr/>
          <p:nvPr/>
        </p:nvSpPr>
        <p:spPr>
          <a:xfrm>
            <a:off x="5879592" y="2761488"/>
            <a:ext cx="274320" cy="137160"/>
          </a:xfrm>
          <a:prstGeom prst="leftArrow">
            <a:avLst/>
          </a:prstGeom>
          <a:solidFill>
            <a:srgbClr val="AA4642"/>
          </a:solidFill>
          <a:ln>
            <a:solidFill>
              <a:srgbClr val="AA4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Left Arrow 32"/>
          <p:cNvSpPr/>
          <p:nvPr/>
        </p:nvSpPr>
        <p:spPr>
          <a:xfrm>
            <a:off x="8412480" y="2761488"/>
            <a:ext cx="274320" cy="137160"/>
          </a:xfrm>
          <a:prstGeom prst="leftArrow">
            <a:avLst/>
          </a:prstGeom>
          <a:solidFill>
            <a:srgbClr val="AA4642"/>
          </a:solidFill>
          <a:ln>
            <a:solidFill>
              <a:srgbClr val="AA4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Left-Right Arrow 33"/>
          <p:cNvSpPr/>
          <p:nvPr/>
        </p:nvSpPr>
        <p:spPr>
          <a:xfrm>
            <a:off x="3611880" y="3840480"/>
            <a:ext cx="256032" cy="731520"/>
          </a:xfrm>
          <a:prstGeom prst="leftRightArrow">
            <a:avLst/>
          </a:prstGeom>
          <a:solidFill>
            <a:srgbClr val="1C5AD2"/>
          </a:solidFill>
          <a:ln>
            <a:solidFill>
              <a:srgbClr val="1C5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Left-Right Arrow 34"/>
          <p:cNvSpPr/>
          <p:nvPr/>
        </p:nvSpPr>
        <p:spPr>
          <a:xfrm>
            <a:off x="6007608" y="3840480"/>
            <a:ext cx="256032" cy="731520"/>
          </a:xfrm>
          <a:prstGeom prst="leftRightArrow">
            <a:avLst/>
          </a:prstGeom>
          <a:solidFill>
            <a:srgbClr val="1C5AD2"/>
          </a:solidFill>
          <a:ln>
            <a:solidFill>
              <a:srgbClr val="1C5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Left Arrow 35"/>
          <p:cNvSpPr/>
          <p:nvPr/>
        </p:nvSpPr>
        <p:spPr>
          <a:xfrm>
            <a:off x="8458200" y="3877056"/>
            <a:ext cx="256032" cy="676656"/>
          </a:xfrm>
          <a:prstGeom prst="leftArrow">
            <a:avLst/>
          </a:prstGeom>
          <a:solidFill>
            <a:srgbClr val="AA4642"/>
          </a:solidFill>
          <a:ln>
            <a:solidFill>
              <a:srgbClr val="AA4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481328" y="2048256"/>
            <a:ext cx="2048256" cy="3108960"/>
          </a:xfrm>
          <a:prstGeom prst="rect">
            <a:avLst/>
          </a:prstGeom>
          <a:solidFill>
            <a:srgbClr val="ECEEEB"/>
          </a:solidFill>
          <a:ln w="762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481328" y="2048256"/>
            <a:ext cx="2048256" cy="201168"/>
          </a:xfrm>
          <a:prstGeom prst="rect">
            <a:avLst/>
          </a:prstGeom>
          <a:solidFill>
            <a:srgbClr val="232D2A"/>
          </a:solidFill>
          <a:ln w="5080">
            <a:solidFill>
              <a:srgbClr val="23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481328" y="2066544"/>
            <a:ext cx="2048256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</a:rPr>
              <a:t>수행성격 - 아키텍처 실행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499616" y="2322576"/>
            <a:ext cx="2011680" cy="393192"/>
          </a:xfrm>
          <a:prstGeom prst="rect">
            <a:avLst/>
          </a:prstGeom>
          <a:solidFill>
            <a:srgbClr val="E6EBE1"/>
          </a:solidFill>
          <a:ln w="5080">
            <a:solidFill>
              <a:srgbClr val="8C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527048" y="2350008"/>
            <a:ext cx="1956816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50" b="1">
                <a:solidFill>
                  <a:srgbClr val="AA4642"/>
                </a:solidFill>
                <a:latin typeface="Malgun Gothic"/>
              </a:rPr>
              <a:t>[4] 고도화 및 평가
통합된 표준에 의한 실행 구축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554480" y="2852928"/>
            <a:ext cx="1901952" cy="210312"/>
          </a:xfrm>
          <a:prstGeom prst="rect">
            <a:avLst/>
          </a:prstGeom>
          <a:solidFill>
            <a:srgbClr val="232D2A"/>
          </a:solidFill>
          <a:ln w="5080">
            <a:solidFill>
              <a:srgbClr val="23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554480" y="2871216"/>
            <a:ext cx="1901952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통합 / 표준 아키텍처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91056" y="3145536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1">
                <a:solidFill>
                  <a:srgbClr val="AA4642"/>
                </a:solidFill>
                <a:latin typeface="Malgun Gothic"/>
              </a:rPr>
              <a:t>아키텍처 고도화/이행/지원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618488" y="3401568"/>
            <a:ext cx="1773936" cy="896112"/>
          </a:xfrm>
          <a:prstGeom prst="rect">
            <a:avLst/>
          </a:prstGeom>
          <a:solidFill>
            <a:srgbClr val="EEEEEE"/>
          </a:solidFill>
          <a:ln w="508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682496" y="3456432"/>
            <a:ext cx="1645920" cy="100584"/>
          </a:xfrm>
          <a:prstGeom prst="rect">
            <a:avLst/>
          </a:prstGeom>
          <a:solidFill>
            <a:srgbClr val="E6E6E6"/>
          </a:solidFill>
          <a:ln w="254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700784" y="3456432"/>
            <a:ext cx="1609344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570" b="0">
                <a:solidFill>
                  <a:srgbClr val="373737"/>
                </a:solidFill>
                <a:latin typeface="Malgun Gothic"/>
              </a:rPr>
              <a:t>아키텍처 설계/구현/이슈 F/U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682496" y="3575304"/>
            <a:ext cx="1645920" cy="100584"/>
          </a:xfrm>
          <a:prstGeom prst="rect">
            <a:avLst/>
          </a:prstGeom>
          <a:solidFill>
            <a:srgbClr val="E6E6E6"/>
          </a:solidFill>
          <a:ln w="254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700784" y="3575304"/>
            <a:ext cx="1609344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570" b="0">
                <a:solidFill>
                  <a:srgbClr val="373737"/>
                </a:solidFill>
                <a:latin typeface="Malgun Gothic"/>
              </a:rPr>
              <a:t>어플리케이션 표준 및 구현 가이드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682496" y="3694176"/>
            <a:ext cx="1645920" cy="100584"/>
          </a:xfrm>
          <a:prstGeom prst="rect">
            <a:avLst/>
          </a:prstGeom>
          <a:solidFill>
            <a:srgbClr val="E6E6E6"/>
          </a:solidFill>
          <a:ln w="254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700784" y="3694176"/>
            <a:ext cx="1609344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570" b="0">
                <a:solidFill>
                  <a:srgbClr val="373737"/>
                </a:solidFill>
                <a:latin typeface="Malgun Gothic"/>
              </a:rPr>
              <a:t>아키텍처 기술 구현이슈 F/U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82496" y="3813048"/>
            <a:ext cx="1645920" cy="100584"/>
          </a:xfrm>
          <a:prstGeom prst="rect">
            <a:avLst/>
          </a:prstGeom>
          <a:solidFill>
            <a:srgbClr val="E6E6E6"/>
          </a:solidFill>
          <a:ln w="254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700784" y="3813048"/>
            <a:ext cx="1609344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570" b="0">
                <a:solidFill>
                  <a:srgbClr val="373737"/>
                </a:solidFill>
                <a:latin typeface="Malgun Gothic"/>
              </a:rPr>
              <a:t>아키텍처 솔루션 가이드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682496" y="3931920"/>
            <a:ext cx="1645920" cy="100584"/>
          </a:xfrm>
          <a:prstGeom prst="rect">
            <a:avLst/>
          </a:prstGeom>
          <a:solidFill>
            <a:srgbClr val="E6E6E6"/>
          </a:solidFill>
          <a:ln w="254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700784" y="3931920"/>
            <a:ext cx="1609344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570" b="0">
                <a:solidFill>
                  <a:srgbClr val="373737"/>
                </a:solidFill>
                <a:latin typeface="Malgun Gothic"/>
              </a:rPr>
              <a:t>- 정보보호, App FWK, MFT, FOS, RD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682496" y="4050792"/>
            <a:ext cx="1645920" cy="100584"/>
          </a:xfrm>
          <a:prstGeom prst="rect">
            <a:avLst/>
          </a:prstGeom>
          <a:solidFill>
            <a:srgbClr val="E6E6E6"/>
          </a:solidFill>
          <a:ln w="254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700784" y="4050792"/>
            <a:ext cx="1609344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570" b="0">
                <a:solidFill>
                  <a:srgbClr val="373737"/>
                </a:solidFill>
                <a:latin typeface="Malgun Gothic"/>
              </a:rPr>
              <a:t>- EAI, ControlM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591056" y="4407408"/>
            <a:ext cx="886968" cy="155448"/>
          </a:xfrm>
          <a:prstGeom prst="rect">
            <a:avLst/>
          </a:prstGeom>
          <a:solidFill>
            <a:srgbClr val="E6E6E6"/>
          </a:solidFill>
          <a:ln w="381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609344" y="4409236"/>
            <a:ext cx="850392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580" b="0">
                <a:solidFill>
                  <a:srgbClr val="373737"/>
                </a:solidFill>
                <a:latin typeface="Malgun Gothic"/>
              </a:rPr>
              <a:t>인프라 환경 구축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591056" y="4572000"/>
            <a:ext cx="886968" cy="155448"/>
          </a:xfrm>
          <a:prstGeom prst="rect">
            <a:avLst/>
          </a:prstGeom>
          <a:solidFill>
            <a:srgbClr val="E6E6E6"/>
          </a:solidFill>
          <a:ln w="381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609344" y="4573828"/>
            <a:ext cx="850392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580" b="0">
                <a:solidFill>
                  <a:srgbClr val="373737"/>
                </a:solidFill>
                <a:latin typeface="Malgun Gothic"/>
              </a:rPr>
              <a:t>선도개발 환경 구축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591056" y="4736592"/>
            <a:ext cx="886968" cy="155448"/>
          </a:xfrm>
          <a:prstGeom prst="rect">
            <a:avLst/>
          </a:prstGeom>
          <a:solidFill>
            <a:srgbClr val="E6E6E6"/>
          </a:solidFill>
          <a:ln w="381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609344" y="4738420"/>
            <a:ext cx="850392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580" b="0">
                <a:solidFill>
                  <a:srgbClr val="373737"/>
                </a:solidFill>
                <a:latin typeface="Malgun Gothic"/>
              </a:rPr>
              <a:t>개발환경 구축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591056" y="4901184"/>
            <a:ext cx="886968" cy="155448"/>
          </a:xfrm>
          <a:prstGeom prst="rect">
            <a:avLst/>
          </a:prstGeom>
          <a:solidFill>
            <a:srgbClr val="E6E6E6"/>
          </a:solidFill>
          <a:ln w="381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609344" y="4903012"/>
            <a:ext cx="850392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580" b="0">
                <a:solidFill>
                  <a:srgbClr val="373737"/>
                </a:solidFill>
                <a:latin typeface="Malgun Gothic"/>
              </a:rPr>
              <a:t>운영환경 구축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591056" y="5065776"/>
            <a:ext cx="886968" cy="155448"/>
          </a:xfrm>
          <a:prstGeom prst="rect">
            <a:avLst/>
          </a:prstGeom>
          <a:solidFill>
            <a:srgbClr val="E6E6E6"/>
          </a:solidFill>
          <a:ln w="381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609344" y="5067604"/>
            <a:ext cx="850392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580" b="0">
                <a:solidFill>
                  <a:srgbClr val="373737"/>
                </a:solidFill>
                <a:latin typeface="Malgun Gothic"/>
              </a:rPr>
              <a:t>데이터 이행 환경 구축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591056" y="5230368"/>
            <a:ext cx="886968" cy="155448"/>
          </a:xfrm>
          <a:prstGeom prst="rect">
            <a:avLst/>
          </a:prstGeom>
          <a:solidFill>
            <a:srgbClr val="E6E6E6"/>
          </a:solidFill>
          <a:ln w="381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609344" y="5232196"/>
            <a:ext cx="850392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580" b="0">
                <a:solidFill>
                  <a:srgbClr val="373737"/>
                </a:solidFill>
                <a:latin typeface="Malgun Gothic"/>
              </a:rPr>
              <a:t>형상관리 환경 구축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532888" y="4407408"/>
            <a:ext cx="886968" cy="155448"/>
          </a:xfrm>
          <a:prstGeom prst="rect">
            <a:avLst/>
          </a:prstGeom>
          <a:solidFill>
            <a:srgbClr val="E6E6E6"/>
          </a:solidFill>
          <a:ln w="381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2551176" y="4409236"/>
            <a:ext cx="850392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580" b="0">
                <a:solidFill>
                  <a:srgbClr val="373737"/>
                </a:solidFill>
                <a:latin typeface="Malgun Gothic"/>
              </a:rPr>
              <a:t>테스트 수행 및 지원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532888" y="4572000"/>
            <a:ext cx="886968" cy="155448"/>
          </a:xfrm>
          <a:prstGeom prst="rect">
            <a:avLst/>
          </a:prstGeom>
          <a:solidFill>
            <a:srgbClr val="E6E6E6"/>
          </a:solidFill>
          <a:ln w="381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2551176" y="4573828"/>
            <a:ext cx="850392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580" b="0">
                <a:solidFill>
                  <a:srgbClr val="373737"/>
                </a:solidFill>
                <a:latin typeface="Malgun Gothic"/>
              </a:rPr>
              <a:t>통합테스트 지원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532888" y="4736592"/>
            <a:ext cx="886968" cy="155448"/>
          </a:xfrm>
          <a:prstGeom prst="rect">
            <a:avLst/>
          </a:prstGeom>
          <a:solidFill>
            <a:srgbClr val="E6E6E6"/>
          </a:solidFill>
          <a:ln w="381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2551176" y="4738420"/>
            <a:ext cx="850392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580" b="0">
                <a:solidFill>
                  <a:srgbClr val="373737"/>
                </a:solidFill>
                <a:latin typeface="Malgun Gothic"/>
              </a:rPr>
              <a:t>이행 테스트 지원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532888" y="4901184"/>
            <a:ext cx="886968" cy="155448"/>
          </a:xfrm>
          <a:prstGeom prst="rect">
            <a:avLst/>
          </a:prstGeom>
          <a:solidFill>
            <a:srgbClr val="E6E6E6"/>
          </a:solidFill>
          <a:ln w="381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2551176" y="4903012"/>
            <a:ext cx="850392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580" b="0">
                <a:solidFill>
                  <a:srgbClr val="373737"/>
                </a:solidFill>
                <a:latin typeface="Malgun Gothic"/>
              </a:rPr>
              <a:t>시스템 테스트 수행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532888" y="5065776"/>
            <a:ext cx="886968" cy="155448"/>
          </a:xfrm>
          <a:prstGeom prst="rect">
            <a:avLst/>
          </a:prstGeom>
          <a:solidFill>
            <a:srgbClr val="E6E6E6"/>
          </a:solidFill>
          <a:ln w="381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551176" y="5067604"/>
            <a:ext cx="850392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580" b="0">
                <a:solidFill>
                  <a:srgbClr val="373737"/>
                </a:solidFill>
                <a:latin typeface="Malgun Gothic"/>
              </a:rPr>
              <a:t>가용성테스트 수행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532888" y="5230368"/>
            <a:ext cx="886968" cy="155448"/>
          </a:xfrm>
          <a:prstGeom prst="rect">
            <a:avLst/>
          </a:prstGeom>
          <a:solidFill>
            <a:srgbClr val="E6E6E6"/>
          </a:solidFill>
          <a:ln w="381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2551176" y="5232196"/>
            <a:ext cx="850392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580" b="0">
                <a:solidFill>
                  <a:srgbClr val="373737"/>
                </a:solidFill>
                <a:latin typeface="Malgun Gothic"/>
              </a:rPr>
              <a:t>형상 운영 지원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886200" y="2048256"/>
            <a:ext cx="2048256" cy="3108960"/>
          </a:xfrm>
          <a:prstGeom prst="rect">
            <a:avLst/>
          </a:prstGeom>
          <a:solidFill>
            <a:srgbClr val="ECEEEB"/>
          </a:solidFill>
          <a:ln w="762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3886200" y="2048256"/>
            <a:ext cx="2048256" cy="201168"/>
          </a:xfrm>
          <a:prstGeom prst="rect">
            <a:avLst/>
          </a:prstGeom>
          <a:solidFill>
            <a:srgbClr val="232D2A"/>
          </a:solidFill>
          <a:ln w="5080">
            <a:solidFill>
              <a:srgbClr val="23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3886200" y="2066544"/>
            <a:ext cx="2048256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</a:rPr>
              <a:t>수행성격 - 아키텍처 통합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904488" y="2322576"/>
            <a:ext cx="2011680" cy="393192"/>
          </a:xfrm>
          <a:prstGeom prst="rect">
            <a:avLst/>
          </a:prstGeom>
          <a:solidFill>
            <a:srgbClr val="E6EBE1"/>
          </a:solidFill>
          <a:ln w="5080">
            <a:solidFill>
              <a:srgbClr val="8C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3931920" y="2350008"/>
            <a:ext cx="1956816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50" b="1">
                <a:solidFill>
                  <a:srgbClr val="AA4642"/>
                </a:solidFill>
                <a:latin typeface="Malgun Gothic"/>
              </a:rPr>
              <a:t>[3] 관심사 통합
분리해서 통합하고 표준 정리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959352" y="2852928"/>
            <a:ext cx="1901952" cy="210312"/>
          </a:xfrm>
          <a:prstGeom prst="rect">
            <a:avLst/>
          </a:prstGeom>
          <a:solidFill>
            <a:srgbClr val="232D2A"/>
          </a:solidFill>
          <a:ln w="5080">
            <a:solidFill>
              <a:srgbClr val="23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3959352" y="2871216"/>
            <a:ext cx="1901952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Malgun Gothic"/>
              </a:rPr>
              <a:t>관심사 통합 (AA/TA/DA/IA/SA)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995928" y="3127248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19" b="1">
                <a:solidFill>
                  <a:srgbClr val="AA4642"/>
                </a:solidFill>
                <a:latin typeface="Malgun Gothic"/>
              </a:rPr>
              <a:t>아키텍처 확립 - Runtime Driven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023360" y="3529584"/>
            <a:ext cx="1773936" cy="256032"/>
          </a:xfrm>
          <a:prstGeom prst="rect">
            <a:avLst/>
          </a:prstGeom>
          <a:solidFill>
            <a:srgbClr val="EEEEEE"/>
          </a:solidFill>
          <a:ln w="508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4059936" y="3584448"/>
            <a:ext cx="1700784" cy="1097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700" b="0">
                <a:solidFill>
                  <a:srgbClr val="373737"/>
                </a:solidFill>
                <a:latin typeface="Malgun Gothic"/>
              </a:rPr>
              <a:t>어플리케이션 코드 정의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069080" y="3904487"/>
            <a:ext cx="1682496" cy="1371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00" b="0">
                <a:solidFill>
                  <a:srgbClr val="373737"/>
                </a:solidFill>
                <a:latin typeface="Malgun Gothic"/>
              </a:rPr>
              <a:t>목표 실행 아키텍터 기술 및 고도화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087368" y="4078224"/>
            <a:ext cx="1645920" cy="100584"/>
          </a:xfrm>
          <a:prstGeom prst="rect">
            <a:avLst/>
          </a:prstGeom>
          <a:solidFill>
            <a:srgbClr val="E6E6E6"/>
          </a:solidFill>
          <a:ln w="254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4105656" y="4078224"/>
            <a:ext cx="1609344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590" b="0">
                <a:solidFill>
                  <a:srgbClr val="373737"/>
                </a:solidFill>
                <a:latin typeface="Malgun Gothic"/>
              </a:rPr>
              <a:t>최상위 목표 기술 아키텍처 정의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087368" y="4197096"/>
            <a:ext cx="1645920" cy="100584"/>
          </a:xfrm>
          <a:prstGeom prst="rect">
            <a:avLst/>
          </a:prstGeom>
          <a:solidFill>
            <a:srgbClr val="E6E6E6"/>
          </a:solidFill>
          <a:ln w="254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4105656" y="4197096"/>
            <a:ext cx="1609344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590" b="0">
                <a:solidFill>
                  <a:srgbClr val="373737"/>
                </a:solidFill>
                <a:latin typeface="Malgun Gothic"/>
              </a:rPr>
              <a:t>논리기술 아키텍처 정의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087368" y="4315968"/>
            <a:ext cx="1645920" cy="100584"/>
          </a:xfrm>
          <a:prstGeom prst="rect">
            <a:avLst/>
          </a:prstGeom>
          <a:solidFill>
            <a:srgbClr val="E6E6E6"/>
          </a:solidFill>
          <a:ln w="254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4105656" y="4315968"/>
            <a:ext cx="1609344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590" b="0">
                <a:solidFill>
                  <a:srgbClr val="373737"/>
                </a:solidFill>
                <a:latin typeface="Malgun Gothic"/>
              </a:rPr>
              <a:t>물리기술 아키텍처 정의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087368" y="4434840"/>
            <a:ext cx="1645920" cy="100584"/>
          </a:xfrm>
          <a:prstGeom prst="rect">
            <a:avLst/>
          </a:prstGeom>
          <a:solidFill>
            <a:srgbClr val="E6E6E6"/>
          </a:solidFill>
          <a:ln w="254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4105656" y="4434840"/>
            <a:ext cx="1609344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590" b="0">
                <a:solidFill>
                  <a:srgbClr val="373737"/>
                </a:solidFill>
                <a:latin typeface="Malgun Gothic"/>
              </a:rPr>
              <a:t>요소기술 메커니즘 기술 정의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087368" y="4553712"/>
            <a:ext cx="1645920" cy="100584"/>
          </a:xfrm>
          <a:prstGeom prst="rect">
            <a:avLst/>
          </a:prstGeom>
          <a:solidFill>
            <a:srgbClr val="E6E6E6"/>
          </a:solidFill>
          <a:ln w="254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4105656" y="4553712"/>
            <a:ext cx="1609344" cy="960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590" b="0">
                <a:solidFill>
                  <a:srgbClr val="373737"/>
                </a:solidFill>
                <a:latin typeface="Malgun Gothic"/>
              </a:rPr>
              <a:t>런타임 인터페이스 정의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069080" y="4745736"/>
            <a:ext cx="1682496" cy="12801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00" b="0">
                <a:solidFill>
                  <a:srgbClr val="373737"/>
                </a:solidFill>
                <a:latin typeface="Malgun Gothic"/>
              </a:rPr>
              <a:t>개발표준 및 가이드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087368" y="4864608"/>
            <a:ext cx="1645920" cy="91440"/>
          </a:xfrm>
          <a:prstGeom prst="rect">
            <a:avLst/>
          </a:prstGeom>
          <a:solidFill>
            <a:srgbClr val="E6E6E6"/>
          </a:solidFill>
          <a:ln w="254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4105656" y="4864608"/>
            <a:ext cx="1609344" cy="868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580" b="0">
                <a:solidFill>
                  <a:srgbClr val="373737"/>
                </a:solidFill>
                <a:latin typeface="Malgun Gothic"/>
              </a:rPr>
              <a:t>온라인 개발표준 및 가이드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087368" y="4974336"/>
            <a:ext cx="1645920" cy="91440"/>
          </a:xfrm>
          <a:prstGeom prst="rect">
            <a:avLst/>
          </a:prstGeom>
          <a:solidFill>
            <a:srgbClr val="E6E6E6"/>
          </a:solidFill>
          <a:ln w="254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4105656" y="4974336"/>
            <a:ext cx="1609344" cy="868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580" b="0">
                <a:solidFill>
                  <a:srgbClr val="373737"/>
                </a:solidFill>
                <a:latin typeface="Malgun Gothic"/>
              </a:rPr>
              <a:t>배치 개발표준 및 가이드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087368" y="5084064"/>
            <a:ext cx="1645920" cy="91440"/>
          </a:xfrm>
          <a:prstGeom prst="rect">
            <a:avLst/>
          </a:prstGeom>
          <a:solidFill>
            <a:srgbClr val="E6E6E6"/>
          </a:solidFill>
          <a:ln w="254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4105656" y="5084064"/>
            <a:ext cx="1609344" cy="868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580" b="0">
                <a:solidFill>
                  <a:srgbClr val="373737"/>
                </a:solidFill>
                <a:latin typeface="Malgun Gothic"/>
              </a:rPr>
              <a:t>어플리케이션 명명규칙 정의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087368" y="5193792"/>
            <a:ext cx="1645920" cy="91440"/>
          </a:xfrm>
          <a:prstGeom prst="rect">
            <a:avLst/>
          </a:prstGeom>
          <a:solidFill>
            <a:srgbClr val="E6E6E6"/>
          </a:solidFill>
          <a:ln w="254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4105656" y="5193792"/>
            <a:ext cx="1609344" cy="868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580" b="0">
                <a:solidFill>
                  <a:srgbClr val="373737"/>
                </a:solidFill>
                <a:latin typeface="Malgun Gothic"/>
              </a:rPr>
              <a:t>기타등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272784" y="2048256"/>
            <a:ext cx="2048256" cy="3108960"/>
          </a:xfrm>
          <a:prstGeom prst="rect">
            <a:avLst/>
          </a:prstGeom>
          <a:solidFill>
            <a:srgbClr val="ECEEEB"/>
          </a:solidFill>
          <a:ln w="762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6272784" y="2048256"/>
            <a:ext cx="2048256" cy="201168"/>
          </a:xfrm>
          <a:prstGeom prst="rect">
            <a:avLst/>
          </a:prstGeom>
          <a:solidFill>
            <a:srgbClr val="232D2A"/>
          </a:solidFill>
          <a:ln w="5080">
            <a:solidFill>
              <a:srgbClr val="23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6272784" y="2066544"/>
            <a:ext cx="2048256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</a:rPr>
              <a:t>수행성격 - 아키텍처 분리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291072" y="2322576"/>
            <a:ext cx="2011680" cy="393192"/>
          </a:xfrm>
          <a:prstGeom prst="rect">
            <a:avLst/>
          </a:prstGeom>
          <a:solidFill>
            <a:srgbClr val="E6EBE1"/>
          </a:solidFill>
          <a:ln w="5080">
            <a:solidFill>
              <a:srgbClr val="8C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6318504" y="2350008"/>
            <a:ext cx="1956816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50" b="1">
                <a:solidFill>
                  <a:srgbClr val="AA4642"/>
                </a:solidFill>
                <a:latin typeface="Malgun Gothic"/>
              </a:rPr>
              <a:t>[2] 관심사 분리
분리해서 통합하고 표준 정리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345936" y="2852928"/>
            <a:ext cx="1901952" cy="210312"/>
          </a:xfrm>
          <a:prstGeom prst="rect">
            <a:avLst/>
          </a:prstGeom>
          <a:solidFill>
            <a:srgbClr val="232D2A"/>
          </a:solidFill>
          <a:ln w="5080">
            <a:solidFill>
              <a:srgbClr val="23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6345936" y="2871216"/>
            <a:ext cx="1901952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Malgun Gothic"/>
              </a:rPr>
              <a:t>관심사 분리 (AA/TA/DA/IA/SA)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382512" y="3127248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1">
                <a:solidFill>
                  <a:srgbClr val="AA4642"/>
                </a:solidFill>
                <a:latin typeface="Malgun Gothic"/>
              </a:rPr>
              <a:t>아키텍처 수립 - 구조, 프로세스 Driven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409944" y="3419856"/>
            <a:ext cx="685800" cy="182880"/>
          </a:xfrm>
          <a:prstGeom prst="rect">
            <a:avLst/>
          </a:prstGeom>
          <a:solidFill>
            <a:srgbClr val="E6E6E6"/>
          </a:solidFill>
          <a:ln w="508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6409944" y="3419856"/>
            <a:ext cx="68580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580" b="0">
                <a:solidFill>
                  <a:srgbClr val="373737"/>
                </a:solidFill>
                <a:latin typeface="Malgun Gothic"/>
              </a:rPr>
              <a:t>개발시스템의 이해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315199" y="3419856"/>
            <a:ext cx="685800" cy="182880"/>
          </a:xfrm>
          <a:prstGeom prst="rect">
            <a:avLst/>
          </a:prstGeom>
          <a:solidFill>
            <a:srgbClr val="E6E6E6"/>
          </a:solidFill>
          <a:ln w="508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7315199" y="3419856"/>
            <a:ext cx="68580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580" b="0">
                <a:solidFill>
                  <a:srgbClr val="373737"/>
                </a:solidFill>
                <a:latin typeface="Malgun Gothic"/>
              </a:rPr>
              <a:t>변화방향성 정의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7095744" y="3511296"/>
            <a:ext cx="219455" cy="0"/>
          </a:xfrm>
          <a:prstGeom prst="line">
            <a:avLst/>
          </a:prstGeom>
          <a:ln w="1016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Rectangle 124"/>
          <p:cNvSpPr/>
          <p:nvPr/>
        </p:nvSpPr>
        <p:spPr>
          <a:xfrm>
            <a:off x="6409944" y="3767328"/>
            <a:ext cx="1773936" cy="201168"/>
          </a:xfrm>
          <a:prstGeom prst="rect">
            <a:avLst/>
          </a:prstGeom>
          <a:solidFill>
            <a:srgbClr val="E6E6E6"/>
          </a:solidFill>
          <a:ln w="508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6409944" y="3767328"/>
            <a:ext cx="1773936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373737"/>
                </a:solidFill>
                <a:latin typeface="Malgun Gothic"/>
              </a:rPr>
              <a:t>응용 어플리케이션 기능 분류 체계</a:t>
            </a:r>
          </a:p>
        </p:txBody>
      </p:sp>
      <p:sp>
        <p:nvSpPr>
          <p:cNvPr id="127" name="Down Arrow 126"/>
          <p:cNvSpPr/>
          <p:nvPr/>
        </p:nvSpPr>
        <p:spPr>
          <a:xfrm>
            <a:off x="7187184" y="3977640"/>
            <a:ext cx="182880" cy="182880"/>
          </a:xfrm>
          <a:prstGeom prst="downArrow">
            <a:avLst/>
          </a:prstGeom>
          <a:solidFill>
            <a:srgbClr val="646464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6409944" y="4187952"/>
            <a:ext cx="1773936" cy="201168"/>
          </a:xfrm>
          <a:prstGeom prst="rect">
            <a:avLst/>
          </a:prstGeom>
          <a:solidFill>
            <a:srgbClr val="E6E6E6"/>
          </a:solidFill>
          <a:ln w="508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6409944" y="4187952"/>
            <a:ext cx="1773936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0">
                <a:solidFill>
                  <a:srgbClr val="373737"/>
                </a:solidFill>
                <a:latin typeface="Malgun Gothic"/>
              </a:rPr>
              <a:t>통합 목표 아키텍터 수립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428232" y="4517136"/>
            <a:ext cx="310896" cy="475488"/>
          </a:xfrm>
          <a:prstGeom prst="rect">
            <a:avLst/>
          </a:prstGeom>
          <a:solidFill>
            <a:srgbClr val="E6E6E6"/>
          </a:solidFill>
          <a:ln w="381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6428232" y="4517136"/>
            <a:ext cx="310896" cy="47548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530" b="0">
                <a:solidFill>
                  <a:srgbClr val="373737"/>
                </a:solidFill>
                <a:latin typeface="Malgun Gothic"/>
              </a:rPr>
              <a:t>상위 업무기능
개선분류
체계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793992" y="4517136"/>
            <a:ext cx="310896" cy="475488"/>
          </a:xfrm>
          <a:prstGeom prst="rect">
            <a:avLst/>
          </a:prstGeom>
          <a:solidFill>
            <a:srgbClr val="E6E6E6"/>
          </a:solidFill>
          <a:ln w="381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6793992" y="4517136"/>
            <a:ext cx="310896" cy="47548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530" b="0">
                <a:solidFill>
                  <a:srgbClr val="373737"/>
                </a:solidFill>
                <a:latin typeface="Malgun Gothic"/>
              </a:rPr>
              <a:t>논리
기술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159752" y="4517136"/>
            <a:ext cx="310896" cy="475488"/>
          </a:xfrm>
          <a:prstGeom prst="rect">
            <a:avLst/>
          </a:prstGeom>
          <a:solidFill>
            <a:srgbClr val="E6E6E6"/>
          </a:solidFill>
          <a:ln w="381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7159752" y="4517136"/>
            <a:ext cx="310896" cy="47548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530" b="0">
                <a:solidFill>
                  <a:srgbClr val="373737"/>
                </a:solidFill>
                <a:latin typeface="Malgun Gothic"/>
              </a:rPr>
              <a:t>물리
기술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7525512" y="4517136"/>
            <a:ext cx="310896" cy="475488"/>
          </a:xfrm>
          <a:prstGeom prst="rect">
            <a:avLst/>
          </a:prstGeom>
          <a:solidFill>
            <a:srgbClr val="E6E6E6"/>
          </a:solidFill>
          <a:ln w="381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7525512" y="4517136"/>
            <a:ext cx="310896" cy="47548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530" b="0">
                <a:solidFill>
                  <a:srgbClr val="373737"/>
                </a:solidFill>
                <a:latin typeface="Malgun Gothic"/>
              </a:rPr>
              <a:t>IF
정의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7891272" y="4517136"/>
            <a:ext cx="310896" cy="475488"/>
          </a:xfrm>
          <a:prstGeom prst="rect">
            <a:avLst/>
          </a:prstGeom>
          <a:solidFill>
            <a:srgbClr val="E6E6E6"/>
          </a:solidFill>
          <a:ln w="381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7891272" y="4517136"/>
            <a:ext cx="310896" cy="47548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530" b="0">
                <a:solidFill>
                  <a:srgbClr val="373737"/>
                </a:solidFill>
                <a:latin typeface="Malgun Gothic"/>
              </a:rPr>
              <a:t>메커니
즘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437376" y="5001768"/>
            <a:ext cx="1719072" cy="1097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650" b="0">
                <a:solidFill>
                  <a:srgbClr val="373737"/>
                </a:solidFill>
                <a:latin typeface="Malgun Gothic"/>
              </a:rPr>
              <a:t>개발표준 및 가이드 (선도개발 사전정의)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455664" y="5120640"/>
            <a:ext cx="1682496" cy="91440"/>
          </a:xfrm>
          <a:prstGeom prst="rect">
            <a:avLst/>
          </a:prstGeom>
          <a:solidFill>
            <a:srgbClr val="E6E6E6"/>
          </a:solidFill>
          <a:ln w="254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6473952" y="5120640"/>
            <a:ext cx="1645920" cy="868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580" b="0">
                <a:solidFill>
                  <a:srgbClr val="373737"/>
                </a:solidFill>
                <a:latin typeface="Malgun Gothic"/>
              </a:rPr>
              <a:t>온라인 개발표준 및 가이드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455664" y="5230368"/>
            <a:ext cx="1682496" cy="91440"/>
          </a:xfrm>
          <a:prstGeom prst="rect">
            <a:avLst/>
          </a:prstGeom>
          <a:solidFill>
            <a:srgbClr val="E6E6E6"/>
          </a:solidFill>
          <a:ln w="254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6473952" y="5230368"/>
            <a:ext cx="1645920" cy="868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580" b="0">
                <a:solidFill>
                  <a:srgbClr val="373737"/>
                </a:solidFill>
                <a:latin typeface="Malgun Gothic"/>
              </a:rPr>
              <a:t>어플리케이션 명명규칙 정의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8732520" y="2039112"/>
            <a:ext cx="713232" cy="201168"/>
          </a:xfrm>
          <a:prstGeom prst="rect">
            <a:avLst/>
          </a:prstGeom>
          <a:solidFill>
            <a:srgbClr val="324EAF"/>
          </a:solidFill>
          <a:ln w="5080">
            <a:solidFill>
              <a:srgbClr val="324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8732520" y="2057400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Malgun Gothic"/>
              </a:rPr>
              <a:t>수행성격-통합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8732520" y="2331720"/>
            <a:ext cx="713232" cy="329184"/>
          </a:xfrm>
          <a:prstGeom prst="rect">
            <a:avLst/>
          </a:prstGeom>
          <a:solidFill>
            <a:srgbClr val="E6EBE1"/>
          </a:solidFill>
          <a:ln w="508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8759952" y="2350008"/>
            <a:ext cx="658368" cy="28346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620" b="0">
                <a:solidFill>
                  <a:srgbClr val="3C3232"/>
                </a:solidFill>
                <a:latin typeface="Malgun Gothic"/>
              </a:rPr>
              <a:t>[1] RFP를 통해서 BIG
Picture를 정의한다.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8732520" y="2770632"/>
            <a:ext cx="713232" cy="228600"/>
          </a:xfrm>
          <a:prstGeom prst="rect">
            <a:avLst/>
          </a:prstGeom>
          <a:solidFill>
            <a:srgbClr val="232D2A"/>
          </a:solidFill>
          <a:ln w="5080">
            <a:solidFill>
              <a:srgbClr val="23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8732520" y="2798064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680" b="1">
                <a:solidFill>
                  <a:srgbClr val="FFFFFF"/>
                </a:solidFill>
                <a:latin typeface="Malgun Gothic"/>
              </a:rPr>
              <a:t>BIG Picture 정의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778240" y="3072383"/>
            <a:ext cx="640080" cy="1097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660" b="0">
                <a:solidFill>
                  <a:srgbClr val="373737"/>
                </a:solidFill>
                <a:latin typeface="Malgun Gothic"/>
              </a:rPr>
              <a:t>• 마케팅플랫폼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8778240" y="3200400"/>
            <a:ext cx="640080" cy="1097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660" b="0">
                <a:solidFill>
                  <a:srgbClr val="373737"/>
                </a:solidFill>
                <a:latin typeface="Malgun Gothic"/>
              </a:rPr>
              <a:t>• 데이터플랫폼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8778240" y="3328416"/>
            <a:ext cx="640080" cy="1097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660" b="0">
                <a:solidFill>
                  <a:srgbClr val="373737"/>
                </a:solidFill>
                <a:latin typeface="Malgun Gothic"/>
              </a:rPr>
              <a:t>• BI포탈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8778240" y="3456431"/>
            <a:ext cx="640080" cy="1097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660" b="0">
                <a:solidFill>
                  <a:srgbClr val="373737"/>
                </a:solidFill>
                <a:latin typeface="Malgun Gothic"/>
              </a:rPr>
              <a:t>• 단말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778240" y="3584448"/>
            <a:ext cx="640080" cy="1097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660" b="0">
                <a:solidFill>
                  <a:srgbClr val="373737"/>
                </a:solidFill>
                <a:latin typeface="Malgun Gothic"/>
              </a:rPr>
              <a:t>• 공통인프라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8778240" y="3712464"/>
            <a:ext cx="640080" cy="1097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660" b="0">
                <a:solidFill>
                  <a:srgbClr val="373737"/>
                </a:solidFill>
                <a:latin typeface="Malgun Gothic"/>
              </a:rPr>
              <a:t>• 데이터이행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778240" y="3840480"/>
            <a:ext cx="640080" cy="1097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660" b="0">
                <a:solidFill>
                  <a:srgbClr val="373737"/>
                </a:solidFill>
                <a:latin typeface="Malgun Gothic"/>
              </a:rPr>
              <a:t>• FWK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8732520" y="4005072"/>
            <a:ext cx="713232" cy="182880"/>
          </a:xfrm>
          <a:prstGeom prst="rect">
            <a:avLst/>
          </a:prstGeom>
          <a:solidFill>
            <a:srgbClr val="E6EBE1"/>
          </a:solidFill>
          <a:ln w="381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8759952" y="4023360"/>
            <a:ext cx="658368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660" b="0">
                <a:solidFill>
                  <a:srgbClr val="373737"/>
                </a:solidFill>
                <a:latin typeface="Malgun Gothic"/>
              </a:rPr>
              <a:t>제안서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8732520" y="4261104"/>
            <a:ext cx="713232" cy="256032"/>
          </a:xfrm>
          <a:prstGeom prst="rect">
            <a:avLst/>
          </a:prstGeom>
          <a:solidFill>
            <a:srgbClr val="E6EBE1"/>
          </a:solidFill>
          <a:ln w="381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8759952" y="4279392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560" b="0">
                <a:solidFill>
                  <a:srgbClr val="373737"/>
                </a:solidFill>
                <a:latin typeface="Malgun Gothic"/>
              </a:rPr>
              <a:t>통합 목표 기술 아키정의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8787384" y="4626864"/>
            <a:ext cx="603504" cy="530352"/>
          </a:xfrm>
          <a:prstGeom prst="rect">
            <a:avLst/>
          </a:prstGeom>
          <a:solidFill>
            <a:srgbClr val="E8EDF7"/>
          </a:solidFill>
          <a:ln w="381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Rectangle 162"/>
          <p:cNvSpPr/>
          <p:nvPr/>
        </p:nvSpPr>
        <p:spPr>
          <a:xfrm>
            <a:off x="8823960" y="4672584"/>
            <a:ext cx="64008" cy="45720"/>
          </a:xfrm>
          <a:prstGeom prst="rect">
            <a:avLst/>
          </a:prstGeom>
          <a:solidFill>
            <a:srgbClr val="7891A5"/>
          </a:solidFill>
          <a:ln w="1270">
            <a:solidFill>
              <a:srgbClr val="789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Rectangle 163"/>
          <p:cNvSpPr/>
          <p:nvPr/>
        </p:nvSpPr>
        <p:spPr>
          <a:xfrm>
            <a:off x="8933688" y="4672584"/>
            <a:ext cx="64008" cy="45720"/>
          </a:xfrm>
          <a:prstGeom prst="rect">
            <a:avLst/>
          </a:prstGeom>
          <a:solidFill>
            <a:srgbClr val="8291A5"/>
          </a:solidFill>
          <a:ln w="1270">
            <a:solidFill>
              <a:srgbClr val="789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Rectangle 164"/>
          <p:cNvSpPr/>
          <p:nvPr/>
        </p:nvSpPr>
        <p:spPr>
          <a:xfrm>
            <a:off x="9043416" y="4672584"/>
            <a:ext cx="64008" cy="45720"/>
          </a:xfrm>
          <a:prstGeom prst="rect">
            <a:avLst/>
          </a:prstGeom>
          <a:solidFill>
            <a:srgbClr val="8C91A5"/>
          </a:solidFill>
          <a:ln w="1270">
            <a:solidFill>
              <a:srgbClr val="789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Rectangle 165"/>
          <p:cNvSpPr/>
          <p:nvPr/>
        </p:nvSpPr>
        <p:spPr>
          <a:xfrm>
            <a:off x="9153143" y="4672584"/>
            <a:ext cx="64008" cy="45720"/>
          </a:xfrm>
          <a:prstGeom prst="rect">
            <a:avLst/>
          </a:prstGeom>
          <a:solidFill>
            <a:srgbClr val="7891A5"/>
          </a:solidFill>
          <a:ln w="1270">
            <a:solidFill>
              <a:srgbClr val="789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Rectangle 166"/>
          <p:cNvSpPr/>
          <p:nvPr/>
        </p:nvSpPr>
        <p:spPr>
          <a:xfrm>
            <a:off x="8823960" y="4791456"/>
            <a:ext cx="64008" cy="45720"/>
          </a:xfrm>
          <a:prstGeom prst="rect">
            <a:avLst/>
          </a:prstGeom>
          <a:solidFill>
            <a:srgbClr val="8291A5"/>
          </a:solidFill>
          <a:ln w="1270">
            <a:solidFill>
              <a:srgbClr val="789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Rectangle 167"/>
          <p:cNvSpPr/>
          <p:nvPr/>
        </p:nvSpPr>
        <p:spPr>
          <a:xfrm>
            <a:off x="8933688" y="4791456"/>
            <a:ext cx="64008" cy="45720"/>
          </a:xfrm>
          <a:prstGeom prst="rect">
            <a:avLst/>
          </a:prstGeom>
          <a:solidFill>
            <a:srgbClr val="8C91A5"/>
          </a:solidFill>
          <a:ln w="1270">
            <a:solidFill>
              <a:srgbClr val="789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Rectangle 168"/>
          <p:cNvSpPr/>
          <p:nvPr/>
        </p:nvSpPr>
        <p:spPr>
          <a:xfrm>
            <a:off x="9043416" y="4791456"/>
            <a:ext cx="64008" cy="45720"/>
          </a:xfrm>
          <a:prstGeom prst="rect">
            <a:avLst/>
          </a:prstGeom>
          <a:solidFill>
            <a:srgbClr val="7891A5"/>
          </a:solidFill>
          <a:ln w="1270">
            <a:solidFill>
              <a:srgbClr val="789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Rectangle 169"/>
          <p:cNvSpPr/>
          <p:nvPr/>
        </p:nvSpPr>
        <p:spPr>
          <a:xfrm>
            <a:off x="9153143" y="4791456"/>
            <a:ext cx="64008" cy="45720"/>
          </a:xfrm>
          <a:prstGeom prst="rect">
            <a:avLst/>
          </a:prstGeom>
          <a:solidFill>
            <a:srgbClr val="8291A5"/>
          </a:solidFill>
          <a:ln w="1270">
            <a:solidFill>
              <a:srgbClr val="789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Rectangle 170"/>
          <p:cNvSpPr/>
          <p:nvPr/>
        </p:nvSpPr>
        <p:spPr>
          <a:xfrm>
            <a:off x="8823960" y="4910327"/>
            <a:ext cx="64008" cy="45720"/>
          </a:xfrm>
          <a:prstGeom prst="rect">
            <a:avLst/>
          </a:prstGeom>
          <a:solidFill>
            <a:srgbClr val="8C91A5"/>
          </a:solidFill>
          <a:ln w="1270">
            <a:solidFill>
              <a:srgbClr val="789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Rectangle 171"/>
          <p:cNvSpPr/>
          <p:nvPr/>
        </p:nvSpPr>
        <p:spPr>
          <a:xfrm>
            <a:off x="8933688" y="4910327"/>
            <a:ext cx="64008" cy="45720"/>
          </a:xfrm>
          <a:prstGeom prst="rect">
            <a:avLst/>
          </a:prstGeom>
          <a:solidFill>
            <a:srgbClr val="7891A5"/>
          </a:solidFill>
          <a:ln w="1270">
            <a:solidFill>
              <a:srgbClr val="789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Rectangle 172"/>
          <p:cNvSpPr/>
          <p:nvPr/>
        </p:nvSpPr>
        <p:spPr>
          <a:xfrm>
            <a:off x="9043416" y="4910327"/>
            <a:ext cx="64008" cy="45720"/>
          </a:xfrm>
          <a:prstGeom prst="rect">
            <a:avLst/>
          </a:prstGeom>
          <a:solidFill>
            <a:srgbClr val="8291A5"/>
          </a:solidFill>
          <a:ln w="1270">
            <a:solidFill>
              <a:srgbClr val="789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Rectangle 173"/>
          <p:cNvSpPr/>
          <p:nvPr/>
        </p:nvSpPr>
        <p:spPr>
          <a:xfrm>
            <a:off x="9153143" y="4910327"/>
            <a:ext cx="64008" cy="45720"/>
          </a:xfrm>
          <a:prstGeom prst="rect">
            <a:avLst/>
          </a:prstGeom>
          <a:solidFill>
            <a:srgbClr val="8C91A5"/>
          </a:solidFill>
          <a:ln w="1270">
            <a:solidFill>
              <a:srgbClr val="789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Rectangle 174"/>
          <p:cNvSpPr/>
          <p:nvPr/>
        </p:nvSpPr>
        <p:spPr>
          <a:xfrm>
            <a:off x="1463040" y="5349240"/>
            <a:ext cx="6931152" cy="502920"/>
          </a:xfrm>
          <a:prstGeom prst="rect">
            <a:avLst/>
          </a:prstGeom>
          <a:solidFill>
            <a:srgbClr val="AAAAA0"/>
          </a:solidFill>
          <a:ln w="63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1572768" y="5458968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100" b="1">
                <a:solidFill>
                  <a:srgbClr val="AA4642"/>
                </a:solidFill>
                <a:latin typeface="Malgun Gothic"/>
              </a:rPr>
              <a:t>아키텍처 평가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1691640" y="5669280"/>
            <a:ext cx="1417320" cy="155448"/>
          </a:xfrm>
          <a:prstGeom prst="rect">
            <a:avLst/>
          </a:prstGeom>
          <a:solidFill>
            <a:srgbClr val="E6E6E6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1719072" y="5673852"/>
            <a:ext cx="1362456" cy="12801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680" b="0">
                <a:solidFill>
                  <a:srgbClr val="373737"/>
                </a:solidFill>
                <a:latin typeface="Malgun Gothic"/>
              </a:rPr>
              <a:t>아키텍처 배포 및 교육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3291840" y="5669280"/>
            <a:ext cx="1417320" cy="155448"/>
          </a:xfrm>
          <a:prstGeom prst="rect">
            <a:avLst/>
          </a:prstGeom>
          <a:solidFill>
            <a:srgbClr val="E6E6E6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TextBox 179"/>
          <p:cNvSpPr txBox="1"/>
          <p:nvPr/>
        </p:nvSpPr>
        <p:spPr>
          <a:xfrm>
            <a:off x="3319272" y="5673852"/>
            <a:ext cx="1362456" cy="12801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680" b="0">
                <a:solidFill>
                  <a:srgbClr val="373737"/>
                </a:solidFill>
                <a:latin typeface="Malgun Gothic"/>
              </a:rPr>
              <a:t>선도개발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4892040" y="5669280"/>
            <a:ext cx="1417320" cy="155448"/>
          </a:xfrm>
          <a:prstGeom prst="rect">
            <a:avLst/>
          </a:prstGeom>
          <a:solidFill>
            <a:srgbClr val="E6E6E6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4919472" y="5673852"/>
            <a:ext cx="1362456" cy="12801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680" b="0">
                <a:solidFill>
                  <a:srgbClr val="373737"/>
                </a:solidFill>
                <a:latin typeface="Malgun Gothic"/>
              </a:rPr>
              <a:t>수행 감시 및 평가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6492240" y="5669280"/>
            <a:ext cx="1417320" cy="155448"/>
          </a:xfrm>
          <a:prstGeom prst="rect">
            <a:avLst/>
          </a:prstGeom>
          <a:solidFill>
            <a:srgbClr val="E6E6E6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TextBox 183"/>
          <p:cNvSpPr txBox="1"/>
          <p:nvPr/>
        </p:nvSpPr>
        <p:spPr>
          <a:xfrm>
            <a:off x="6519672" y="5673852"/>
            <a:ext cx="1362456" cy="12801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680" b="0">
                <a:solidFill>
                  <a:srgbClr val="373737"/>
                </a:solidFill>
                <a:latin typeface="Malgun Gothic"/>
              </a:rPr>
              <a:t>이슈 F/U</a:t>
            </a:r>
          </a:p>
        </p:txBody>
      </p:sp>
      <p:sp>
        <p:nvSpPr>
          <p:cNvPr id="185" name="Down Arrow 184"/>
          <p:cNvSpPr/>
          <p:nvPr/>
        </p:nvSpPr>
        <p:spPr>
          <a:xfrm>
            <a:off x="2496312" y="5166360"/>
            <a:ext cx="256032" cy="201168"/>
          </a:xfrm>
          <a:prstGeom prst="downArrow">
            <a:avLst/>
          </a:prstGeom>
          <a:solidFill>
            <a:srgbClr val="1C5AD2"/>
          </a:solidFill>
          <a:ln>
            <a:solidFill>
              <a:srgbClr val="1C5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Down Arrow 185"/>
          <p:cNvSpPr/>
          <p:nvPr/>
        </p:nvSpPr>
        <p:spPr>
          <a:xfrm>
            <a:off x="4892040" y="5166360"/>
            <a:ext cx="256032" cy="201168"/>
          </a:xfrm>
          <a:prstGeom prst="downArrow">
            <a:avLst/>
          </a:prstGeom>
          <a:solidFill>
            <a:srgbClr val="1C5AD2"/>
          </a:solidFill>
          <a:ln>
            <a:solidFill>
              <a:srgbClr val="1C5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7" name="Connector 186"/>
          <p:cNvCxnSpPr/>
          <p:nvPr/>
        </p:nvCxnSpPr>
        <p:spPr>
          <a:xfrm>
            <a:off x="128016" y="5980176"/>
            <a:ext cx="9838944" cy="0"/>
          </a:xfrm>
          <a:prstGeom prst="line">
            <a:avLst/>
          </a:prstGeom>
          <a:ln w="762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TextBox 187"/>
          <p:cNvSpPr txBox="1"/>
          <p:nvPr/>
        </p:nvSpPr>
        <p:spPr>
          <a:xfrm>
            <a:off x="5065776" y="5998464"/>
            <a:ext cx="228600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464646"/>
                </a:solidFill>
                <a:latin typeface="Malgun Gothic"/>
              </a:rPr>
              <a:t>8</a:t>
            </a:r>
          </a:p>
        </p:txBody>
      </p:sp>
      <p:sp>
        <p:nvSpPr>
          <p:cNvPr id="189" name="Isosceles Triangle 188"/>
          <p:cNvSpPr/>
          <p:nvPr/>
        </p:nvSpPr>
        <p:spPr>
          <a:xfrm rot="10800000">
            <a:off x="18288" y="5943600"/>
            <a:ext cx="118872" cy="164592"/>
          </a:xfrm>
          <a:prstGeom prst="triangle">
            <a:avLst/>
          </a:prstGeom>
          <a:solidFill>
            <a:srgbClr val="EC9A34"/>
          </a:solidFill>
          <a:ln>
            <a:solidFill>
              <a:srgbClr val="EC9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Oval 189"/>
          <p:cNvSpPr/>
          <p:nvPr/>
        </p:nvSpPr>
        <p:spPr>
          <a:xfrm>
            <a:off x="109728" y="5980176"/>
            <a:ext cx="45720" cy="45720"/>
          </a:xfrm>
          <a:prstGeom prst="ellipse">
            <a:avLst/>
          </a:prstGeom>
          <a:solidFill>
            <a:srgbClr val="EC9A34"/>
          </a:solidFill>
          <a:ln>
            <a:solidFill>
              <a:srgbClr val="EC9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TextBox 190"/>
          <p:cNvSpPr txBox="1"/>
          <p:nvPr/>
        </p:nvSpPr>
        <p:spPr>
          <a:xfrm>
            <a:off x="164592" y="5943600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>
                <a:solidFill>
                  <a:srgbClr val="26854A"/>
                </a:solidFill>
                <a:latin typeface="Malgun Gothic"/>
              </a:rPr>
              <a:t>농협중앙회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8016" y="91440"/>
            <a:ext cx="896112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100" b="1">
                <a:solidFill>
                  <a:srgbClr val="2D2D2D"/>
                </a:solidFill>
                <a:latin typeface="Malgun Gothic"/>
              </a:rPr>
              <a:t>(Backup) 대상 시스템 식별 (최상위 아키텍처 모델기반) (25/12/25기준)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28016" y="603504"/>
            <a:ext cx="9838944" cy="0"/>
          </a:xfrm>
          <a:prstGeom prst="line">
            <a:avLst/>
          </a:prstGeom>
          <a:ln w="190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9456" y="731520"/>
            <a:ext cx="896112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0">
                <a:solidFill>
                  <a:srgbClr val="505050"/>
                </a:solidFill>
                <a:latin typeface="Malgun Gothic"/>
              </a:rPr>
              <a:t>『 차세대 정보계 시스템 구축』 6개 시스템 영역에 대한 29개 대상서버 식별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325880"/>
            <a:ext cx="7086600" cy="4526280"/>
          </a:xfrm>
          <a:prstGeom prst="rect">
            <a:avLst/>
          </a:prstGeom>
          <a:solidFill>
            <a:srgbClr val="F4F6F6"/>
          </a:solidFill>
          <a:ln w="635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9184" y="1499616"/>
            <a:ext cx="713232" cy="210312"/>
          </a:xfrm>
          <a:prstGeom prst="rect">
            <a:avLst/>
          </a:prstGeom>
          <a:solidFill>
            <a:srgbClr val="282D30"/>
          </a:solidFill>
          <a:ln w="5080">
            <a:solidFill>
              <a:srgbClr val="28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9184" y="1499616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ezBuilder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" y="2157984"/>
            <a:ext cx="713232" cy="210312"/>
          </a:xfrm>
          <a:prstGeom prst="rect">
            <a:avLst/>
          </a:prstGeom>
          <a:solidFill>
            <a:srgbClr val="282D30"/>
          </a:solidFill>
          <a:ln w="5080">
            <a:solidFill>
              <a:srgbClr val="28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9184" y="2157984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WebTopSuite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" y="2715768"/>
            <a:ext cx="713232" cy="210312"/>
          </a:xfrm>
          <a:prstGeom prst="rect">
            <a:avLst/>
          </a:prstGeom>
          <a:solidFill>
            <a:srgbClr val="282D30"/>
          </a:solidFill>
          <a:ln w="5080">
            <a:solidFill>
              <a:srgbClr val="28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9184" y="2715768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BI 포탈 단말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42415" y="1609344"/>
            <a:ext cx="6071617" cy="0"/>
          </a:xfrm>
          <a:prstGeom prst="line">
            <a:avLst/>
          </a:prstGeom>
          <a:ln w="889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42415" y="2258568"/>
            <a:ext cx="6071617" cy="0"/>
          </a:xfrm>
          <a:prstGeom prst="line">
            <a:avLst/>
          </a:prstGeom>
          <a:ln w="889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42415" y="2816352"/>
            <a:ext cx="6071617" cy="0"/>
          </a:xfrm>
          <a:prstGeom prst="line">
            <a:avLst/>
          </a:prstGeom>
          <a:ln w="889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42415" y="3822191"/>
            <a:ext cx="6071617" cy="0"/>
          </a:xfrm>
          <a:prstGeom prst="line">
            <a:avLst/>
          </a:prstGeom>
          <a:ln w="889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42415" y="4251960"/>
            <a:ext cx="6071617" cy="0"/>
          </a:xfrm>
          <a:prstGeom prst="line">
            <a:avLst/>
          </a:prstGeom>
          <a:ln w="889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42415" y="4754880"/>
            <a:ext cx="6071617" cy="0"/>
          </a:xfrm>
          <a:prstGeom prst="line">
            <a:avLst/>
          </a:prstGeom>
          <a:ln w="889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2029968" y="1874519"/>
            <a:ext cx="1078992" cy="201168"/>
          </a:xfrm>
          <a:prstGeom prst="rect">
            <a:avLst/>
          </a:prstGeom>
          <a:solidFill>
            <a:srgbClr val="215BD2"/>
          </a:solidFill>
          <a:ln w="6350">
            <a:solidFill>
              <a:srgbClr val="215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029968" y="1874519"/>
            <a:ext cx="1078992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마케팅플랫폼 WEB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0" y="1874519"/>
            <a:ext cx="1078992" cy="201168"/>
          </a:xfrm>
          <a:prstGeom prst="rect">
            <a:avLst/>
          </a:prstGeom>
          <a:solidFill>
            <a:srgbClr val="215BD2"/>
          </a:solidFill>
          <a:ln w="6350">
            <a:solidFill>
              <a:srgbClr val="215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383280" y="1874519"/>
            <a:ext cx="1078992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마케팅플랫폼 WAS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93392" y="2395728"/>
            <a:ext cx="960120" cy="201168"/>
          </a:xfrm>
          <a:prstGeom prst="rect">
            <a:avLst/>
          </a:prstGeom>
          <a:solidFill>
            <a:srgbClr val="48AC1B"/>
          </a:solidFill>
          <a:ln w="6350">
            <a:solidFill>
              <a:srgbClr val="48AC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993392" y="2395728"/>
            <a:ext cx="96012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BI 포털 WEB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80" y="2395728"/>
            <a:ext cx="914400" cy="201168"/>
          </a:xfrm>
          <a:prstGeom prst="rect">
            <a:avLst/>
          </a:prstGeom>
          <a:solidFill>
            <a:srgbClr val="48AC1B"/>
          </a:solidFill>
          <a:ln w="6350">
            <a:solidFill>
              <a:srgbClr val="48AC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383280" y="239572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BI 포털 WAS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93392" y="2697480"/>
            <a:ext cx="960120" cy="201168"/>
          </a:xfrm>
          <a:prstGeom prst="rect">
            <a:avLst/>
          </a:prstGeom>
          <a:solidFill>
            <a:srgbClr val="48AC1B"/>
          </a:solidFill>
          <a:ln w="6350">
            <a:solidFill>
              <a:srgbClr val="48AC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993392" y="2697480"/>
            <a:ext cx="96012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신용실적 WEB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83280" y="2697480"/>
            <a:ext cx="914400" cy="201168"/>
          </a:xfrm>
          <a:prstGeom prst="rect">
            <a:avLst/>
          </a:prstGeom>
          <a:solidFill>
            <a:srgbClr val="48AC1B"/>
          </a:solidFill>
          <a:ln w="6350">
            <a:solidFill>
              <a:srgbClr val="48AC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383280" y="269748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신용실적 WAS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64992" y="3090672"/>
            <a:ext cx="914400" cy="201168"/>
          </a:xfrm>
          <a:prstGeom prst="rect">
            <a:avLst/>
          </a:prstGeom>
          <a:solidFill>
            <a:srgbClr val="282D30"/>
          </a:solidFill>
          <a:ln w="6350">
            <a:solidFill>
              <a:srgbClr val="28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364992" y="30906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배치처리 AP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64992" y="3355848"/>
            <a:ext cx="914400" cy="201168"/>
          </a:xfrm>
          <a:prstGeom prst="rect">
            <a:avLst/>
          </a:prstGeom>
          <a:solidFill>
            <a:srgbClr val="282D30"/>
          </a:solidFill>
          <a:ln w="6350">
            <a:solidFill>
              <a:srgbClr val="28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364992" y="33558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보고서 AP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87168" y="4224528"/>
            <a:ext cx="960120" cy="201168"/>
          </a:xfrm>
          <a:prstGeom prst="rect">
            <a:avLst/>
          </a:prstGeom>
          <a:solidFill>
            <a:srgbClr val="215BD2"/>
          </a:solidFill>
          <a:ln w="6350">
            <a:solidFill>
              <a:srgbClr val="215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487168" y="4224528"/>
            <a:ext cx="96012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실시간 처리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87168" y="4471416"/>
            <a:ext cx="960120" cy="201168"/>
          </a:xfrm>
          <a:prstGeom prst="rect">
            <a:avLst/>
          </a:prstGeom>
          <a:solidFill>
            <a:srgbClr val="215BD2"/>
          </a:solidFill>
          <a:ln w="6350">
            <a:solidFill>
              <a:srgbClr val="215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487168" y="4471416"/>
            <a:ext cx="96012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행동처리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87168" y="4718304"/>
            <a:ext cx="960120" cy="201168"/>
          </a:xfrm>
          <a:prstGeom prst="rect">
            <a:avLst/>
          </a:prstGeom>
          <a:solidFill>
            <a:srgbClr val="215BD2"/>
          </a:solidFill>
          <a:ln w="6350">
            <a:solidFill>
              <a:srgbClr val="215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487168" y="4718304"/>
            <a:ext cx="96012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고객행동데이터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35424" y="1783080"/>
            <a:ext cx="987552" cy="210312"/>
          </a:xfrm>
          <a:prstGeom prst="rect">
            <a:avLst/>
          </a:prstGeom>
          <a:solidFill>
            <a:srgbClr val="282D30"/>
          </a:solidFill>
          <a:ln w="6350">
            <a:solidFill>
              <a:srgbClr val="28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35424" y="1783080"/>
            <a:ext cx="987552" cy="2103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CDC 중계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00016" y="2816352"/>
            <a:ext cx="457200" cy="530352"/>
          </a:xfrm>
          <a:prstGeom prst="rect">
            <a:avLst/>
          </a:prstGeom>
          <a:solidFill>
            <a:srgbClr val="E6CD00"/>
          </a:solidFill>
          <a:ln w="6350">
            <a:solidFill>
              <a:srgbClr val="E6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700016" y="2816352"/>
            <a:ext cx="457200" cy="53035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50" b="1">
                <a:solidFill>
                  <a:srgbClr val="282828"/>
                </a:solidFill>
                <a:latin typeface="Malgun Gothic"/>
              </a:rPr>
              <a:t>RDW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03520" y="2816352"/>
            <a:ext cx="457200" cy="530352"/>
          </a:xfrm>
          <a:prstGeom prst="rect">
            <a:avLst/>
          </a:prstGeom>
          <a:solidFill>
            <a:srgbClr val="E6CD00"/>
          </a:solidFill>
          <a:ln w="6350">
            <a:solidFill>
              <a:srgbClr val="E6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303520" y="2816352"/>
            <a:ext cx="457200" cy="53035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50" b="1">
                <a:solidFill>
                  <a:srgbClr val="282828"/>
                </a:solidFill>
                <a:latin typeface="Malgun Gothic"/>
              </a:rPr>
              <a:t>ADW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13248" y="3730752"/>
            <a:ext cx="1005840" cy="182880"/>
          </a:xfrm>
          <a:prstGeom prst="rect">
            <a:avLst/>
          </a:prstGeom>
          <a:solidFill>
            <a:srgbClr val="E6CD00"/>
          </a:solidFill>
          <a:ln w="6350">
            <a:solidFill>
              <a:srgbClr val="E6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413248" y="3730752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00" b="1">
                <a:solidFill>
                  <a:srgbClr val="282828"/>
                </a:solidFill>
                <a:latin typeface="Malgun Gothic"/>
              </a:rPr>
              <a:t>ILM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285232" y="4078224"/>
            <a:ext cx="1005840" cy="201168"/>
          </a:xfrm>
          <a:prstGeom prst="rect">
            <a:avLst/>
          </a:prstGeom>
          <a:solidFill>
            <a:srgbClr val="282D30"/>
          </a:solidFill>
          <a:ln w="6350">
            <a:solidFill>
              <a:srgbClr val="28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285232" y="407822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ETL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870448" y="2240280"/>
            <a:ext cx="786384" cy="201168"/>
          </a:xfrm>
          <a:prstGeom prst="rect">
            <a:avLst/>
          </a:prstGeom>
          <a:solidFill>
            <a:srgbClr val="48AC1B"/>
          </a:solidFill>
          <a:ln w="6350">
            <a:solidFill>
              <a:srgbClr val="48AC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870448" y="2240280"/>
            <a:ext cx="786384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Self BI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70448" y="2542032"/>
            <a:ext cx="786384" cy="201168"/>
          </a:xfrm>
          <a:prstGeom prst="rect">
            <a:avLst/>
          </a:prstGeom>
          <a:solidFill>
            <a:srgbClr val="48AC1B"/>
          </a:solidFill>
          <a:ln w="6350">
            <a:solidFill>
              <a:srgbClr val="48AC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870448" y="2542032"/>
            <a:ext cx="786384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OLAP AP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0448" y="2834640"/>
            <a:ext cx="786384" cy="201168"/>
          </a:xfrm>
          <a:prstGeom prst="rect">
            <a:avLst/>
          </a:prstGeom>
          <a:solidFill>
            <a:srgbClr val="48AC1B"/>
          </a:solidFill>
          <a:ln w="6350">
            <a:solidFill>
              <a:srgbClr val="48AC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870448" y="2834640"/>
            <a:ext cx="786384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OLAP WEB/WAS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0624" y="5504688"/>
            <a:ext cx="960120" cy="164592"/>
          </a:xfrm>
          <a:prstGeom prst="rect">
            <a:avLst/>
          </a:prstGeom>
          <a:solidFill>
            <a:srgbClr val="282D30"/>
          </a:solidFill>
          <a:ln w="6350">
            <a:solidFill>
              <a:srgbClr val="28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20624" y="5504688"/>
            <a:ext cx="9601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단말관리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20624" y="5742432"/>
            <a:ext cx="960120" cy="164592"/>
          </a:xfrm>
          <a:prstGeom prst="rect">
            <a:avLst/>
          </a:prstGeom>
          <a:solidFill>
            <a:srgbClr val="282D30"/>
          </a:solidFill>
          <a:ln w="6350">
            <a:solidFill>
              <a:srgbClr val="28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20624" y="5742432"/>
            <a:ext cx="9601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단말배포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719072" y="5504688"/>
            <a:ext cx="960120" cy="164592"/>
          </a:xfrm>
          <a:prstGeom prst="rect">
            <a:avLst/>
          </a:prstGeom>
          <a:solidFill>
            <a:srgbClr val="282D30"/>
          </a:solidFill>
          <a:ln w="6350">
            <a:solidFill>
              <a:srgbClr val="28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719072" y="5504688"/>
            <a:ext cx="9601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IMDG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999232" y="5504688"/>
            <a:ext cx="960120" cy="164592"/>
          </a:xfrm>
          <a:prstGeom prst="rect">
            <a:avLst/>
          </a:prstGeom>
          <a:solidFill>
            <a:srgbClr val="282D30"/>
          </a:solidFill>
          <a:ln w="6350">
            <a:solidFill>
              <a:srgbClr val="28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999232" y="5504688"/>
            <a:ext cx="9601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GitLab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999232" y="5742432"/>
            <a:ext cx="960120" cy="164592"/>
          </a:xfrm>
          <a:prstGeom prst="rect">
            <a:avLst/>
          </a:prstGeom>
          <a:solidFill>
            <a:srgbClr val="282D30"/>
          </a:solidFill>
          <a:ln w="6350">
            <a:solidFill>
              <a:srgbClr val="28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2999232" y="5742432"/>
            <a:ext cx="9601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GitRunner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999232" y="5980176"/>
            <a:ext cx="960120" cy="164592"/>
          </a:xfrm>
          <a:prstGeom prst="rect">
            <a:avLst/>
          </a:prstGeom>
          <a:solidFill>
            <a:srgbClr val="282D30"/>
          </a:solidFill>
          <a:ln w="6350">
            <a:solidFill>
              <a:srgbClr val="28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2999232" y="5980176"/>
            <a:ext cx="9601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eCAMS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315968" y="5559552"/>
            <a:ext cx="1078992" cy="201168"/>
          </a:xfrm>
          <a:prstGeom prst="rect">
            <a:avLst/>
          </a:prstGeom>
          <a:solidFill>
            <a:srgbClr val="0084CD"/>
          </a:solidFill>
          <a:ln w="6350">
            <a:solidFill>
              <a:srgbClr val="0084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315968" y="5559552"/>
            <a:ext cx="1078992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데이터이행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315968" y="5833872"/>
            <a:ext cx="1078992" cy="201168"/>
          </a:xfrm>
          <a:prstGeom prst="rect">
            <a:avLst/>
          </a:prstGeom>
          <a:solidFill>
            <a:srgbClr val="0084CD"/>
          </a:solidFill>
          <a:ln w="6350">
            <a:solidFill>
              <a:srgbClr val="0084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315968" y="5833872"/>
            <a:ext cx="1078992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SQL 품질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705856" y="5559552"/>
            <a:ext cx="1280160" cy="201168"/>
          </a:xfrm>
          <a:prstGeom prst="rect">
            <a:avLst/>
          </a:prstGeom>
          <a:solidFill>
            <a:srgbClr val="DD8E00"/>
          </a:solidFill>
          <a:ln w="6350">
            <a:solidFill>
              <a:srgbClr val="DD8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705856" y="5559552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00" b="1">
                <a:solidFill>
                  <a:srgbClr val="282828"/>
                </a:solidFill>
                <a:latin typeface="Malgun Gothic"/>
              </a:rPr>
              <a:t>데이터흐름관리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705856" y="5833872"/>
            <a:ext cx="1280160" cy="201168"/>
          </a:xfrm>
          <a:prstGeom prst="rect">
            <a:avLst/>
          </a:prstGeom>
          <a:solidFill>
            <a:srgbClr val="DD8E00"/>
          </a:solidFill>
          <a:ln w="6350">
            <a:solidFill>
              <a:srgbClr val="DD8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705856" y="5833872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00" b="1">
                <a:solidFill>
                  <a:srgbClr val="282828"/>
                </a:solidFill>
                <a:latin typeface="Malgun Gothic"/>
              </a:rPr>
              <a:t>비즈메타/데이터품질관리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828800" y="3950208"/>
            <a:ext cx="2057400" cy="1115568"/>
          </a:xfrm>
          <a:prstGeom prst="rect">
            <a:avLst/>
          </a:prstGeom>
          <a:solidFill>
            <a:srgbClr val="EBDC7D"/>
          </a:solidFill>
          <a:ln w="5080">
            <a:solidFill>
              <a:srgbClr val="DCC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2084831" y="3986784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00" b="1">
                <a:solidFill>
                  <a:srgbClr val="3C3C3C"/>
                </a:solidFill>
                <a:latin typeface="Malgun Gothic"/>
              </a:rPr>
              <a:t>마케팅 이벤트 처리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487168" y="4224528"/>
            <a:ext cx="960120" cy="201168"/>
          </a:xfrm>
          <a:prstGeom prst="rect">
            <a:avLst/>
          </a:prstGeom>
          <a:solidFill>
            <a:srgbClr val="215BD2"/>
          </a:solidFill>
          <a:ln w="6350">
            <a:solidFill>
              <a:srgbClr val="215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487168" y="4224528"/>
            <a:ext cx="96012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실시간 처리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487168" y="4471416"/>
            <a:ext cx="960120" cy="201168"/>
          </a:xfrm>
          <a:prstGeom prst="rect">
            <a:avLst/>
          </a:prstGeom>
          <a:solidFill>
            <a:srgbClr val="215BD2"/>
          </a:solidFill>
          <a:ln w="6350">
            <a:solidFill>
              <a:srgbClr val="215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2487168" y="4471416"/>
            <a:ext cx="96012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행동처리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487168" y="4718304"/>
            <a:ext cx="960120" cy="201168"/>
          </a:xfrm>
          <a:prstGeom prst="rect">
            <a:avLst/>
          </a:prstGeom>
          <a:solidFill>
            <a:srgbClr val="215BD2"/>
          </a:solidFill>
          <a:ln w="6350">
            <a:solidFill>
              <a:srgbClr val="215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2487168" y="4718304"/>
            <a:ext cx="96012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고객행동데이터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17720" y="2615184"/>
            <a:ext cx="2468880" cy="1664208"/>
          </a:xfrm>
          <a:prstGeom prst="rect">
            <a:avLst/>
          </a:prstGeom>
          <a:solidFill>
            <a:srgbClr val="EBEEEC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4700016" y="2816352"/>
            <a:ext cx="457200" cy="530352"/>
          </a:xfrm>
          <a:prstGeom prst="rect">
            <a:avLst/>
          </a:prstGeom>
          <a:solidFill>
            <a:srgbClr val="E6CD00"/>
          </a:solidFill>
          <a:ln w="6350">
            <a:solidFill>
              <a:srgbClr val="E6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4700016" y="2816352"/>
            <a:ext cx="457200" cy="53035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00" b="1">
                <a:solidFill>
                  <a:srgbClr val="282828"/>
                </a:solidFill>
                <a:latin typeface="Malgun Gothic"/>
              </a:rPr>
              <a:t>RDW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303520" y="2816352"/>
            <a:ext cx="457200" cy="530352"/>
          </a:xfrm>
          <a:prstGeom prst="rect">
            <a:avLst/>
          </a:prstGeom>
          <a:solidFill>
            <a:srgbClr val="E6CD00"/>
          </a:solidFill>
          <a:ln w="6350">
            <a:solidFill>
              <a:srgbClr val="E6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5303520" y="2816352"/>
            <a:ext cx="457200" cy="53035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00" b="1">
                <a:solidFill>
                  <a:srgbClr val="282828"/>
                </a:solidFill>
                <a:latin typeface="Malgun Gothic"/>
              </a:rPr>
              <a:t>ADW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413248" y="3730752"/>
            <a:ext cx="1005840" cy="182880"/>
          </a:xfrm>
          <a:prstGeom prst="rect">
            <a:avLst/>
          </a:prstGeom>
          <a:solidFill>
            <a:srgbClr val="E6CD00"/>
          </a:solidFill>
          <a:ln w="6350">
            <a:solidFill>
              <a:srgbClr val="E6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5413248" y="3730752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00" b="1">
                <a:solidFill>
                  <a:srgbClr val="282828"/>
                </a:solidFill>
                <a:latin typeface="Malgun Gothic"/>
              </a:rPr>
              <a:t>ILM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285232" y="4078224"/>
            <a:ext cx="1005840" cy="201168"/>
          </a:xfrm>
          <a:prstGeom prst="rect">
            <a:avLst/>
          </a:prstGeom>
          <a:solidFill>
            <a:srgbClr val="282D30"/>
          </a:solidFill>
          <a:ln w="6350">
            <a:solidFill>
              <a:srgbClr val="28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5285232" y="407822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ETL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870448" y="2240280"/>
            <a:ext cx="786384" cy="201168"/>
          </a:xfrm>
          <a:prstGeom prst="rect">
            <a:avLst/>
          </a:prstGeom>
          <a:solidFill>
            <a:srgbClr val="48AC1B"/>
          </a:solidFill>
          <a:ln w="6350">
            <a:solidFill>
              <a:srgbClr val="48AC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5870448" y="2240280"/>
            <a:ext cx="786384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Self BI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870448" y="2542032"/>
            <a:ext cx="786384" cy="201168"/>
          </a:xfrm>
          <a:prstGeom prst="rect">
            <a:avLst/>
          </a:prstGeom>
          <a:solidFill>
            <a:srgbClr val="48AC1B"/>
          </a:solidFill>
          <a:ln w="6350">
            <a:solidFill>
              <a:srgbClr val="48AC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5870448" y="2542032"/>
            <a:ext cx="786384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OLAP AP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870448" y="2834640"/>
            <a:ext cx="786384" cy="201168"/>
          </a:xfrm>
          <a:prstGeom prst="rect">
            <a:avLst/>
          </a:prstGeom>
          <a:solidFill>
            <a:srgbClr val="48AC1B"/>
          </a:solidFill>
          <a:ln w="6350">
            <a:solidFill>
              <a:srgbClr val="48AC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5870448" y="2834640"/>
            <a:ext cx="786384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OLAP WEB/WAS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315968" y="5559552"/>
            <a:ext cx="1078992" cy="201168"/>
          </a:xfrm>
          <a:prstGeom prst="rect">
            <a:avLst/>
          </a:prstGeom>
          <a:solidFill>
            <a:srgbClr val="0084CD"/>
          </a:solidFill>
          <a:ln w="6350">
            <a:solidFill>
              <a:srgbClr val="0084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4315968" y="5559552"/>
            <a:ext cx="1078992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데이터이행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315968" y="5833872"/>
            <a:ext cx="1078992" cy="201168"/>
          </a:xfrm>
          <a:prstGeom prst="rect">
            <a:avLst/>
          </a:prstGeom>
          <a:solidFill>
            <a:srgbClr val="0084CD"/>
          </a:solidFill>
          <a:ln w="6350">
            <a:solidFill>
              <a:srgbClr val="0084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4315968" y="5833872"/>
            <a:ext cx="1078992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SQL 품질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705856" y="5559552"/>
            <a:ext cx="1280160" cy="201168"/>
          </a:xfrm>
          <a:prstGeom prst="rect">
            <a:avLst/>
          </a:prstGeom>
          <a:solidFill>
            <a:srgbClr val="DD8E00"/>
          </a:solidFill>
          <a:ln w="6350">
            <a:solidFill>
              <a:srgbClr val="DD8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5705856" y="5559552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00" b="1">
                <a:solidFill>
                  <a:srgbClr val="282828"/>
                </a:solidFill>
                <a:latin typeface="Malgun Gothic"/>
              </a:rPr>
              <a:t>데이터흐름관리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705856" y="5833872"/>
            <a:ext cx="1280160" cy="201168"/>
          </a:xfrm>
          <a:prstGeom prst="rect">
            <a:avLst/>
          </a:prstGeom>
          <a:solidFill>
            <a:srgbClr val="DD8E00"/>
          </a:solidFill>
          <a:ln w="6350">
            <a:solidFill>
              <a:srgbClr val="DD8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5705856" y="5833872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00" b="1">
                <a:solidFill>
                  <a:srgbClr val="282828"/>
                </a:solidFill>
                <a:latin typeface="Malgun Gothic"/>
              </a:rPr>
              <a:t>비즈메타/데이터품질관리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389120" y="2066543"/>
            <a:ext cx="2697480" cy="118872"/>
          </a:xfrm>
          <a:prstGeom prst="rect">
            <a:avLst/>
          </a:prstGeom>
          <a:solidFill>
            <a:srgbClr val="2A968E"/>
          </a:solidFill>
          <a:ln w="2540">
            <a:solidFill>
              <a:srgbClr val="2A9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5577840" y="2020824"/>
            <a:ext cx="228600" cy="1371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Malgun Gothic"/>
              </a:rPr>
              <a:t>EAI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029200" y="4663440"/>
            <a:ext cx="2240280" cy="109728"/>
          </a:xfrm>
          <a:prstGeom prst="rect">
            <a:avLst/>
          </a:prstGeom>
          <a:solidFill>
            <a:srgbClr val="B5302F"/>
          </a:solidFill>
          <a:ln w="2540">
            <a:solidFill>
              <a:srgbClr val="B53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6007608" y="4626864"/>
            <a:ext cx="320040" cy="11887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ETL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029200" y="5029200"/>
            <a:ext cx="2240280" cy="109728"/>
          </a:xfrm>
          <a:prstGeom prst="rect">
            <a:avLst/>
          </a:prstGeom>
          <a:solidFill>
            <a:srgbClr val="2A968E"/>
          </a:solidFill>
          <a:ln w="2540">
            <a:solidFill>
              <a:srgbClr val="2A9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2" name="Connector 111"/>
          <p:cNvCxnSpPr/>
          <p:nvPr/>
        </p:nvCxnSpPr>
        <p:spPr>
          <a:xfrm>
            <a:off x="4297680" y="1975104"/>
            <a:ext cx="237744" cy="0"/>
          </a:xfrm>
          <a:prstGeom prst="line">
            <a:avLst/>
          </a:prstGeom>
          <a:ln w="12700">
            <a:solidFill>
              <a:srgbClr val="3680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4297680" y="2487168"/>
            <a:ext cx="237744" cy="0"/>
          </a:xfrm>
          <a:prstGeom prst="line">
            <a:avLst/>
          </a:prstGeom>
          <a:ln w="12700">
            <a:solidFill>
              <a:srgbClr val="3680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4297680" y="2779776"/>
            <a:ext cx="237744" cy="0"/>
          </a:xfrm>
          <a:prstGeom prst="line">
            <a:avLst/>
          </a:prstGeom>
          <a:ln w="12700">
            <a:solidFill>
              <a:srgbClr val="3680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4297680" y="3200400"/>
            <a:ext cx="237744" cy="0"/>
          </a:xfrm>
          <a:prstGeom prst="line">
            <a:avLst/>
          </a:prstGeom>
          <a:ln w="12700">
            <a:solidFill>
              <a:srgbClr val="3680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4297680" y="3456432"/>
            <a:ext cx="237744" cy="0"/>
          </a:xfrm>
          <a:prstGeom prst="line">
            <a:avLst/>
          </a:prstGeom>
          <a:ln w="12700">
            <a:solidFill>
              <a:srgbClr val="3680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4297680" y="4297680"/>
            <a:ext cx="237744" cy="0"/>
          </a:xfrm>
          <a:prstGeom prst="line">
            <a:avLst/>
          </a:prstGeom>
          <a:ln w="12700">
            <a:solidFill>
              <a:srgbClr val="3680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4297680" y="4572000"/>
            <a:ext cx="237744" cy="0"/>
          </a:xfrm>
          <a:prstGeom prst="line">
            <a:avLst/>
          </a:prstGeom>
          <a:ln w="12700">
            <a:solidFill>
              <a:srgbClr val="3680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4297680" y="4818888"/>
            <a:ext cx="237744" cy="0"/>
          </a:xfrm>
          <a:prstGeom prst="line">
            <a:avLst/>
          </a:prstGeom>
          <a:ln w="12700">
            <a:solidFill>
              <a:srgbClr val="3680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4297680" y="5669280"/>
            <a:ext cx="237744" cy="0"/>
          </a:xfrm>
          <a:prstGeom prst="line">
            <a:avLst/>
          </a:prstGeom>
          <a:ln w="12700">
            <a:solidFill>
              <a:srgbClr val="3680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4892040" y="1783080"/>
            <a:ext cx="0" cy="283463"/>
          </a:xfrm>
          <a:prstGeom prst="line">
            <a:avLst/>
          </a:prstGeom>
          <a:ln w="10160">
            <a:solidFill>
              <a:srgbClr val="96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5440680" y="1783080"/>
            <a:ext cx="0" cy="283463"/>
          </a:xfrm>
          <a:prstGeom prst="line">
            <a:avLst/>
          </a:prstGeom>
          <a:ln w="10160">
            <a:solidFill>
              <a:srgbClr val="96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5925312" y="1783080"/>
            <a:ext cx="0" cy="283463"/>
          </a:xfrm>
          <a:prstGeom prst="line">
            <a:avLst/>
          </a:prstGeom>
          <a:ln w="10160">
            <a:solidFill>
              <a:srgbClr val="96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6291072" y="1783080"/>
            <a:ext cx="0" cy="283463"/>
          </a:xfrm>
          <a:prstGeom prst="line">
            <a:avLst/>
          </a:prstGeom>
          <a:ln w="10160">
            <a:solidFill>
              <a:srgbClr val="96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6656832" y="1783080"/>
            <a:ext cx="0" cy="283463"/>
          </a:xfrm>
          <a:prstGeom prst="line">
            <a:avLst/>
          </a:prstGeom>
          <a:ln w="10160">
            <a:solidFill>
              <a:srgbClr val="96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5486400" y="1508760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650" b="0">
                <a:solidFill>
                  <a:srgbClr val="6E6E6E"/>
                </a:solidFill>
                <a:latin typeface="Malgun Gothic"/>
              </a:rPr>
              <a:t>유관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833872" y="1508760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650" b="0">
                <a:solidFill>
                  <a:srgbClr val="6E6E6E"/>
                </a:solidFill>
                <a:latin typeface="Malgun Gothic"/>
              </a:rPr>
              <a:t>계정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172200" y="1508760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650" b="0">
                <a:solidFill>
                  <a:srgbClr val="6E6E6E"/>
                </a:solidFill>
                <a:latin typeface="Malgun Gothic"/>
              </a:rPr>
              <a:t>관리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510528" y="1508760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650" b="0">
                <a:solidFill>
                  <a:srgbClr val="6E6E6E"/>
                </a:solidFill>
                <a:latin typeface="Malgun Gothic"/>
              </a:rPr>
              <a:t>리스크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7452360" y="1111709"/>
            <a:ext cx="2468880" cy="3859774"/>
          </a:xfrm>
          <a:prstGeom prst="rect">
            <a:avLst/>
          </a:prstGeom>
          <a:solidFill>
            <a:srgbClr val="F5F6F6"/>
          </a:solidFill>
          <a:ln w="1143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7452360" y="1111709"/>
            <a:ext cx="2468880" cy="158719"/>
          </a:xfrm>
          <a:prstGeom prst="rect">
            <a:avLst/>
          </a:prstGeom>
          <a:solidFill>
            <a:srgbClr val="2A968E"/>
          </a:solidFill>
          <a:ln w="2540">
            <a:solidFill>
              <a:srgbClr val="2A9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7452360" y="1111709"/>
            <a:ext cx="2468880" cy="158719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46" b="1">
                <a:solidFill>
                  <a:srgbClr val="FFFFFF"/>
                </a:solidFill>
                <a:latin typeface="Malgun Gothic"/>
              </a:rPr>
              <a:t>주요 시스템 영역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7516368" y="1371432"/>
            <a:ext cx="768096" cy="447300"/>
          </a:xfrm>
          <a:prstGeom prst="rect">
            <a:avLst/>
          </a:prstGeom>
          <a:solidFill>
            <a:srgbClr val="E8EBEA"/>
          </a:solidFill>
          <a:ln w="63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7516368" y="1371432"/>
            <a:ext cx="768096" cy="4473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54" b="1">
                <a:solidFill>
                  <a:srgbClr val="4B4B4B"/>
                </a:solidFill>
                <a:latin typeface="Malgun Gothic"/>
              </a:rPr>
              <a:t>마케팅플랫폼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339327" y="1385861"/>
            <a:ext cx="1417320" cy="41844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536" b="0">
                <a:solidFill>
                  <a:srgbClr val="373737"/>
                </a:solidFill>
                <a:latin typeface="Malgun Gothic"/>
              </a:rPr>
              <a:t>1. 마케팅플랫폼 WEB/WAS 서버
2. 실시간처리 서버
3. 행동처리 서버
4. 고객행동데이터 서버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7516368" y="1869234"/>
            <a:ext cx="768096" cy="418442"/>
          </a:xfrm>
          <a:prstGeom prst="rect">
            <a:avLst/>
          </a:prstGeom>
          <a:solidFill>
            <a:srgbClr val="E8EBEA"/>
          </a:solidFill>
          <a:ln w="63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7516368" y="1869234"/>
            <a:ext cx="768096" cy="41844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54" b="1">
                <a:solidFill>
                  <a:srgbClr val="4B4B4B"/>
                </a:solidFill>
                <a:latin typeface="Malgun Gothic"/>
              </a:rPr>
              <a:t>데이터플랫폼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8339327" y="1883664"/>
            <a:ext cx="1417320" cy="389583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536" b="0">
                <a:solidFill>
                  <a:srgbClr val="373737"/>
                </a:solidFill>
                <a:latin typeface="Malgun Gothic"/>
              </a:rPr>
              <a:t>1. ADW
2. RDW
3. ILM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7516368" y="2338179"/>
            <a:ext cx="768096" cy="606020"/>
          </a:xfrm>
          <a:prstGeom prst="rect">
            <a:avLst/>
          </a:prstGeom>
          <a:solidFill>
            <a:srgbClr val="E8EBEA"/>
          </a:solidFill>
          <a:ln w="63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7516368" y="2338179"/>
            <a:ext cx="768096" cy="6060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54" b="1">
                <a:solidFill>
                  <a:srgbClr val="4B4B4B"/>
                </a:solidFill>
                <a:latin typeface="Malgun Gothic"/>
              </a:rPr>
              <a:t>BI포털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8339327" y="2352608"/>
            <a:ext cx="1417320" cy="577161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536" b="0">
                <a:solidFill>
                  <a:srgbClr val="373737"/>
                </a:solidFill>
                <a:latin typeface="Malgun Gothic"/>
              </a:rPr>
              <a:t>1. BI포털 WEB/WAS 서버
2. 신용실적 WEB/WAS 서버
3. OLAP AP / OLAP WEB/WAS /
   OLAP Meta DB서버
4. Self BI 서버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7516368" y="2994701"/>
            <a:ext cx="768096" cy="476159"/>
          </a:xfrm>
          <a:prstGeom prst="rect">
            <a:avLst/>
          </a:prstGeom>
          <a:solidFill>
            <a:srgbClr val="E8EBEA"/>
          </a:solidFill>
          <a:ln w="63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7516368" y="2994701"/>
            <a:ext cx="768096" cy="476159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54" b="1">
                <a:solidFill>
                  <a:srgbClr val="4B4B4B"/>
                </a:solidFill>
                <a:latin typeface="Malgun Gothic"/>
              </a:rPr>
              <a:t>데이터 거버넌스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39327" y="3009131"/>
            <a:ext cx="1417320" cy="44730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536" b="0">
                <a:solidFill>
                  <a:srgbClr val="373737"/>
                </a:solidFill>
                <a:latin typeface="Malgun Gothic"/>
              </a:rPr>
              <a:t>1. 데이터흐름관리 서버
2. 비즈메타/데이터품질관리 서버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516368" y="3521362"/>
            <a:ext cx="768096" cy="952318"/>
          </a:xfrm>
          <a:prstGeom prst="rect">
            <a:avLst/>
          </a:prstGeom>
          <a:solidFill>
            <a:srgbClr val="E8EBEA"/>
          </a:solidFill>
          <a:ln w="63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7516368" y="3521362"/>
            <a:ext cx="768096" cy="95231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54" b="1">
                <a:solidFill>
                  <a:srgbClr val="4B4B4B"/>
                </a:solidFill>
                <a:latin typeface="Malgun Gothic"/>
              </a:rPr>
              <a:t>공통인프라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8339327" y="3535791"/>
            <a:ext cx="1417320" cy="92346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536" b="0">
                <a:solidFill>
                  <a:srgbClr val="373737"/>
                </a:solidFill>
                <a:latin typeface="Malgun Gothic"/>
              </a:rPr>
              <a:t>1. 배치 AP 서버
2. ETL 서버
3. RD 서버
4. 단말관리 서버
5. 단말배포 서버
6. 단말관리 DB 서버
7. IMDG 서버
8. GitLab 서버
9. GitRunner 서버
10. CDC 중계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7516368" y="4524181"/>
            <a:ext cx="768096" cy="360726"/>
          </a:xfrm>
          <a:prstGeom prst="rect">
            <a:avLst/>
          </a:prstGeom>
          <a:solidFill>
            <a:srgbClr val="E8EBEA"/>
          </a:solidFill>
          <a:ln w="63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7516368" y="4524181"/>
            <a:ext cx="768096" cy="36072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54" b="1">
                <a:solidFill>
                  <a:srgbClr val="4B4B4B"/>
                </a:solidFill>
                <a:latin typeface="Malgun Gothic"/>
              </a:rPr>
              <a:t>기타(PJT 합)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8339327" y="4538611"/>
            <a:ext cx="1417320" cy="331868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536" b="0">
                <a:solidFill>
                  <a:srgbClr val="373737"/>
                </a:solidFill>
                <a:latin typeface="Malgun Gothic"/>
              </a:rPr>
              <a:t>1. 데이터 이행/수행/변환 서버
2. 데이터 검증 서버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7516368" y="4935411"/>
            <a:ext cx="768096" cy="526660"/>
          </a:xfrm>
          <a:prstGeom prst="rect">
            <a:avLst/>
          </a:prstGeom>
          <a:solidFill>
            <a:srgbClr val="E8EBEA"/>
          </a:solidFill>
          <a:ln w="63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7516368" y="4935411"/>
            <a:ext cx="768096" cy="5266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54" b="1">
                <a:solidFill>
                  <a:srgbClr val="4B4B4B"/>
                </a:solidFill>
                <a:latin typeface="Malgun Gothic"/>
              </a:rPr>
              <a:t>내부 연계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8339327" y="4949839"/>
            <a:ext cx="1417320" cy="49780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536" b="0">
                <a:solidFill>
                  <a:srgbClr val="373737"/>
                </a:solidFill>
                <a:latin typeface="Malgun Gothic"/>
              </a:rPr>
              <a:t>MCI / EAI / UMS / FEP
계정단말 / 계정코어 / 경영정보
인터넷뱅킹 / Big Data
BCV / FOS / MFT / UMS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7516368" y="5512573"/>
            <a:ext cx="768096" cy="303010"/>
          </a:xfrm>
          <a:prstGeom prst="rect">
            <a:avLst/>
          </a:prstGeom>
          <a:solidFill>
            <a:srgbClr val="E8EBEA"/>
          </a:solidFill>
          <a:ln w="63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7516368" y="5512573"/>
            <a:ext cx="768096" cy="30301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54" b="1">
                <a:solidFill>
                  <a:srgbClr val="4B4B4B"/>
                </a:solidFill>
                <a:latin typeface="Malgun Gothic"/>
              </a:rPr>
              <a:t>외부 연계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8339327" y="5527002"/>
            <a:ext cx="1417320" cy="27415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536" b="0">
                <a:solidFill>
                  <a:srgbClr val="373737"/>
                </a:solidFill>
                <a:latin typeface="Malgun Gothic"/>
              </a:rPr>
              <a:t>NH 생명 - NH경제지주
KT / KoData / Nice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5074920" y="5916168"/>
            <a:ext cx="274320" cy="1371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464646"/>
                </a:solidFill>
                <a:latin typeface="Malgun Gothic"/>
              </a:rPr>
              <a:t>9</a:t>
            </a:r>
          </a:p>
        </p:txBody>
      </p:sp>
      <p:sp>
        <p:nvSpPr>
          <p:cNvPr id="158" name="Isosceles Triangle 157"/>
          <p:cNvSpPr/>
          <p:nvPr/>
        </p:nvSpPr>
        <p:spPr>
          <a:xfrm rot="10800000">
            <a:off x="18288" y="5815584"/>
            <a:ext cx="118872" cy="164592"/>
          </a:xfrm>
          <a:prstGeom prst="triangle">
            <a:avLst/>
          </a:prstGeom>
          <a:solidFill>
            <a:srgbClr val="EC9A34"/>
          </a:solidFill>
          <a:ln>
            <a:solidFill>
              <a:srgbClr val="EC9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Oval 158"/>
          <p:cNvSpPr/>
          <p:nvPr/>
        </p:nvSpPr>
        <p:spPr>
          <a:xfrm>
            <a:off x="109728" y="5852160"/>
            <a:ext cx="45720" cy="45720"/>
          </a:xfrm>
          <a:prstGeom prst="ellipse">
            <a:avLst/>
          </a:prstGeom>
          <a:solidFill>
            <a:srgbClr val="EC9A34"/>
          </a:solidFill>
          <a:ln>
            <a:solidFill>
              <a:srgbClr val="EC9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164592" y="5806440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>
                <a:solidFill>
                  <a:srgbClr val="26854A"/>
                </a:solidFill>
                <a:latin typeface="Malgun Gothic"/>
              </a:rPr>
              <a:t>농협중앙회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2103120" cy="347472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r>
              <a:rPr sz="2400" b="1">
                <a:solidFill>
                  <a:srgbClr val="232323"/>
                </a:solidFill>
                <a:latin typeface="Malgun Gothic"/>
              </a:rPr>
              <a:t>3. 추진 계획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64592" y="603504"/>
            <a:ext cx="9802368" cy="0"/>
          </a:xfrm>
          <a:prstGeom prst="line">
            <a:avLst/>
          </a:prstGeom>
          <a:ln w="190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0312" y="713232"/>
            <a:ext cx="9921240" cy="68580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1700">
                <a:solidFill>
                  <a:srgbClr val="323232"/>
                </a:solidFill>
                <a:latin typeface="Malgun Gothic"/>
              </a:rPr>
              <a:t>아키텍처 수행방법은 수립/확립/고도화&amp;평가&amp;이행 단계로 추진하며 사전분석기간을 아키텍처
수립기간이다. 이 기간동안 「 차세대 정보계 시스템 구축」을 위한 </a:t>
            </a:r>
            <a:r>
              <a:rPr sz="1700">
                <a:solidFill>
                  <a:srgbClr val="A84E49"/>
                </a:solidFill>
                <a:latin typeface="Malgun Gothic"/>
              </a:rPr>
              <a:t>목표 아키텍처의 구조를 설계</a:t>
            </a:r>
            <a:r>
              <a:rPr sz="1700">
                <a:solidFill>
                  <a:srgbClr val="323232"/>
                </a:solidFill>
                <a:latin typeface="Malgun Gothic"/>
              </a:rPr>
              <a:t>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37560" y="1417320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>
                <a:solidFill>
                  <a:srgbClr val="232323"/>
                </a:solidFill>
                <a:latin typeface="Malgun Gothic"/>
              </a:rPr>
              <a:t>아키텍처 수립 추진 일정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182112" y="1682496"/>
            <a:ext cx="3429000" cy="0"/>
          </a:xfrm>
          <a:prstGeom prst="line">
            <a:avLst/>
          </a:prstGeom>
          <a:ln w="1016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10896" y="1810512"/>
            <a:ext cx="11393424" cy="4297680"/>
          </a:xfrm>
          <a:prstGeom prst="rect">
            <a:avLst/>
          </a:prstGeom>
          <a:solidFill>
            <a:srgbClr val="FAFAFA"/>
          </a:solidFill>
          <a:ln w="1270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10896" y="1810512"/>
            <a:ext cx="1417320" cy="914400"/>
          </a:xfrm>
          <a:prstGeom prst="rect">
            <a:avLst/>
          </a:prstGeom>
          <a:solidFill>
            <a:srgbClr val="CACEC7"/>
          </a:solidFill>
          <a:ln w="1016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0896" y="1810512"/>
            <a:ext cx="1417320" cy="9144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373737"/>
                </a:solidFill>
                <a:latin typeface="Malgun Gothic"/>
              </a:rPr>
              <a:t>업무영역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28216" y="1810512"/>
            <a:ext cx="438912" cy="914400"/>
          </a:xfrm>
          <a:prstGeom prst="rect">
            <a:avLst/>
          </a:prstGeom>
          <a:solidFill>
            <a:srgbClr val="CFD3CA"/>
          </a:solidFill>
          <a:ln w="1016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10896" y="2724912"/>
            <a:ext cx="1417320" cy="3383280"/>
          </a:xfrm>
          <a:prstGeom prst="rect">
            <a:avLst/>
          </a:prstGeom>
          <a:solidFill>
            <a:srgbClr val="8EC9C7"/>
          </a:solidFill>
          <a:ln w="1016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0896" y="2724912"/>
            <a:ext cx="1417320" cy="33832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500" b="0">
                <a:solidFill>
                  <a:srgbClr val="2D4646"/>
                </a:solidFill>
                <a:latin typeface="Malgun Gothic"/>
              </a:rPr>
              <a:t>아키텍처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28216" y="2724912"/>
            <a:ext cx="438912" cy="3383280"/>
          </a:xfrm>
          <a:prstGeom prst="rect">
            <a:avLst/>
          </a:prstGeom>
          <a:solidFill>
            <a:srgbClr val="B4D3D1"/>
          </a:solidFill>
          <a:ln w="1016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728216" y="3319272"/>
            <a:ext cx="438912" cy="5486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3C3C3C"/>
                </a:solidFill>
                <a:latin typeface="Malgun Gothic"/>
              </a:rPr>
              <a:t>착수 준
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67128" y="1810512"/>
            <a:ext cx="2384298" cy="310896"/>
          </a:xfrm>
          <a:prstGeom prst="rect">
            <a:avLst/>
          </a:prstGeom>
          <a:solidFill>
            <a:srgbClr val="BEC2BB"/>
          </a:solidFill>
          <a:ln w="1016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67128" y="1810512"/>
            <a:ext cx="2384298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464646"/>
                </a:solidFill>
                <a:latin typeface="Malgun Gothic"/>
              </a:rPr>
              <a:t>M1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67128" y="2121408"/>
            <a:ext cx="2384298" cy="310896"/>
          </a:xfrm>
          <a:prstGeom prst="rect">
            <a:avLst/>
          </a:prstGeom>
          <a:solidFill>
            <a:srgbClr val="DDDFD9"/>
          </a:solidFill>
          <a:ln w="1016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167128" y="2121408"/>
            <a:ext cx="2384298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464646"/>
                </a:solidFill>
                <a:latin typeface="Malgun Gothic"/>
              </a:rPr>
              <a:t>'25년 12월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51426" y="1810512"/>
            <a:ext cx="2384298" cy="310896"/>
          </a:xfrm>
          <a:prstGeom prst="rect">
            <a:avLst/>
          </a:prstGeom>
          <a:solidFill>
            <a:srgbClr val="BEC2BB"/>
          </a:solidFill>
          <a:ln w="1016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51426" y="1810512"/>
            <a:ext cx="2384298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464646"/>
                </a:solidFill>
                <a:latin typeface="Malgun Gothic"/>
              </a:rPr>
              <a:t>M2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51426" y="2121408"/>
            <a:ext cx="2384298" cy="310896"/>
          </a:xfrm>
          <a:prstGeom prst="rect">
            <a:avLst/>
          </a:prstGeom>
          <a:solidFill>
            <a:srgbClr val="DDDFD9"/>
          </a:solidFill>
          <a:ln w="1016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51426" y="2121408"/>
            <a:ext cx="2384298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464646"/>
                </a:solidFill>
                <a:latin typeface="Malgun Gothic"/>
              </a:rPr>
              <a:t>'26년 1월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35724" y="1810512"/>
            <a:ext cx="2384298" cy="310896"/>
          </a:xfrm>
          <a:prstGeom prst="rect">
            <a:avLst/>
          </a:prstGeom>
          <a:solidFill>
            <a:srgbClr val="BEC2BB"/>
          </a:solidFill>
          <a:ln w="1016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35724" y="1810512"/>
            <a:ext cx="2384298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464646"/>
                </a:solidFill>
                <a:latin typeface="Malgun Gothic"/>
              </a:rPr>
              <a:t>M3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35724" y="2121408"/>
            <a:ext cx="2384298" cy="310896"/>
          </a:xfrm>
          <a:prstGeom prst="rect">
            <a:avLst/>
          </a:prstGeom>
          <a:solidFill>
            <a:srgbClr val="DDDFD9"/>
          </a:solidFill>
          <a:ln w="1016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35724" y="2121408"/>
            <a:ext cx="2384298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464646"/>
                </a:solidFill>
                <a:latin typeface="Malgun Gothic"/>
              </a:rPr>
              <a:t>2월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20022" y="1810512"/>
            <a:ext cx="2384298" cy="310896"/>
          </a:xfrm>
          <a:prstGeom prst="rect">
            <a:avLst/>
          </a:prstGeom>
          <a:solidFill>
            <a:srgbClr val="BEC2BB"/>
          </a:solidFill>
          <a:ln w="1016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20022" y="1810512"/>
            <a:ext cx="2384298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464646"/>
                </a:solidFill>
                <a:latin typeface="Malgun Gothic"/>
              </a:rPr>
              <a:t>M4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20022" y="2121408"/>
            <a:ext cx="2384298" cy="310896"/>
          </a:xfrm>
          <a:prstGeom prst="rect">
            <a:avLst/>
          </a:prstGeom>
          <a:solidFill>
            <a:srgbClr val="DDDFD9"/>
          </a:solidFill>
          <a:ln w="1016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320022" y="2121408"/>
            <a:ext cx="2384298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464646"/>
                </a:solidFill>
                <a:latin typeface="Malgun Gothic"/>
              </a:rPr>
              <a:t>3월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67128" y="2432304"/>
            <a:ext cx="596074" cy="292608"/>
          </a:xfrm>
          <a:prstGeom prst="rect">
            <a:avLst/>
          </a:prstGeom>
          <a:solidFill>
            <a:srgbClr val="E1E3DE"/>
          </a:solidFill>
          <a:ln w="762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167128" y="2432304"/>
            <a:ext cx="596074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414141"/>
                </a:solidFill>
                <a:latin typeface="Malgun Gothic"/>
              </a:rPr>
              <a:t>1주차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63202" y="2432304"/>
            <a:ext cx="596074" cy="292608"/>
          </a:xfrm>
          <a:prstGeom prst="rect">
            <a:avLst/>
          </a:prstGeom>
          <a:solidFill>
            <a:srgbClr val="E1E3DE"/>
          </a:solidFill>
          <a:ln w="762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763202" y="2432304"/>
            <a:ext cx="596074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414141"/>
                </a:solidFill>
                <a:latin typeface="Malgun Gothic"/>
              </a:rPr>
              <a:t>2주차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59277" y="2432304"/>
            <a:ext cx="596074" cy="292608"/>
          </a:xfrm>
          <a:prstGeom prst="rect">
            <a:avLst/>
          </a:prstGeom>
          <a:solidFill>
            <a:srgbClr val="E1E3DE"/>
          </a:solidFill>
          <a:ln w="762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359277" y="2432304"/>
            <a:ext cx="596074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414141"/>
                </a:solidFill>
                <a:latin typeface="Malgun Gothic"/>
              </a:rPr>
              <a:t>3주차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55351" y="2432304"/>
            <a:ext cx="596074" cy="292608"/>
          </a:xfrm>
          <a:prstGeom prst="rect">
            <a:avLst/>
          </a:prstGeom>
          <a:solidFill>
            <a:srgbClr val="E1E3DE"/>
          </a:solidFill>
          <a:ln w="762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955351" y="2432304"/>
            <a:ext cx="596074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414141"/>
                </a:solidFill>
                <a:latin typeface="Malgun Gothic"/>
              </a:rPr>
              <a:t>4주차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51426" y="2432304"/>
            <a:ext cx="596074" cy="292608"/>
          </a:xfrm>
          <a:prstGeom prst="rect">
            <a:avLst/>
          </a:prstGeom>
          <a:solidFill>
            <a:srgbClr val="E1E3DE"/>
          </a:solidFill>
          <a:ln w="762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51426" y="2432304"/>
            <a:ext cx="596074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414141"/>
                </a:solidFill>
                <a:latin typeface="Malgun Gothic"/>
              </a:rPr>
              <a:t>5주차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47500" y="2432304"/>
            <a:ext cx="596074" cy="292608"/>
          </a:xfrm>
          <a:prstGeom prst="rect">
            <a:avLst/>
          </a:prstGeom>
          <a:solidFill>
            <a:srgbClr val="E1E3DE"/>
          </a:solidFill>
          <a:ln w="762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47500" y="2432304"/>
            <a:ext cx="596074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414141"/>
                </a:solidFill>
                <a:latin typeface="Malgun Gothic"/>
              </a:rPr>
              <a:t>6주차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43575" y="2432304"/>
            <a:ext cx="596074" cy="292608"/>
          </a:xfrm>
          <a:prstGeom prst="rect">
            <a:avLst/>
          </a:prstGeom>
          <a:solidFill>
            <a:srgbClr val="E1E3DE"/>
          </a:solidFill>
          <a:ln w="762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743575" y="2432304"/>
            <a:ext cx="596074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414141"/>
                </a:solidFill>
                <a:latin typeface="Malgun Gothic"/>
              </a:rPr>
              <a:t>7주차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39649" y="2432304"/>
            <a:ext cx="596074" cy="292608"/>
          </a:xfrm>
          <a:prstGeom prst="rect">
            <a:avLst/>
          </a:prstGeom>
          <a:solidFill>
            <a:srgbClr val="E1E3DE"/>
          </a:solidFill>
          <a:ln w="762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339649" y="2432304"/>
            <a:ext cx="596074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414141"/>
                </a:solidFill>
                <a:latin typeface="Malgun Gothic"/>
              </a:rPr>
              <a:t>8주차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35724" y="2432304"/>
            <a:ext cx="596074" cy="292608"/>
          </a:xfrm>
          <a:prstGeom prst="rect">
            <a:avLst/>
          </a:prstGeom>
          <a:solidFill>
            <a:srgbClr val="E1E3DE"/>
          </a:solidFill>
          <a:ln w="762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935724" y="2432304"/>
            <a:ext cx="596074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414141"/>
                </a:solidFill>
                <a:latin typeface="Malgun Gothic"/>
              </a:rPr>
              <a:t>9주차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531798" y="2432304"/>
            <a:ext cx="596074" cy="292608"/>
          </a:xfrm>
          <a:prstGeom prst="rect">
            <a:avLst/>
          </a:prstGeom>
          <a:solidFill>
            <a:srgbClr val="E1E3DE"/>
          </a:solidFill>
          <a:ln w="762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531798" y="2432304"/>
            <a:ext cx="596074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414141"/>
                </a:solidFill>
                <a:latin typeface="Malgun Gothic"/>
              </a:rPr>
              <a:t>10주차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127873" y="2432304"/>
            <a:ext cx="596074" cy="292608"/>
          </a:xfrm>
          <a:prstGeom prst="rect">
            <a:avLst/>
          </a:prstGeom>
          <a:solidFill>
            <a:srgbClr val="E1E3DE"/>
          </a:solidFill>
          <a:ln w="762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127873" y="2432304"/>
            <a:ext cx="596074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414141"/>
                </a:solidFill>
                <a:latin typeface="Malgun Gothic"/>
              </a:rPr>
              <a:t>11주차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723947" y="2432304"/>
            <a:ext cx="596074" cy="292608"/>
          </a:xfrm>
          <a:prstGeom prst="rect">
            <a:avLst/>
          </a:prstGeom>
          <a:solidFill>
            <a:srgbClr val="E1E3DE"/>
          </a:solidFill>
          <a:ln w="762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723947" y="2432304"/>
            <a:ext cx="596074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414141"/>
                </a:solidFill>
                <a:latin typeface="Malgun Gothic"/>
              </a:rPr>
              <a:t>12주차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20022" y="2432304"/>
            <a:ext cx="596074" cy="292608"/>
          </a:xfrm>
          <a:prstGeom prst="rect">
            <a:avLst/>
          </a:prstGeom>
          <a:solidFill>
            <a:srgbClr val="E1E3DE"/>
          </a:solidFill>
          <a:ln w="762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320022" y="2432304"/>
            <a:ext cx="596074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414141"/>
                </a:solidFill>
                <a:latin typeface="Malgun Gothic"/>
              </a:rPr>
              <a:t>13주차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916096" y="2432304"/>
            <a:ext cx="596074" cy="292608"/>
          </a:xfrm>
          <a:prstGeom prst="rect">
            <a:avLst/>
          </a:prstGeom>
          <a:solidFill>
            <a:srgbClr val="E1E3DE"/>
          </a:solidFill>
          <a:ln w="762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916096" y="2432304"/>
            <a:ext cx="596074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414141"/>
                </a:solidFill>
                <a:latin typeface="Malgun Gothic"/>
              </a:rPr>
              <a:t>14주차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512171" y="2432304"/>
            <a:ext cx="596074" cy="292608"/>
          </a:xfrm>
          <a:prstGeom prst="rect">
            <a:avLst/>
          </a:prstGeom>
          <a:solidFill>
            <a:srgbClr val="E1E3DE"/>
          </a:solidFill>
          <a:ln w="762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512171" y="2432304"/>
            <a:ext cx="596074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414141"/>
                </a:solidFill>
                <a:latin typeface="Malgun Gothic"/>
              </a:rPr>
              <a:t>15주차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1108245" y="2432304"/>
            <a:ext cx="596074" cy="292608"/>
          </a:xfrm>
          <a:prstGeom prst="rect">
            <a:avLst/>
          </a:prstGeom>
          <a:solidFill>
            <a:srgbClr val="E1E3DE"/>
          </a:solidFill>
          <a:ln w="762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1108245" y="2432304"/>
            <a:ext cx="596074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414141"/>
                </a:solidFill>
                <a:latin typeface="Malgun Gothic"/>
              </a:rPr>
              <a:t>16주차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167128" y="2724912"/>
            <a:ext cx="9537192" cy="3383280"/>
          </a:xfrm>
          <a:prstGeom prst="rect">
            <a:avLst/>
          </a:prstGeom>
          <a:solidFill>
            <a:srgbClr val="F6F6F6"/>
          </a:solidFill>
          <a:ln w="1016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4" name="Connector 63"/>
          <p:cNvCxnSpPr/>
          <p:nvPr/>
        </p:nvCxnSpPr>
        <p:spPr>
          <a:xfrm>
            <a:off x="0" y="2724912"/>
            <a:ext cx="0" cy="3383280"/>
          </a:xfrm>
          <a:prstGeom prst="line">
            <a:avLst/>
          </a:prstGeom>
          <a:ln w="7620">
            <a:solidFill>
              <a:srgbClr val="828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0" y="2724912"/>
            <a:ext cx="0" cy="3383280"/>
          </a:xfrm>
          <a:prstGeom prst="line">
            <a:avLst/>
          </a:prstGeom>
          <a:ln w="7620">
            <a:solidFill>
              <a:srgbClr val="828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0" y="2724912"/>
            <a:ext cx="0" cy="3383280"/>
          </a:xfrm>
          <a:prstGeom prst="line">
            <a:avLst/>
          </a:prstGeom>
          <a:ln w="7620">
            <a:solidFill>
              <a:srgbClr val="828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0" y="2724912"/>
            <a:ext cx="0" cy="3383280"/>
          </a:xfrm>
          <a:prstGeom prst="line">
            <a:avLst/>
          </a:prstGeom>
          <a:ln w="7620">
            <a:solidFill>
              <a:srgbClr val="828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0" y="2724912"/>
            <a:ext cx="0" cy="3383280"/>
          </a:xfrm>
          <a:prstGeom prst="line">
            <a:avLst/>
          </a:prstGeom>
          <a:ln w="7620">
            <a:solidFill>
              <a:srgbClr val="828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0" y="2724912"/>
            <a:ext cx="0" cy="3383280"/>
          </a:xfrm>
          <a:prstGeom prst="line">
            <a:avLst/>
          </a:prstGeom>
          <a:ln w="7620">
            <a:solidFill>
              <a:srgbClr val="828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0" y="2724912"/>
            <a:ext cx="0" cy="3383280"/>
          </a:xfrm>
          <a:prstGeom prst="line">
            <a:avLst/>
          </a:prstGeom>
          <a:ln w="7620">
            <a:solidFill>
              <a:srgbClr val="828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0" y="2724912"/>
            <a:ext cx="0" cy="3383280"/>
          </a:xfrm>
          <a:prstGeom prst="line">
            <a:avLst/>
          </a:prstGeom>
          <a:ln w="7620">
            <a:solidFill>
              <a:srgbClr val="828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0" y="2724912"/>
            <a:ext cx="0" cy="3383280"/>
          </a:xfrm>
          <a:prstGeom prst="line">
            <a:avLst/>
          </a:prstGeom>
          <a:ln w="7620">
            <a:solidFill>
              <a:srgbClr val="828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0" y="2724912"/>
            <a:ext cx="0" cy="3383280"/>
          </a:xfrm>
          <a:prstGeom prst="line">
            <a:avLst/>
          </a:prstGeom>
          <a:ln w="7620">
            <a:solidFill>
              <a:srgbClr val="828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0" y="2724912"/>
            <a:ext cx="0" cy="3383280"/>
          </a:xfrm>
          <a:prstGeom prst="line">
            <a:avLst/>
          </a:prstGeom>
          <a:ln w="7620">
            <a:solidFill>
              <a:srgbClr val="828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0" y="2724912"/>
            <a:ext cx="0" cy="3383280"/>
          </a:xfrm>
          <a:prstGeom prst="line">
            <a:avLst/>
          </a:prstGeom>
          <a:ln w="7620">
            <a:solidFill>
              <a:srgbClr val="828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0" y="2724912"/>
            <a:ext cx="0" cy="3383280"/>
          </a:xfrm>
          <a:prstGeom prst="line">
            <a:avLst/>
          </a:prstGeom>
          <a:ln w="7620">
            <a:solidFill>
              <a:srgbClr val="828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0" y="2724912"/>
            <a:ext cx="0" cy="3383280"/>
          </a:xfrm>
          <a:prstGeom prst="line">
            <a:avLst/>
          </a:prstGeom>
          <a:ln w="7620">
            <a:solidFill>
              <a:srgbClr val="828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0" y="2724912"/>
            <a:ext cx="0" cy="3383280"/>
          </a:xfrm>
          <a:prstGeom prst="line">
            <a:avLst/>
          </a:prstGeom>
          <a:ln w="7620">
            <a:solidFill>
              <a:srgbClr val="828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0" y="2724912"/>
            <a:ext cx="0" cy="3383280"/>
          </a:xfrm>
          <a:prstGeom prst="line">
            <a:avLst/>
          </a:prstGeom>
          <a:ln w="7620">
            <a:solidFill>
              <a:srgbClr val="828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0" y="2724912"/>
            <a:ext cx="0" cy="3383280"/>
          </a:xfrm>
          <a:prstGeom prst="line">
            <a:avLst/>
          </a:prstGeom>
          <a:ln w="7620">
            <a:solidFill>
              <a:srgbClr val="828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ectangle 80"/>
          <p:cNvSpPr/>
          <p:nvPr/>
        </p:nvSpPr>
        <p:spPr>
          <a:xfrm>
            <a:off x="2763202" y="2889504"/>
            <a:ext cx="8881510" cy="310896"/>
          </a:xfrm>
          <a:prstGeom prst="rect">
            <a:avLst/>
          </a:prstGeom>
          <a:solidFill>
            <a:srgbClr val="25488E"/>
          </a:solidFill>
          <a:ln w="6350">
            <a:solidFill>
              <a:srgbClr val="254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2763202" y="2889504"/>
            <a:ext cx="888151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아키텍처 수립</a:t>
            </a:r>
          </a:p>
        </p:txBody>
      </p:sp>
      <p:sp>
        <p:nvSpPr>
          <p:cNvPr id="83" name="Isosceles Triangle 82"/>
          <p:cNvSpPr/>
          <p:nvPr/>
        </p:nvSpPr>
        <p:spPr>
          <a:xfrm rot="10800000">
            <a:off x="3627510" y="2706624"/>
            <a:ext cx="118872" cy="109728"/>
          </a:xfrm>
          <a:prstGeom prst="triangle">
            <a:avLst/>
          </a:prstGeom>
          <a:solidFill>
            <a:srgbClr val="AA3F3A"/>
          </a:solidFill>
          <a:ln>
            <a:solidFill>
              <a:srgbClr val="AA3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ounded Rectangle 83"/>
          <p:cNvSpPr/>
          <p:nvPr/>
        </p:nvSpPr>
        <p:spPr>
          <a:xfrm>
            <a:off x="3061239" y="3328416"/>
            <a:ext cx="3695661" cy="2651760"/>
          </a:xfrm>
          <a:prstGeom prst="roundRect">
            <a:avLst/>
          </a:prstGeom>
          <a:solidFill>
            <a:srgbClr val="F0F1EF"/>
          </a:solidFill>
          <a:ln w="10160">
            <a:solidFill>
              <a:srgbClr val="CEC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3061239" y="3419856"/>
            <a:ext cx="3695661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3C505A"/>
                </a:solidFill>
                <a:latin typeface="Malgun Gothic"/>
              </a:rPr>
              <a:t>현행 시스템 분석</a:t>
            </a:r>
          </a:p>
        </p:txBody>
      </p:sp>
      <p:sp>
        <p:nvSpPr>
          <p:cNvPr id="86" name="Oval 85"/>
          <p:cNvSpPr/>
          <p:nvPr/>
        </p:nvSpPr>
        <p:spPr>
          <a:xfrm>
            <a:off x="3244119" y="3995928"/>
            <a:ext cx="36576" cy="36576"/>
          </a:xfrm>
          <a:prstGeom prst="ellipse">
            <a:avLst/>
          </a:prstGeom>
          <a:solidFill>
            <a:srgbClr val="2E4A7A"/>
          </a:solidFill>
          <a:ln>
            <a:solidFill>
              <a:srgbClr val="2E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3353847" y="3922776"/>
            <a:ext cx="3329901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80" b="0">
                <a:solidFill>
                  <a:srgbClr val="2D2D2D"/>
                </a:solidFill>
                <a:latin typeface="Malgun Gothic"/>
              </a:rPr>
              <a:t>선행 ISP 및 ASIS 아키텍처 분석</a:t>
            </a:r>
          </a:p>
        </p:txBody>
      </p:sp>
      <p:sp>
        <p:nvSpPr>
          <p:cNvPr id="88" name="Oval 87"/>
          <p:cNvSpPr/>
          <p:nvPr/>
        </p:nvSpPr>
        <p:spPr>
          <a:xfrm>
            <a:off x="3244119" y="4361687"/>
            <a:ext cx="36576" cy="36576"/>
          </a:xfrm>
          <a:prstGeom prst="ellipse">
            <a:avLst/>
          </a:prstGeom>
          <a:solidFill>
            <a:srgbClr val="2E4A7A"/>
          </a:solidFill>
          <a:ln>
            <a:solidFill>
              <a:srgbClr val="2E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3353847" y="4288536"/>
            <a:ext cx="3329901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80" b="0">
                <a:solidFill>
                  <a:srgbClr val="2D2D2D"/>
                </a:solidFill>
                <a:latin typeface="Malgun Gothic"/>
              </a:rPr>
              <a:t>정보계 도메인 분석</a:t>
            </a:r>
          </a:p>
        </p:txBody>
      </p:sp>
      <p:sp>
        <p:nvSpPr>
          <p:cNvPr id="90" name="Oval 89"/>
          <p:cNvSpPr/>
          <p:nvPr/>
        </p:nvSpPr>
        <p:spPr>
          <a:xfrm>
            <a:off x="3244119" y="4727447"/>
            <a:ext cx="36576" cy="36576"/>
          </a:xfrm>
          <a:prstGeom prst="ellipse">
            <a:avLst/>
          </a:prstGeom>
          <a:solidFill>
            <a:srgbClr val="2E4A7A"/>
          </a:solidFill>
          <a:ln>
            <a:solidFill>
              <a:srgbClr val="2E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3353847" y="4654296"/>
            <a:ext cx="3329901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80" b="0">
                <a:solidFill>
                  <a:srgbClr val="2D2D2D"/>
                </a:solidFill>
                <a:latin typeface="Malgun Gothic"/>
              </a:rPr>
              <a:t>AS-IS 아키텍처 프로세스 및 구조 분석</a:t>
            </a:r>
          </a:p>
        </p:txBody>
      </p:sp>
      <p:sp>
        <p:nvSpPr>
          <p:cNvPr id="92" name="Oval 91"/>
          <p:cNvSpPr/>
          <p:nvPr/>
        </p:nvSpPr>
        <p:spPr>
          <a:xfrm>
            <a:off x="3244119" y="5093208"/>
            <a:ext cx="36576" cy="36576"/>
          </a:xfrm>
          <a:prstGeom prst="ellipse">
            <a:avLst/>
          </a:prstGeom>
          <a:solidFill>
            <a:srgbClr val="2E4A7A"/>
          </a:solidFill>
          <a:ln>
            <a:solidFill>
              <a:srgbClr val="2E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3353847" y="5020056"/>
            <a:ext cx="3329901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80" b="0">
                <a:solidFill>
                  <a:srgbClr val="2D2D2D"/>
                </a:solidFill>
                <a:latin typeface="Malgun Gothic"/>
              </a:rPr>
              <a:t>AS-IS 어플리케이션 분류 체계 분석</a:t>
            </a:r>
          </a:p>
        </p:txBody>
      </p:sp>
      <p:sp>
        <p:nvSpPr>
          <p:cNvPr id="94" name="Oval 93"/>
          <p:cNvSpPr/>
          <p:nvPr/>
        </p:nvSpPr>
        <p:spPr>
          <a:xfrm>
            <a:off x="3244119" y="5458968"/>
            <a:ext cx="36576" cy="36576"/>
          </a:xfrm>
          <a:prstGeom prst="ellipse">
            <a:avLst/>
          </a:prstGeom>
          <a:solidFill>
            <a:srgbClr val="2E4A7A"/>
          </a:solidFill>
          <a:ln>
            <a:solidFill>
              <a:srgbClr val="2E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3353847" y="5385816"/>
            <a:ext cx="3329901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80" b="0">
                <a:solidFill>
                  <a:srgbClr val="2D2D2D"/>
                </a:solidFill>
                <a:latin typeface="Malgun Gothic"/>
              </a:rPr>
              <a:t>ASIS 코드 체계 분석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399256" y="3328416"/>
            <a:ext cx="2384298" cy="2651760"/>
          </a:xfrm>
          <a:prstGeom prst="roundRect">
            <a:avLst/>
          </a:prstGeom>
          <a:solidFill>
            <a:srgbClr val="F0F1EF"/>
          </a:solidFill>
          <a:ln w="10160">
            <a:solidFill>
              <a:srgbClr val="CEC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6399256" y="3419856"/>
            <a:ext cx="2384298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3C505A"/>
                </a:solidFill>
                <a:latin typeface="Malgun Gothic"/>
              </a:rPr>
              <a:t>요건 정의 및 방향성 정의</a:t>
            </a:r>
          </a:p>
        </p:txBody>
      </p:sp>
      <p:sp>
        <p:nvSpPr>
          <p:cNvPr id="98" name="Oval 97"/>
          <p:cNvSpPr/>
          <p:nvPr/>
        </p:nvSpPr>
        <p:spPr>
          <a:xfrm>
            <a:off x="6582136" y="3995928"/>
            <a:ext cx="36576" cy="36576"/>
          </a:xfrm>
          <a:prstGeom prst="ellipse">
            <a:avLst/>
          </a:prstGeom>
          <a:solidFill>
            <a:srgbClr val="2E4A7A"/>
          </a:solidFill>
          <a:ln>
            <a:solidFill>
              <a:srgbClr val="2E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6691864" y="3922776"/>
            <a:ext cx="2018538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80" b="0">
                <a:solidFill>
                  <a:srgbClr val="2D2D2D"/>
                </a:solidFill>
                <a:latin typeface="Malgun Gothic"/>
              </a:rPr>
              <a:t>아키텍처 요건 정의</a:t>
            </a:r>
          </a:p>
        </p:txBody>
      </p:sp>
      <p:sp>
        <p:nvSpPr>
          <p:cNvPr id="100" name="Oval 99"/>
          <p:cNvSpPr/>
          <p:nvPr/>
        </p:nvSpPr>
        <p:spPr>
          <a:xfrm>
            <a:off x="6582136" y="4361687"/>
            <a:ext cx="36576" cy="36576"/>
          </a:xfrm>
          <a:prstGeom prst="ellipse">
            <a:avLst/>
          </a:prstGeom>
          <a:solidFill>
            <a:srgbClr val="2E4A7A"/>
          </a:solidFill>
          <a:ln>
            <a:solidFill>
              <a:srgbClr val="2E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6691864" y="4288536"/>
            <a:ext cx="2018538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80" b="0">
                <a:solidFill>
                  <a:srgbClr val="2D2D2D"/>
                </a:solidFill>
                <a:latin typeface="Malgun Gothic"/>
              </a:rPr>
              <a:t>아키텍처 설계 방향성 정의</a:t>
            </a:r>
          </a:p>
        </p:txBody>
      </p:sp>
      <p:sp>
        <p:nvSpPr>
          <p:cNvPr id="102" name="Oval 101"/>
          <p:cNvSpPr/>
          <p:nvPr/>
        </p:nvSpPr>
        <p:spPr>
          <a:xfrm>
            <a:off x="6582136" y="4727447"/>
            <a:ext cx="36576" cy="36576"/>
          </a:xfrm>
          <a:prstGeom prst="ellipse">
            <a:avLst/>
          </a:prstGeom>
          <a:solidFill>
            <a:srgbClr val="2E4A7A"/>
          </a:solidFill>
          <a:ln>
            <a:solidFill>
              <a:srgbClr val="2E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6691864" y="4654296"/>
            <a:ext cx="2018538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80" b="0">
                <a:solidFill>
                  <a:srgbClr val="2D2D2D"/>
                </a:solidFill>
                <a:latin typeface="Malgun Gothic"/>
              </a:rPr>
              <a:t>현행 데이터 표준 / 모델 분석</a:t>
            </a:r>
          </a:p>
        </p:txBody>
      </p:sp>
      <p:sp>
        <p:nvSpPr>
          <p:cNvPr id="104" name="Oval 103"/>
          <p:cNvSpPr/>
          <p:nvPr/>
        </p:nvSpPr>
        <p:spPr>
          <a:xfrm>
            <a:off x="6582136" y="5093208"/>
            <a:ext cx="36576" cy="36576"/>
          </a:xfrm>
          <a:prstGeom prst="ellipse">
            <a:avLst/>
          </a:prstGeom>
          <a:solidFill>
            <a:srgbClr val="2E4A7A"/>
          </a:solidFill>
          <a:ln>
            <a:solidFill>
              <a:srgbClr val="2E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6691864" y="5020056"/>
            <a:ext cx="2018538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80" b="0">
                <a:solidFill>
                  <a:srgbClr val="2D2D2D"/>
                </a:solidFill>
                <a:latin typeface="Malgun Gothic"/>
              </a:rPr>
              <a:t>TOBE 설계표준 코드 항목 도출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8843162" y="3328416"/>
            <a:ext cx="2801550" cy="2651760"/>
          </a:xfrm>
          <a:prstGeom prst="roundRect">
            <a:avLst/>
          </a:prstGeom>
          <a:solidFill>
            <a:srgbClr val="F0F1EF"/>
          </a:solidFill>
          <a:ln w="10160">
            <a:solidFill>
              <a:srgbClr val="CEC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8843162" y="3419856"/>
            <a:ext cx="280155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3C505A"/>
                </a:solidFill>
                <a:latin typeface="Malgun Gothic"/>
              </a:rPr>
              <a:t>아키텍처 설계 및 가이드 추진</a:t>
            </a:r>
          </a:p>
        </p:txBody>
      </p:sp>
      <p:sp>
        <p:nvSpPr>
          <p:cNvPr id="108" name="Oval 107"/>
          <p:cNvSpPr/>
          <p:nvPr/>
        </p:nvSpPr>
        <p:spPr>
          <a:xfrm>
            <a:off x="9026042" y="3968496"/>
            <a:ext cx="36576" cy="36576"/>
          </a:xfrm>
          <a:prstGeom prst="ellipse">
            <a:avLst/>
          </a:prstGeom>
          <a:solidFill>
            <a:srgbClr val="2E4A7A"/>
          </a:solidFill>
          <a:ln>
            <a:solidFill>
              <a:srgbClr val="2E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9135770" y="3895344"/>
            <a:ext cx="243579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80" b="0">
                <a:solidFill>
                  <a:srgbClr val="2D2D2D"/>
                </a:solidFill>
                <a:latin typeface="Malgun Gothic"/>
              </a:rPr>
              <a:t>최상위 목표기술 아키텍처 정의</a:t>
            </a:r>
          </a:p>
        </p:txBody>
      </p:sp>
      <p:sp>
        <p:nvSpPr>
          <p:cNvPr id="110" name="Oval 109"/>
          <p:cNvSpPr/>
          <p:nvPr/>
        </p:nvSpPr>
        <p:spPr>
          <a:xfrm>
            <a:off x="9026042" y="4242816"/>
            <a:ext cx="36576" cy="36576"/>
          </a:xfrm>
          <a:prstGeom prst="ellipse">
            <a:avLst/>
          </a:prstGeom>
          <a:solidFill>
            <a:srgbClr val="2E4A7A"/>
          </a:solidFill>
          <a:ln>
            <a:solidFill>
              <a:srgbClr val="2E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9135770" y="4169663"/>
            <a:ext cx="243579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80" b="0">
                <a:solidFill>
                  <a:srgbClr val="2D2D2D"/>
                </a:solidFill>
                <a:latin typeface="Malgun Gothic"/>
              </a:rPr>
              <a:t>상위 어플리케이션 분류 체계 코드 정의</a:t>
            </a:r>
          </a:p>
        </p:txBody>
      </p:sp>
      <p:sp>
        <p:nvSpPr>
          <p:cNvPr id="112" name="Oval 111"/>
          <p:cNvSpPr/>
          <p:nvPr/>
        </p:nvSpPr>
        <p:spPr>
          <a:xfrm>
            <a:off x="9026042" y="4517135"/>
            <a:ext cx="36576" cy="36576"/>
          </a:xfrm>
          <a:prstGeom prst="ellipse">
            <a:avLst/>
          </a:prstGeom>
          <a:solidFill>
            <a:srgbClr val="2E4A7A"/>
          </a:solidFill>
          <a:ln>
            <a:solidFill>
              <a:srgbClr val="2E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9135770" y="4443984"/>
            <a:ext cx="243579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80" b="0">
                <a:solidFill>
                  <a:srgbClr val="2D2D2D"/>
                </a:solidFill>
                <a:latin typeface="Malgun Gothic"/>
              </a:rPr>
              <a:t>논리기술 아키텍처 정의</a:t>
            </a:r>
          </a:p>
        </p:txBody>
      </p:sp>
      <p:sp>
        <p:nvSpPr>
          <p:cNvPr id="114" name="Oval 113"/>
          <p:cNvSpPr/>
          <p:nvPr/>
        </p:nvSpPr>
        <p:spPr>
          <a:xfrm>
            <a:off x="9026042" y="4791456"/>
            <a:ext cx="36576" cy="36576"/>
          </a:xfrm>
          <a:prstGeom prst="ellipse">
            <a:avLst/>
          </a:prstGeom>
          <a:solidFill>
            <a:srgbClr val="2E4A7A"/>
          </a:solidFill>
          <a:ln>
            <a:solidFill>
              <a:srgbClr val="2E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9135770" y="4718304"/>
            <a:ext cx="243579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80" b="0">
                <a:solidFill>
                  <a:srgbClr val="2D2D2D"/>
                </a:solidFill>
                <a:latin typeface="Malgun Gothic"/>
              </a:rPr>
              <a:t>물리기술 아키텍처 정의</a:t>
            </a:r>
          </a:p>
        </p:txBody>
      </p:sp>
      <p:sp>
        <p:nvSpPr>
          <p:cNvPr id="116" name="Oval 115"/>
          <p:cNvSpPr/>
          <p:nvPr/>
        </p:nvSpPr>
        <p:spPr>
          <a:xfrm>
            <a:off x="9026042" y="5065776"/>
            <a:ext cx="36576" cy="36576"/>
          </a:xfrm>
          <a:prstGeom prst="ellipse">
            <a:avLst/>
          </a:prstGeom>
          <a:solidFill>
            <a:srgbClr val="2E4A7A"/>
          </a:solidFill>
          <a:ln>
            <a:solidFill>
              <a:srgbClr val="2E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9135770" y="4992624"/>
            <a:ext cx="243579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80" b="0">
                <a:solidFill>
                  <a:srgbClr val="2D2D2D"/>
                </a:solidFill>
                <a:latin typeface="Malgun Gothic"/>
              </a:rPr>
              <a:t>런타임 기술 아키텍처 정의</a:t>
            </a:r>
          </a:p>
        </p:txBody>
      </p:sp>
      <p:sp>
        <p:nvSpPr>
          <p:cNvPr id="118" name="Oval 117"/>
          <p:cNvSpPr/>
          <p:nvPr/>
        </p:nvSpPr>
        <p:spPr>
          <a:xfrm>
            <a:off x="9026042" y="5340096"/>
            <a:ext cx="36576" cy="36576"/>
          </a:xfrm>
          <a:prstGeom prst="ellipse">
            <a:avLst/>
          </a:prstGeom>
          <a:solidFill>
            <a:srgbClr val="2E4A7A"/>
          </a:solidFill>
          <a:ln>
            <a:solidFill>
              <a:srgbClr val="2E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9135770" y="5266944"/>
            <a:ext cx="243579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80" b="0">
                <a:solidFill>
                  <a:srgbClr val="2D2D2D"/>
                </a:solidFill>
                <a:latin typeface="Malgun Gothic"/>
              </a:rPr>
              <a:t>데이터 아키텍처 모델 정의</a:t>
            </a:r>
          </a:p>
        </p:txBody>
      </p:sp>
      <p:sp>
        <p:nvSpPr>
          <p:cNvPr id="120" name="Oval 119"/>
          <p:cNvSpPr/>
          <p:nvPr/>
        </p:nvSpPr>
        <p:spPr>
          <a:xfrm>
            <a:off x="9026042" y="5614416"/>
            <a:ext cx="36576" cy="36576"/>
          </a:xfrm>
          <a:prstGeom prst="ellipse">
            <a:avLst/>
          </a:prstGeom>
          <a:solidFill>
            <a:srgbClr val="2E4A7A"/>
          </a:solidFill>
          <a:ln>
            <a:solidFill>
              <a:srgbClr val="2E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9135770" y="5541264"/>
            <a:ext cx="243579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80" b="0">
                <a:solidFill>
                  <a:srgbClr val="2D2D2D"/>
                </a:solidFill>
                <a:latin typeface="Malgun Gothic"/>
              </a:rPr>
              <a:t>표준 코드 및 설계 표준 정의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182880" y="6236208"/>
            <a:ext cx="9829800" cy="0"/>
          </a:xfrm>
          <a:prstGeom prst="line">
            <a:avLst/>
          </a:prstGeom>
          <a:ln w="7620">
            <a:solidFill>
              <a:srgbClr val="828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5084064" y="6291072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464646"/>
                </a:solidFill>
                <a:latin typeface="Malgun Gothic"/>
              </a:rPr>
              <a:t>10</a:t>
            </a:r>
          </a:p>
        </p:txBody>
      </p:sp>
      <p:sp>
        <p:nvSpPr>
          <p:cNvPr id="124" name="Isosceles Triangle 123"/>
          <p:cNvSpPr/>
          <p:nvPr/>
        </p:nvSpPr>
        <p:spPr>
          <a:xfrm rot="10800000">
            <a:off x="27432" y="6309360"/>
            <a:ext cx="118872" cy="164592"/>
          </a:xfrm>
          <a:prstGeom prst="triangle">
            <a:avLst/>
          </a:prstGeom>
          <a:solidFill>
            <a:srgbClr val="EC9A34"/>
          </a:solidFill>
          <a:ln>
            <a:solidFill>
              <a:srgbClr val="EC9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Oval 124"/>
          <p:cNvSpPr/>
          <p:nvPr/>
        </p:nvSpPr>
        <p:spPr>
          <a:xfrm>
            <a:off x="118872" y="6345936"/>
            <a:ext cx="45720" cy="45720"/>
          </a:xfrm>
          <a:prstGeom prst="ellipse">
            <a:avLst/>
          </a:prstGeom>
          <a:solidFill>
            <a:srgbClr val="EC9A34"/>
          </a:solidFill>
          <a:ln>
            <a:solidFill>
              <a:srgbClr val="EC9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182880" y="6291072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>
                <a:solidFill>
                  <a:srgbClr val="26854A"/>
                </a:solidFill>
                <a:latin typeface="Malgun Gothic"/>
              </a:rPr>
              <a:t>농협중앙회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032" y="109728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100" b="1">
                <a:solidFill>
                  <a:srgbClr val="262626"/>
                </a:solidFill>
                <a:latin typeface="Malgun Gothic"/>
              </a:rPr>
              <a:t>(Backup) 사전분석 – 아키텍처 수립 – 아키텍처 수행 타스크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64592" y="621792"/>
            <a:ext cx="11676888" cy="0"/>
          </a:xfrm>
          <a:prstGeom prst="line">
            <a:avLst/>
          </a:prstGeom>
          <a:ln w="190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84048" y="768096"/>
            <a:ext cx="11109960" cy="45720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sz="1800">
                <a:solidFill>
                  <a:srgbClr val="373737"/>
                </a:solidFill>
                <a:latin typeface="Malgun Gothic"/>
              </a:rPr>
              <a:t>아키텍처 추진전략에 기반하여 아키텍처 수립, 아키텍처 확립, 아키텍처 고도화 평가 이행 단계로 구분하고 각 단계별 주요 수행 TASK는 다음으로 진행한다.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" y="1481328"/>
            <a:ext cx="11430000" cy="4672584"/>
          </a:xfrm>
          <a:prstGeom prst="rect">
            <a:avLst/>
          </a:prstGeom>
          <a:solidFill>
            <a:srgbClr val="FAFAFA"/>
          </a:solidFill>
          <a:ln w="1270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92608" y="1481328"/>
            <a:ext cx="502920" cy="310896"/>
          </a:xfrm>
          <a:prstGeom prst="rect">
            <a:avLst/>
          </a:prstGeom>
          <a:solidFill>
            <a:srgbClr val="232A27"/>
          </a:solidFill>
          <a:ln w="1016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92608" y="1499616"/>
            <a:ext cx="50292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1200" b="1">
                <a:solidFill>
                  <a:srgbClr val="F0F0F0"/>
                </a:solidFill>
                <a:latin typeface="Malgun Gothic"/>
              </a:rPr>
              <a:t>INDEX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8" y="1481328"/>
            <a:ext cx="1417320" cy="310896"/>
          </a:xfrm>
          <a:prstGeom prst="rect">
            <a:avLst/>
          </a:prstGeom>
          <a:solidFill>
            <a:srgbClr val="232A27"/>
          </a:solidFill>
          <a:ln w="1016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1499616"/>
            <a:ext cx="141732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1200" b="1">
                <a:solidFill>
                  <a:srgbClr val="F0F0F0"/>
                </a:solidFill>
                <a:latin typeface="Malgun Gothic"/>
              </a:rPr>
              <a:t>구분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12848" y="1481328"/>
            <a:ext cx="457200" cy="310896"/>
          </a:xfrm>
          <a:prstGeom prst="rect">
            <a:avLst/>
          </a:prstGeom>
          <a:solidFill>
            <a:srgbClr val="232A27"/>
          </a:solidFill>
          <a:ln w="1016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12848" y="1499616"/>
            <a:ext cx="45720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1200" b="1">
                <a:solidFill>
                  <a:srgbClr val="F0F0F0"/>
                </a:solidFill>
                <a:latin typeface="Malgun Gothic"/>
              </a:rPr>
              <a:t>차수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70048" y="1481328"/>
            <a:ext cx="822960" cy="310896"/>
          </a:xfrm>
          <a:prstGeom prst="rect">
            <a:avLst/>
          </a:prstGeom>
          <a:solidFill>
            <a:srgbClr val="232A27"/>
          </a:solidFill>
          <a:ln w="1016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70048" y="1499616"/>
            <a:ext cx="82296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1200" b="1">
                <a:solidFill>
                  <a:srgbClr val="F0F0F0"/>
                </a:solidFill>
                <a:latin typeface="Malgun Gothic"/>
              </a:rPr>
              <a:t>수행성격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93008" y="1481328"/>
            <a:ext cx="960120" cy="310896"/>
          </a:xfrm>
          <a:prstGeom prst="rect">
            <a:avLst/>
          </a:prstGeom>
          <a:solidFill>
            <a:srgbClr val="232A27"/>
          </a:solidFill>
          <a:ln w="1016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93008" y="1499616"/>
            <a:ext cx="96012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1200" b="1">
                <a:solidFill>
                  <a:srgbClr val="F0F0F0"/>
                </a:solidFill>
                <a:latin typeface="Malgun Gothic"/>
              </a:rPr>
              <a:t>마일스톤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53128" y="1481328"/>
            <a:ext cx="3703320" cy="310896"/>
          </a:xfrm>
          <a:prstGeom prst="rect">
            <a:avLst/>
          </a:prstGeom>
          <a:solidFill>
            <a:srgbClr val="232A27"/>
          </a:solidFill>
          <a:ln w="1016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53128" y="1499616"/>
            <a:ext cx="370332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1200" b="1">
                <a:solidFill>
                  <a:srgbClr val="F0F0F0"/>
                </a:solidFill>
                <a:latin typeface="Malgun Gothic"/>
              </a:rPr>
              <a:t>TASK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56448" y="1481328"/>
            <a:ext cx="2468880" cy="310896"/>
          </a:xfrm>
          <a:prstGeom prst="rect">
            <a:avLst/>
          </a:prstGeom>
          <a:solidFill>
            <a:srgbClr val="232A27"/>
          </a:solidFill>
          <a:ln w="1016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56448" y="1499616"/>
            <a:ext cx="246888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1200" b="1">
                <a:solidFill>
                  <a:srgbClr val="F0F0F0"/>
                </a:solidFill>
                <a:latin typeface="Malgun Gothic"/>
              </a:rPr>
              <a:t>추적내용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625328" y="1481328"/>
            <a:ext cx="1097280" cy="310896"/>
          </a:xfrm>
          <a:prstGeom prst="rect">
            <a:avLst/>
          </a:prstGeom>
          <a:solidFill>
            <a:srgbClr val="232A27"/>
          </a:solidFill>
          <a:ln w="1016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25328" y="1499616"/>
            <a:ext cx="109728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1200" b="1">
                <a:solidFill>
                  <a:srgbClr val="F0F0F0"/>
                </a:solidFill>
                <a:latin typeface="Malgun Gothic"/>
              </a:rPr>
              <a:t>비고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" y="1792224"/>
            <a:ext cx="5029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01752" y="1801368"/>
            <a:ext cx="4846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528" y="1792224"/>
            <a:ext cx="14173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2" y="1801368"/>
            <a:ext cx="1399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780" b="0">
                <a:solidFill>
                  <a:srgbClr val="373737"/>
                </a:solidFill>
                <a:latin typeface="Malgun Gothic"/>
              </a:rPr>
              <a:t>컨설팅 요건 정의 단계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12848" y="1792224"/>
            <a:ext cx="45720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221992" y="1801368"/>
            <a:ext cx="43891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70048" y="1792224"/>
            <a:ext cx="82296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679192" y="1801368"/>
            <a:ext cx="80467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분별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93008" y="1792224"/>
            <a:ext cx="9601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502152" y="1801368"/>
            <a:ext cx="9418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제안단계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53128" y="1792224"/>
            <a:ext cx="37033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462272" y="1801368"/>
            <a:ext cx="3685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r>
              <a:rPr sz="890" b="0">
                <a:solidFill>
                  <a:srgbClr val="373737"/>
                </a:solidFill>
                <a:latin typeface="Malgun Gothic"/>
              </a:rPr>
              <a:t>분석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56448" y="1792224"/>
            <a:ext cx="246888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165592" y="1801368"/>
            <a:ext cx="24505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0625328" y="1792224"/>
            <a:ext cx="109728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634472" y="1801368"/>
            <a:ext cx="10789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292608" y="2034540"/>
            <a:ext cx="5029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01752" y="2043684"/>
            <a:ext cx="4846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5528" y="2034540"/>
            <a:ext cx="14173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04672" y="2043684"/>
            <a:ext cx="1399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780" b="0">
                <a:solidFill>
                  <a:srgbClr val="373737"/>
                </a:solidFill>
                <a:latin typeface="Malgun Gothic"/>
              </a:rPr>
              <a:t>컨설팅 요건 정의 단계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12848" y="2034540"/>
            <a:ext cx="45720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221992" y="2043684"/>
            <a:ext cx="43891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70048" y="2034540"/>
            <a:ext cx="82296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679192" y="2043684"/>
            <a:ext cx="80467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분별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93008" y="2034540"/>
            <a:ext cx="9601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502152" y="2043684"/>
            <a:ext cx="9418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제안단계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453128" y="2034540"/>
            <a:ext cx="37033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462272" y="2043684"/>
            <a:ext cx="3685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r>
              <a:rPr sz="890" b="0">
                <a:solidFill>
                  <a:srgbClr val="373737"/>
                </a:solidFill>
                <a:latin typeface="Malgun Gothic"/>
              </a:rPr>
              <a:t>요건 생성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56448" y="2034540"/>
            <a:ext cx="246888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165592" y="2043684"/>
            <a:ext cx="24505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10625328" y="2034540"/>
            <a:ext cx="109728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634472" y="2043684"/>
            <a:ext cx="10789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292608" y="2276856"/>
            <a:ext cx="5029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01752" y="2286000"/>
            <a:ext cx="4846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C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95528" y="2276856"/>
            <a:ext cx="14173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04672" y="2286000"/>
            <a:ext cx="1399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780" b="0">
                <a:solidFill>
                  <a:srgbClr val="373737"/>
                </a:solidFill>
                <a:latin typeface="Malgun Gothic"/>
              </a:rPr>
              <a:t>컨설팅 요건 정의 단계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212848" y="2276856"/>
            <a:ext cx="45720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221992" y="2286000"/>
            <a:ext cx="43891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670048" y="2276856"/>
            <a:ext cx="82296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679192" y="2286000"/>
            <a:ext cx="80467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분별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493008" y="2276856"/>
            <a:ext cx="9601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502152" y="2286000"/>
            <a:ext cx="9418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제안단계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453128" y="2276856"/>
            <a:ext cx="37033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462272" y="2286000"/>
            <a:ext cx="3685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r>
              <a:rPr sz="890" b="0">
                <a:solidFill>
                  <a:srgbClr val="373737"/>
                </a:solidFill>
                <a:latin typeface="Malgun Gothic"/>
              </a:rPr>
              <a:t>RFP 정의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156448" y="2276856"/>
            <a:ext cx="246888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165592" y="2286000"/>
            <a:ext cx="24505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10625328" y="2276856"/>
            <a:ext cx="109728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0634472" y="2286000"/>
            <a:ext cx="10789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292608" y="2519172"/>
            <a:ext cx="5029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01752" y="2528316"/>
            <a:ext cx="4846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C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95528" y="2519172"/>
            <a:ext cx="14173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04672" y="2528316"/>
            <a:ext cx="1399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780" b="0">
                <a:solidFill>
                  <a:srgbClr val="373737"/>
                </a:solidFill>
                <a:latin typeface="Malgun Gothic"/>
              </a:rPr>
              <a:t>컨설팅 요건 정의 단계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212848" y="2519172"/>
            <a:ext cx="45720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2221992" y="2528316"/>
            <a:ext cx="43891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4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670048" y="2519172"/>
            <a:ext cx="82296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2679192" y="2528316"/>
            <a:ext cx="80467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분별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493008" y="2519172"/>
            <a:ext cx="9601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3502152" y="2528316"/>
            <a:ext cx="9418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제안단계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453128" y="2519172"/>
            <a:ext cx="37033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4462272" y="2528316"/>
            <a:ext cx="3685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r>
              <a:rPr sz="890" b="0">
                <a:solidFill>
                  <a:srgbClr val="373737"/>
                </a:solidFill>
                <a:latin typeface="Malgun Gothic"/>
              </a:rPr>
              <a:t>사업도출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156448" y="2519172"/>
            <a:ext cx="246888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165592" y="2528316"/>
            <a:ext cx="24505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10625328" y="2519172"/>
            <a:ext cx="109728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10634472" y="2528316"/>
            <a:ext cx="10789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292608" y="2761488"/>
            <a:ext cx="5029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301752" y="2770632"/>
            <a:ext cx="4846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95528" y="2761488"/>
            <a:ext cx="14173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04672" y="2770632"/>
            <a:ext cx="1399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780" b="0">
                <a:solidFill>
                  <a:srgbClr val="373737"/>
                </a:solidFill>
                <a:latin typeface="Malgun Gothic"/>
              </a:rPr>
              <a:t>차세대 수행 단계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212848" y="2761488"/>
            <a:ext cx="45720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2221992" y="2770632"/>
            <a:ext cx="43891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1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670048" y="2761488"/>
            <a:ext cx="82296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2679192" y="2770632"/>
            <a:ext cx="80467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통합,표준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493008" y="2761488"/>
            <a:ext cx="9601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3502152" y="2770632"/>
            <a:ext cx="9418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사전분석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453128" y="2761488"/>
            <a:ext cx="37033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4462272" y="2770632"/>
            <a:ext cx="3685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r>
              <a:rPr sz="919" b="1">
                <a:solidFill>
                  <a:srgbClr val="1B507E"/>
                </a:solidFill>
                <a:latin typeface="Malgun Gothic"/>
              </a:rPr>
              <a:t>아키텍처 수립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156448" y="2761488"/>
            <a:ext cx="246888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8165592" y="2770632"/>
            <a:ext cx="24505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10625328" y="2761488"/>
            <a:ext cx="109728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10634472" y="2770632"/>
            <a:ext cx="10789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292608" y="3003804"/>
            <a:ext cx="5029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301752" y="3012948"/>
            <a:ext cx="4846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95528" y="3003804"/>
            <a:ext cx="14173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804672" y="3012948"/>
            <a:ext cx="1399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780" b="0">
                <a:solidFill>
                  <a:srgbClr val="373737"/>
                </a:solidFill>
                <a:latin typeface="Malgun Gothic"/>
              </a:rPr>
              <a:t>차세대 수행 단계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212848" y="3003804"/>
            <a:ext cx="45720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2221992" y="3012948"/>
            <a:ext cx="43891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2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670048" y="3003804"/>
            <a:ext cx="82296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2679192" y="3012948"/>
            <a:ext cx="80467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통합,표준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493008" y="3003804"/>
            <a:ext cx="9601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3502152" y="3012948"/>
            <a:ext cx="9418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사전분석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453128" y="3003804"/>
            <a:ext cx="37033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4462272" y="3012948"/>
            <a:ext cx="3685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r>
              <a:rPr sz="919" b="1">
                <a:solidFill>
                  <a:srgbClr val="1B507E"/>
                </a:solidFill>
                <a:latin typeface="Malgun Gothic"/>
              </a:rPr>
              <a:t>개발시스템의 이해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156448" y="3003804"/>
            <a:ext cx="246888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8165592" y="3012948"/>
            <a:ext cx="24505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10625328" y="3003804"/>
            <a:ext cx="109728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10634472" y="3012948"/>
            <a:ext cx="10789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292608" y="3246120"/>
            <a:ext cx="5029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301752" y="3255264"/>
            <a:ext cx="4846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E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795528" y="3246120"/>
            <a:ext cx="14173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804672" y="3255264"/>
            <a:ext cx="1399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780" b="0">
                <a:solidFill>
                  <a:srgbClr val="373737"/>
                </a:solidFill>
                <a:latin typeface="Malgun Gothic"/>
              </a:rPr>
              <a:t>차세대 수행 단계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2212848" y="3246120"/>
            <a:ext cx="45720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2221992" y="3255264"/>
            <a:ext cx="43891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3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670048" y="3246120"/>
            <a:ext cx="82296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2679192" y="3255264"/>
            <a:ext cx="80467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통합,표준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493008" y="3246120"/>
            <a:ext cx="9601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3502152" y="3255264"/>
            <a:ext cx="9418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사전분석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4453128" y="3246120"/>
            <a:ext cx="37033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4462272" y="3255264"/>
            <a:ext cx="3685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r>
              <a:rPr sz="890" b="0">
                <a:solidFill>
                  <a:srgbClr val="373737"/>
                </a:solidFill>
                <a:latin typeface="Malgun Gothic"/>
              </a:rPr>
              <a:t>    현행시스템 분석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8156448" y="3246120"/>
            <a:ext cx="246888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8165592" y="3255264"/>
            <a:ext cx="24505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10625328" y="3246120"/>
            <a:ext cx="109728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10634472" y="3255264"/>
            <a:ext cx="10789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292608" y="3488436"/>
            <a:ext cx="5029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301752" y="3497580"/>
            <a:ext cx="4846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E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795528" y="3488436"/>
            <a:ext cx="14173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804672" y="3497580"/>
            <a:ext cx="1399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780" b="0">
                <a:solidFill>
                  <a:srgbClr val="373737"/>
                </a:solidFill>
                <a:latin typeface="Malgun Gothic"/>
              </a:rPr>
              <a:t>차세대 수행 단계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2212848" y="3488436"/>
            <a:ext cx="45720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2221992" y="3497580"/>
            <a:ext cx="43891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4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2670048" y="3488436"/>
            <a:ext cx="82296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2679192" y="3497580"/>
            <a:ext cx="80467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통합,표준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93008" y="3488436"/>
            <a:ext cx="9601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3502152" y="3497580"/>
            <a:ext cx="9418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사전분석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4453128" y="3488436"/>
            <a:ext cx="37033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4462272" y="3497580"/>
            <a:ext cx="3685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r>
              <a:rPr sz="890" b="0">
                <a:solidFill>
                  <a:srgbClr val="373737"/>
                </a:solidFill>
                <a:latin typeface="Malgun Gothic"/>
              </a:rPr>
              <a:t>    선행 아키텍처 분석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8156448" y="3488436"/>
            <a:ext cx="246888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8165592" y="3497580"/>
            <a:ext cx="24505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148" name="Rectangle 147"/>
          <p:cNvSpPr/>
          <p:nvPr/>
        </p:nvSpPr>
        <p:spPr>
          <a:xfrm>
            <a:off x="10625328" y="3488436"/>
            <a:ext cx="109728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10634472" y="3497580"/>
            <a:ext cx="10789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292608" y="3730752"/>
            <a:ext cx="5029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301752" y="3739896"/>
            <a:ext cx="4846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E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95528" y="3730752"/>
            <a:ext cx="14173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804672" y="3739896"/>
            <a:ext cx="1399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780" b="0">
                <a:solidFill>
                  <a:srgbClr val="373737"/>
                </a:solidFill>
                <a:latin typeface="Malgun Gothic"/>
              </a:rPr>
              <a:t>차세대 수행 단계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2212848" y="3730752"/>
            <a:ext cx="45720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2221992" y="3739896"/>
            <a:ext cx="43891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5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2670048" y="3730752"/>
            <a:ext cx="82296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2679192" y="3739896"/>
            <a:ext cx="80467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통합,표준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3493008" y="3730752"/>
            <a:ext cx="9601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3502152" y="3739896"/>
            <a:ext cx="9418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사전분석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453128" y="3730752"/>
            <a:ext cx="37033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4462272" y="3739896"/>
            <a:ext cx="3685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r>
              <a:rPr sz="919" b="1">
                <a:solidFill>
                  <a:srgbClr val="1B507E"/>
                </a:solidFill>
                <a:latin typeface="Malgun Gothic"/>
              </a:rPr>
              <a:t>변화방향성 정의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8156448" y="3730752"/>
            <a:ext cx="246888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8165592" y="3739896"/>
            <a:ext cx="24505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164" name="Rectangle 163"/>
          <p:cNvSpPr/>
          <p:nvPr/>
        </p:nvSpPr>
        <p:spPr>
          <a:xfrm>
            <a:off x="10625328" y="3730752"/>
            <a:ext cx="109728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10634472" y="3739896"/>
            <a:ext cx="10789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166" name="Rectangle 165"/>
          <p:cNvSpPr/>
          <p:nvPr/>
        </p:nvSpPr>
        <p:spPr>
          <a:xfrm>
            <a:off x="292608" y="3973068"/>
            <a:ext cx="5029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301752" y="3982212"/>
            <a:ext cx="4846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E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795528" y="3973068"/>
            <a:ext cx="14173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TextBox 168"/>
          <p:cNvSpPr txBox="1"/>
          <p:nvPr/>
        </p:nvSpPr>
        <p:spPr>
          <a:xfrm>
            <a:off x="804672" y="3982212"/>
            <a:ext cx="1399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780" b="0">
                <a:solidFill>
                  <a:srgbClr val="373737"/>
                </a:solidFill>
                <a:latin typeface="Malgun Gothic"/>
              </a:rPr>
              <a:t>차세대 수행 단계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2212848" y="3973068"/>
            <a:ext cx="45720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2221992" y="3982212"/>
            <a:ext cx="43891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6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2670048" y="3973068"/>
            <a:ext cx="82296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extBox 172"/>
          <p:cNvSpPr txBox="1"/>
          <p:nvPr/>
        </p:nvSpPr>
        <p:spPr>
          <a:xfrm>
            <a:off x="2679192" y="3982212"/>
            <a:ext cx="80467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통합,표준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3493008" y="3973068"/>
            <a:ext cx="9601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3502152" y="3982212"/>
            <a:ext cx="9418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사전분석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4453128" y="3973068"/>
            <a:ext cx="37033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TextBox 176"/>
          <p:cNvSpPr txBox="1"/>
          <p:nvPr/>
        </p:nvSpPr>
        <p:spPr>
          <a:xfrm>
            <a:off x="4462272" y="3982212"/>
            <a:ext cx="3685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r>
              <a:rPr sz="890" b="0">
                <a:solidFill>
                  <a:srgbClr val="373737"/>
                </a:solidFill>
                <a:latin typeface="Malgun Gothic"/>
              </a:rPr>
              <a:t>    아키텍처 설계 방향성 정의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8156448" y="3973068"/>
            <a:ext cx="246888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TextBox 178"/>
          <p:cNvSpPr txBox="1"/>
          <p:nvPr/>
        </p:nvSpPr>
        <p:spPr>
          <a:xfrm>
            <a:off x="8165592" y="3982212"/>
            <a:ext cx="24505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180" name="Rectangle 179"/>
          <p:cNvSpPr/>
          <p:nvPr/>
        </p:nvSpPr>
        <p:spPr>
          <a:xfrm>
            <a:off x="10625328" y="3973068"/>
            <a:ext cx="109728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TextBox 180"/>
          <p:cNvSpPr txBox="1"/>
          <p:nvPr/>
        </p:nvSpPr>
        <p:spPr>
          <a:xfrm>
            <a:off x="10634472" y="3982212"/>
            <a:ext cx="10789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182" name="Rectangle 181"/>
          <p:cNvSpPr/>
          <p:nvPr/>
        </p:nvSpPr>
        <p:spPr>
          <a:xfrm>
            <a:off x="292608" y="4215384"/>
            <a:ext cx="5029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TextBox 182"/>
          <p:cNvSpPr txBox="1"/>
          <p:nvPr/>
        </p:nvSpPr>
        <p:spPr>
          <a:xfrm>
            <a:off x="301752" y="4224528"/>
            <a:ext cx="4846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E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795528" y="4215384"/>
            <a:ext cx="14173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TextBox 184"/>
          <p:cNvSpPr txBox="1"/>
          <p:nvPr/>
        </p:nvSpPr>
        <p:spPr>
          <a:xfrm>
            <a:off x="804672" y="4224528"/>
            <a:ext cx="1399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780" b="0">
                <a:solidFill>
                  <a:srgbClr val="373737"/>
                </a:solidFill>
                <a:latin typeface="Malgun Gothic"/>
              </a:rPr>
              <a:t>차세대 수행 단계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2212848" y="4215384"/>
            <a:ext cx="45720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TextBox 186"/>
          <p:cNvSpPr txBox="1"/>
          <p:nvPr/>
        </p:nvSpPr>
        <p:spPr>
          <a:xfrm>
            <a:off x="2221992" y="4224528"/>
            <a:ext cx="43891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7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2670048" y="4215384"/>
            <a:ext cx="82296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TextBox 188"/>
          <p:cNvSpPr txBox="1"/>
          <p:nvPr/>
        </p:nvSpPr>
        <p:spPr>
          <a:xfrm>
            <a:off x="2679192" y="4224528"/>
            <a:ext cx="80467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통합,표준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3493008" y="4215384"/>
            <a:ext cx="9601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TextBox 190"/>
          <p:cNvSpPr txBox="1"/>
          <p:nvPr/>
        </p:nvSpPr>
        <p:spPr>
          <a:xfrm>
            <a:off x="3502152" y="4224528"/>
            <a:ext cx="9418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사전분석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4453128" y="4215384"/>
            <a:ext cx="37033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TextBox 192"/>
          <p:cNvSpPr txBox="1"/>
          <p:nvPr/>
        </p:nvSpPr>
        <p:spPr>
          <a:xfrm>
            <a:off x="4462272" y="4224528"/>
            <a:ext cx="3685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r>
              <a:rPr sz="890" b="0">
                <a:solidFill>
                  <a:srgbClr val="373737"/>
                </a:solidFill>
                <a:latin typeface="Malgun Gothic"/>
              </a:rPr>
              <a:t>    아키텍처 요구사항 정의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8156448" y="4215384"/>
            <a:ext cx="246888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TextBox 194"/>
          <p:cNvSpPr txBox="1"/>
          <p:nvPr/>
        </p:nvSpPr>
        <p:spPr>
          <a:xfrm>
            <a:off x="8165592" y="4224528"/>
            <a:ext cx="24505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r>
              <a:rPr sz="880" b="0">
                <a:solidFill>
                  <a:srgbClr val="373737"/>
                </a:solidFill>
                <a:latin typeface="Malgun Gothic"/>
              </a:rPr>
              <a:t>선행 ISP 요건 반영 + 현행 아키텍처 이슈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10625328" y="4215384"/>
            <a:ext cx="109728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TextBox 196"/>
          <p:cNvSpPr txBox="1"/>
          <p:nvPr/>
        </p:nvSpPr>
        <p:spPr>
          <a:xfrm>
            <a:off x="10634472" y="4224528"/>
            <a:ext cx="10789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198" name="Rectangle 197"/>
          <p:cNvSpPr/>
          <p:nvPr/>
        </p:nvSpPr>
        <p:spPr>
          <a:xfrm>
            <a:off x="292608" y="4457700"/>
            <a:ext cx="5029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TextBox 198"/>
          <p:cNvSpPr txBox="1"/>
          <p:nvPr/>
        </p:nvSpPr>
        <p:spPr>
          <a:xfrm>
            <a:off x="301752" y="4466844"/>
            <a:ext cx="4846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E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795528" y="4457700"/>
            <a:ext cx="14173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TextBox 200"/>
          <p:cNvSpPr txBox="1"/>
          <p:nvPr/>
        </p:nvSpPr>
        <p:spPr>
          <a:xfrm>
            <a:off x="804672" y="4466844"/>
            <a:ext cx="1399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780" b="0">
                <a:solidFill>
                  <a:srgbClr val="373737"/>
                </a:solidFill>
                <a:latin typeface="Malgun Gothic"/>
              </a:rPr>
              <a:t>차세대 수행 단계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2212848" y="4457700"/>
            <a:ext cx="45720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TextBox 202"/>
          <p:cNvSpPr txBox="1"/>
          <p:nvPr/>
        </p:nvSpPr>
        <p:spPr>
          <a:xfrm>
            <a:off x="2221992" y="4466844"/>
            <a:ext cx="43891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8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2670048" y="4457700"/>
            <a:ext cx="82296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TextBox 204"/>
          <p:cNvSpPr txBox="1"/>
          <p:nvPr/>
        </p:nvSpPr>
        <p:spPr>
          <a:xfrm>
            <a:off x="2679192" y="4466844"/>
            <a:ext cx="80467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통합,표준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3493008" y="4457700"/>
            <a:ext cx="9601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TextBox 206"/>
          <p:cNvSpPr txBox="1"/>
          <p:nvPr/>
        </p:nvSpPr>
        <p:spPr>
          <a:xfrm>
            <a:off x="3502152" y="4466844"/>
            <a:ext cx="9418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사전분석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4453128" y="4457700"/>
            <a:ext cx="37033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TextBox 208"/>
          <p:cNvSpPr txBox="1"/>
          <p:nvPr/>
        </p:nvSpPr>
        <p:spPr>
          <a:xfrm>
            <a:off x="4462272" y="4466844"/>
            <a:ext cx="3685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r>
              <a:rPr sz="919" b="1">
                <a:solidFill>
                  <a:srgbClr val="1B507E"/>
                </a:solidFill>
                <a:latin typeface="Malgun Gothic"/>
              </a:rPr>
              <a:t>통합아키텍처 수립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8156448" y="4457700"/>
            <a:ext cx="246888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TextBox 210"/>
          <p:cNvSpPr txBox="1"/>
          <p:nvPr/>
        </p:nvSpPr>
        <p:spPr>
          <a:xfrm>
            <a:off x="8165592" y="4466844"/>
            <a:ext cx="24505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212" name="Rectangle 211"/>
          <p:cNvSpPr/>
          <p:nvPr/>
        </p:nvSpPr>
        <p:spPr>
          <a:xfrm>
            <a:off x="10625328" y="4457700"/>
            <a:ext cx="109728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TextBox 212"/>
          <p:cNvSpPr txBox="1"/>
          <p:nvPr/>
        </p:nvSpPr>
        <p:spPr>
          <a:xfrm>
            <a:off x="10634472" y="4466844"/>
            <a:ext cx="10789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14" name="Rectangle 213"/>
          <p:cNvSpPr/>
          <p:nvPr/>
        </p:nvSpPr>
        <p:spPr>
          <a:xfrm>
            <a:off x="292608" y="4700016"/>
            <a:ext cx="5029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301752" y="4709160"/>
            <a:ext cx="4846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E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795528" y="4700016"/>
            <a:ext cx="14173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TextBox 216"/>
          <p:cNvSpPr txBox="1"/>
          <p:nvPr/>
        </p:nvSpPr>
        <p:spPr>
          <a:xfrm>
            <a:off x="804672" y="4709160"/>
            <a:ext cx="1399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780" b="0">
                <a:solidFill>
                  <a:srgbClr val="373737"/>
                </a:solidFill>
                <a:latin typeface="Malgun Gothic"/>
              </a:rPr>
              <a:t>차세대 수행 단계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2212848" y="4700016"/>
            <a:ext cx="45720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TextBox 218"/>
          <p:cNvSpPr txBox="1"/>
          <p:nvPr/>
        </p:nvSpPr>
        <p:spPr>
          <a:xfrm>
            <a:off x="2221992" y="4709160"/>
            <a:ext cx="43891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9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2670048" y="4700016"/>
            <a:ext cx="82296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TextBox 220"/>
          <p:cNvSpPr txBox="1"/>
          <p:nvPr/>
        </p:nvSpPr>
        <p:spPr>
          <a:xfrm>
            <a:off x="2679192" y="4709160"/>
            <a:ext cx="80467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통합,표준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3493008" y="4700016"/>
            <a:ext cx="9601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TextBox 222"/>
          <p:cNvSpPr txBox="1"/>
          <p:nvPr/>
        </p:nvSpPr>
        <p:spPr>
          <a:xfrm>
            <a:off x="3502152" y="4709160"/>
            <a:ext cx="9418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사전분석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4453128" y="4700016"/>
            <a:ext cx="37033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TextBox 224"/>
          <p:cNvSpPr txBox="1"/>
          <p:nvPr/>
        </p:nvSpPr>
        <p:spPr>
          <a:xfrm>
            <a:off x="4462272" y="4709160"/>
            <a:ext cx="3685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r>
              <a:rPr sz="919" b="1">
                <a:solidFill>
                  <a:srgbClr val="1B507E"/>
                </a:solidFill>
                <a:latin typeface="Malgun Gothic"/>
              </a:rPr>
              <a:t>목표 아키텍처 정의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8156448" y="4700016"/>
            <a:ext cx="246888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TextBox 226"/>
          <p:cNvSpPr txBox="1"/>
          <p:nvPr/>
        </p:nvSpPr>
        <p:spPr>
          <a:xfrm>
            <a:off x="8165592" y="4709160"/>
            <a:ext cx="24505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228" name="Rectangle 227"/>
          <p:cNvSpPr/>
          <p:nvPr/>
        </p:nvSpPr>
        <p:spPr>
          <a:xfrm>
            <a:off x="10625328" y="4700016"/>
            <a:ext cx="109728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TextBox 228"/>
          <p:cNvSpPr txBox="1"/>
          <p:nvPr/>
        </p:nvSpPr>
        <p:spPr>
          <a:xfrm>
            <a:off x="10634472" y="4709160"/>
            <a:ext cx="10789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30" name="Rectangle 229"/>
          <p:cNvSpPr/>
          <p:nvPr/>
        </p:nvSpPr>
        <p:spPr>
          <a:xfrm>
            <a:off x="292608" y="4942332"/>
            <a:ext cx="5029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TextBox 230"/>
          <p:cNvSpPr txBox="1"/>
          <p:nvPr/>
        </p:nvSpPr>
        <p:spPr>
          <a:xfrm>
            <a:off x="301752" y="4951476"/>
            <a:ext cx="4846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E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795528" y="4942332"/>
            <a:ext cx="14173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TextBox 232"/>
          <p:cNvSpPr txBox="1"/>
          <p:nvPr/>
        </p:nvSpPr>
        <p:spPr>
          <a:xfrm>
            <a:off x="804672" y="4951476"/>
            <a:ext cx="1399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780" b="0">
                <a:solidFill>
                  <a:srgbClr val="373737"/>
                </a:solidFill>
                <a:latin typeface="Malgun Gothic"/>
              </a:rPr>
              <a:t>차세대 수행 단계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2212848" y="4942332"/>
            <a:ext cx="45720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TextBox 234"/>
          <p:cNvSpPr txBox="1"/>
          <p:nvPr/>
        </p:nvSpPr>
        <p:spPr>
          <a:xfrm>
            <a:off x="2221992" y="4951476"/>
            <a:ext cx="43891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10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2670048" y="4942332"/>
            <a:ext cx="82296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TextBox 236"/>
          <p:cNvSpPr txBox="1"/>
          <p:nvPr/>
        </p:nvSpPr>
        <p:spPr>
          <a:xfrm>
            <a:off x="2679192" y="4951476"/>
            <a:ext cx="80467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통합,표준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3493008" y="4942332"/>
            <a:ext cx="9601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TextBox 238"/>
          <p:cNvSpPr txBox="1"/>
          <p:nvPr/>
        </p:nvSpPr>
        <p:spPr>
          <a:xfrm>
            <a:off x="3502152" y="4951476"/>
            <a:ext cx="9418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사전분석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4453128" y="4942332"/>
            <a:ext cx="37033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TextBox 240"/>
          <p:cNvSpPr txBox="1"/>
          <p:nvPr/>
        </p:nvSpPr>
        <p:spPr>
          <a:xfrm>
            <a:off x="4462272" y="4951476"/>
            <a:ext cx="3685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r>
              <a:rPr sz="890" b="0">
                <a:solidFill>
                  <a:srgbClr val="373737"/>
                </a:solidFill>
                <a:latin typeface="Malgun Gothic"/>
              </a:rPr>
              <a:t>    최상위 목표 개념 기술 정의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8156448" y="4942332"/>
            <a:ext cx="246888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TextBox 242"/>
          <p:cNvSpPr txBox="1"/>
          <p:nvPr/>
        </p:nvSpPr>
        <p:spPr>
          <a:xfrm>
            <a:off x="8165592" y="4951476"/>
            <a:ext cx="24505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244" name="Rectangle 243"/>
          <p:cNvSpPr/>
          <p:nvPr/>
        </p:nvSpPr>
        <p:spPr>
          <a:xfrm>
            <a:off x="10625328" y="4942332"/>
            <a:ext cx="109728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TextBox 244"/>
          <p:cNvSpPr txBox="1"/>
          <p:nvPr/>
        </p:nvSpPr>
        <p:spPr>
          <a:xfrm>
            <a:off x="10634472" y="4951476"/>
            <a:ext cx="10789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46" name="Rectangle 245"/>
          <p:cNvSpPr/>
          <p:nvPr/>
        </p:nvSpPr>
        <p:spPr>
          <a:xfrm>
            <a:off x="292608" y="5184648"/>
            <a:ext cx="5029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TextBox 246"/>
          <p:cNvSpPr txBox="1"/>
          <p:nvPr/>
        </p:nvSpPr>
        <p:spPr>
          <a:xfrm>
            <a:off x="301752" y="5193792"/>
            <a:ext cx="4846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E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795528" y="5184648"/>
            <a:ext cx="14173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TextBox 248"/>
          <p:cNvSpPr txBox="1"/>
          <p:nvPr/>
        </p:nvSpPr>
        <p:spPr>
          <a:xfrm>
            <a:off x="804672" y="5193792"/>
            <a:ext cx="1399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780" b="0">
                <a:solidFill>
                  <a:srgbClr val="373737"/>
                </a:solidFill>
                <a:latin typeface="Malgun Gothic"/>
              </a:rPr>
              <a:t>차세대 수행 단계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2212848" y="5184648"/>
            <a:ext cx="45720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TextBox 250"/>
          <p:cNvSpPr txBox="1"/>
          <p:nvPr/>
        </p:nvSpPr>
        <p:spPr>
          <a:xfrm>
            <a:off x="2221992" y="5193792"/>
            <a:ext cx="43891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11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2670048" y="5184648"/>
            <a:ext cx="82296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TextBox 252"/>
          <p:cNvSpPr txBox="1"/>
          <p:nvPr/>
        </p:nvSpPr>
        <p:spPr>
          <a:xfrm>
            <a:off x="2679192" y="5193792"/>
            <a:ext cx="80467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통합,표준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3493008" y="5184648"/>
            <a:ext cx="9601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TextBox 254"/>
          <p:cNvSpPr txBox="1"/>
          <p:nvPr/>
        </p:nvSpPr>
        <p:spPr>
          <a:xfrm>
            <a:off x="3502152" y="5193792"/>
            <a:ext cx="9418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사전분석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4453128" y="5184648"/>
            <a:ext cx="37033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TextBox 256"/>
          <p:cNvSpPr txBox="1"/>
          <p:nvPr/>
        </p:nvSpPr>
        <p:spPr>
          <a:xfrm>
            <a:off x="4462272" y="5193792"/>
            <a:ext cx="3685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r>
              <a:rPr sz="890" b="0">
                <a:solidFill>
                  <a:srgbClr val="373737"/>
                </a:solidFill>
                <a:latin typeface="Malgun Gothic"/>
              </a:rPr>
              <a:t>    논리기술 아키텍처 정의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8156448" y="5184648"/>
            <a:ext cx="246888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9" name="TextBox 258"/>
          <p:cNvSpPr txBox="1"/>
          <p:nvPr/>
        </p:nvSpPr>
        <p:spPr>
          <a:xfrm>
            <a:off x="8165592" y="5193792"/>
            <a:ext cx="24505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260" name="Rectangle 259"/>
          <p:cNvSpPr/>
          <p:nvPr/>
        </p:nvSpPr>
        <p:spPr>
          <a:xfrm>
            <a:off x="10625328" y="5184648"/>
            <a:ext cx="109728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TextBox 260"/>
          <p:cNvSpPr txBox="1"/>
          <p:nvPr/>
        </p:nvSpPr>
        <p:spPr>
          <a:xfrm>
            <a:off x="10634472" y="5193792"/>
            <a:ext cx="10789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62" name="Rectangle 261"/>
          <p:cNvSpPr/>
          <p:nvPr/>
        </p:nvSpPr>
        <p:spPr>
          <a:xfrm>
            <a:off x="292608" y="5426964"/>
            <a:ext cx="5029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TextBox 262"/>
          <p:cNvSpPr txBox="1"/>
          <p:nvPr/>
        </p:nvSpPr>
        <p:spPr>
          <a:xfrm>
            <a:off x="301752" y="5436108"/>
            <a:ext cx="4846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E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795528" y="5426964"/>
            <a:ext cx="14173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TextBox 264"/>
          <p:cNvSpPr txBox="1"/>
          <p:nvPr/>
        </p:nvSpPr>
        <p:spPr>
          <a:xfrm>
            <a:off x="804672" y="5436108"/>
            <a:ext cx="1399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780" b="0">
                <a:solidFill>
                  <a:srgbClr val="373737"/>
                </a:solidFill>
                <a:latin typeface="Malgun Gothic"/>
              </a:rPr>
              <a:t>차세대 수행 단계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2212848" y="5426964"/>
            <a:ext cx="45720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TextBox 266"/>
          <p:cNvSpPr txBox="1"/>
          <p:nvPr/>
        </p:nvSpPr>
        <p:spPr>
          <a:xfrm>
            <a:off x="2221992" y="5436108"/>
            <a:ext cx="43891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12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2670048" y="5426964"/>
            <a:ext cx="82296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TextBox 268"/>
          <p:cNvSpPr txBox="1"/>
          <p:nvPr/>
        </p:nvSpPr>
        <p:spPr>
          <a:xfrm>
            <a:off x="2679192" y="5436108"/>
            <a:ext cx="80467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통합,표준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3493008" y="5426964"/>
            <a:ext cx="9601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TextBox 270"/>
          <p:cNvSpPr txBox="1"/>
          <p:nvPr/>
        </p:nvSpPr>
        <p:spPr>
          <a:xfrm>
            <a:off x="3502152" y="5436108"/>
            <a:ext cx="9418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사전분석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4453128" y="5426964"/>
            <a:ext cx="37033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3" name="TextBox 272"/>
          <p:cNvSpPr txBox="1"/>
          <p:nvPr/>
        </p:nvSpPr>
        <p:spPr>
          <a:xfrm>
            <a:off x="4462272" y="5436108"/>
            <a:ext cx="3685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r>
              <a:rPr sz="890" b="0">
                <a:solidFill>
                  <a:srgbClr val="373737"/>
                </a:solidFill>
                <a:latin typeface="Malgun Gothic"/>
              </a:rPr>
              <a:t>    물리기술 아키텍처 정의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8156448" y="5426964"/>
            <a:ext cx="246888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5" name="TextBox 274"/>
          <p:cNvSpPr txBox="1"/>
          <p:nvPr/>
        </p:nvSpPr>
        <p:spPr>
          <a:xfrm>
            <a:off x="8165592" y="5436108"/>
            <a:ext cx="24505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276" name="Rectangle 275"/>
          <p:cNvSpPr/>
          <p:nvPr/>
        </p:nvSpPr>
        <p:spPr>
          <a:xfrm>
            <a:off x="10625328" y="5426964"/>
            <a:ext cx="109728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7" name="TextBox 276"/>
          <p:cNvSpPr txBox="1"/>
          <p:nvPr/>
        </p:nvSpPr>
        <p:spPr>
          <a:xfrm>
            <a:off x="10634472" y="5436108"/>
            <a:ext cx="10789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78" name="Rectangle 277"/>
          <p:cNvSpPr/>
          <p:nvPr/>
        </p:nvSpPr>
        <p:spPr>
          <a:xfrm>
            <a:off x="292608" y="5669280"/>
            <a:ext cx="5029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9" name="TextBox 278"/>
          <p:cNvSpPr txBox="1"/>
          <p:nvPr/>
        </p:nvSpPr>
        <p:spPr>
          <a:xfrm>
            <a:off x="301752" y="5678424"/>
            <a:ext cx="4846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E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795528" y="5669280"/>
            <a:ext cx="14173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1" name="TextBox 280"/>
          <p:cNvSpPr txBox="1"/>
          <p:nvPr/>
        </p:nvSpPr>
        <p:spPr>
          <a:xfrm>
            <a:off x="804672" y="5678424"/>
            <a:ext cx="1399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780" b="0">
                <a:solidFill>
                  <a:srgbClr val="373737"/>
                </a:solidFill>
                <a:latin typeface="Malgun Gothic"/>
              </a:rPr>
              <a:t>차세대 수행 단계</a:t>
            </a:r>
          </a:p>
        </p:txBody>
      </p:sp>
      <p:sp>
        <p:nvSpPr>
          <p:cNvPr id="282" name="Rectangle 281"/>
          <p:cNvSpPr/>
          <p:nvPr/>
        </p:nvSpPr>
        <p:spPr>
          <a:xfrm>
            <a:off x="2212848" y="5669280"/>
            <a:ext cx="45720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3" name="TextBox 282"/>
          <p:cNvSpPr txBox="1"/>
          <p:nvPr/>
        </p:nvSpPr>
        <p:spPr>
          <a:xfrm>
            <a:off x="2221992" y="5678424"/>
            <a:ext cx="43891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13</a:t>
            </a:r>
          </a:p>
        </p:txBody>
      </p:sp>
      <p:sp>
        <p:nvSpPr>
          <p:cNvPr id="284" name="Rectangle 283"/>
          <p:cNvSpPr/>
          <p:nvPr/>
        </p:nvSpPr>
        <p:spPr>
          <a:xfrm>
            <a:off x="2670048" y="5669280"/>
            <a:ext cx="82296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TextBox 284"/>
          <p:cNvSpPr txBox="1"/>
          <p:nvPr/>
        </p:nvSpPr>
        <p:spPr>
          <a:xfrm>
            <a:off x="2679192" y="5678424"/>
            <a:ext cx="80467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통합,표준</a:t>
            </a:r>
          </a:p>
        </p:txBody>
      </p:sp>
      <p:sp>
        <p:nvSpPr>
          <p:cNvPr id="286" name="Rectangle 285"/>
          <p:cNvSpPr/>
          <p:nvPr/>
        </p:nvSpPr>
        <p:spPr>
          <a:xfrm>
            <a:off x="3493008" y="5669280"/>
            <a:ext cx="9601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7" name="TextBox 286"/>
          <p:cNvSpPr txBox="1"/>
          <p:nvPr/>
        </p:nvSpPr>
        <p:spPr>
          <a:xfrm>
            <a:off x="3502152" y="5678424"/>
            <a:ext cx="9418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사전분석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4453128" y="5669280"/>
            <a:ext cx="37033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TextBox 288"/>
          <p:cNvSpPr txBox="1"/>
          <p:nvPr/>
        </p:nvSpPr>
        <p:spPr>
          <a:xfrm>
            <a:off x="4462272" y="5678424"/>
            <a:ext cx="3685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r>
              <a:rPr sz="890" b="0">
                <a:solidFill>
                  <a:srgbClr val="373737"/>
                </a:solidFill>
                <a:latin typeface="Malgun Gothic"/>
              </a:rPr>
              <a:t>    런타임 기술 아키텍처 정의</a:t>
            </a:r>
          </a:p>
        </p:txBody>
      </p:sp>
      <p:sp>
        <p:nvSpPr>
          <p:cNvPr id="290" name="Rectangle 289"/>
          <p:cNvSpPr/>
          <p:nvPr/>
        </p:nvSpPr>
        <p:spPr>
          <a:xfrm>
            <a:off x="8156448" y="5669280"/>
            <a:ext cx="246888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1" name="TextBox 290"/>
          <p:cNvSpPr txBox="1"/>
          <p:nvPr/>
        </p:nvSpPr>
        <p:spPr>
          <a:xfrm>
            <a:off x="8165592" y="5678424"/>
            <a:ext cx="24505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292" name="Rectangle 291"/>
          <p:cNvSpPr/>
          <p:nvPr/>
        </p:nvSpPr>
        <p:spPr>
          <a:xfrm>
            <a:off x="10625328" y="5669280"/>
            <a:ext cx="109728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TextBox 292"/>
          <p:cNvSpPr txBox="1"/>
          <p:nvPr/>
        </p:nvSpPr>
        <p:spPr>
          <a:xfrm>
            <a:off x="10634472" y="5678424"/>
            <a:ext cx="10789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94" name="Rectangle 293"/>
          <p:cNvSpPr/>
          <p:nvPr/>
        </p:nvSpPr>
        <p:spPr>
          <a:xfrm>
            <a:off x="292608" y="5911596"/>
            <a:ext cx="5029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5" name="TextBox 294"/>
          <p:cNvSpPr txBox="1"/>
          <p:nvPr/>
        </p:nvSpPr>
        <p:spPr>
          <a:xfrm>
            <a:off x="301752" y="5920740"/>
            <a:ext cx="4846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E</a:t>
            </a:r>
          </a:p>
        </p:txBody>
      </p:sp>
      <p:sp>
        <p:nvSpPr>
          <p:cNvPr id="296" name="Rectangle 295"/>
          <p:cNvSpPr/>
          <p:nvPr/>
        </p:nvSpPr>
        <p:spPr>
          <a:xfrm>
            <a:off x="795528" y="5911596"/>
            <a:ext cx="14173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7" name="TextBox 296"/>
          <p:cNvSpPr txBox="1"/>
          <p:nvPr/>
        </p:nvSpPr>
        <p:spPr>
          <a:xfrm>
            <a:off x="804672" y="5920740"/>
            <a:ext cx="1399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780" b="0">
                <a:solidFill>
                  <a:srgbClr val="373737"/>
                </a:solidFill>
                <a:latin typeface="Malgun Gothic"/>
              </a:rPr>
              <a:t>차세대 수행 단계</a:t>
            </a:r>
          </a:p>
        </p:txBody>
      </p:sp>
      <p:sp>
        <p:nvSpPr>
          <p:cNvPr id="298" name="Rectangle 297"/>
          <p:cNvSpPr/>
          <p:nvPr/>
        </p:nvSpPr>
        <p:spPr>
          <a:xfrm>
            <a:off x="2212848" y="5911596"/>
            <a:ext cx="45720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9" name="TextBox 298"/>
          <p:cNvSpPr txBox="1"/>
          <p:nvPr/>
        </p:nvSpPr>
        <p:spPr>
          <a:xfrm>
            <a:off x="2221992" y="5920740"/>
            <a:ext cx="43891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14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2670048" y="5911596"/>
            <a:ext cx="82296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1" name="TextBox 300"/>
          <p:cNvSpPr txBox="1"/>
          <p:nvPr/>
        </p:nvSpPr>
        <p:spPr>
          <a:xfrm>
            <a:off x="2679192" y="5920740"/>
            <a:ext cx="80467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통합,표준</a:t>
            </a:r>
          </a:p>
        </p:txBody>
      </p:sp>
      <p:sp>
        <p:nvSpPr>
          <p:cNvPr id="302" name="Rectangle 301"/>
          <p:cNvSpPr/>
          <p:nvPr/>
        </p:nvSpPr>
        <p:spPr>
          <a:xfrm>
            <a:off x="3493008" y="5911596"/>
            <a:ext cx="9601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TextBox 302"/>
          <p:cNvSpPr txBox="1"/>
          <p:nvPr/>
        </p:nvSpPr>
        <p:spPr>
          <a:xfrm>
            <a:off x="3502152" y="5920740"/>
            <a:ext cx="9418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사전분석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453128" y="5911596"/>
            <a:ext cx="37033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5" name="TextBox 304"/>
          <p:cNvSpPr txBox="1"/>
          <p:nvPr/>
        </p:nvSpPr>
        <p:spPr>
          <a:xfrm>
            <a:off x="4462272" y="5920740"/>
            <a:ext cx="3685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r>
              <a:rPr sz="890" b="0">
                <a:solidFill>
                  <a:srgbClr val="373737"/>
                </a:solidFill>
                <a:latin typeface="Malgun Gothic"/>
              </a:rPr>
              <a:t>    솔루션 메커니즘 아키텍처 정의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8156448" y="5911596"/>
            <a:ext cx="246888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7" name="TextBox 306"/>
          <p:cNvSpPr txBox="1"/>
          <p:nvPr/>
        </p:nvSpPr>
        <p:spPr>
          <a:xfrm>
            <a:off x="8165592" y="5920740"/>
            <a:ext cx="24505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r>
              <a:rPr sz="880" b="0">
                <a:solidFill>
                  <a:srgbClr val="373737"/>
                </a:solidFill>
                <a:latin typeface="Malgun Gothic"/>
              </a:rPr>
              <a:t>솔루션 영역의 아키텍처 참조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10625328" y="5911596"/>
            <a:ext cx="109728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TextBox 308"/>
          <p:cNvSpPr txBox="1"/>
          <p:nvPr/>
        </p:nvSpPr>
        <p:spPr>
          <a:xfrm>
            <a:off x="10634472" y="5920740"/>
            <a:ext cx="10789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cxnSp>
        <p:nvCxnSpPr>
          <p:cNvPr id="310" name="Connector 309"/>
          <p:cNvCxnSpPr/>
          <p:nvPr/>
        </p:nvCxnSpPr>
        <p:spPr>
          <a:xfrm>
            <a:off x="292608" y="2761488"/>
            <a:ext cx="11430000" cy="0"/>
          </a:xfrm>
          <a:prstGeom prst="line">
            <a:avLst/>
          </a:prstGeom>
          <a:ln w="1397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>
            <a:off x="292608" y="3973068"/>
            <a:ext cx="11430000" cy="0"/>
          </a:xfrm>
          <a:prstGeom prst="line">
            <a:avLst/>
          </a:prstGeom>
          <a:ln w="1143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>
            <a:off x="292608" y="4942332"/>
            <a:ext cx="11430000" cy="0"/>
          </a:xfrm>
          <a:prstGeom prst="line">
            <a:avLst/>
          </a:prstGeom>
          <a:ln w="1143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>
            <a:off x="182880" y="6583680"/>
            <a:ext cx="11658600" cy="0"/>
          </a:xfrm>
          <a:prstGeom prst="line">
            <a:avLst/>
          </a:prstGeom>
          <a:ln w="7620">
            <a:solidFill>
              <a:srgbClr val="828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4" name="TextBox 313"/>
          <p:cNvSpPr txBox="1"/>
          <p:nvPr/>
        </p:nvSpPr>
        <p:spPr>
          <a:xfrm>
            <a:off x="5989320" y="6601968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464646"/>
                </a:solidFill>
                <a:latin typeface="Malgun Gothic"/>
              </a:rPr>
              <a:t>11</a:t>
            </a:r>
          </a:p>
        </p:txBody>
      </p:sp>
      <p:sp>
        <p:nvSpPr>
          <p:cNvPr id="315" name="Isosceles Triangle 314"/>
          <p:cNvSpPr/>
          <p:nvPr/>
        </p:nvSpPr>
        <p:spPr>
          <a:xfrm rot="10800000">
            <a:off x="27432" y="6537960"/>
            <a:ext cx="118872" cy="164592"/>
          </a:xfrm>
          <a:prstGeom prst="triangle">
            <a:avLst/>
          </a:prstGeom>
          <a:solidFill>
            <a:srgbClr val="EC9A34"/>
          </a:solidFill>
          <a:ln>
            <a:solidFill>
              <a:srgbClr val="EC9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6" name="Oval 315"/>
          <p:cNvSpPr/>
          <p:nvPr/>
        </p:nvSpPr>
        <p:spPr>
          <a:xfrm>
            <a:off x="118872" y="6574536"/>
            <a:ext cx="45720" cy="45720"/>
          </a:xfrm>
          <a:prstGeom prst="ellipse">
            <a:avLst/>
          </a:prstGeom>
          <a:solidFill>
            <a:srgbClr val="EC9A34"/>
          </a:solidFill>
          <a:ln>
            <a:solidFill>
              <a:srgbClr val="EC9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7" name="TextBox 316"/>
          <p:cNvSpPr txBox="1"/>
          <p:nvPr/>
        </p:nvSpPr>
        <p:spPr>
          <a:xfrm>
            <a:off x="182880" y="6510528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>
                <a:solidFill>
                  <a:srgbClr val="26854A"/>
                </a:solidFill>
                <a:latin typeface="Malgun Gothic"/>
              </a:rPr>
              <a:t>농협중앙회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032" y="109728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100" b="1">
                <a:solidFill>
                  <a:srgbClr val="262626"/>
                </a:solidFill>
                <a:latin typeface="Malgun Gothic"/>
              </a:rPr>
              <a:t>(Backup) 사전분석 – 아키텍처 수립 – 아키텍처 수행 타스크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64592" y="621792"/>
            <a:ext cx="11676888" cy="0"/>
          </a:xfrm>
          <a:prstGeom prst="line">
            <a:avLst/>
          </a:prstGeom>
          <a:ln w="190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84048" y="768096"/>
            <a:ext cx="11109960" cy="45720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sz="1800">
                <a:solidFill>
                  <a:srgbClr val="373737"/>
                </a:solidFill>
                <a:latin typeface="Malgun Gothic"/>
              </a:rPr>
              <a:t>아키텍처 추진전략에 기반하여 아키텍처 수립, 아키텍처 확립, 아키텍처 고도화 평가 이행 단계로 구분하고 각 단계별 주요 수행 TASK는 다음으로 진행한다.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" y="1481328"/>
            <a:ext cx="11430000" cy="4672584"/>
          </a:xfrm>
          <a:prstGeom prst="rect">
            <a:avLst/>
          </a:prstGeom>
          <a:solidFill>
            <a:srgbClr val="FAFAFA"/>
          </a:solidFill>
          <a:ln w="1270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92608" y="1481328"/>
            <a:ext cx="502920" cy="310896"/>
          </a:xfrm>
          <a:prstGeom prst="rect">
            <a:avLst/>
          </a:prstGeom>
          <a:solidFill>
            <a:srgbClr val="232A27"/>
          </a:solidFill>
          <a:ln w="1016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92608" y="1499616"/>
            <a:ext cx="50292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1200" b="1">
                <a:solidFill>
                  <a:srgbClr val="F0F0F0"/>
                </a:solidFill>
                <a:latin typeface="Malgun Gothic"/>
              </a:rPr>
              <a:t>INDEX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8" y="1481328"/>
            <a:ext cx="1417320" cy="310896"/>
          </a:xfrm>
          <a:prstGeom prst="rect">
            <a:avLst/>
          </a:prstGeom>
          <a:solidFill>
            <a:srgbClr val="232A27"/>
          </a:solidFill>
          <a:ln w="1016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1499616"/>
            <a:ext cx="141732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1200" b="1">
                <a:solidFill>
                  <a:srgbClr val="F0F0F0"/>
                </a:solidFill>
                <a:latin typeface="Malgun Gothic"/>
              </a:rPr>
              <a:t>구분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12848" y="1481328"/>
            <a:ext cx="457200" cy="310896"/>
          </a:xfrm>
          <a:prstGeom prst="rect">
            <a:avLst/>
          </a:prstGeom>
          <a:solidFill>
            <a:srgbClr val="232A27"/>
          </a:solidFill>
          <a:ln w="1016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12848" y="1499616"/>
            <a:ext cx="45720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1200" b="1">
                <a:solidFill>
                  <a:srgbClr val="F0F0F0"/>
                </a:solidFill>
                <a:latin typeface="Malgun Gothic"/>
              </a:rPr>
              <a:t>차수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70048" y="1481328"/>
            <a:ext cx="822960" cy="310896"/>
          </a:xfrm>
          <a:prstGeom prst="rect">
            <a:avLst/>
          </a:prstGeom>
          <a:solidFill>
            <a:srgbClr val="232A27"/>
          </a:solidFill>
          <a:ln w="1016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70048" y="1499616"/>
            <a:ext cx="82296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1200" b="1">
                <a:solidFill>
                  <a:srgbClr val="F0F0F0"/>
                </a:solidFill>
                <a:latin typeface="Malgun Gothic"/>
              </a:rPr>
              <a:t>수행성격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93008" y="1481328"/>
            <a:ext cx="960120" cy="310896"/>
          </a:xfrm>
          <a:prstGeom prst="rect">
            <a:avLst/>
          </a:prstGeom>
          <a:solidFill>
            <a:srgbClr val="232A27"/>
          </a:solidFill>
          <a:ln w="1016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93008" y="1499616"/>
            <a:ext cx="96012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1200" b="1">
                <a:solidFill>
                  <a:srgbClr val="F0F0F0"/>
                </a:solidFill>
                <a:latin typeface="Malgun Gothic"/>
              </a:rPr>
              <a:t>마일스톤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53128" y="1481328"/>
            <a:ext cx="3703320" cy="310896"/>
          </a:xfrm>
          <a:prstGeom prst="rect">
            <a:avLst/>
          </a:prstGeom>
          <a:solidFill>
            <a:srgbClr val="232A27"/>
          </a:solidFill>
          <a:ln w="1016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53128" y="1499616"/>
            <a:ext cx="370332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1200" b="1">
                <a:solidFill>
                  <a:srgbClr val="F0F0F0"/>
                </a:solidFill>
                <a:latin typeface="Malgun Gothic"/>
              </a:rPr>
              <a:t>TASK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56448" y="1481328"/>
            <a:ext cx="2468880" cy="310896"/>
          </a:xfrm>
          <a:prstGeom prst="rect">
            <a:avLst/>
          </a:prstGeom>
          <a:solidFill>
            <a:srgbClr val="232A27"/>
          </a:solidFill>
          <a:ln w="1016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56448" y="1499616"/>
            <a:ext cx="246888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1200" b="1">
                <a:solidFill>
                  <a:srgbClr val="F0F0F0"/>
                </a:solidFill>
                <a:latin typeface="Malgun Gothic"/>
              </a:rPr>
              <a:t>추적내용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625328" y="1481328"/>
            <a:ext cx="1097280" cy="310896"/>
          </a:xfrm>
          <a:prstGeom prst="rect">
            <a:avLst/>
          </a:prstGeom>
          <a:solidFill>
            <a:srgbClr val="232A27"/>
          </a:solidFill>
          <a:ln w="1016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25328" y="1499616"/>
            <a:ext cx="109728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1200" b="1">
                <a:solidFill>
                  <a:srgbClr val="F0F0F0"/>
                </a:solidFill>
                <a:latin typeface="Malgun Gothic"/>
              </a:rPr>
              <a:t>비고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" y="1792224"/>
            <a:ext cx="5029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01752" y="1801368"/>
            <a:ext cx="4846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528" y="1792224"/>
            <a:ext cx="14173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2" y="1801368"/>
            <a:ext cx="1399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780" b="0">
                <a:solidFill>
                  <a:srgbClr val="373737"/>
                </a:solidFill>
                <a:latin typeface="Malgun Gothic"/>
              </a:rPr>
              <a:t>컨설팅 요건 정의 단계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12848" y="1792224"/>
            <a:ext cx="45720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221992" y="1801368"/>
            <a:ext cx="43891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70048" y="1792224"/>
            <a:ext cx="82296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679192" y="1801368"/>
            <a:ext cx="80467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분별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93008" y="1792224"/>
            <a:ext cx="9601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502152" y="1801368"/>
            <a:ext cx="9418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제안단계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53128" y="1792224"/>
            <a:ext cx="37033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462272" y="1801368"/>
            <a:ext cx="3685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r>
              <a:rPr sz="890" b="0">
                <a:solidFill>
                  <a:srgbClr val="373737"/>
                </a:solidFill>
                <a:latin typeface="Malgun Gothic"/>
              </a:rPr>
              <a:t>분석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56448" y="1792224"/>
            <a:ext cx="246888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165592" y="1801368"/>
            <a:ext cx="24505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0625328" y="1792224"/>
            <a:ext cx="109728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634472" y="1801368"/>
            <a:ext cx="10789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292608" y="2034540"/>
            <a:ext cx="5029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01752" y="2043684"/>
            <a:ext cx="4846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5528" y="2034540"/>
            <a:ext cx="14173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04672" y="2043684"/>
            <a:ext cx="1399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780" b="0">
                <a:solidFill>
                  <a:srgbClr val="373737"/>
                </a:solidFill>
                <a:latin typeface="Malgun Gothic"/>
              </a:rPr>
              <a:t>컨설팅 요건 정의 단계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12848" y="2034540"/>
            <a:ext cx="45720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221992" y="2043684"/>
            <a:ext cx="43891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70048" y="2034540"/>
            <a:ext cx="82296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679192" y="2043684"/>
            <a:ext cx="80467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분별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93008" y="2034540"/>
            <a:ext cx="9601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502152" y="2043684"/>
            <a:ext cx="9418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제안단계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453128" y="2034540"/>
            <a:ext cx="37033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462272" y="2043684"/>
            <a:ext cx="3685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r>
              <a:rPr sz="890" b="0">
                <a:solidFill>
                  <a:srgbClr val="373737"/>
                </a:solidFill>
                <a:latin typeface="Malgun Gothic"/>
              </a:rPr>
              <a:t>요건 생성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56448" y="2034540"/>
            <a:ext cx="246888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165592" y="2043684"/>
            <a:ext cx="24505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10625328" y="2034540"/>
            <a:ext cx="109728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634472" y="2043684"/>
            <a:ext cx="10789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292608" y="2276856"/>
            <a:ext cx="5029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01752" y="2286000"/>
            <a:ext cx="4846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C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95528" y="2276856"/>
            <a:ext cx="14173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04672" y="2286000"/>
            <a:ext cx="1399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780" b="0">
                <a:solidFill>
                  <a:srgbClr val="373737"/>
                </a:solidFill>
                <a:latin typeface="Malgun Gothic"/>
              </a:rPr>
              <a:t>컨설팅 요건 정의 단계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212848" y="2276856"/>
            <a:ext cx="45720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221992" y="2286000"/>
            <a:ext cx="43891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670048" y="2276856"/>
            <a:ext cx="82296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679192" y="2286000"/>
            <a:ext cx="80467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분별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493008" y="2276856"/>
            <a:ext cx="9601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502152" y="2286000"/>
            <a:ext cx="9418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제안단계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453128" y="2276856"/>
            <a:ext cx="37033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462272" y="2286000"/>
            <a:ext cx="3685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r>
              <a:rPr sz="890" b="0">
                <a:solidFill>
                  <a:srgbClr val="373737"/>
                </a:solidFill>
                <a:latin typeface="Malgun Gothic"/>
              </a:rPr>
              <a:t>RFP 정의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156448" y="2276856"/>
            <a:ext cx="246888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165592" y="2286000"/>
            <a:ext cx="24505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10625328" y="2276856"/>
            <a:ext cx="109728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0634472" y="2286000"/>
            <a:ext cx="10789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292608" y="2519172"/>
            <a:ext cx="5029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01752" y="2528316"/>
            <a:ext cx="4846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C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95528" y="2519172"/>
            <a:ext cx="14173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04672" y="2528316"/>
            <a:ext cx="1399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780" b="0">
                <a:solidFill>
                  <a:srgbClr val="373737"/>
                </a:solidFill>
                <a:latin typeface="Malgun Gothic"/>
              </a:rPr>
              <a:t>컨설팅 요건 정의 단계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212848" y="2519172"/>
            <a:ext cx="45720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2221992" y="2528316"/>
            <a:ext cx="43891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4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670048" y="2519172"/>
            <a:ext cx="82296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2679192" y="2528316"/>
            <a:ext cx="80467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분별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493008" y="2519172"/>
            <a:ext cx="9601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3502152" y="2528316"/>
            <a:ext cx="9418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제안단계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453128" y="2519172"/>
            <a:ext cx="37033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4462272" y="2528316"/>
            <a:ext cx="3685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r>
              <a:rPr sz="890" b="0">
                <a:solidFill>
                  <a:srgbClr val="373737"/>
                </a:solidFill>
                <a:latin typeface="Malgun Gothic"/>
              </a:rPr>
              <a:t>사업도출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156448" y="2519172"/>
            <a:ext cx="246888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165592" y="2528316"/>
            <a:ext cx="24505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10625328" y="2519172"/>
            <a:ext cx="109728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10634472" y="2528316"/>
            <a:ext cx="10789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292608" y="2761488"/>
            <a:ext cx="5029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301752" y="2770632"/>
            <a:ext cx="4846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95528" y="2761488"/>
            <a:ext cx="14173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04672" y="2770632"/>
            <a:ext cx="1399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780" b="0">
                <a:solidFill>
                  <a:srgbClr val="373737"/>
                </a:solidFill>
                <a:latin typeface="Malgun Gothic"/>
              </a:rPr>
              <a:t>차세대 수행 단계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212848" y="2761488"/>
            <a:ext cx="45720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2221992" y="2770632"/>
            <a:ext cx="43891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1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670048" y="2761488"/>
            <a:ext cx="82296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2679192" y="2770632"/>
            <a:ext cx="80467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통합,표준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493008" y="2761488"/>
            <a:ext cx="9601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3502152" y="2770632"/>
            <a:ext cx="9418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사전분석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453128" y="2761488"/>
            <a:ext cx="37033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4462272" y="2770632"/>
            <a:ext cx="3685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r>
              <a:rPr sz="919" b="1">
                <a:solidFill>
                  <a:srgbClr val="1B507E"/>
                </a:solidFill>
                <a:latin typeface="Malgun Gothic"/>
              </a:rPr>
              <a:t>아키텍처 수립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156448" y="2761488"/>
            <a:ext cx="246888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8165592" y="2770632"/>
            <a:ext cx="24505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10625328" y="2761488"/>
            <a:ext cx="109728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10634472" y="2770632"/>
            <a:ext cx="10789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292608" y="3003804"/>
            <a:ext cx="5029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301752" y="3012948"/>
            <a:ext cx="4846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95528" y="3003804"/>
            <a:ext cx="14173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804672" y="3012948"/>
            <a:ext cx="1399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780" b="0">
                <a:solidFill>
                  <a:srgbClr val="373737"/>
                </a:solidFill>
                <a:latin typeface="Malgun Gothic"/>
              </a:rPr>
              <a:t>차세대 수행 단계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212848" y="3003804"/>
            <a:ext cx="45720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2221992" y="3012948"/>
            <a:ext cx="43891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2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670048" y="3003804"/>
            <a:ext cx="82296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2679192" y="3012948"/>
            <a:ext cx="80467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통합,표준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493008" y="3003804"/>
            <a:ext cx="9601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3502152" y="3012948"/>
            <a:ext cx="9418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사전분석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453128" y="3003804"/>
            <a:ext cx="37033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4462272" y="3012948"/>
            <a:ext cx="3685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r>
              <a:rPr sz="919" b="1">
                <a:solidFill>
                  <a:srgbClr val="1B507E"/>
                </a:solidFill>
                <a:latin typeface="Malgun Gothic"/>
              </a:rPr>
              <a:t>개발시스템의 이해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156448" y="3003804"/>
            <a:ext cx="246888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8165592" y="3012948"/>
            <a:ext cx="24505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10625328" y="3003804"/>
            <a:ext cx="109728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10634472" y="3012948"/>
            <a:ext cx="10789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292608" y="3246120"/>
            <a:ext cx="5029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301752" y="3255264"/>
            <a:ext cx="4846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E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795528" y="3246120"/>
            <a:ext cx="14173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804672" y="3255264"/>
            <a:ext cx="1399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780" b="0">
                <a:solidFill>
                  <a:srgbClr val="373737"/>
                </a:solidFill>
                <a:latin typeface="Malgun Gothic"/>
              </a:rPr>
              <a:t>차세대 수행 단계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2212848" y="3246120"/>
            <a:ext cx="45720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2221992" y="3255264"/>
            <a:ext cx="43891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3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670048" y="3246120"/>
            <a:ext cx="82296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2679192" y="3255264"/>
            <a:ext cx="80467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통합,표준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493008" y="3246120"/>
            <a:ext cx="9601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3502152" y="3255264"/>
            <a:ext cx="9418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사전분석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4453128" y="3246120"/>
            <a:ext cx="37033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4462272" y="3255264"/>
            <a:ext cx="3685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r>
              <a:rPr sz="890" b="0">
                <a:solidFill>
                  <a:srgbClr val="373737"/>
                </a:solidFill>
                <a:latin typeface="Malgun Gothic"/>
              </a:rPr>
              <a:t>    현행시스템 분석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8156448" y="3246120"/>
            <a:ext cx="246888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8165592" y="3255264"/>
            <a:ext cx="24505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10625328" y="3246120"/>
            <a:ext cx="109728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10634472" y="3255264"/>
            <a:ext cx="10789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292608" y="3488436"/>
            <a:ext cx="5029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301752" y="3497580"/>
            <a:ext cx="4846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E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795528" y="3488436"/>
            <a:ext cx="14173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804672" y="3497580"/>
            <a:ext cx="1399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780" b="0">
                <a:solidFill>
                  <a:srgbClr val="373737"/>
                </a:solidFill>
                <a:latin typeface="Malgun Gothic"/>
              </a:rPr>
              <a:t>차세대 수행 단계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2212848" y="3488436"/>
            <a:ext cx="45720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2221992" y="3497580"/>
            <a:ext cx="43891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4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2670048" y="3488436"/>
            <a:ext cx="82296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2679192" y="3497580"/>
            <a:ext cx="80467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통합,표준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93008" y="3488436"/>
            <a:ext cx="9601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3502152" y="3497580"/>
            <a:ext cx="9418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사전분석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4453128" y="3488436"/>
            <a:ext cx="37033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4462272" y="3497580"/>
            <a:ext cx="3685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r>
              <a:rPr sz="890" b="0">
                <a:solidFill>
                  <a:srgbClr val="373737"/>
                </a:solidFill>
                <a:latin typeface="Malgun Gothic"/>
              </a:rPr>
              <a:t>    선행 아키텍처 분석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8156448" y="3488436"/>
            <a:ext cx="246888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8165592" y="3497580"/>
            <a:ext cx="24505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148" name="Rectangle 147"/>
          <p:cNvSpPr/>
          <p:nvPr/>
        </p:nvSpPr>
        <p:spPr>
          <a:xfrm>
            <a:off x="10625328" y="3488436"/>
            <a:ext cx="109728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10634472" y="3497580"/>
            <a:ext cx="10789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292608" y="3730752"/>
            <a:ext cx="5029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301752" y="3739896"/>
            <a:ext cx="4846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E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95528" y="3730752"/>
            <a:ext cx="14173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804672" y="3739896"/>
            <a:ext cx="1399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780" b="0">
                <a:solidFill>
                  <a:srgbClr val="373737"/>
                </a:solidFill>
                <a:latin typeface="Malgun Gothic"/>
              </a:rPr>
              <a:t>차세대 수행 단계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2212848" y="3730752"/>
            <a:ext cx="45720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2221992" y="3739896"/>
            <a:ext cx="43891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5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2670048" y="3730752"/>
            <a:ext cx="82296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2679192" y="3739896"/>
            <a:ext cx="80467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통합,표준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3493008" y="3730752"/>
            <a:ext cx="9601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3502152" y="3739896"/>
            <a:ext cx="9418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사전분석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453128" y="3730752"/>
            <a:ext cx="37033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4462272" y="3739896"/>
            <a:ext cx="3685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r>
              <a:rPr sz="919" b="1">
                <a:solidFill>
                  <a:srgbClr val="1B507E"/>
                </a:solidFill>
                <a:latin typeface="Malgun Gothic"/>
              </a:rPr>
              <a:t>변화방향성 정의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8156448" y="3730752"/>
            <a:ext cx="246888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8165592" y="3739896"/>
            <a:ext cx="24505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164" name="Rectangle 163"/>
          <p:cNvSpPr/>
          <p:nvPr/>
        </p:nvSpPr>
        <p:spPr>
          <a:xfrm>
            <a:off x="10625328" y="3730752"/>
            <a:ext cx="109728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10634472" y="3739896"/>
            <a:ext cx="10789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166" name="Rectangle 165"/>
          <p:cNvSpPr/>
          <p:nvPr/>
        </p:nvSpPr>
        <p:spPr>
          <a:xfrm>
            <a:off x="292608" y="3973068"/>
            <a:ext cx="5029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301752" y="3982212"/>
            <a:ext cx="4846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E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795528" y="3973068"/>
            <a:ext cx="14173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TextBox 168"/>
          <p:cNvSpPr txBox="1"/>
          <p:nvPr/>
        </p:nvSpPr>
        <p:spPr>
          <a:xfrm>
            <a:off x="804672" y="3982212"/>
            <a:ext cx="1399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780" b="0">
                <a:solidFill>
                  <a:srgbClr val="373737"/>
                </a:solidFill>
                <a:latin typeface="Malgun Gothic"/>
              </a:rPr>
              <a:t>차세대 수행 단계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2212848" y="3973068"/>
            <a:ext cx="45720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2221992" y="3982212"/>
            <a:ext cx="43891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6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2670048" y="3973068"/>
            <a:ext cx="82296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extBox 172"/>
          <p:cNvSpPr txBox="1"/>
          <p:nvPr/>
        </p:nvSpPr>
        <p:spPr>
          <a:xfrm>
            <a:off x="2679192" y="3982212"/>
            <a:ext cx="80467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통합,표준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3493008" y="3973068"/>
            <a:ext cx="9601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3502152" y="3982212"/>
            <a:ext cx="9418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사전분석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4453128" y="3973068"/>
            <a:ext cx="37033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TextBox 176"/>
          <p:cNvSpPr txBox="1"/>
          <p:nvPr/>
        </p:nvSpPr>
        <p:spPr>
          <a:xfrm>
            <a:off x="4462272" y="3982212"/>
            <a:ext cx="3685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r>
              <a:rPr sz="890" b="0">
                <a:solidFill>
                  <a:srgbClr val="373737"/>
                </a:solidFill>
                <a:latin typeface="Malgun Gothic"/>
              </a:rPr>
              <a:t>    아키텍처 설계 방향성 정의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8156448" y="3973068"/>
            <a:ext cx="246888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TextBox 178"/>
          <p:cNvSpPr txBox="1"/>
          <p:nvPr/>
        </p:nvSpPr>
        <p:spPr>
          <a:xfrm>
            <a:off x="8165592" y="3982212"/>
            <a:ext cx="24505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180" name="Rectangle 179"/>
          <p:cNvSpPr/>
          <p:nvPr/>
        </p:nvSpPr>
        <p:spPr>
          <a:xfrm>
            <a:off x="10625328" y="3973068"/>
            <a:ext cx="109728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TextBox 180"/>
          <p:cNvSpPr txBox="1"/>
          <p:nvPr/>
        </p:nvSpPr>
        <p:spPr>
          <a:xfrm>
            <a:off x="10634472" y="3982212"/>
            <a:ext cx="10789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182" name="Rectangle 181"/>
          <p:cNvSpPr/>
          <p:nvPr/>
        </p:nvSpPr>
        <p:spPr>
          <a:xfrm>
            <a:off x="292608" y="4215384"/>
            <a:ext cx="5029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TextBox 182"/>
          <p:cNvSpPr txBox="1"/>
          <p:nvPr/>
        </p:nvSpPr>
        <p:spPr>
          <a:xfrm>
            <a:off x="301752" y="4224528"/>
            <a:ext cx="4846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E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795528" y="4215384"/>
            <a:ext cx="14173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TextBox 184"/>
          <p:cNvSpPr txBox="1"/>
          <p:nvPr/>
        </p:nvSpPr>
        <p:spPr>
          <a:xfrm>
            <a:off x="804672" y="4224528"/>
            <a:ext cx="1399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780" b="0">
                <a:solidFill>
                  <a:srgbClr val="373737"/>
                </a:solidFill>
                <a:latin typeface="Malgun Gothic"/>
              </a:rPr>
              <a:t>차세대 수행 단계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2212848" y="4215384"/>
            <a:ext cx="45720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TextBox 186"/>
          <p:cNvSpPr txBox="1"/>
          <p:nvPr/>
        </p:nvSpPr>
        <p:spPr>
          <a:xfrm>
            <a:off x="2221992" y="4224528"/>
            <a:ext cx="43891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7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2670048" y="4215384"/>
            <a:ext cx="82296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TextBox 188"/>
          <p:cNvSpPr txBox="1"/>
          <p:nvPr/>
        </p:nvSpPr>
        <p:spPr>
          <a:xfrm>
            <a:off x="2679192" y="4224528"/>
            <a:ext cx="80467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통합,표준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3493008" y="4215384"/>
            <a:ext cx="9601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TextBox 190"/>
          <p:cNvSpPr txBox="1"/>
          <p:nvPr/>
        </p:nvSpPr>
        <p:spPr>
          <a:xfrm>
            <a:off x="3502152" y="4224528"/>
            <a:ext cx="9418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사전분석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4453128" y="4215384"/>
            <a:ext cx="37033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TextBox 192"/>
          <p:cNvSpPr txBox="1"/>
          <p:nvPr/>
        </p:nvSpPr>
        <p:spPr>
          <a:xfrm>
            <a:off x="4462272" y="4224528"/>
            <a:ext cx="3685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r>
              <a:rPr sz="890" b="0">
                <a:solidFill>
                  <a:srgbClr val="373737"/>
                </a:solidFill>
                <a:latin typeface="Malgun Gothic"/>
              </a:rPr>
              <a:t>    아키텍처 요구사항 정의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8156448" y="4215384"/>
            <a:ext cx="246888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TextBox 194"/>
          <p:cNvSpPr txBox="1"/>
          <p:nvPr/>
        </p:nvSpPr>
        <p:spPr>
          <a:xfrm>
            <a:off x="8165592" y="4224528"/>
            <a:ext cx="24505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r>
              <a:rPr sz="880" b="0">
                <a:solidFill>
                  <a:srgbClr val="373737"/>
                </a:solidFill>
                <a:latin typeface="Malgun Gothic"/>
              </a:rPr>
              <a:t>선행 ISP 요건 반영 + 현행 아키텍처 이슈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10625328" y="4215384"/>
            <a:ext cx="109728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TextBox 196"/>
          <p:cNvSpPr txBox="1"/>
          <p:nvPr/>
        </p:nvSpPr>
        <p:spPr>
          <a:xfrm>
            <a:off x="10634472" y="4224528"/>
            <a:ext cx="10789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198" name="Rectangle 197"/>
          <p:cNvSpPr/>
          <p:nvPr/>
        </p:nvSpPr>
        <p:spPr>
          <a:xfrm>
            <a:off x="292608" y="4457700"/>
            <a:ext cx="5029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TextBox 198"/>
          <p:cNvSpPr txBox="1"/>
          <p:nvPr/>
        </p:nvSpPr>
        <p:spPr>
          <a:xfrm>
            <a:off x="301752" y="4466844"/>
            <a:ext cx="4846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E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795528" y="4457700"/>
            <a:ext cx="14173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TextBox 200"/>
          <p:cNvSpPr txBox="1"/>
          <p:nvPr/>
        </p:nvSpPr>
        <p:spPr>
          <a:xfrm>
            <a:off x="804672" y="4466844"/>
            <a:ext cx="1399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780" b="0">
                <a:solidFill>
                  <a:srgbClr val="373737"/>
                </a:solidFill>
                <a:latin typeface="Malgun Gothic"/>
              </a:rPr>
              <a:t>차세대 수행 단계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2212848" y="4457700"/>
            <a:ext cx="45720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TextBox 202"/>
          <p:cNvSpPr txBox="1"/>
          <p:nvPr/>
        </p:nvSpPr>
        <p:spPr>
          <a:xfrm>
            <a:off x="2221992" y="4466844"/>
            <a:ext cx="43891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8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2670048" y="4457700"/>
            <a:ext cx="82296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TextBox 204"/>
          <p:cNvSpPr txBox="1"/>
          <p:nvPr/>
        </p:nvSpPr>
        <p:spPr>
          <a:xfrm>
            <a:off x="2679192" y="4466844"/>
            <a:ext cx="80467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통합,표준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3493008" y="4457700"/>
            <a:ext cx="9601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TextBox 206"/>
          <p:cNvSpPr txBox="1"/>
          <p:nvPr/>
        </p:nvSpPr>
        <p:spPr>
          <a:xfrm>
            <a:off x="3502152" y="4466844"/>
            <a:ext cx="9418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사전분석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4453128" y="4457700"/>
            <a:ext cx="37033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TextBox 208"/>
          <p:cNvSpPr txBox="1"/>
          <p:nvPr/>
        </p:nvSpPr>
        <p:spPr>
          <a:xfrm>
            <a:off x="4462272" y="4466844"/>
            <a:ext cx="3685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r>
              <a:rPr sz="919" b="1">
                <a:solidFill>
                  <a:srgbClr val="1B507E"/>
                </a:solidFill>
                <a:latin typeface="Malgun Gothic"/>
              </a:rPr>
              <a:t>통합아키텍처 수립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8156448" y="4457700"/>
            <a:ext cx="246888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TextBox 210"/>
          <p:cNvSpPr txBox="1"/>
          <p:nvPr/>
        </p:nvSpPr>
        <p:spPr>
          <a:xfrm>
            <a:off x="8165592" y="4466844"/>
            <a:ext cx="24505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212" name="Rectangle 211"/>
          <p:cNvSpPr/>
          <p:nvPr/>
        </p:nvSpPr>
        <p:spPr>
          <a:xfrm>
            <a:off x="10625328" y="4457700"/>
            <a:ext cx="109728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TextBox 212"/>
          <p:cNvSpPr txBox="1"/>
          <p:nvPr/>
        </p:nvSpPr>
        <p:spPr>
          <a:xfrm>
            <a:off x="10634472" y="4466844"/>
            <a:ext cx="10789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14" name="Rectangle 213"/>
          <p:cNvSpPr/>
          <p:nvPr/>
        </p:nvSpPr>
        <p:spPr>
          <a:xfrm>
            <a:off x="292608" y="4700016"/>
            <a:ext cx="5029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301752" y="4709160"/>
            <a:ext cx="4846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E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795528" y="4700016"/>
            <a:ext cx="14173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TextBox 216"/>
          <p:cNvSpPr txBox="1"/>
          <p:nvPr/>
        </p:nvSpPr>
        <p:spPr>
          <a:xfrm>
            <a:off x="804672" y="4709160"/>
            <a:ext cx="1399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780" b="0">
                <a:solidFill>
                  <a:srgbClr val="373737"/>
                </a:solidFill>
                <a:latin typeface="Malgun Gothic"/>
              </a:rPr>
              <a:t>차세대 수행 단계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2212848" y="4700016"/>
            <a:ext cx="45720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TextBox 218"/>
          <p:cNvSpPr txBox="1"/>
          <p:nvPr/>
        </p:nvSpPr>
        <p:spPr>
          <a:xfrm>
            <a:off x="2221992" y="4709160"/>
            <a:ext cx="43891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9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2670048" y="4700016"/>
            <a:ext cx="82296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TextBox 220"/>
          <p:cNvSpPr txBox="1"/>
          <p:nvPr/>
        </p:nvSpPr>
        <p:spPr>
          <a:xfrm>
            <a:off x="2679192" y="4709160"/>
            <a:ext cx="80467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통합,표준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3493008" y="4700016"/>
            <a:ext cx="9601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TextBox 222"/>
          <p:cNvSpPr txBox="1"/>
          <p:nvPr/>
        </p:nvSpPr>
        <p:spPr>
          <a:xfrm>
            <a:off x="3502152" y="4709160"/>
            <a:ext cx="9418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사전분석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4453128" y="4700016"/>
            <a:ext cx="37033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TextBox 224"/>
          <p:cNvSpPr txBox="1"/>
          <p:nvPr/>
        </p:nvSpPr>
        <p:spPr>
          <a:xfrm>
            <a:off x="4462272" y="4709160"/>
            <a:ext cx="3685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r>
              <a:rPr sz="919" b="1">
                <a:solidFill>
                  <a:srgbClr val="1B507E"/>
                </a:solidFill>
                <a:latin typeface="Malgun Gothic"/>
              </a:rPr>
              <a:t>목표 아키텍처 정의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8156448" y="4700016"/>
            <a:ext cx="246888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TextBox 226"/>
          <p:cNvSpPr txBox="1"/>
          <p:nvPr/>
        </p:nvSpPr>
        <p:spPr>
          <a:xfrm>
            <a:off x="8165592" y="4709160"/>
            <a:ext cx="24505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228" name="Rectangle 227"/>
          <p:cNvSpPr/>
          <p:nvPr/>
        </p:nvSpPr>
        <p:spPr>
          <a:xfrm>
            <a:off x="10625328" y="4700016"/>
            <a:ext cx="109728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TextBox 228"/>
          <p:cNvSpPr txBox="1"/>
          <p:nvPr/>
        </p:nvSpPr>
        <p:spPr>
          <a:xfrm>
            <a:off x="10634472" y="4709160"/>
            <a:ext cx="10789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30" name="Rectangle 229"/>
          <p:cNvSpPr/>
          <p:nvPr/>
        </p:nvSpPr>
        <p:spPr>
          <a:xfrm>
            <a:off x="292608" y="4942332"/>
            <a:ext cx="5029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TextBox 230"/>
          <p:cNvSpPr txBox="1"/>
          <p:nvPr/>
        </p:nvSpPr>
        <p:spPr>
          <a:xfrm>
            <a:off x="301752" y="4951476"/>
            <a:ext cx="4846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E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795528" y="4942332"/>
            <a:ext cx="14173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TextBox 232"/>
          <p:cNvSpPr txBox="1"/>
          <p:nvPr/>
        </p:nvSpPr>
        <p:spPr>
          <a:xfrm>
            <a:off x="804672" y="4951476"/>
            <a:ext cx="1399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780" b="0">
                <a:solidFill>
                  <a:srgbClr val="373737"/>
                </a:solidFill>
                <a:latin typeface="Malgun Gothic"/>
              </a:rPr>
              <a:t>차세대 수행 단계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2212848" y="4942332"/>
            <a:ext cx="45720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TextBox 234"/>
          <p:cNvSpPr txBox="1"/>
          <p:nvPr/>
        </p:nvSpPr>
        <p:spPr>
          <a:xfrm>
            <a:off x="2221992" y="4951476"/>
            <a:ext cx="43891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10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2670048" y="4942332"/>
            <a:ext cx="82296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TextBox 236"/>
          <p:cNvSpPr txBox="1"/>
          <p:nvPr/>
        </p:nvSpPr>
        <p:spPr>
          <a:xfrm>
            <a:off x="2679192" y="4951476"/>
            <a:ext cx="80467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통합,표준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3493008" y="4942332"/>
            <a:ext cx="9601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TextBox 238"/>
          <p:cNvSpPr txBox="1"/>
          <p:nvPr/>
        </p:nvSpPr>
        <p:spPr>
          <a:xfrm>
            <a:off x="3502152" y="4951476"/>
            <a:ext cx="9418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사전분석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4453128" y="4942332"/>
            <a:ext cx="37033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TextBox 240"/>
          <p:cNvSpPr txBox="1"/>
          <p:nvPr/>
        </p:nvSpPr>
        <p:spPr>
          <a:xfrm>
            <a:off x="4462272" y="4951476"/>
            <a:ext cx="3685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r>
              <a:rPr sz="890" b="0">
                <a:solidFill>
                  <a:srgbClr val="373737"/>
                </a:solidFill>
                <a:latin typeface="Malgun Gothic"/>
              </a:rPr>
              <a:t>    최상위 목표 개념 기술 정의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8156448" y="4942332"/>
            <a:ext cx="246888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TextBox 242"/>
          <p:cNvSpPr txBox="1"/>
          <p:nvPr/>
        </p:nvSpPr>
        <p:spPr>
          <a:xfrm>
            <a:off x="8165592" y="4951476"/>
            <a:ext cx="24505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244" name="Rectangle 243"/>
          <p:cNvSpPr/>
          <p:nvPr/>
        </p:nvSpPr>
        <p:spPr>
          <a:xfrm>
            <a:off x="10625328" y="4942332"/>
            <a:ext cx="109728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TextBox 244"/>
          <p:cNvSpPr txBox="1"/>
          <p:nvPr/>
        </p:nvSpPr>
        <p:spPr>
          <a:xfrm>
            <a:off x="10634472" y="4951476"/>
            <a:ext cx="10789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46" name="Rectangle 245"/>
          <p:cNvSpPr/>
          <p:nvPr/>
        </p:nvSpPr>
        <p:spPr>
          <a:xfrm>
            <a:off x="292608" y="5184648"/>
            <a:ext cx="5029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TextBox 246"/>
          <p:cNvSpPr txBox="1"/>
          <p:nvPr/>
        </p:nvSpPr>
        <p:spPr>
          <a:xfrm>
            <a:off x="301752" y="5193792"/>
            <a:ext cx="4846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E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795528" y="5184648"/>
            <a:ext cx="14173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TextBox 248"/>
          <p:cNvSpPr txBox="1"/>
          <p:nvPr/>
        </p:nvSpPr>
        <p:spPr>
          <a:xfrm>
            <a:off x="804672" y="5193792"/>
            <a:ext cx="1399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780" b="0">
                <a:solidFill>
                  <a:srgbClr val="373737"/>
                </a:solidFill>
                <a:latin typeface="Malgun Gothic"/>
              </a:rPr>
              <a:t>차세대 수행 단계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2212848" y="5184648"/>
            <a:ext cx="45720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TextBox 250"/>
          <p:cNvSpPr txBox="1"/>
          <p:nvPr/>
        </p:nvSpPr>
        <p:spPr>
          <a:xfrm>
            <a:off x="2221992" y="5193792"/>
            <a:ext cx="43891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11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2670048" y="5184648"/>
            <a:ext cx="82296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TextBox 252"/>
          <p:cNvSpPr txBox="1"/>
          <p:nvPr/>
        </p:nvSpPr>
        <p:spPr>
          <a:xfrm>
            <a:off x="2679192" y="5193792"/>
            <a:ext cx="80467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통합,표준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3493008" y="5184648"/>
            <a:ext cx="9601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TextBox 254"/>
          <p:cNvSpPr txBox="1"/>
          <p:nvPr/>
        </p:nvSpPr>
        <p:spPr>
          <a:xfrm>
            <a:off x="3502152" y="5193792"/>
            <a:ext cx="9418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사전분석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4453128" y="5184648"/>
            <a:ext cx="37033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TextBox 256"/>
          <p:cNvSpPr txBox="1"/>
          <p:nvPr/>
        </p:nvSpPr>
        <p:spPr>
          <a:xfrm>
            <a:off x="4462272" y="5193792"/>
            <a:ext cx="3685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r>
              <a:rPr sz="890" b="0">
                <a:solidFill>
                  <a:srgbClr val="373737"/>
                </a:solidFill>
                <a:latin typeface="Malgun Gothic"/>
              </a:rPr>
              <a:t>    논리기술 아키텍처 정의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8156448" y="5184648"/>
            <a:ext cx="246888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9" name="TextBox 258"/>
          <p:cNvSpPr txBox="1"/>
          <p:nvPr/>
        </p:nvSpPr>
        <p:spPr>
          <a:xfrm>
            <a:off x="8165592" y="5193792"/>
            <a:ext cx="24505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260" name="Rectangle 259"/>
          <p:cNvSpPr/>
          <p:nvPr/>
        </p:nvSpPr>
        <p:spPr>
          <a:xfrm>
            <a:off x="10625328" y="5184648"/>
            <a:ext cx="109728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TextBox 260"/>
          <p:cNvSpPr txBox="1"/>
          <p:nvPr/>
        </p:nvSpPr>
        <p:spPr>
          <a:xfrm>
            <a:off x="10634472" y="5193792"/>
            <a:ext cx="10789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62" name="Rectangle 261"/>
          <p:cNvSpPr/>
          <p:nvPr/>
        </p:nvSpPr>
        <p:spPr>
          <a:xfrm>
            <a:off x="292608" y="5426964"/>
            <a:ext cx="5029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TextBox 262"/>
          <p:cNvSpPr txBox="1"/>
          <p:nvPr/>
        </p:nvSpPr>
        <p:spPr>
          <a:xfrm>
            <a:off x="301752" y="5436108"/>
            <a:ext cx="4846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E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795528" y="5426964"/>
            <a:ext cx="14173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TextBox 264"/>
          <p:cNvSpPr txBox="1"/>
          <p:nvPr/>
        </p:nvSpPr>
        <p:spPr>
          <a:xfrm>
            <a:off x="804672" y="5436108"/>
            <a:ext cx="1399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780" b="0">
                <a:solidFill>
                  <a:srgbClr val="373737"/>
                </a:solidFill>
                <a:latin typeface="Malgun Gothic"/>
              </a:rPr>
              <a:t>차세대 수행 단계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2212848" y="5426964"/>
            <a:ext cx="45720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TextBox 266"/>
          <p:cNvSpPr txBox="1"/>
          <p:nvPr/>
        </p:nvSpPr>
        <p:spPr>
          <a:xfrm>
            <a:off x="2221992" y="5436108"/>
            <a:ext cx="43891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12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2670048" y="5426964"/>
            <a:ext cx="82296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TextBox 268"/>
          <p:cNvSpPr txBox="1"/>
          <p:nvPr/>
        </p:nvSpPr>
        <p:spPr>
          <a:xfrm>
            <a:off x="2679192" y="5436108"/>
            <a:ext cx="80467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통합,표준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3493008" y="5426964"/>
            <a:ext cx="9601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TextBox 270"/>
          <p:cNvSpPr txBox="1"/>
          <p:nvPr/>
        </p:nvSpPr>
        <p:spPr>
          <a:xfrm>
            <a:off x="3502152" y="5436108"/>
            <a:ext cx="9418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사전분석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4453128" y="5426964"/>
            <a:ext cx="37033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3" name="TextBox 272"/>
          <p:cNvSpPr txBox="1"/>
          <p:nvPr/>
        </p:nvSpPr>
        <p:spPr>
          <a:xfrm>
            <a:off x="4462272" y="5436108"/>
            <a:ext cx="3685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r>
              <a:rPr sz="890" b="0">
                <a:solidFill>
                  <a:srgbClr val="373737"/>
                </a:solidFill>
                <a:latin typeface="Malgun Gothic"/>
              </a:rPr>
              <a:t>    물리기술 아키텍처 정의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8156448" y="5426964"/>
            <a:ext cx="246888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5" name="TextBox 274"/>
          <p:cNvSpPr txBox="1"/>
          <p:nvPr/>
        </p:nvSpPr>
        <p:spPr>
          <a:xfrm>
            <a:off x="8165592" y="5436108"/>
            <a:ext cx="24505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276" name="Rectangle 275"/>
          <p:cNvSpPr/>
          <p:nvPr/>
        </p:nvSpPr>
        <p:spPr>
          <a:xfrm>
            <a:off x="10625328" y="5426964"/>
            <a:ext cx="109728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7" name="TextBox 276"/>
          <p:cNvSpPr txBox="1"/>
          <p:nvPr/>
        </p:nvSpPr>
        <p:spPr>
          <a:xfrm>
            <a:off x="10634472" y="5436108"/>
            <a:ext cx="10789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78" name="Rectangle 277"/>
          <p:cNvSpPr/>
          <p:nvPr/>
        </p:nvSpPr>
        <p:spPr>
          <a:xfrm>
            <a:off x="292608" y="5669280"/>
            <a:ext cx="5029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9" name="TextBox 278"/>
          <p:cNvSpPr txBox="1"/>
          <p:nvPr/>
        </p:nvSpPr>
        <p:spPr>
          <a:xfrm>
            <a:off x="301752" y="5678424"/>
            <a:ext cx="4846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E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795528" y="5669280"/>
            <a:ext cx="14173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1" name="TextBox 280"/>
          <p:cNvSpPr txBox="1"/>
          <p:nvPr/>
        </p:nvSpPr>
        <p:spPr>
          <a:xfrm>
            <a:off x="804672" y="5678424"/>
            <a:ext cx="1399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780" b="0">
                <a:solidFill>
                  <a:srgbClr val="373737"/>
                </a:solidFill>
                <a:latin typeface="Malgun Gothic"/>
              </a:rPr>
              <a:t>차세대 수행 단계</a:t>
            </a:r>
          </a:p>
        </p:txBody>
      </p:sp>
      <p:sp>
        <p:nvSpPr>
          <p:cNvPr id="282" name="Rectangle 281"/>
          <p:cNvSpPr/>
          <p:nvPr/>
        </p:nvSpPr>
        <p:spPr>
          <a:xfrm>
            <a:off x="2212848" y="5669280"/>
            <a:ext cx="45720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3" name="TextBox 282"/>
          <p:cNvSpPr txBox="1"/>
          <p:nvPr/>
        </p:nvSpPr>
        <p:spPr>
          <a:xfrm>
            <a:off x="2221992" y="5678424"/>
            <a:ext cx="43891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13</a:t>
            </a:r>
          </a:p>
        </p:txBody>
      </p:sp>
      <p:sp>
        <p:nvSpPr>
          <p:cNvPr id="284" name="Rectangle 283"/>
          <p:cNvSpPr/>
          <p:nvPr/>
        </p:nvSpPr>
        <p:spPr>
          <a:xfrm>
            <a:off x="2670048" y="5669280"/>
            <a:ext cx="82296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TextBox 284"/>
          <p:cNvSpPr txBox="1"/>
          <p:nvPr/>
        </p:nvSpPr>
        <p:spPr>
          <a:xfrm>
            <a:off x="2679192" y="5678424"/>
            <a:ext cx="80467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통합,표준</a:t>
            </a:r>
          </a:p>
        </p:txBody>
      </p:sp>
      <p:sp>
        <p:nvSpPr>
          <p:cNvPr id="286" name="Rectangle 285"/>
          <p:cNvSpPr/>
          <p:nvPr/>
        </p:nvSpPr>
        <p:spPr>
          <a:xfrm>
            <a:off x="3493008" y="5669280"/>
            <a:ext cx="9601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7" name="TextBox 286"/>
          <p:cNvSpPr txBox="1"/>
          <p:nvPr/>
        </p:nvSpPr>
        <p:spPr>
          <a:xfrm>
            <a:off x="3502152" y="5678424"/>
            <a:ext cx="9418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사전분석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4453128" y="5669280"/>
            <a:ext cx="37033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TextBox 288"/>
          <p:cNvSpPr txBox="1"/>
          <p:nvPr/>
        </p:nvSpPr>
        <p:spPr>
          <a:xfrm>
            <a:off x="4462272" y="5678424"/>
            <a:ext cx="3685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r>
              <a:rPr sz="890" b="0">
                <a:solidFill>
                  <a:srgbClr val="373737"/>
                </a:solidFill>
                <a:latin typeface="Malgun Gothic"/>
              </a:rPr>
              <a:t>    런타임 기술 아키텍처 정의</a:t>
            </a:r>
          </a:p>
        </p:txBody>
      </p:sp>
      <p:sp>
        <p:nvSpPr>
          <p:cNvPr id="290" name="Rectangle 289"/>
          <p:cNvSpPr/>
          <p:nvPr/>
        </p:nvSpPr>
        <p:spPr>
          <a:xfrm>
            <a:off x="8156448" y="5669280"/>
            <a:ext cx="246888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1" name="TextBox 290"/>
          <p:cNvSpPr txBox="1"/>
          <p:nvPr/>
        </p:nvSpPr>
        <p:spPr>
          <a:xfrm>
            <a:off x="8165592" y="5678424"/>
            <a:ext cx="24505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292" name="Rectangle 291"/>
          <p:cNvSpPr/>
          <p:nvPr/>
        </p:nvSpPr>
        <p:spPr>
          <a:xfrm>
            <a:off x="10625328" y="5669280"/>
            <a:ext cx="109728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TextBox 292"/>
          <p:cNvSpPr txBox="1"/>
          <p:nvPr/>
        </p:nvSpPr>
        <p:spPr>
          <a:xfrm>
            <a:off x="10634472" y="5678424"/>
            <a:ext cx="10789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94" name="Rectangle 293"/>
          <p:cNvSpPr/>
          <p:nvPr/>
        </p:nvSpPr>
        <p:spPr>
          <a:xfrm>
            <a:off x="292608" y="5911596"/>
            <a:ext cx="5029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5" name="TextBox 294"/>
          <p:cNvSpPr txBox="1"/>
          <p:nvPr/>
        </p:nvSpPr>
        <p:spPr>
          <a:xfrm>
            <a:off x="301752" y="5920740"/>
            <a:ext cx="4846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E</a:t>
            </a:r>
          </a:p>
        </p:txBody>
      </p:sp>
      <p:sp>
        <p:nvSpPr>
          <p:cNvPr id="296" name="Rectangle 295"/>
          <p:cNvSpPr/>
          <p:nvPr/>
        </p:nvSpPr>
        <p:spPr>
          <a:xfrm>
            <a:off x="795528" y="5911596"/>
            <a:ext cx="14173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7" name="TextBox 296"/>
          <p:cNvSpPr txBox="1"/>
          <p:nvPr/>
        </p:nvSpPr>
        <p:spPr>
          <a:xfrm>
            <a:off x="804672" y="5920740"/>
            <a:ext cx="1399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780" b="0">
                <a:solidFill>
                  <a:srgbClr val="373737"/>
                </a:solidFill>
                <a:latin typeface="Malgun Gothic"/>
              </a:rPr>
              <a:t>차세대 수행 단계</a:t>
            </a:r>
          </a:p>
        </p:txBody>
      </p:sp>
      <p:sp>
        <p:nvSpPr>
          <p:cNvPr id="298" name="Rectangle 297"/>
          <p:cNvSpPr/>
          <p:nvPr/>
        </p:nvSpPr>
        <p:spPr>
          <a:xfrm>
            <a:off x="2212848" y="5911596"/>
            <a:ext cx="45720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9" name="TextBox 298"/>
          <p:cNvSpPr txBox="1"/>
          <p:nvPr/>
        </p:nvSpPr>
        <p:spPr>
          <a:xfrm>
            <a:off x="2221992" y="5920740"/>
            <a:ext cx="43891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14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2670048" y="5911596"/>
            <a:ext cx="82296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1" name="TextBox 300"/>
          <p:cNvSpPr txBox="1"/>
          <p:nvPr/>
        </p:nvSpPr>
        <p:spPr>
          <a:xfrm>
            <a:off x="2679192" y="5920740"/>
            <a:ext cx="80467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통합,표준</a:t>
            </a:r>
          </a:p>
        </p:txBody>
      </p:sp>
      <p:sp>
        <p:nvSpPr>
          <p:cNvPr id="302" name="Rectangle 301"/>
          <p:cNvSpPr/>
          <p:nvPr/>
        </p:nvSpPr>
        <p:spPr>
          <a:xfrm>
            <a:off x="3493008" y="5911596"/>
            <a:ext cx="9601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TextBox 302"/>
          <p:cNvSpPr txBox="1"/>
          <p:nvPr/>
        </p:nvSpPr>
        <p:spPr>
          <a:xfrm>
            <a:off x="3502152" y="5920740"/>
            <a:ext cx="9418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73737"/>
                </a:solidFill>
                <a:latin typeface="Malgun Gothic"/>
              </a:rPr>
              <a:t>사전분석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453128" y="5911596"/>
            <a:ext cx="37033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5" name="TextBox 304"/>
          <p:cNvSpPr txBox="1"/>
          <p:nvPr/>
        </p:nvSpPr>
        <p:spPr>
          <a:xfrm>
            <a:off x="4462272" y="5920740"/>
            <a:ext cx="3685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r>
              <a:rPr sz="890" b="0">
                <a:solidFill>
                  <a:srgbClr val="373737"/>
                </a:solidFill>
                <a:latin typeface="Malgun Gothic"/>
              </a:rPr>
              <a:t>    솔루션 메커니즘 아키텍처 정의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8156448" y="5911596"/>
            <a:ext cx="246888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7" name="TextBox 306"/>
          <p:cNvSpPr txBox="1"/>
          <p:nvPr/>
        </p:nvSpPr>
        <p:spPr>
          <a:xfrm>
            <a:off x="8165592" y="5920740"/>
            <a:ext cx="24505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r>
              <a:rPr sz="880" b="0">
                <a:solidFill>
                  <a:srgbClr val="373737"/>
                </a:solidFill>
                <a:latin typeface="Malgun Gothic"/>
              </a:rPr>
              <a:t>솔루션 영역의 아키텍처 참조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10625328" y="5911596"/>
            <a:ext cx="109728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TextBox 308"/>
          <p:cNvSpPr txBox="1"/>
          <p:nvPr/>
        </p:nvSpPr>
        <p:spPr>
          <a:xfrm>
            <a:off x="10634472" y="5920740"/>
            <a:ext cx="10789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cxnSp>
        <p:nvCxnSpPr>
          <p:cNvPr id="310" name="Connector 309"/>
          <p:cNvCxnSpPr/>
          <p:nvPr/>
        </p:nvCxnSpPr>
        <p:spPr>
          <a:xfrm>
            <a:off x="292608" y="2761488"/>
            <a:ext cx="11430000" cy="0"/>
          </a:xfrm>
          <a:prstGeom prst="line">
            <a:avLst/>
          </a:prstGeom>
          <a:ln w="1397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>
            <a:off x="292608" y="3973068"/>
            <a:ext cx="11430000" cy="0"/>
          </a:xfrm>
          <a:prstGeom prst="line">
            <a:avLst/>
          </a:prstGeom>
          <a:ln w="1143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>
            <a:off x="292608" y="4942332"/>
            <a:ext cx="11430000" cy="0"/>
          </a:xfrm>
          <a:prstGeom prst="line">
            <a:avLst/>
          </a:prstGeom>
          <a:ln w="1143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>
            <a:off x="182880" y="6583680"/>
            <a:ext cx="11658600" cy="0"/>
          </a:xfrm>
          <a:prstGeom prst="line">
            <a:avLst/>
          </a:prstGeom>
          <a:ln w="7620">
            <a:solidFill>
              <a:srgbClr val="828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4" name="TextBox 313"/>
          <p:cNvSpPr txBox="1"/>
          <p:nvPr/>
        </p:nvSpPr>
        <p:spPr>
          <a:xfrm>
            <a:off x="5989320" y="6601968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>
                <a:solidFill>
                  <a:srgbClr val="464646"/>
                </a:solidFill>
                <a:latin typeface="Malgun Gothic"/>
              </a:rPr>
              <a:t>12</a:t>
            </a:r>
          </a:p>
        </p:txBody>
      </p:sp>
      <p:sp>
        <p:nvSpPr>
          <p:cNvPr id="315" name="Isosceles Triangle 314"/>
          <p:cNvSpPr/>
          <p:nvPr/>
        </p:nvSpPr>
        <p:spPr>
          <a:xfrm rot="10800000">
            <a:off x="27432" y="6537960"/>
            <a:ext cx="118872" cy="164592"/>
          </a:xfrm>
          <a:prstGeom prst="triangle">
            <a:avLst/>
          </a:prstGeom>
          <a:solidFill>
            <a:srgbClr val="EC9A34"/>
          </a:solidFill>
          <a:ln>
            <a:solidFill>
              <a:srgbClr val="EC9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6" name="Oval 315"/>
          <p:cNvSpPr/>
          <p:nvPr/>
        </p:nvSpPr>
        <p:spPr>
          <a:xfrm>
            <a:off x="118872" y="6574536"/>
            <a:ext cx="45720" cy="45720"/>
          </a:xfrm>
          <a:prstGeom prst="ellipse">
            <a:avLst/>
          </a:prstGeom>
          <a:solidFill>
            <a:srgbClr val="EC9A34"/>
          </a:solidFill>
          <a:ln>
            <a:solidFill>
              <a:srgbClr val="EC9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7" name="TextBox 316"/>
          <p:cNvSpPr txBox="1"/>
          <p:nvPr/>
        </p:nvSpPr>
        <p:spPr>
          <a:xfrm>
            <a:off x="182880" y="6510528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>
                <a:solidFill>
                  <a:srgbClr val="26854A"/>
                </a:solidFill>
                <a:latin typeface="Malgun Gothic"/>
              </a:rPr>
              <a:t>농협중앙회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032" y="109728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100" b="1">
                <a:solidFill>
                  <a:srgbClr val="262626"/>
                </a:solidFill>
                <a:latin typeface="Malgun Gothic"/>
              </a:rPr>
              <a:t>(Backup) 사전분석 – 아키텍처 수립 – 아키텍처 수행 타스크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64592" y="621792"/>
            <a:ext cx="11676888" cy="0"/>
          </a:xfrm>
          <a:prstGeom prst="line">
            <a:avLst/>
          </a:prstGeom>
          <a:ln w="190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84048" y="768096"/>
            <a:ext cx="11109960" cy="45720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sz="1800">
                <a:solidFill>
                  <a:srgbClr val="373737"/>
                </a:solidFill>
                <a:latin typeface="Malgun Gothic"/>
              </a:rPr>
              <a:t>아키텍처 추진전략에 기반하여 아키텍처 수립, 아키텍처 확립, 아키텍처 고도화 평가 이행 단계로 구분하고 각 단계별 주요 수행 TASK는 다음으로 진행한다.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" y="1481328"/>
            <a:ext cx="11430000" cy="4672584"/>
          </a:xfrm>
          <a:prstGeom prst="rect">
            <a:avLst/>
          </a:prstGeom>
          <a:solidFill>
            <a:srgbClr val="FAFAFA"/>
          </a:solidFill>
          <a:ln w="1270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92608" y="1481328"/>
            <a:ext cx="502920" cy="310896"/>
          </a:xfrm>
          <a:prstGeom prst="rect">
            <a:avLst/>
          </a:prstGeom>
          <a:solidFill>
            <a:srgbClr val="232A27"/>
          </a:solidFill>
          <a:ln w="1016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92608" y="1499616"/>
            <a:ext cx="50292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1200" b="1">
                <a:solidFill>
                  <a:srgbClr val="F0F0F0"/>
                </a:solidFill>
                <a:latin typeface="Malgun Gothic"/>
              </a:rPr>
              <a:t>INDEX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8" y="1481328"/>
            <a:ext cx="1417320" cy="310896"/>
          </a:xfrm>
          <a:prstGeom prst="rect">
            <a:avLst/>
          </a:prstGeom>
          <a:solidFill>
            <a:srgbClr val="232A27"/>
          </a:solidFill>
          <a:ln w="1016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1499616"/>
            <a:ext cx="141732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1200" b="1">
                <a:solidFill>
                  <a:srgbClr val="F0F0F0"/>
                </a:solidFill>
                <a:latin typeface="Malgun Gothic"/>
              </a:rPr>
              <a:t>구분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12848" y="1481328"/>
            <a:ext cx="457200" cy="310896"/>
          </a:xfrm>
          <a:prstGeom prst="rect">
            <a:avLst/>
          </a:prstGeom>
          <a:solidFill>
            <a:srgbClr val="232A27"/>
          </a:solidFill>
          <a:ln w="1016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12848" y="1499616"/>
            <a:ext cx="45720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1200" b="1">
                <a:solidFill>
                  <a:srgbClr val="F0F0F0"/>
                </a:solidFill>
                <a:latin typeface="Malgun Gothic"/>
              </a:rPr>
              <a:t>차수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70048" y="1481328"/>
            <a:ext cx="822960" cy="310896"/>
          </a:xfrm>
          <a:prstGeom prst="rect">
            <a:avLst/>
          </a:prstGeom>
          <a:solidFill>
            <a:srgbClr val="232A27"/>
          </a:solidFill>
          <a:ln w="1016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70048" y="1499616"/>
            <a:ext cx="82296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1200" b="1">
                <a:solidFill>
                  <a:srgbClr val="F0F0F0"/>
                </a:solidFill>
                <a:latin typeface="Malgun Gothic"/>
              </a:rPr>
              <a:t>수행성격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93008" y="1481328"/>
            <a:ext cx="960120" cy="310896"/>
          </a:xfrm>
          <a:prstGeom prst="rect">
            <a:avLst/>
          </a:prstGeom>
          <a:solidFill>
            <a:srgbClr val="232A27"/>
          </a:solidFill>
          <a:ln w="1016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93008" y="1499616"/>
            <a:ext cx="96012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1200" b="1">
                <a:solidFill>
                  <a:srgbClr val="F0F0F0"/>
                </a:solidFill>
                <a:latin typeface="Malgun Gothic"/>
              </a:rPr>
              <a:t>마일스톤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53128" y="1481328"/>
            <a:ext cx="3703320" cy="310896"/>
          </a:xfrm>
          <a:prstGeom prst="rect">
            <a:avLst/>
          </a:prstGeom>
          <a:solidFill>
            <a:srgbClr val="232A27"/>
          </a:solidFill>
          <a:ln w="1016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53128" y="1499616"/>
            <a:ext cx="370332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1200" b="1">
                <a:solidFill>
                  <a:srgbClr val="F0F0F0"/>
                </a:solidFill>
                <a:latin typeface="Malgun Gothic"/>
              </a:rPr>
              <a:t>TASK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56448" y="1481328"/>
            <a:ext cx="2468880" cy="310896"/>
          </a:xfrm>
          <a:prstGeom prst="rect">
            <a:avLst/>
          </a:prstGeom>
          <a:solidFill>
            <a:srgbClr val="232A27"/>
          </a:solidFill>
          <a:ln w="1016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56448" y="1499616"/>
            <a:ext cx="246888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1200" b="1">
                <a:solidFill>
                  <a:srgbClr val="F0F0F0"/>
                </a:solidFill>
                <a:latin typeface="Malgun Gothic"/>
              </a:rPr>
              <a:t>추적내용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625328" y="1481328"/>
            <a:ext cx="1097280" cy="310896"/>
          </a:xfrm>
          <a:prstGeom prst="rect">
            <a:avLst/>
          </a:prstGeom>
          <a:solidFill>
            <a:srgbClr val="232A27"/>
          </a:solidFill>
          <a:ln w="1016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25328" y="1499616"/>
            <a:ext cx="109728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1200" b="1">
                <a:solidFill>
                  <a:srgbClr val="F0F0F0"/>
                </a:solidFill>
                <a:latin typeface="Malgun Gothic"/>
              </a:rPr>
              <a:t>비고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" y="1792224"/>
            <a:ext cx="5029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01752" y="1801368"/>
            <a:ext cx="4846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C3C3C"/>
                </a:solidFill>
                <a:latin typeface="Malgun Gothic"/>
              </a:rPr>
              <a:t>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528" y="1792224"/>
            <a:ext cx="14173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2" y="1801368"/>
            <a:ext cx="1399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780" b="0">
                <a:solidFill>
                  <a:srgbClr val="3C3C3C"/>
                </a:solidFill>
                <a:latin typeface="Malgun Gothic"/>
              </a:rPr>
              <a:t>차세대 수행 단계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12848" y="1792224"/>
            <a:ext cx="45720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221992" y="1801368"/>
            <a:ext cx="43891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C3C3C"/>
                </a:solidFill>
                <a:latin typeface="Malgun Gothic"/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70048" y="1792224"/>
            <a:ext cx="82296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679192" y="1801368"/>
            <a:ext cx="80467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C3C3C"/>
                </a:solidFill>
                <a:latin typeface="Malgun Gothic"/>
              </a:rPr>
              <a:t>실행,표준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93008" y="1792224"/>
            <a:ext cx="9601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502152" y="1801368"/>
            <a:ext cx="9418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C3C3C"/>
                </a:solidFill>
                <a:latin typeface="Malgun Gothic"/>
              </a:rPr>
              <a:t>분석/설계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53128" y="1792224"/>
            <a:ext cx="37033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462272" y="1801368"/>
            <a:ext cx="3685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r>
              <a:rPr sz="890" b="1">
                <a:solidFill>
                  <a:srgbClr val="1F57A2"/>
                </a:solidFill>
                <a:latin typeface="Malgun Gothic"/>
              </a:rPr>
              <a:t>아키텍처 확립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56448" y="1792224"/>
            <a:ext cx="246888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165592" y="1801368"/>
            <a:ext cx="24505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0625328" y="1792224"/>
            <a:ext cx="109728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634472" y="1801368"/>
            <a:ext cx="10789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292608" y="2034540"/>
            <a:ext cx="5029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01752" y="2043684"/>
            <a:ext cx="4846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C3C3C"/>
                </a:solidFill>
                <a:latin typeface="Malgun Gothic"/>
              </a:rPr>
              <a:t>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5528" y="2034540"/>
            <a:ext cx="14173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04672" y="2043684"/>
            <a:ext cx="1399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780" b="0">
                <a:solidFill>
                  <a:srgbClr val="3C3C3C"/>
                </a:solidFill>
                <a:latin typeface="Malgun Gothic"/>
              </a:rPr>
              <a:t>차세대 수행 단계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12848" y="2034540"/>
            <a:ext cx="45720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221992" y="2043684"/>
            <a:ext cx="43891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C3C3C"/>
                </a:solidFill>
                <a:latin typeface="Malgun Gothic"/>
              </a:rPr>
              <a:t>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70048" y="2034540"/>
            <a:ext cx="82296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679192" y="2043684"/>
            <a:ext cx="80467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C3C3C"/>
                </a:solidFill>
                <a:latin typeface="Malgun Gothic"/>
              </a:rPr>
              <a:t>실행,표준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93008" y="2034540"/>
            <a:ext cx="9601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502152" y="2043684"/>
            <a:ext cx="9418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C3C3C"/>
                </a:solidFill>
                <a:latin typeface="Malgun Gothic"/>
              </a:rPr>
              <a:t>분석/설계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453128" y="2034540"/>
            <a:ext cx="37033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462272" y="2043684"/>
            <a:ext cx="3685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r>
              <a:rPr sz="890" b="1">
                <a:solidFill>
                  <a:srgbClr val="1F57A2"/>
                </a:solidFill>
                <a:latin typeface="Malgun Gothic"/>
              </a:rPr>
              <a:t>통합아키텍처 Realize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56448" y="2034540"/>
            <a:ext cx="246888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165592" y="2043684"/>
            <a:ext cx="24505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10625328" y="2034540"/>
            <a:ext cx="109728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634472" y="2043684"/>
            <a:ext cx="10789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292608" y="2276856"/>
            <a:ext cx="5029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01752" y="2286000"/>
            <a:ext cx="4846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C3C3C"/>
                </a:solidFill>
                <a:latin typeface="Malgun Gothic"/>
              </a:rPr>
              <a:t>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95528" y="2276856"/>
            <a:ext cx="14173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04672" y="2286000"/>
            <a:ext cx="1399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780" b="0">
                <a:solidFill>
                  <a:srgbClr val="3C3C3C"/>
                </a:solidFill>
                <a:latin typeface="Malgun Gothic"/>
              </a:rPr>
              <a:t>차세대 수행 단계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212848" y="2276856"/>
            <a:ext cx="45720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221992" y="2286000"/>
            <a:ext cx="43891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C3C3C"/>
                </a:solidFill>
                <a:latin typeface="Malgun Gothic"/>
              </a:rPr>
              <a:t>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670048" y="2276856"/>
            <a:ext cx="82296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679192" y="2286000"/>
            <a:ext cx="80467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C3C3C"/>
                </a:solidFill>
                <a:latin typeface="Malgun Gothic"/>
              </a:rPr>
              <a:t>실행,표준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493008" y="2276856"/>
            <a:ext cx="9601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502152" y="2286000"/>
            <a:ext cx="9418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C3C3C"/>
                </a:solidFill>
                <a:latin typeface="Malgun Gothic"/>
              </a:rPr>
              <a:t>분석/설계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453128" y="2276856"/>
            <a:ext cx="37033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462272" y="2286000"/>
            <a:ext cx="3685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r>
              <a:rPr sz="890" b="0">
                <a:solidFill>
                  <a:srgbClr val="3C3C3C"/>
                </a:solidFill>
                <a:latin typeface="Malgun Gothic"/>
              </a:rPr>
              <a:t>목표 실행 아키텍처 정의 고도화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156448" y="2276856"/>
            <a:ext cx="246888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165592" y="2286000"/>
            <a:ext cx="24505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10625328" y="2276856"/>
            <a:ext cx="109728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0634472" y="2286000"/>
            <a:ext cx="10789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292608" y="2519172"/>
            <a:ext cx="5029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01752" y="2528316"/>
            <a:ext cx="4846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C3C3C"/>
                </a:solidFill>
                <a:latin typeface="Malgun Gothic"/>
              </a:rPr>
              <a:t>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95528" y="2519172"/>
            <a:ext cx="14173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04672" y="2528316"/>
            <a:ext cx="1399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780" b="0">
                <a:solidFill>
                  <a:srgbClr val="3C3C3C"/>
                </a:solidFill>
                <a:latin typeface="Malgun Gothic"/>
              </a:rPr>
              <a:t>차세대 수행 단계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212848" y="2519172"/>
            <a:ext cx="45720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2221992" y="2528316"/>
            <a:ext cx="43891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C3C3C"/>
                </a:solidFill>
                <a:latin typeface="Malgun Gothic"/>
              </a:rPr>
              <a:t>4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670048" y="2519172"/>
            <a:ext cx="82296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2679192" y="2528316"/>
            <a:ext cx="80467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C3C3C"/>
                </a:solidFill>
                <a:latin typeface="Malgun Gothic"/>
              </a:rPr>
              <a:t>실행,표준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493008" y="2519172"/>
            <a:ext cx="9601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3502152" y="2528316"/>
            <a:ext cx="9418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C3C3C"/>
                </a:solidFill>
                <a:latin typeface="Malgun Gothic"/>
              </a:rPr>
              <a:t>분석/설계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453128" y="2519172"/>
            <a:ext cx="37033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4462272" y="2528316"/>
            <a:ext cx="3685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r>
              <a:rPr sz="890" b="0">
                <a:solidFill>
                  <a:srgbClr val="3C3C3C"/>
                </a:solidFill>
                <a:latin typeface="Malgun Gothic"/>
              </a:rPr>
              <a:t>논리기술 아키텍처 정의 고도화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156448" y="2519172"/>
            <a:ext cx="246888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165592" y="2528316"/>
            <a:ext cx="24505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10625328" y="2519172"/>
            <a:ext cx="109728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10634472" y="2528316"/>
            <a:ext cx="10789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292608" y="2761488"/>
            <a:ext cx="5029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301752" y="2770632"/>
            <a:ext cx="4846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C3C3C"/>
                </a:solidFill>
                <a:latin typeface="Malgun Gothic"/>
              </a:rPr>
              <a:t>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95528" y="2761488"/>
            <a:ext cx="14173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04672" y="2770632"/>
            <a:ext cx="1399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780" b="0">
                <a:solidFill>
                  <a:srgbClr val="3C3C3C"/>
                </a:solidFill>
                <a:latin typeface="Malgun Gothic"/>
              </a:rPr>
              <a:t>차세대 수행 단계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212848" y="2761488"/>
            <a:ext cx="45720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2221992" y="2770632"/>
            <a:ext cx="43891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C3C3C"/>
                </a:solidFill>
                <a:latin typeface="Malgun Gothic"/>
              </a:rPr>
              <a:t>5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670048" y="2761488"/>
            <a:ext cx="82296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2679192" y="2770632"/>
            <a:ext cx="80467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C3C3C"/>
                </a:solidFill>
                <a:latin typeface="Malgun Gothic"/>
              </a:rPr>
              <a:t>실행,표준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493008" y="2761488"/>
            <a:ext cx="9601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3502152" y="2770632"/>
            <a:ext cx="9418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C3C3C"/>
                </a:solidFill>
                <a:latin typeface="Malgun Gothic"/>
              </a:rPr>
              <a:t>분석/설계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453128" y="2761488"/>
            <a:ext cx="37033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4462272" y="2770632"/>
            <a:ext cx="3685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r>
              <a:rPr sz="919" b="0">
                <a:solidFill>
                  <a:srgbClr val="3C3C3C"/>
                </a:solidFill>
                <a:latin typeface="Malgun Gothic"/>
              </a:rPr>
              <a:t>물리기술 아키텍처 정의 고도화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156448" y="2761488"/>
            <a:ext cx="246888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8165592" y="2770632"/>
            <a:ext cx="24505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10625328" y="2761488"/>
            <a:ext cx="109728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10634472" y="2770632"/>
            <a:ext cx="10789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292608" y="3003804"/>
            <a:ext cx="5029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301752" y="3012948"/>
            <a:ext cx="4846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C3C3C"/>
                </a:solidFill>
                <a:latin typeface="Malgun Gothic"/>
              </a:rPr>
              <a:t>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95528" y="3003804"/>
            <a:ext cx="14173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804672" y="3012948"/>
            <a:ext cx="1399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780" b="0">
                <a:solidFill>
                  <a:srgbClr val="3C3C3C"/>
                </a:solidFill>
                <a:latin typeface="Malgun Gothic"/>
              </a:rPr>
              <a:t>차세대 수행 단계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212848" y="3003804"/>
            <a:ext cx="45720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2221992" y="3012948"/>
            <a:ext cx="43891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C3C3C"/>
                </a:solidFill>
                <a:latin typeface="Malgun Gothic"/>
              </a:rPr>
              <a:t>6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670048" y="3003804"/>
            <a:ext cx="82296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2679192" y="3012948"/>
            <a:ext cx="80467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C3C3C"/>
                </a:solidFill>
                <a:latin typeface="Malgun Gothic"/>
              </a:rPr>
              <a:t>실행,표준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493008" y="3003804"/>
            <a:ext cx="9601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3502152" y="3012948"/>
            <a:ext cx="9418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C3C3C"/>
                </a:solidFill>
                <a:latin typeface="Malgun Gothic"/>
              </a:rPr>
              <a:t>분석/설계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453128" y="3003804"/>
            <a:ext cx="37033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4462272" y="3012948"/>
            <a:ext cx="3685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r>
              <a:rPr sz="919" b="0">
                <a:solidFill>
                  <a:srgbClr val="3C3C3C"/>
                </a:solidFill>
                <a:latin typeface="Malgun Gothic"/>
              </a:rPr>
              <a:t>요소별 메커니즘 기술서 정의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156448" y="3003804"/>
            <a:ext cx="246888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8165592" y="3012948"/>
            <a:ext cx="24505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10625328" y="3003804"/>
            <a:ext cx="109728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10634472" y="3012948"/>
            <a:ext cx="10789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292608" y="3246120"/>
            <a:ext cx="5029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301752" y="3255264"/>
            <a:ext cx="4846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C3C3C"/>
                </a:solidFill>
                <a:latin typeface="Malgun Gothic"/>
              </a:rPr>
              <a:t>E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795528" y="3246120"/>
            <a:ext cx="14173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804672" y="3255264"/>
            <a:ext cx="1399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780" b="0">
                <a:solidFill>
                  <a:srgbClr val="3C3C3C"/>
                </a:solidFill>
                <a:latin typeface="Malgun Gothic"/>
              </a:rPr>
              <a:t>차세대 수행 단계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2212848" y="3246120"/>
            <a:ext cx="45720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2221992" y="3255264"/>
            <a:ext cx="43891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C3C3C"/>
                </a:solidFill>
                <a:latin typeface="Malgun Gothic"/>
              </a:rPr>
              <a:t>7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670048" y="3246120"/>
            <a:ext cx="82296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2679192" y="3255264"/>
            <a:ext cx="80467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C3C3C"/>
                </a:solidFill>
                <a:latin typeface="Malgun Gothic"/>
              </a:rPr>
              <a:t>실행,표준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493008" y="3246120"/>
            <a:ext cx="9601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3502152" y="3255264"/>
            <a:ext cx="9418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C3C3C"/>
                </a:solidFill>
                <a:latin typeface="Malgun Gothic"/>
              </a:rPr>
              <a:t>분석/설계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4453128" y="3246120"/>
            <a:ext cx="37033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4462272" y="3255264"/>
            <a:ext cx="3685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r>
              <a:rPr sz="890" b="0">
                <a:solidFill>
                  <a:srgbClr val="3C3C3C"/>
                </a:solidFill>
                <a:latin typeface="Malgun Gothic"/>
              </a:rPr>
              <a:t>논리데이터아키텍처 정의 고도화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8156448" y="3246120"/>
            <a:ext cx="246888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8165592" y="3255264"/>
            <a:ext cx="24505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10625328" y="3246120"/>
            <a:ext cx="109728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10634472" y="3255264"/>
            <a:ext cx="10789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292608" y="3488436"/>
            <a:ext cx="5029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301752" y="3497580"/>
            <a:ext cx="4846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C3C3C"/>
                </a:solidFill>
                <a:latin typeface="Malgun Gothic"/>
              </a:rPr>
              <a:t>E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795528" y="3488436"/>
            <a:ext cx="14173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804672" y="3497580"/>
            <a:ext cx="1399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780" b="0">
                <a:solidFill>
                  <a:srgbClr val="3C3C3C"/>
                </a:solidFill>
                <a:latin typeface="Malgun Gothic"/>
              </a:rPr>
              <a:t>차세대 수행 단계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2212848" y="3488436"/>
            <a:ext cx="45720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2221992" y="3497580"/>
            <a:ext cx="43891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C3C3C"/>
                </a:solidFill>
                <a:latin typeface="Malgun Gothic"/>
              </a:rPr>
              <a:t>8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2670048" y="3488436"/>
            <a:ext cx="82296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2679192" y="3497580"/>
            <a:ext cx="80467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C3C3C"/>
                </a:solidFill>
                <a:latin typeface="Malgun Gothic"/>
              </a:rPr>
              <a:t>실행,표준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93008" y="3488436"/>
            <a:ext cx="9601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3502152" y="3497580"/>
            <a:ext cx="9418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C3C3C"/>
                </a:solidFill>
                <a:latin typeface="Malgun Gothic"/>
              </a:rPr>
              <a:t>분석/설계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4453128" y="3488436"/>
            <a:ext cx="37033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4462272" y="3497580"/>
            <a:ext cx="3685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r>
              <a:rPr sz="890" b="0">
                <a:solidFill>
                  <a:srgbClr val="3C3C3C"/>
                </a:solidFill>
                <a:latin typeface="Malgun Gothic"/>
              </a:rPr>
              <a:t>런타임 기술 아키텍처 정의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8156448" y="3488436"/>
            <a:ext cx="246888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8165592" y="3497580"/>
            <a:ext cx="24505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148" name="Rectangle 147"/>
          <p:cNvSpPr/>
          <p:nvPr/>
        </p:nvSpPr>
        <p:spPr>
          <a:xfrm>
            <a:off x="10625328" y="3488436"/>
            <a:ext cx="109728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10634472" y="3497580"/>
            <a:ext cx="10789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292608" y="3730752"/>
            <a:ext cx="5029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301752" y="3739896"/>
            <a:ext cx="4846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C3C3C"/>
                </a:solidFill>
                <a:latin typeface="Malgun Gothic"/>
              </a:rPr>
              <a:t>E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95528" y="3730752"/>
            <a:ext cx="14173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804672" y="3739896"/>
            <a:ext cx="1399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780" b="0">
                <a:solidFill>
                  <a:srgbClr val="3C3C3C"/>
                </a:solidFill>
                <a:latin typeface="Malgun Gothic"/>
              </a:rPr>
              <a:t>차세대 수행 단계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2212848" y="3730752"/>
            <a:ext cx="45720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2221992" y="3739896"/>
            <a:ext cx="43891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C3C3C"/>
                </a:solidFill>
                <a:latin typeface="Malgun Gothic"/>
              </a:rPr>
              <a:t>9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2670048" y="3730752"/>
            <a:ext cx="82296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2679192" y="3739896"/>
            <a:ext cx="80467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C3C3C"/>
                </a:solidFill>
                <a:latin typeface="Malgun Gothic"/>
              </a:rPr>
              <a:t>실행,표준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3493008" y="3730752"/>
            <a:ext cx="9601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3502152" y="3739896"/>
            <a:ext cx="9418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C3C3C"/>
                </a:solidFill>
                <a:latin typeface="Malgun Gothic"/>
              </a:rPr>
              <a:t>분석/설계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453128" y="3730752"/>
            <a:ext cx="37033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4462272" y="3739896"/>
            <a:ext cx="3685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r>
              <a:rPr sz="919" b="1">
                <a:solidFill>
                  <a:srgbClr val="1F57A2"/>
                </a:solidFill>
                <a:latin typeface="Malgun Gothic"/>
              </a:rPr>
              <a:t>개발표준 및 가이드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8156448" y="3730752"/>
            <a:ext cx="246888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8165592" y="3739896"/>
            <a:ext cx="24505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164" name="Rectangle 163"/>
          <p:cNvSpPr/>
          <p:nvPr/>
        </p:nvSpPr>
        <p:spPr>
          <a:xfrm>
            <a:off x="10625328" y="3730752"/>
            <a:ext cx="109728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10634472" y="3739896"/>
            <a:ext cx="10789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166" name="Rectangle 165"/>
          <p:cNvSpPr/>
          <p:nvPr/>
        </p:nvSpPr>
        <p:spPr>
          <a:xfrm>
            <a:off x="292608" y="3973068"/>
            <a:ext cx="5029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301752" y="3982212"/>
            <a:ext cx="4846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C3C3C"/>
                </a:solidFill>
                <a:latin typeface="Malgun Gothic"/>
              </a:rPr>
              <a:t>E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795528" y="3973068"/>
            <a:ext cx="14173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TextBox 168"/>
          <p:cNvSpPr txBox="1"/>
          <p:nvPr/>
        </p:nvSpPr>
        <p:spPr>
          <a:xfrm>
            <a:off x="804672" y="3982212"/>
            <a:ext cx="1399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780" b="0">
                <a:solidFill>
                  <a:srgbClr val="3C3C3C"/>
                </a:solidFill>
                <a:latin typeface="Malgun Gothic"/>
              </a:rPr>
              <a:t>차세대 수행 단계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2212848" y="3973068"/>
            <a:ext cx="45720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2221992" y="3982212"/>
            <a:ext cx="43891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C3C3C"/>
                </a:solidFill>
                <a:latin typeface="Malgun Gothic"/>
              </a:rPr>
              <a:t>10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2670048" y="3973068"/>
            <a:ext cx="82296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extBox 172"/>
          <p:cNvSpPr txBox="1"/>
          <p:nvPr/>
        </p:nvSpPr>
        <p:spPr>
          <a:xfrm>
            <a:off x="2679192" y="3982212"/>
            <a:ext cx="80467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C3C3C"/>
                </a:solidFill>
                <a:latin typeface="Malgun Gothic"/>
              </a:rPr>
              <a:t>실행,표준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3493008" y="3973068"/>
            <a:ext cx="9601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3502152" y="3982212"/>
            <a:ext cx="9418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C3C3C"/>
                </a:solidFill>
                <a:latin typeface="Malgun Gothic"/>
              </a:rPr>
              <a:t>분석/설계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4453128" y="3973068"/>
            <a:ext cx="37033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TextBox 176"/>
          <p:cNvSpPr txBox="1"/>
          <p:nvPr/>
        </p:nvSpPr>
        <p:spPr>
          <a:xfrm>
            <a:off x="4462272" y="3982212"/>
            <a:ext cx="3685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r>
              <a:rPr sz="890" b="0">
                <a:solidFill>
                  <a:srgbClr val="3C3C3C"/>
                </a:solidFill>
                <a:latin typeface="Malgun Gothic"/>
              </a:rPr>
              <a:t>온라인 개발표준 및 가이드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8156448" y="3973068"/>
            <a:ext cx="246888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TextBox 178"/>
          <p:cNvSpPr txBox="1"/>
          <p:nvPr/>
        </p:nvSpPr>
        <p:spPr>
          <a:xfrm>
            <a:off x="8165592" y="3982212"/>
            <a:ext cx="24505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180" name="Rectangle 179"/>
          <p:cNvSpPr/>
          <p:nvPr/>
        </p:nvSpPr>
        <p:spPr>
          <a:xfrm>
            <a:off x="10625328" y="3973068"/>
            <a:ext cx="109728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TextBox 180"/>
          <p:cNvSpPr txBox="1"/>
          <p:nvPr/>
        </p:nvSpPr>
        <p:spPr>
          <a:xfrm>
            <a:off x="10634472" y="3982212"/>
            <a:ext cx="10789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182" name="Rectangle 181"/>
          <p:cNvSpPr/>
          <p:nvPr/>
        </p:nvSpPr>
        <p:spPr>
          <a:xfrm>
            <a:off x="292608" y="4215384"/>
            <a:ext cx="5029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TextBox 182"/>
          <p:cNvSpPr txBox="1"/>
          <p:nvPr/>
        </p:nvSpPr>
        <p:spPr>
          <a:xfrm>
            <a:off x="301752" y="4224528"/>
            <a:ext cx="4846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C3C3C"/>
                </a:solidFill>
                <a:latin typeface="Malgun Gothic"/>
              </a:rPr>
              <a:t>E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795528" y="4215384"/>
            <a:ext cx="14173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TextBox 184"/>
          <p:cNvSpPr txBox="1"/>
          <p:nvPr/>
        </p:nvSpPr>
        <p:spPr>
          <a:xfrm>
            <a:off x="804672" y="4224528"/>
            <a:ext cx="1399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780" b="0">
                <a:solidFill>
                  <a:srgbClr val="3C3C3C"/>
                </a:solidFill>
                <a:latin typeface="Malgun Gothic"/>
              </a:rPr>
              <a:t>차세대 수행 단계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2212848" y="4215384"/>
            <a:ext cx="45720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TextBox 186"/>
          <p:cNvSpPr txBox="1"/>
          <p:nvPr/>
        </p:nvSpPr>
        <p:spPr>
          <a:xfrm>
            <a:off x="2221992" y="4224528"/>
            <a:ext cx="43891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C3C3C"/>
                </a:solidFill>
                <a:latin typeface="Malgun Gothic"/>
              </a:rPr>
              <a:t>11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2670048" y="4215384"/>
            <a:ext cx="82296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TextBox 188"/>
          <p:cNvSpPr txBox="1"/>
          <p:nvPr/>
        </p:nvSpPr>
        <p:spPr>
          <a:xfrm>
            <a:off x="2679192" y="4224528"/>
            <a:ext cx="80467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C3C3C"/>
                </a:solidFill>
                <a:latin typeface="Malgun Gothic"/>
              </a:rPr>
              <a:t>실행,표준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3493008" y="4215384"/>
            <a:ext cx="9601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TextBox 190"/>
          <p:cNvSpPr txBox="1"/>
          <p:nvPr/>
        </p:nvSpPr>
        <p:spPr>
          <a:xfrm>
            <a:off x="3502152" y="4224528"/>
            <a:ext cx="9418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C3C3C"/>
                </a:solidFill>
                <a:latin typeface="Malgun Gothic"/>
              </a:rPr>
              <a:t>분석/설계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4453128" y="4215384"/>
            <a:ext cx="37033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TextBox 192"/>
          <p:cNvSpPr txBox="1"/>
          <p:nvPr/>
        </p:nvSpPr>
        <p:spPr>
          <a:xfrm>
            <a:off x="4462272" y="4224528"/>
            <a:ext cx="3685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r>
              <a:rPr sz="890" b="0">
                <a:solidFill>
                  <a:srgbClr val="3C3C3C"/>
                </a:solidFill>
                <a:latin typeface="Malgun Gothic"/>
              </a:rPr>
              <a:t>배치 개발표준 및 가이드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8156448" y="4215384"/>
            <a:ext cx="246888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TextBox 194"/>
          <p:cNvSpPr txBox="1"/>
          <p:nvPr/>
        </p:nvSpPr>
        <p:spPr>
          <a:xfrm>
            <a:off x="8165592" y="4224528"/>
            <a:ext cx="24505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196" name="Rectangle 195"/>
          <p:cNvSpPr/>
          <p:nvPr/>
        </p:nvSpPr>
        <p:spPr>
          <a:xfrm>
            <a:off x="10625328" y="4215384"/>
            <a:ext cx="109728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TextBox 196"/>
          <p:cNvSpPr txBox="1"/>
          <p:nvPr/>
        </p:nvSpPr>
        <p:spPr>
          <a:xfrm>
            <a:off x="10634472" y="4224528"/>
            <a:ext cx="10789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198" name="Rectangle 197"/>
          <p:cNvSpPr/>
          <p:nvPr/>
        </p:nvSpPr>
        <p:spPr>
          <a:xfrm>
            <a:off x="292608" y="4457700"/>
            <a:ext cx="5029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TextBox 198"/>
          <p:cNvSpPr txBox="1"/>
          <p:nvPr/>
        </p:nvSpPr>
        <p:spPr>
          <a:xfrm>
            <a:off x="301752" y="4466844"/>
            <a:ext cx="4846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C3C3C"/>
                </a:solidFill>
                <a:latin typeface="Malgun Gothic"/>
              </a:rPr>
              <a:t>E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795528" y="4457700"/>
            <a:ext cx="14173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TextBox 200"/>
          <p:cNvSpPr txBox="1"/>
          <p:nvPr/>
        </p:nvSpPr>
        <p:spPr>
          <a:xfrm>
            <a:off x="804672" y="4466844"/>
            <a:ext cx="1399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780" b="0">
                <a:solidFill>
                  <a:srgbClr val="3C3C3C"/>
                </a:solidFill>
                <a:latin typeface="Malgun Gothic"/>
              </a:rPr>
              <a:t>차세대 수행 단계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2212848" y="4457700"/>
            <a:ext cx="45720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TextBox 202"/>
          <p:cNvSpPr txBox="1"/>
          <p:nvPr/>
        </p:nvSpPr>
        <p:spPr>
          <a:xfrm>
            <a:off x="2221992" y="4466844"/>
            <a:ext cx="43891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C3C3C"/>
                </a:solidFill>
                <a:latin typeface="Malgun Gothic"/>
              </a:rPr>
              <a:t>12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2670048" y="4457700"/>
            <a:ext cx="82296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TextBox 204"/>
          <p:cNvSpPr txBox="1"/>
          <p:nvPr/>
        </p:nvSpPr>
        <p:spPr>
          <a:xfrm>
            <a:off x="2679192" y="4466844"/>
            <a:ext cx="80467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C3C3C"/>
                </a:solidFill>
                <a:latin typeface="Malgun Gothic"/>
              </a:rPr>
              <a:t>실행,표준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3493008" y="4457700"/>
            <a:ext cx="9601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TextBox 206"/>
          <p:cNvSpPr txBox="1"/>
          <p:nvPr/>
        </p:nvSpPr>
        <p:spPr>
          <a:xfrm>
            <a:off x="3502152" y="4466844"/>
            <a:ext cx="9418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C3C3C"/>
                </a:solidFill>
                <a:latin typeface="Malgun Gothic"/>
              </a:rPr>
              <a:t>분석/설계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4453128" y="4457700"/>
            <a:ext cx="37033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TextBox 208"/>
          <p:cNvSpPr txBox="1"/>
          <p:nvPr/>
        </p:nvSpPr>
        <p:spPr>
          <a:xfrm>
            <a:off x="4462272" y="4466844"/>
            <a:ext cx="3685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r>
              <a:rPr sz="919" b="0">
                <a:solidFill>
                  <a:srgbClr val="3C3C3C"/>
                </a:solidFill>
                <a:latin typeface="Malgun Gothic"/>
              </a:rPr>
              <a:t>SQL 개발 가이드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8156448" y="4457700"/>
            <a:ext cx="246888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TextBox 210"/>
          <p:cNvSpPr txBox="1"/>
          <p:nvPr/>
        </p:nvSpPr>
        <p:spPr>
          <a:xfrm>
            <a:off x="8165592" y="4466844"/>
            <a:ext cx="24505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212" name="Rectangle 211"/>
          <p:cNvSpPr/>
          <p:nvPr/>
        </p:nvSpPr>
        <p:spPr>
          <a:xfrm>
            <a:off x="10625328" y="4457700"/>
            <a:ext cx="109728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TextBox 212"/>
          <p:cNvSpPr txBox="1"/>
          <p:nvPr/>
        </p:nvSpPr>
        <p:spPr>
          <a:xfrm>
            <a:off x="10634472" y="4466844"/>
            <a:ext cx="10789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14" name="Rectangle 213"/>
          <p:cNvSpPr/>
          <p:nvPr/>
        </p:nvSpPr>
        <p:spPr>
          <a:xfrm>
            <a:off x="292608" y="4700016"/>
            <a:ext cx="5029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301752" y="4709160"/>
            <a:ext cx="4846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C3C3C"/>
                </a:solidFill>
                <a:latin typeface="Malgun Gothic"/>
              </a:rPr>
              <a:t>E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795528" y="4700016"/>
            <a:ext cx="14173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TextBox 216"/>
          <p:cNvSpPr txBox="1"/>
          <p:nvPr/>
        </p:nvSpPr>
        <p:spPr>
          <a:xfrm>
            <a:off x="804672" y="4709160"/>
            <a:ext cx="1399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780" b="0">
                <a:solidFill>
                  <a:srgbClr val="3C3C3C"/>
                </a:solidFill>
                <a:latin typeface="Malgun Gothic"/>
              </a:rPr>
              <a:t>차세대 수행 단계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2212848" y="4700016"/>
            <a:ext cx="45720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TextBox 218"/>
          <p:cNvSpPr txBox="1"/>
          <p:nvPr/>
        </p:nvSpPr>
        <p:spPr>
          <a:xfrm>
            <a:off x="2221992" y="4709160"/>
            <a:ext cx="43891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C3C3C"/>
                </a:solidFill>
                <a:latin typeface="Malgun Gothic"/>
              </a:rPr>
              <a:t>13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2670048" y="4700016"/>
            <a:ext cx="82296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TextBox 220"/>
          <p:cNvSpPr txBox="1"/>
          <p:nvPr/>
        </p:nvSpPr>
        <p:spPr>
          <a:xfrm>
            <a:off x="2679192" y="4709160"/>
            <a:ext cx="80467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C3C3C"/>
                </a:solidFill>
                <a:latin typeface="Malgun Gothic"/>
              </a:rPr>
              <a:t>실행,표준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3493008" y="4700016"/>
            <a:ext cx="9601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TextBox 222"/>
          <p:cNvSpPr txBox="1"/>
          <p:nvPr/>
        </p:nvSpPr>
        <p:spPr>
          <a:xfrm>
            <a:off x="3502152" y="4709160"/>
            <a:ext cx="9418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C3C3C"/>
                </a:solidFill>
                <a:latin typeface="Malgun Gothic"/>
              </a:rPr>
              <a:t>분석/설계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4453128" y="4700016"/>
            <a:ext cx="37033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TextBox 224"/>
          <p:cNvSpPr txBox="1"/>
          <p:nvPr/>
        </p:nvSpPr>
        <p:spPr>
          <a:xfrm>
            <a:off x="4462272" y="4709160"/>
            <a:ext cx="3685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r>
              <a:rPr sz="919" b="0">
                <a:solidFill>
                  <a:srgbClr val="3C3C3C"/>
                </a:solidFill>
                <a:latin typeface="Malgun Gothic"/>
              </a:rPr>
              <a:t>명명규칙 정의서, 기타 등등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8156448" y="4700016"/>
            <a:ext cx="246888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TextBox 226"/>
          <p:cNvSpPr txBox="1"/>
          <p:nvPr/>
        </p:nvSpPr>
        <p:spPr>
          <a:xfrm>
            <a:off x="8165592" y="4709160"/>
            <a:ext cx="24505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228" name="Rectangle 227"/>
          <p:cNvSpPr/>
          <p:nvPr/>
        </p:nvSpPr>
        <p:spPr>
          <a:xfrm>
            <a:off x="10625328" y="4700016"/>
            <a:ext cx="109728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TextBox 228"/>
          <p:cNvSpPr txBox="1"/>
          <p:nvPr/>
        </p:nvSpPr>
        <p:spPr>
          <a:xfrm>
            <a:off x="10634472" y="4709160"/>
            <a:ext cx="10789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30" name="Rectangle 229"/>
          <p:cNvSpPr/>
          <p:nvPr/>
        </p:nvSpPr>
        <p:spPr>
          <a:xfrm>
            <a:off x="292608" y="4942332"/>
            <a:ext cx="5029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TextBox 230"/>
          <p:cNvSpPr txBox="1"/>
          <p:nvPr/>
        </p:nvSpPr>
        <p:spPr>
          <a:xfrm>
            <a:off x="301752" y="4951476"/>
            <a:ext cx="4846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32" name="Rectangle 231"/>
          <p:cNvSpPr/>
          <p:nvPr/>
        </p:nvSpPr>
        <p:spPr>
          <a:xfrm>
            <a:off x="795528" y="4942332"/>
            <a:ext cx="14173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TextBox 232"/>
          <p:cNvSpPr txBox="1"/>
          <p:nvPr/>
        </p:nvSpPr>
        <p:spPr>
          <a:xfrm>
            <a:off x="804672" y="4951476"/>
            <a:ext cx="1399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34" name="Rectangle 233"/>
          <p:cNvSpPr/>
          <p:nvPr/>
        </p:nvSpPr>
        <p:spPr>
          <a:xfrm>
            <a:off x="2212848" y="4942332"/>
            <a:ext cx="45720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TextBox 234"/>
          <p:cNvSpPr txBox="1"/>
          <p:nvPr/>
        </p:nvSpPr>
        <p:spPr>
          <a:xfrm>
            <a:off x="2221992" y="4951476"/>
            <a:ext cx="43891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36" name="Rectangle 235"/>
          <p:cNvSpPr/>
          <p:nvPr/>
        </p:nvSpPr>
        <p:spPr>
          <a:xfrm>
            <a:off x="2670048" y="4942332"/>
            <a:ext cx="82296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TextBox 236"/>
          <p:cNvSpPr txBox="1"/>
          <p:nvPr/>
        </p:nvSpPr>
        <p:spPr>
          <a:xfrm>
            <a:off x="2679192" y="4951476"/>
            <a:ext cx="80467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38" name="Rectangle 237"/>
          <p:cNvSpPr/>
          <p:nvPr/>
        </p:nvSpPr>
        <p:spPr>
          <a:xfrm>
            <a:off x="3493008" y="4942332"/>
            <a:ext cx="9601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TextBox 238"/>
          <p:cNvSpPr txBox="1"/>
          <p:nvPr/>
        </p:nvSpPr>
        <p:spPr>
          <a:xfrm>
            <a:off x="3502152" y="4951476"/>
            <a:ext cx="9418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40" name="Rectangle 239"/>
          <p:cNvSpPr/>
          <p:nvPr/>
        </p:nvSpPr>
        <p:spPr>
          <a:xfrm>
            <a:off x="4453128" y="4942332"/>
            <a:ext cx="37033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TextBox 240"/>
          <p:cNvSpPr txBox="1"/>
          <p:nvPr/>
        </p:nvSpPr>
        <p:spPr>
          <a:xfrm>
            <a:off x="4462272" y="4951476"/>
            <a:ext cx="3685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242" name="Rectangle 241"/>
          <p:cNvSpPr/>
          <p:nvPr/>
        </p:nvSpPr>
        <p:spPr>
          <a:xfrm>
            <a:off x="8156448" y="4942332"/>
            <a:ext cx="246888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TextBox 242"/>
          <p:cNvSpPr txBox="1"/>
          <p:nvPr/>
        </p:nvSpPr>
        <p:spPr>
          <a:xfrm>
            <a:off x="8165592" y="4951476"/>
            <a:ext cx="24505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244" name="Rectangle 243"/>
          <p:cNvSpPr/>
          <p:nvPr/>
        </p:nvSpPr>
        <p:spPr>
          <a:xfrm>
            <a:off x="10625328" y="4942332"/>
            <a:ext cx="109728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TextBox 244"/>
          <p:cNvSpPr txBox="1"/>
          <p:nvPr/>
        </p:nvSpPr>
        <p:spPr>
          <a:xfrm>
            <a:off x="10634472" y="4951476"/>
            <a:ext cx="10789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46" name="Rectangle 245"/>
          <p:cNvSpPr/>
          <p:nvPr/>
        </p:nvSpPr>
        <p:spPr>
          <a:xfrm>
            <a:off x="292608" y="5184648"/>
            <a:ext cx="5029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TextBox 246"/>
          <p:cNvSpPr txBox="1"/>
          <p:nvPr/>
        </p:nvSpPr>
        <p:spPr>
          <a:xfrm>
            <a:off x="301752" y="5193792"/>
            <a:ext cx="4846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48" name="Rectangle 247"/>
          <p:cNvSpPr/>
          <p:nvPr/>
        </p:nvSpPr>
        <p:spPr>
          <a:xfrm>
            <a:off x="795528" y="5184648"/>
            <a:ext cx="14173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TextBox 248"/>
          <p:cNvSpPr txBox="1"/>
          <p:nvPr/>
        </p:nvSpPr>
        <p:spPr>
          <a:xfrm>
            <a:off x="804672" y="5193792"/>
            <a:ext cx="1399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50" name="Rectangle 249"/>
          <p:cNvSpPr/>
          <p:nvPr/>
        </p:nvSpPr>
        <p:spPr>
          <a:xfrm>
            <a:off x="2212848" y="5184648"/>
            <a:ext cx="45720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TextBox 250"/>
          <p:cNvSpPr txBox="1"/>
          <p:nvPr/>
        </p:nvSpPr>
        <p:spPr>
          <a:xfrm>
            <a:off x="2221992" y="5193792"/>
            <a:ext cx="43891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52" name="Rectangle 251"/>
          <p:cNvSpPr/>
          <p:nvPr/>
        </p:nvSpPr>
        <p:spPr>
          <a:xfrm>
            <a:off x="2670048" y="5184648"/>
            <a:ext cx="82296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TextBox 252"/>
          <p:cNvSpPr txBox="1"/>
          <p:nvPr/>
        </p:nvSpPr>
        <p:spPr>
          <a:xfrm>
            <a:off x="2679192" y="5193792"/>
            <a:ext cx="80467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54" name="Rectangle 253"/>
          <p:cNvSpPr/>
          <p:nvPr/>
        </p:nvSpPr>
        <p:spPr>
          <a:xfrm>
            <a:off x="3493008" y="5184648"/>
            <a:ext cx="9601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TextBox 254"/>
          <p:cNvSpPr txBox="1"/>
          <p:nvPr/>
        </p:nvSpPr>
        <p:spPr>
          <a:xfrm>
            <a:off x="3502152" y="5193792"/>
            <a:ext cx="9418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56" name="Rectangle 255"/>
          <p:cNvSpPr/>
          <p:nvPr/>
        </p:nvSpPr>
        <p:spPr>
          <a:xfrm>
            <a:off x="4453128" y="5184648"/>
            <a:ext cx="37033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TextBox 256"/>
          <p:cNvSpPr txBox="1"/>
          <p:nvPr/>
        </p:nvSpPr>
        <p:spPr>
          <a:xfrm>
            <a:off x="4462272" y="5193792"/>
            <a:ext cx="3685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258" name="Rectangle 257"/>
          <p:cNvSpPr/>
          <p:nvPr/>
        </p:nvSpPr>
        <p:spPr>
          <a:xfrm>
            <a:off x="8156448" y="5184648"/>
            <a:ext cx="246888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9" name="TextBox 258"/>
          <p:cNvSpPr txBox="1"/>
          <p:nvPr/>
        </p:nvSpPr>
        <p:spPr>
          <a:xfrm>
            <a:off x="8165592" y="5193792"/>
            <a:ext cx="24505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260" name="Rectangle 259"/>
          <p:cNvSpPr/>
          <p:nvPr/>
        </p:nvSpPr>
        <p:spPr>
          <a:xfrm>
            <a:off x="10625328" y="5184648"/>
            <a:ext cx="109728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TextBox 260"/>
          <p:cNvSpPr txBox="1"/>
          <p:nvPr/>
        </p:nvSpPr>
        <p:spPr>
          <a:xfrm>
            <a:off x="10634472" y="5193792"/>
            <a:ext cx="10789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62" name="Rectangle 261"/>
          <p:cNvSpPr/>
          <p:nvPr/>
        </p:nvSpPr>
        <p:spPr>
          <a:xfrm>
            <a:off x="292608" y="5426964"/>
            <a:ext cx="5029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TextBox 262"/>
          <p:cNvSpPr txBox="1"/>
          <p:nvPr/>
        </p:nvSpPr>
        <p:spPr>
          <a:xfrm>
            <a:off x="301752" y="5436108"/>
            <a:ext cx="4846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64" name="Rectangle 263"/>
          <p:cNvSpPr/>
          <p:nvPr/>
        </p:nvSpPr>
        <p:spPr>
          <a:xfrm>
            <a:off x="795528" y="5426964"/>
            <a:ext cx="14173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TextBox 264"/>
          <p:cNvSpPr txBox="1"/>
          <p:nvPr/>
        </p:nvSpPr>
        <p:spPr>
          <a:xfrm>
            <a:off x="804672" y="5436108"/>
            <a:ext cx="1399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66" name="Rectangle 265"/>
          <p:cNvSpPr/>
          <p:nvPr/>
        </p:nvSpPr>
        <p:spPr>
          <a:xfrm>
            <a:off x="2212848" y="5426964"/>
            <a:ext cx="45720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TextBox 266"/>
          <p:cNvSpPr txBox="1"/>
          <p:nvPr/>
        </p:nvSpPr>
        <p:spPr>
          <a:xfrm>
            <a:off x="2221992" y="5436108"/>
            <a:ext cx="43891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68" name="Rectangle 267"/>
          <p:cNvSpPr/>
          <p:nvPr/>
        </p:nvSpPr>
        <p:spPr>
          <a:xfrm>
            <a:off x="2670048" y="5426964"/>
            <a:ext cx="82296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TextBox 268"/>
          <p:cNvSpPr txBox="1"/>
          <p:nvPr/>
        </p:nvSpPr>
        <p:spPr>
          <a:xfrm>
            <a:off x="2679192" y="5436108"/>
            <a:ext cx="80467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70" name="Rectangle 269"/>
          <p:cNvSpPr/>
          <p:nvPr/>
        </p:nvSpPr>
        <p:spPr>
          <a:xfrm>
            <a:off x="3493008" y="5426964"/>
            <a:ext cx="9601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TextBox 270"/>
          <p:cNvSpPr txBox="1"/>
          <p:nvPr/>
        </p:nvSpPr>
        <p:spPr>
          <a:xfrm>
            <a:off x="3502152" y="5436108"/>
            <a:ext cx="9418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72" name="Rectangle 271"/>
          <p:cNvSpPr/>
          <p:nvPr/>
        </p:nvSpPr>
        <p:spPr>
          <a:xfrm>
            <a:off x="4453128" y="5426964"/>
            <a:ext cx="37033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3" name="TextBox 272"/>
          <p:cNvSpPr txBox="1"/>
          <p:nvPr/>
        </p:nvSpPr>
        <p:spPr>
          <a:xfrm>
            <a:off x="4462272" y="5436108"/>
            <a:ext cx="3685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274" name="Rectangle 273"/>
          <p:cNvSpPr/>
          <p:nvPr/>
        </p:nvSpPr>
        <p:spPr>
          <a:xfrm>
            <a:off x="8156448" y="5426964"/>
            <a:ext cx="246888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5" name="TextBox 274"/>
          <p:cNvSpPr txBox="1"/>
          <p:nvPr/>
        </p:nvSpPr>
        <p:spPr>
          <a:xfrm>
            <a:off x="8165592" y="5436108"/>
            <a:ext cx="24505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276" name="Rectangle 275"/>
          <p:cNvSpPr/>
          <p:nvPr/>
        </p:nvSpPr>
        <p:spPr>
          <a:xfrm>
            <a:off x="10625328" y="5426964"/>
            <a:ext cx="109728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7" name="TextBox 276"/>
          <p:cNvSpPr txBox="1"/>
          <p:nvPr/>
        </p:nvSpPr>
        <p:spPr>
          <a:xfrm>
            <a:off x="10634472" y="5436108"/>
            <a:ext cx="10789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78" name="Rectangle 277"/>
          <p:cNvSpPr/>
          <p:nvPr/>
        </p:nvSpPr>
        <p:spPr>
          <a:xfrm>
            <a:off x="292608" y="5669280"/>
            <a:ext cx="5029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9" name="TextBox 278"/>
          <p:cNvSpPr txBox="1"/>
          <p:nvPr/>
        </p:nvSpPr>
        <p:spPr>
          <a:xfrm>
            <a:off x="301752" y="5678424"/>
            <a:ext cx="4846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80" name="Rectangle 279"/>
          <p:cNvSpPr/>
          <p:nvPr/>
        </p:nvSpPr>
        <p:spPr>
          <a:xfrm>
            <a:off x="795528" y="5669280"/>
            <a:ext cx="14173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1" name="TextBox 280"/>
          <p:cNvSpPr txBox="1"/>
          <p:nvPr/>
        </p:nvSpPr>
        <p:spPr>
          <a:xfrm>
            <a:off x="804672" y="5678424"/>
            <a:ext cx="1399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82" name="Rectangle 281"/>
          <p:cNvSpPr/>
          <p:nvPr/>
        </p:nvSpPr>
        <p:spPr>
          <a:xfrm>
            <a:off x="2212848" y="5669280"/>
            <a:ext cx="45720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3" name="TextBox 282"/>
          <p:cNvSpPr txBox="1"/>
          <p:nvPr/>
        </p:nvSpPr>
        <p:spPr>
          <a:xfrm>
            <a:off x="2221992" y="5678424"/>
            <a:ext cx="43891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84" name="Rectangle 283"/>
          <p:cNvSpPr/>
          <p:nvPr/>
        </p:nvSpPr>
        <p:spPr>
          <a:xfrm>
            <a:off x="2670048" y="5669280"/>
            <a:ext cx="82296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TextBox 284"/>
          <p:cNvSpPr txBox="1"/>
          <p:nvPr/>
        </p:nvSpPr>
        <p:spPr>
          <a:xfrm>
            <a:off x="2679192" y="5678424"/>
            <a:ext cx="80467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86" name="Rectangle 285"/>
          <p:cNvSpPr/>
          <p:nvPr/>
        </p:nvSpPr>
        <p:spPr>
          <a:xfrm>
            <a:off x="3493008" y="5669280"/>
            <a:ext cx="9601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7" name="TextBox 286"/>
          <p:cNvSpPr txBox="1"/>
          <p:nvPr/>
        </p:nvSpPr>
        <p:spPr>
          <a:xfrm>
            <a:off x="3502152" y="5678424"/>
            <a:ext cx="9418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88" name="Rectangle 287"/>
          <p:cNvSpPr/>
          <p:nvPr/>
        </p:nvSpPr>
        <p:spPr>
          <a:xfrm>
            <a:off x="4453128" y="5669280"/>
            <a:ext cx="37033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TextBox 288"/>
          <p:cNvSpPr txBox="1"/>
          <p:nvPr/>
        </p:nvSpPr>
        <p:spPr>
          <a:xfrm>
            <a:off x="4462272" y="5678424"/>
            <a:ext cx="3685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290" name="Rectangle 289"/>
          <p:cNvSpPr/>
          <p:nvPr/>
        </p:nvSpPr>
        <p:spPr>
          <a:xfrm>
            <a:off x="8156448" y="5669280"/>
            <a:ext cx="246888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1" name="TextBox 290"/>
          <p:cNvSpPr txBox="1"/>
          <p:nvPr/>
        </p:nvSpPr>
        <p:spPr>
          <a:xfrm>
            <a:off x="8165592" y="5678424"/>
            <a:ext cx="24505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292" name="Rectangle 291"/>
          <p:cNvSpPr/>
          <p:nvPr/>
        </p:nvSpPr>
        <p:spPr>
          <a:xfrm>
            <a:off x="10625328" y="5669280"/>
            <a:ext cx="109728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TextBox 292"/>
          <p:cNvSpPr txBox="1"/>
          <p:nvPr/>
        </p:nvSpPr>
        <p:spPr>
          <a:xfrm>
            <a:off x="10634472" y="5678424"/>
            <a:ext cx="10789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94" name="Rectangle 293"/>
          <p:cNvSpPr/>
          <p:nvPr/>
        </p:nvSpPr>
        <p:spPr>
          <a:xfrm>
            <a:off x="292608" y="5911596"/>
            <a:ext cx="5029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5" name="TextBox 294"/>
          <p:cNvSpPr txBox="1"/>
          <p:nvPr/>
        </p:nvSpPr>
        <p:spPr>
          <a:xfrm>
            <a:off x="301752" y="5920740"/>
            <a:ext cx="4846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96" name="Rectangle 295"/>
          <p:cNvSpPr/>
          <p:nvPr/>
        </p:nvSpPr>
        <p:spPr>
          <a:xfrm>
            <a:off x="795528" y="5911596"/>
            <a:ext cx="14173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7" name="TextBox 296"/>
          <p:cNvSpPr txBox="1"/>
          <p:nvPr/>
        </p:nvSpPr>
        <p:spPr>
          <a:xfrm>
            <a:off x="804672" y="5920740"/>
            <a:ext cx="1399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98" name="Rectangle 297"/>
          <p:cNvSpPr/>
          <p:nvPr/>
        </p:nvSpPr>
        <p:spPr>
          <a:xfrm>
            <a:off x="2212848" y="5911596"/>
            <a:ext cx="45720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9" name="TextBox 298"/>
          <p:cNvSpPr txBox="1"/>
          <p:nvPr/>
        </p:nvSpPr>
        <p:spPr>
          <a:xfrm>
            <a:off x="2221992" y="5920740"/>
            <a:ext cx="43891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300" name="Rectangle 299"/>
          <p:cNvSpPr/>
          <p:nvPr/>
        </p:nvSpPr>
        <p:spPr>
          <a:xfrm>
            <a:off x="2670048" y="5911596"/>
            <a:ext cx="82296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1" name="TextBox 300"/>
          <p:cNvSpPr txBox="1"/>
          <p:nvPr/>
        </p:nvSpPr>
        <p:spPr>
          <a:xfrm>
            <a:off x="2679192" y="5920740"/>
            <a:ext cx="80467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302" name="Rectangle 301"/>
          <p:cNvSpPr/>
          <p:nvPr/>
        </p:nvSpPr>
        <p:spPr>
          <a:xfrm>
            <a:off x="3493008" y="5911596"/>
            <a:ext cx="9601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TextBox 302"/>
          <p:cNvSpPr txBox="1"/>
          <p:nvPr/>
        </p:nvSpPr>
        <p:spPr>
          <a:xfrm>
            <a:off x="3502152" y="5920740"/>
            <a:ext cx="9418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304" name="Rectangle 303"/>
          <p:cNvSpPr/>
          <p:nvPr/>
        </p:nvSpPr>
        <p:spPr>
          <a:xfrm>
            <a:off x="4453128" y="5911596"/>
            <a:ext cx="37033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5" name="TextBox 304"/>
          <p:cNvSpPr txBox="1"/>
          <p:nvPr/>
        </p:nvSpPr>
        <p:spPr>
          <a:xfrm>
            <a:off x="4462272" y="5920740"/>
            <a:ext cx="3685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306" name="Rectangle 305"/>
          <p:cNvSpPr/>
          <p:nvPr/>
        </p:nvSpPr>
        <p:spPr>
          <a:xfrm>
            <a:off x="8156448" y="5911596"/>
            <a:ext cx="246888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7" name="TextBox 306"/>
          <p:cNvSpPr txBox="1"/>
          <p:nvPr/>
        </p:nvSpPr>
        <p:spPr>
          <a:xfrm>
            <a:off x="8165592" y="5920740"/>
            <a:ext cx="24505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308" name="Rectangle 307"/>
          <p:cNvSpPr/>
          <p:nvPr/>
        </p:nvSpPr>
        <p:spPr>
          <a:xfrm>
            <a:off x="10625328" y="5911596"/>
            <a:ext cx="109728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TextBox 308"/>
          <p:cNvSpPr txBox="1"/>
          <p:nvPr/>
        </p:nvSpPr>
        <p:spPr>
          <a:xfrm>
            <a:off x="10634472" y="5920740"/>
            <a:ext cx="10789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cxnSp>
        <p:nvCxnSpPr>
          <p:cNvPr id="310" name="Connector 309"/>
          <p:cNvCxnSpPr/>
          <p:nvPr/>
        </p:nvCxnSpPr>
        <p:spPr>
          <a:xfrm>
            <a:off x="292608" y="2761488"/>
            <a:ext cx="11430000" cy="0"/>
          </a:xfrm>
          <a:prstGeom prst="line">
            <a:avLst/>
          </a:prstGeom>
          <a:ln w="1397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>
            <a:off x="292608" y="3973068"/>
            <a:ext cx="11430000" cy="0"/>
          </a:xfrm>
          <a:prstGeom prst="line">
            <a:avLst/>
          </a:prstGeom>
          <a:ln w="1143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>
            <a:off x="292608" y="4942332"/>
            <a:ext cx="11430000" cy="0"/>
          </a:xfrm>
          <a:prstGeom prst="line">
            <a:avLst/>
          </a:prstGeom>
          <a:ln w="1143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>
            <a:off x="182880" y="6583680"/>
            <a:ext cx="11658600" cy="0"/>
          </a:xfrm>
          <a:prstGeom prst="line">
            <a:avLst/>
          </a:prstGeom>
          <a:ln w="7620">
            <a:solidFill>
              <a:srgbClr val="828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4" name="TextBox 313"/>
          <p:cNvSpPr txBox="1"/>
          <p:nvPr/>
        </p:nvSpPr>
        <p:spPr>
          <a:xfrm>
            <a:off x="5989320" y="6601968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3C3C3C"/>
                </a:solidFill>
                <a:latin typeface="Malgun Gothic"/>
              </a:rPr>
              <a:t>13</a:t>
            </a:r>
          </a:p>
        </p:txBody>
      </p:sp>
      <p:sp>
        <p:nvSpPr>
          <p:cNvPr id="315" name="Isosceles Triangle 314"/>
          <p:cNvSpPr/>
          <p:nvPr/>
        </p:nvSpPr>
        <p:spPr>
          <a:xfrm rot="10800000">
            <a:off x="27432" y="6537960"/>
            <a:ext cx="118872" cy="164592"/>
          </a:xfrm>
          <a:prstGeom prst="triangle">
            <a:avLst/>
          </a:prstGeom>
          <a:solidFill>
            <a:srgbClr val="EC9A34"/>
          </a:solidFill>
          <a:ln>
            <a:solidFill>
              <a:srgbClr val="EC9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6" name="Oval 315"/>
          <p:cNvSpPr/>
          <p:nvPr/>
        </p:nvSpPr>
        <p:spPr>
          <a:xfrm>
            <a:off x="118872" y="6574536"/>
            <a:ext cx="45720" cy="45720"/>
          </a:xfrm>
          <a:prstGeom prst="ellipse">
            <a:avLst/>
          </a:prstGeom>
          <a:solidFill>
            <a:srgbClr val="EC9A34"/>
          </a:solidFill>
          <a:ln>
            <a:solidFill>
              <a:srgbClr val="EC9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7" name="TextBox 316"/>
          <p:cNvSpPr txBox="1"/>
          <p:nvPr/>
        </p:nvSpPr>
        <p:spPr>
          <a:xfrm>
            <a:off x="182880" y="6510528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>
                <a:solidFill>
                  <a:srgbClr val="26854A"/>
                </a:solidFill>
                <a:latin typeface="Malgun Gothic"/>
              </a:rPr>
              <a:t>농협중앙회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032" y="109728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100" b="1">
                <a:solidFill>
                  <a:srgbClr val="262626"/>
                </a:solidFill>
                <a:latin typeface="Malgun Gothic"/>
              </a:rPr>
              <a:t>(Backup) 사전분석 – 아키텍처 수립 – 아키텍처 수행 타스크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64592" y="621792"/>
            <a:ext cx="11676888" cy="0"/>
          </a:xfrm>
          <a:prstGeom prst="line">
            <a:avLst/>
          </a:prstGeom>
          <a:ln w="190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84048" y="768096"/>
            <a:ext cx="11109960" cy="45720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sz="1800">
                <a:solidFill>
                  <a:srgbClr val="373737"/>
                </a:solidFill>
                <a:latin typeface="Malgun Gothic"/>
              </a:rPr>
              <a:t>아키텍처 추진전략에 기반하여 아키텍처 수립, 아키텍처 확립, 아키텍처 고도화 평가 이행 단계로 구분하고 각 단계별 주요 수행 TASK는 다음으로 진행한다.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" y="1481328"/>
            <a:ext cx="11430000" cy="4672584"/>
          </a:xfrm>
          <a:prstGeom prst="rect">
            <a:avLst/>
          </a:prstGeom>
          <a:solidFill>
            <a:srgbClr val="FAFAFA"/>
          </a:solidFill>
          <a:ln w="1270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92608" y="1481328"/>
            <a:ext cx="502920" cy="310896"/>
          </a:xfrm>
          <a:prstGeom prst="rect">
            <a:avLst/>
          </a:prstGeom>
          <a:solidFill>
            <a:srgbClr val="232A27"/>
          </a:solidFill>
          <a:ln w="1016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92608" y="1499616"/>
            <a:ext cx="50292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1200" b="1">
                <a:solidFill>
                  <a:srgbClr val="F0F0F0"/>
                </a:solidFill>
                <a:latin typeface="Malgun Gothic"/>
              </a:rPr>
              <a:t>INDEX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8" y="1481328"/>
            <a:ext cx="1417320" cy="310896"/>
          </a:xfrm>
          <a:prstGeom prst="rect">
            <a:avLst/>
          </a:prstGeom>
          <a:solidFill>
            <a:srgbClr val="232A27"/>
          </a:solidFill>
          <a:ln w="1016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1499616"/>
            <a:ext cx="141732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1200" b="1">
                <a:solidFill>
                  <a:srgbClr val="F0F0F0"/>
                </a:solidFill>
                <a:latin typeface="Malgun Gothic"/>
              </a:rPr>
              <a:t>구분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12848" y="1481328"/>
            <a:ext cx="457200" cy="310896"/>
          </a:xfrm>
          <a:prstGeom prst="rect">
            <a:avLst/>
          </a:prstGeom>
          <a:solidFill>
            <a:srgbClr val="232A27"/>
          </a:solidFill>
          <a:ln w="1016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12848" y="1499616"/>
            <a:ext cx="45720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1200" b="1">
                <a:solidFill>
                  <a:srgbClr val="F0F0F0"/>
                </a:solidFill>
                <a:latin typeface="Malgun Gothic"/>
              </a:rPr>
              <a:t>차수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70048" y="1481328"/>
            <a:ext cx="822960" cy="310896"/>
          </a:xfrm>
          <a:prstGeom prst="rect">
            <a:avLst/>
          </a:prstGeom>
          <a:solidFill>
            <a:srgbClr val="232A27"/>
          </a:solidFill>
          <a:ln w="1016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70048" y="1499616"/>
            <a:ext cx="82296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1200" b="1">
                <a:solidFill>
                  <a:srgbClr val="F0F0F0"/>
                </a:solidFill>
                <a:latin typeface="Malgun Gothic"/>
              </a:rPr>
              <a:t>수행성격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93008" y="1481328"/>
            <a:ext cx="960120" cy="310896"/>
          </a:xfrm>
          <a:prstGeom prst="rect">
            <a:avLst/>
          </a:prstGeom>
          <a:solidFill>
            <a:srgbClr val="232A27"/>
          </a:solidFill>
          <a:ln w="1016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93008" y="1499616"/>
            <a:ext cx="96012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1200" b="1">
                <a:solidFill>
                  <a:srgbClr val="F0F0F0"/>
                </a:solidFill>
                <a:latin typeface="Malgun Gothic"/>
              </a:rPr>
              <a:t>마일스톤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53128" y="1481328"/>
            <a:ext cx="3703320" cy="310896"/>
          </a:xfrm>
          <a:prstGeom prst="rect">
            <a:avLst/>
          </a:prstGeom>
          <a:solidFill>
            <a:srgbClr val="232A27"/>
          </a:solidFill>
          <a:ln w="1016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53128" y="1499616"/>
            <a:ext cx="370332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1200" b="1">
                <a:solidFill>
                  <a:srgbClr val="F0F0F0"/>
                </a:solidFill>
                <a:latin typeface="Malgun Gothic"/>
              </a:rPr>
              <a:t>TASK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56448" y="1481328"/>
            <a:ext cx="2468880" cy="310896"/>
          </a:xfrm>
          <a:prstGeom prst="rect">
            <a:avLst/>
          </a:prstGeom>
          <a:solidFill>
            <a:srgbClr val="232A27"/>
          </a:solidFill>
          <a:ln w="1016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56448" y="1499616"/>
            <a:ext cx="246888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1200" b="1">
                <a:solidFill>
                  <a:srgbClr val="F0F0F0"/>
                </a:solidFill>
                <a:latin typeface="Malgun Gothic"/>
              </a:rPr>
              <a:t>추적내용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625328" y="1481328"/>
            <a:ext cx="1097280" cy="310896"/>
          </a:xfrm>
          <a:prstGeom prst="rect">
            <a:avLst/>
          </a:prstGeom>
          <a:solidFill>
            <a:srgbClr val="232A27"/>
          </a:solidFill>
          <a:ln w="1016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25328" y="1499616"/>
            <a:ext cx="109728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1200" b="1">
                <a:solidFill>
                  <a:srgbClr val="F0F0F0"/>
                </a:solidFill>
                <a:latin typeface="Malgun Gothic"/>
              </a:rPr>
              <a:t>비고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" y="1792224"/>
            <a:ext cx="5029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01752" y="1801368"/>
            <a:ext cx="4846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C3C3C"/>
                </a:solidFill>
                <a:latin typeface="Malgun Gothic"/>
              </a:rPr>
              <a:t>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528" y="1792224"/>
            <a:ext cx="14173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2" y="1801368"/>
            <a:ext cx="1399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780" b="0">
                <a:solidFill>
                  <a:srgbClr val="3C3C3C"/>
                </a:solidFill>
                <a:latin typeface="Malgun Gothic"/>
              </a:rPr>
              <a:t>차세대 수행 단계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12848" y="1792224"/>
            <a:ext cx="45720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221992" y="1801368"/>
            <a:ext cx="43891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C3C3C"/>
                </a:solidFill>
                <a:latin typeface="Malgun Gothic"/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70048" y="1792224"/>
            <a:ext cx="82296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679192" y="1801368"/>
            <a:ext cx="80467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C3C3C"/>
                </a:solidFill>
                <a:latin typeface="Malgun Gothic"/>
              </a:rPr>
              <a:t>실행,표준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93008" y="1792224"/>
            <a:ext cx="9601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502152" y="1801368"/>
            <a:ext cx="9418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C3C3C"/>
                </a:solidFill>
                <a:latin typeface="Malgun Gothic"/>
              </a:rPr>
              <a:t>분석/설계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53128" y="1792224"/>
            <a:ext cx="37033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462272" y="1801368"/>
            <a:ext cx="3685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r>
              <a:rPr sz="890" b="1">
                <a:solidFill>
                  <a:srgbClr val="1F57A2"/>
                </a:solidFill>
                <a:latin typeface="Malgun Gothic"/>
              </a:rPr>
              <a:t>아키텍처 확립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56448" y="1792224"/>
            <a:ext cx="246888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165592" y="1801368"/>
            <a:ext cx="24505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0625328" y="1792224"/>
            <a:ext cx="109728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634472" y="1801368"/>
            <a:ext cx="10789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292608" y="2034540"/>
            <a:ext cx="5029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01752" y="2043684"/>
            <a:ext cx="4846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C3C3C"/>
                </a:solidFill>
                <a:latin typeface="Malgun Gothic"/>
              </a:rPr>
              <a:t>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5528" y="2034540"/>
            <a:ext cx="14173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04672" y="2043684"/>
            <a:ext cx="1399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780" b="0">
                <a:solidFill>
                  <a:srgbClr val="3C3C3C"/>
                </a:solidFill>
                <a:latin typeface="Malgun Gothic"/>
              </a:rPr>
              <a:t>차세대 수행 단계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12848" y="2034540"/>
            <a:ext cx="45720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221992" y="2043684"/>
            <a:ext cx="43891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C3C3C"/>
                </a:solidFill>
                <a:latin typeface="Malgun Gothic"/>
              </a:rPr>
              <a:t>14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70048" y="2034540"/>
            <a:ext cx="82296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679192" y="2043684"/>
            <a:ext cx="80467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C3C3C"/>
                </a:solidFill>
                <a:latin typeface="Malgun Gothic"/>
              </a:rPr>
              <a:t>평가,구축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93008" y="2034540"/>
            <a:ext cx="9601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502152" y="2043684"/>
            <a:ext cx="9418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C3C3C"/>
                </a:solidFill>
                <a:latin typeface="Malgun Gothic"/>
              </a:rPr>
              <a:t>분석/설계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453128" y="2034540"/>
            <a:ext cx="37033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462272" y="2043684"/>
            <a:ext cx="3685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r>
              <a:rPr sz="890" b="1">
                <a:solidFill>
                  <a:srgbClr val="1F57A2"/>
                </a:solidFill>
                <a:latin typeface="Malgun Gothic"/>
              </a:rPr>
              <a:t>아키텍처 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56448" y="2034540"/>
            <a:ext cx="246888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165592" y="2043684"/>
            <a:ext cx="24505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10625328" y="2034540"/>
            <a:ext cx="109728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634472" y="2043684"/>
            <a:ext cx="10789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292608" y="2276856"/>
            <a:ext cx="5029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01752" y="2286000"/>
            <a:ext cx="4846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C3C3C"/>
                </a:solidFill>
                <a:latin typeface="Malgun Gothic"/>
              </a:rPr>
              <a:t>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95528" y="2276856"/>
            <a:ext cx="14173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04672" y="2286000"/>
            <a:ext cx="1399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780" b="0">
                <a:solidFill>
                  <a:srgbClr val="3C3C3C"/>
                </a:solidFill>
                <a:latin typeface="Malgun Gothic"/>
              </a:rPr>
              <a:t>차세대 수행 단계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212848" y="2276856"/>
            <a:ext cx="45720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221992" y="2286000"/>
            <a:ext cx="43891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C3C3C"/>
                </a:solidFill>
                <a:latin typeface="Malgun Gothic"/>
              </a:rPr>
              <a:t>15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670048" y="2276856"/>
            <a:ext cx="82296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679192" y="2286000"/>
            <a:ext cx="80467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C3C3C"/>
                </a:solidFill>
                <a:latin typeface="Malgun Gothic"/>
              </a:rPr>
              <a:t>평가,구축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493008" y="2276856"/>
            <a:ext cx="9601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502152" y="2286000"/>
            <a:ext cx="9418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C3C3C"/>
                </a:solidFill>
                <a:latin typeface="Malgun Gothic"/>
              </a:rPr>
              <a:t>분석/설계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453128" y="2276856"/>
            <a:ext cx="37033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462272" y="2286000"/>
            <a:ext cx="3685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r>
              <a:rPr sz="890" b="0">
                <a:solidFill>
                  <a:srgbClr val="3C3C3C"/>
                </a:solidFill>
                <a:latin typeface="Malgun Gothic"/>
              </a:rPr>
              <a:t>선도개발 수행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156448" y="2276856"/>
            <a:ext cx="246888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165592" y="2286000"/>
            <a:ext cx="24505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10625328" y="2276856"/>
            <a:ext cx="109728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0634472" y="2286000"/>
            <a:ext cx="10789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292608" y="2519172"/>
            <a:ext cx="5029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01752" y="2528316"/>
            <a:ext cx="4846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C3C3C"/>
                </a:solidFill>
                <a:latin typeface="Malgun Gothic"/>
              </a:rPr>
              <a:t>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95528" y="2519172"/>
            <a:ext cx="14173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04672" y="2528316"/>
            <a:ext cx="1399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780" b="0">
                <a:solidFill>
                  <a:srgbClr val="3C3C3C"/>
                </a:solidFill>
                <a:latin typeface="Malgun Gothic"/>
              </a:rPr>
              <a:t>차세대 수행 단계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212848" y="2519172"/>
            <a:ext cx="45720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2221992" y="2528316"/>
            <a:ext cx="43891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C3C3C"/>
                </a:solidFill>
                <a:latin typeface="Malgun Gothic"/>
              </a:rPr>
              <a:t>16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670048" y="2519172"/>
            <a:ext cx="82296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2679192" y="2528316"/>
            <a:ext cx="80467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C3C3C"/>
                </a:solidFill>
                <a:latin typeface="Malgun Gothic"/>
              </a:rPr>
              <a:t>평가,구축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493008" y="2519172"/>
            <a:ext cx="9601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3502152" y="2528316"/>
            <a:ext cx="9418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r>
              <a:rPr sz="880" b="0">
                <a:solidFill>
                  <a:srgbClr val="3C3C3C"/>
                </a:solidFill>
                <a:latin typeface="Malgun Gothic"/>
              </a:rPr>
              <a:t>분석/설계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453128" y="2519172"/>
            <a:ext cx="37033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4462272" y="2528316"/>
            <a:ext cx="3685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r>
              <a:rPr sz="890" b="0">
                <a:solidFill>
                  <a:srgbClr val="3C3C3C"/>
                </a:solidFill>
                <a:latin typeface="Malgun Gothic"/>
              </a:rPr>
              <a:t>아키텍처 교육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156448" y="2519172"/>
            <a:ext cx="246888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165592" y="2528316"/>
            <a:ext cx="24505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10625328" y="2519172"/>
            <a:ext cx="109728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10634472" y="2528316"/>
            <a:ext cx="10789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292608" y="2761488"/>
            <a:ext cx="5029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301752" y="2770632"/>
            <a:ext cx="4846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795528" y="2761488"/>
            <a:ext cx="14173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04672" y="2770632"/>
            <a:ext cx="1399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2212848" y="2761488"/>
            <a:ext cx="45720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2221992" y="2770632"/>
            <a:ext cx="43891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2670048" y="2761488"/>
            <a:ext cx="82296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2679192" y="2770632"/>
            <a:ext cx="80467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3493008" y="2761488"/>
            <a:ext cx="9601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3502152" y="2770632"/>
            <a:ext cx="9418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4453128" y="2761488"/>
            <a:ext cx="37033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4462272" y="2770632"/>
            <a:ext cx="3685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8156448" y="2761488"/>
            <a:ext cx="246888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8165592" y="2770632"/>
            <a:ext cx="24505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10625328" y="2761488"/>
            <a:ext cx="109728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10634472" y="2770632"/>
            <a:ext cx="10789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292608" y="3003804"/>
            <a:ext cx="5029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301752" y="3012948"/>
            <a:ext cx="4846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795528" y="3003804"/>
            <a:ext cx="14173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804672" y="3012948"/>
            <a:ext cx="1399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2212848" y="3003804"/>
            <a:ext cx="45720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2221992" y="3012948"/>
            <a:ext cx="43891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2670048" y="3003804"/>
            <a:ext cx="82296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2679192" y="3012948"/>
            <a:ext cx="80467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3493008" y="3003804"/>
            <a:ext cx="9601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3502152" y="3012948"/>
            <a:ext cx="9418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4453128" y="3003804"/>
            <a:ext cx="37033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4462272" y="3012948"/>
            <a:ext cx="3685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8156448" y="3003804"/>
            <a:ext cx="246888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8165592" y="3012948"/>
            <a:ext cx="24505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10625328" y="3003804"/>
            <a:ext cx="109728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10634472" y="3012948"/>
            <a:ext cx="10789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292608" y="3246120"/>
            <a:ext cx="5029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301752" y="3255264"/>
            <a:ext cx="4846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795528" y="3246120"/>
            <a:ext cx="14173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804672" y="3255264"/>
            <a:ext cx="1399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2212848" y="3246120"/>
            <a:ext cx="45720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2221992" y="3255264"/>
            <a:ext cx="43891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2670048" y="3246120"/>
            <a:ext cx="82296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2679192" y="3255264"/>
            <a:ext cx="80467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3493008" y="3246120"/>
            <a:ext cx="9601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3502152" y="3255264"/>
            <a:ext cx="9418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4453128" y="3246120"/>
            <a:ext cx="37033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4462272" y="3255264"/>
            <a:ext cx="3685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8156448" y="3246120"/>
            <a:ext cx="246888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8165592" y="3255264"/>
            <a:ext cx="24505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10625328" y="3246120"/>
            <a:ext cx="109728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10634472" y="3255264"/>
            <a:ext cx="10789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292608" y="3488436"/>
            <a:ext cx="5029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301752" y="3497580"/>
            <a:ext cx="4846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795528" y="3488436"/>
            <a:ext cx="14173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804672" y="3497580"/>
            <a:ext cx="1399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2212848" y="3488436"/>
            <a:ext cx="45720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2221992" y="3497580"/>
            <a:ext cx="43891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2670048" y="3488436"/>
            <a:ext cx="82296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2679192" y="3497580"/>
            <a:ext cx="80467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3493008" y="3488436"/>
            <a:ext cx="9601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3502152" y="3497580"/>
            <a:ext cx="9418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144" name="Rectangle 143"/>
          <p:cNvSpPr/>
          <p:nvPr/>
        </p:nvSpPr>
        <p:spPr>
          <a:xfrm>
            <a:off x="4453128" y="3488436"/>
            <a:ext cx="37033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4462272" y="3497580"/>
            <a:ext cx="3685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146" name="Rectangle 145"/>
          <p:cNvSpPr/>
          <p:nvPr/>
        </p:nvSpPr>
        <p:spPr>
          <a:xfrm>
            <a:off x="8156448" y="3488436"/>
            <a:ext cx="246888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8165592" y="3497580"/>
            <a:ext cx="24505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148" name="Rectangle 147"/>
          <p:cNvSpPr/>
          <p:nvPr/>
        </p:nvSpPr>
        <p:spPr>
          <a:xfrm>
            <a:off x="10625328" y="3488436"/>
            <a:ext cx="109728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10634472" y="3497580"/>
            <a:ext cx="10789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292608" y="3730752"/>
            <a:ext cx="5029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301752" y="3739896"/>
            <a:ext cx="4846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795528" y="3730752"/>
            <a:ext cx="14173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804672" y="3739896"/>
            <a:ext cx="1399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154" name="Rectangle 153"/>
          <p:cNvSpPr/>
          <p:nvPr/>
        </p:nvSpPr>
        <p:spPr>
          <a:xfrm>
            <a:off x="2212848" y="3730752"/>
            <a:ext cx="45720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2221992" y="3739896"/>
            <a:ext cx="43891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2670048" y="3730752"/>
            <a:ext cx="82296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2679192" y="3739896"/>
            <a:ext cx="80467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158" name="Rectangle 157"/>
          <p:cNvSpPr/>
          <p:nvPr/>
        </p:nvSpPr>
        <p:spPr>
          <a:xfrm>
            <a:off x="3493008" y="3730752"/>
            <a:ext cx="9601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3502152" y="3739896"/>
            <a:ext cx="9418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160" name="Rectangle 159"/>
          <p:cNvSpPr/>
          <p:nvPr/>
        </p:nvSpPr>
        <p:spPr>
          <a:xfrm>
            <a:off x="4453128" y="3730752"/>
            <a:ext cx="37033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4462272" y="3739896"/>
            <a:ext cx="3685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162" name="Rectangle 161"/>
          <p:cNvSpPr/>
          <p:nvPr/>
        </p:nvSpPr>
        <p:spPr>
          <a:xfrm>
            <a:off x="8156448" y="3730752"/>
            <a:ext cx="246888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8165592" y="3739896"/>
            <a:ext cx="24505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164" name="Rectangle 163"/>
          <p:cNvSpPr/>
          <p:nvPr/>
        </p:nvSpPr>
        <p:spPr>
          <a:xfrm>
            <a:off x="10625328" y="3730752"/>
            <a:ext cx="109728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10634472" y="3739896"/>
            <a:ext cx="10789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166" name="Rectangle 165"/>
          <p:cNvSpPr/>
          <p:nvPr/>
        </p:nvSpPr>
        <p:spPr>
          <a:xfrm>
            <a:off x="292608" y="3973068"/>
            <a:ext cx="5029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301752" y="3982212"/>
            <a:ext cx="4846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168" name="Rectangle 167"/>
          <p:cNvSpPr/>
          <p:nvPr/>
        </p:nvSpPr>
        <p:spPr>
          <a:xfrm>
            <a:off x="795528" y="3973068"/>
            <a:ext cx="14173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TextBox 168"/>
          <p:cNvSpPr txBox="1"/>
          <p:nvPr/>
        </p:nvSpPr>
        <p:spPr>
          <a:xfrm>
            <a:off x="804672" y="3982212"/>
            <a:ext cx="1399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170" name="Rectangle 169"/>
          <p:cNvSpPr/>
          <p:nvPr/>
        </p:nvSpPr>
        <p:spPr>
          <a:xfrm>
            <a:off x="2212848" y="3973068"/>
            <a:ext cx="45720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2221992" y="3982212"/>
            <a:ext cx="43891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172" name="Rectangle 171"/>
          <p:cNvSpPr/>
          <p:nvPr/>
        </p:nvSpPr>
        <p:spPr>
          <a:xfrm>
            <a:off x="2670048" y="3973068"/>
            <a:ext cx="82296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extBox 172"/>
          <p:cNvSpPr txBox="1"/>
          <p:nvPr/>
        </p:nvSpPr>
        <p:spPr>
          <a:xfrm>
            <a:off x="2679192" y="3982212"/>
            <a:ext cx="80467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174" name="Rectangle 173"/>
          <p:cNvSpPr/>
          <p:nvPr/>
        </p:nvSpPr>
        <p:spPr>
          <a:xfrm>
            <a:off x="3493008" y="3973068"/>
            <a:ext cx="9601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3502152" y="3982212"/>
            <a:ext cx="9418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176" name="Rectangle 175"/>
          <p:cNvSpPr/>
          <p:nvPr/>
        </p:nvSpPr>
        <p:spPr>
          <a:xfrm>
            <a:off x="4453128" y="3973068"/>
            <a:ext cx="37033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TextBox 176"/>
          <p:cNvSpPr txBox="1"/>
          <p:nvPr/>
        </p:nvSpPr>
        <p:spPr>
          <a:xfrm>
            <a:off x="4462272" y="3982212"/>
            <a:ext cx="3685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178" name="Rectangle 177"/>
          <p:cNvSpPr/>
          <p:nvPr/>
        </p:nvSpPr>
        <p:spPr>
          <a:xfrm>
            <a:off x="8156448" y="3973068"/>
            <a:ext cx="246888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TextBox 178"/>
          <p:cNvSpPr txBox="1"/>
          <p:nvPr/>
        </p:nvSpPr>
        <p:spPr>
          <a:xfrm>
            <a:off x="8165592" y="3982212"/>
            <a:ext cx="24505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180" name="Rectangle 179"/>
          <p:cNvSpPr/>
          <p:nvPr/>
        </p:nvSpPr>
        <p:spPr>
          <a:xfrm>
            <a:off x="10625328" y="3973068"/>
            <a:ext cx="109728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TextBox 180"/>
          <p:cNvSpPr txBox="1"/>
          <p:nvPr/>
        </p:nvSpPr>
        <p:spPr>
          <a:xfrm>
            <a:off x="10634472" y="3982212"/>
            <a:ext cx="10789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182" name="Rectangle 181"/>
          <p:cNvSpPr/>
          <p:nvPr/>
        </p:nvSpPr>
        <p:spPr>
          <a:xfrm>
            <a:off x="292608" y="4215384"/>
            <a:ext cx="5029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TextBox 182"/>
          <p:cNvSpPr txBox="1"/>
          <p:nvPr/>
        </p:nvSpPr>
        <p:spPr>
          <a:xfrm>
            <a:off x="301752" y="4224528"/>
            <a:ext cx="4846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184" name="Rectangle 183"/>
          <p:cNvSpPr/>
          <p:nvPr/>
        </p:nvSpPr>
        <p:spPr>
          <a:xfrm>
            <a:off x="795528" y="4215384"/>
            <a:ext cx="14173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TextBox 184"/>
          <p:cNvSpPr txBox="1"/>
          <p:nvPr/>
        </p:nvSpPr>
        <p:spPr>
          <a:xfrm>
            <a:off x="804672" y="4224528"/>
            <a:ext cx="1399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186" name="Rectangle 185"/>
          <p:cNvSpPr/>
          <p:nvPr/>
        </p:nvSpPr>
        <p:spPr>
          <a:xfrm>
            <a:off x="2212848" y="4215384"/>
            <a:ext cx="45720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TextBox 186"/>
          <p:cNvSpPr txBox="1"/>
          <p:nvPr/>
        </p:nvSpPr>
        <p:spPr>
          <a:xfrm>
            <a:off x="2221992" y="4224528"/>
            <a:ext cx="43891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188" name="Rectangle 187"/>
          <p:cNvSpPr/>
          <p:nvPr/>
        </p:nvSpPr>
        <p:spPr>
          <a:xfrm>
            <a:off x="2670048" y="4215384"/>
            <a:ext cx="82296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TextBox 188"/>
          <p:cNvSpPr txBox="1"/>
          <p:nvPr/>
        </p:nvSpPr>
        <p:spPr>
          <a:xfrm>
            <a:off x="2679192" y="4224528"/>
            <a:ext cx="80467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190" name="Rectangle 189"/>
          <p:cNvSpPr/>
          <p:nvPr/>
        </p:nvSpPr>
        <p:spPr>
          <a:xfrm>
            <a:off x="3493008" y="4215384"/>
            <a:ext cx="9601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TextBox 190"/>
          <p:cNvSpPr txBox="1"/>
          <p:nvPr/>
        </p:nvSpPr>
        <p:spPr>
          <a:xfrm>
            <a:off x="3502152" y="4224528"/>
            <a:ext cx="9418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192" name="Rectangle 191"/>
          <p:cNvSpPr/>
          <p:nvPr/>
        </p:nvSpPr>
        <p:spPr>
          <a:xfrm>
            <a:off x="4453128" y="4215384"/>
            <a:ext cx="37033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TextBox 192"/>
          <p:cNvSpPr txBox="1"/>
          <p:nvPr/>
        </p:nvSpPr>
        <p:spPr>
          <a:xfrm>
            <a:off x="4462272" y="4224528"/>
            <a:ext cx="3685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194" name="Rectangle 193"/>
          <p:cNvSpPr/>
          <p:nvPr/>
        </p:nvSpPr>
        <p:spPr>
          <a:xfrm>
            <a:off x="8156448" y="4215384"/>
            <a:ext cx="246888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TextBox 194"/>
          <p:cNvSpPr txBox="1"/>
          <p:nvPr/>
        </p:nvSpPr>
        <p:spPr>
          <a:xfrm>
            <a:off x="8165592" y="4224528"/>
            <a:ext cx="24505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196" name="Rectangle 195"/>
          <p:cNvSpPr/>
          <p:nvPr/>
        </p:nvSpPr>
        <p:spPr>
          <a:xfrm>
            <a:off x="10625328" y="4215384"/>
            <a:ext cx="109728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TextBox 196"/>
          <p:cNvSpPr txBox="1"/>
          <p:nvPr/>
        </p:nvSpPr>
        <p:spPr>
          <a:xfrm>
            <a:off x="10634472" y="4224528"/>
            <a:ext cx="10789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198" name="Rectangle 197"/>
          <p:cNvSpPr/>
          <p:nvPr/>
        </p:nvSpPr>
        <p:spPr>
          <a:xfrm>
            <a:off x="292608" y="4457700"/>
            <a:ext cx="5029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TextBox 198"/>
          <p:cNvSpPr txBox="1"/>
          <p:nvPr/>
        </p:nvSpPr>
        <p:spPr>
          <a:xfrm>
            <a:off x="301752" y="4466844"/>
            <a:ext cx="4846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00" name="Rectangle 199"/>
          <p:cNvSpPr/>
          <p:nvPr/>
        </p:nvSpPr>
        <p:spPr>
          <a:xfrm>
            <a:off x="795528" y="4457700"/>
            <a:ext cx="14173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TextBox 200"/>
          <p:cNvSpPr txBox="1"/>
          <p:nvPr/>
        </p:nvSpPr>
        <p:spPr>
          <a:xfrm>
            <a:off x="804672" y="4466844"/>
            <a:ext cx="1399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02" name="Rectangle 201"/>
          <p:cNvSpPr/>
          <p:nvPr/>
        </p:nvSpPr>
        <p:spPr>
          <a:xfrm>
            <a:off x="2212848" y="4457700"/>
            <a:ext cx="45720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TextBox 202"/>
          <p:cNvSpPr txBox="1"/>
          <p:nvPr/>
        </p:nvSpPr>
        <p:spPr>
          <a:xfrm>
            <a:off x="2221992" y="4466844"/>
            <a:ext cx="43891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04" name="Rectangle 203"/>
          <p:cNvSpPr/>
          <p:nvPr/>
        </p:nvSpPr>
        <p:spPr>
          <a:xfrm>
            <a:off x="2670048" y="4457700"/>
            <a:ext cx="82296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TextBox 204"/>
          <p:cNvSpPr txBox="1"/>
          <p:nvPr/>
        </p:nvSpPr>
        <p:spPr>
          <a:xfrm>
            <a:off x="2679192" y="4466844"/>
            <a:ext cx="80467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06" name="Rectangle 205"/>
          <p:cNvSpPr/>
          <p:nvPr/>
        </p:nvSpPr>
        <p:spPr>
          <a:xfrm>
            <a:off x="3493008" y="4457700"/>
            <a:ext cx="9601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TextBox 206"/>
          <p:cNvSpPr txBox="1"/>
          <p:nvPr/>
        </p:nvSpPr>
        <p:spPr>
          <a:xfrm>
            <a:off x="3502152" y="4466844"/>
            <a:ext cx="9418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08" name="Rectangle 207"/>
          <p:cNvSpPr/>
          <p:nvPr/>
        </p:nvSpPr>
        <p:spPr>
          <a:xfrm>
            <a:off x="4453128" y="4457700"/>
            <a:ext cx="37033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TextBox 208"/>
          <p:cNvSpPr txBox="1"/>
          <p:nvPr/>
        </p:nvSpPr>
        <p:spPr>
          <a:xfrm>
            <a:off x="4462272" y="4466844"/>
            <a:ext cx="3685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210" name="Rectangle 209"/>
          <p:cNvSpPr/>
          <p:nvPr/>
        </p:nvSpPr>
        <p:spPr>
          <a:xfrm>
            <a:off x="8156448" y="4457700"/>
            <a:ext cx="246888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TextBox 210"/>
          <p:cNvSpPr txBox="1"/>
          <p:nvPr/>
        </p:nvSpPr>
        <p:spPr>
          <a:xfrm>
            <a:off x="8165592" y="4466844"/>
            <a:ext cx="24505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212" name="Rectangle 211"/>
          <p:cNvSpPr/>
          <p:nvPr/>
        </p:nvSpPr>
        <p:spPr>
          <a:xfrm>
            <a:off x="10625328" y="4457700"/>
            <a:ext cx="109728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TextBox 212"/>
          <p:cNvSpPr txBox="1"/>
          <p:nvPr/>
        </p:nvSpPr>
        <p:spPr>
          <a:xfrm>
            <a:off x="10634472" y="4466844"/>
            <a:ext cx="10789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14" name="Rectangle 213"/>
          <p:cNvSpPr/>
          <p:nvPr/>
        </p:nvSpPr>
        <p:spPr>
          <a:xfrm>
            <a:off x="292608" y="4700016"/>
            <a:ext cx="5029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301752" y="4709160"/>
            <a:ext cx="4846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16" name="Rectangle 215"/>
          <p:cNvSpPr/>
          <p:nvPr/>
        </p:nvSpPr>
        <p:spPr>
          <a:xfrm>
            <a:off x="795528" y="4700016"/>
            <a:ext cx="14173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TextBox 216"/>
          <p:cNvSpPr txBox="1"/>
          <p:nvPr/>
        </p:nvSpPr>
        <p:spPr>
          <a:xfrm>
            <a:off x="804672" y="4709160"/>
            <a:ext cx="1399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18" name="Rectangle 217"/>
          <p:cNvSpPr/>
          <p:nvPr/>
        </p:nvSpPr>
        <p:spPr>
          <a:xfrm>
            <a:off x="2212848" y="4700016"/>
            <a:ext cx="45720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TextBox 218"/>
          <p:cNvSpPr txBox="1"/>
          <p:nvPr/>
        </p:nvSpPr>
        <p:spPr>
          <a:xfrm>
            <a:off x="2221992" y="4709160"/>
            <a:ext cx="43891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20" name="Rectangle 219"/>
          <p:cNvSpPr/>
          <p:nvPr/>
        </p:nvSpPr>
        <p:spPr>
          <a:xfrm>
            <a:off x="2670048" y="4700016"/>
            <a:ext cx="82296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TextBox 220"/>
          <p:cNvSpPr txBox="1"/>
          <p:nvPr/>
        </p:nvSpPr>
        <p:spPr>
          <a:xfrm>
            <a:off x="2679192" y="4709160"/>
            <a:ext cx="80467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22" name="Rectangle 221"/>
          <p:cNvSpPr/>
          <p:nvPr/>
        </p:nvSpPr>
        <p:spPr>
          <a:xfrm>
            <a:off x="3493008" y="4700016"/>
            <a:ext cx="9601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TextBox 222"/>
          <p:cNvSpPr txBox="1"/>
          <p:nvPr/>
        </p:nvSpPr>
        <p:spPr>
          <a:xfrm>
            <a:off x="3502152" y="4709160"/>
            <a:ext cx="9418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24" name="Rectangle 223"/>
          <p:cNvSpPr/>
          <p:nvPr/>
        </p:nvSpPr>
        <p:spPr>
          <a:xfrm>
            <a:off x="4453128" y="4700016"/>
            <a:ext cx="37033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TextBox 224"/>
          <p:cNvSpPr txBox="1"/>
          <p:nvPr/>
        </p:nvSpPr>
        <p:spPr>
          <a:xfrm>
            <a:off x="4462272" y="4709160"/>
            <a:ext cx="3685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226" name="Rectangle 225"/>
          <p:cNvSpPr/>
          <p:nvPr/>
        </p:nvSpPr>
        <p:spPr>
          <a:xfrm>
            <a:off x="8156448" y="4700016"/>
            <a:ext cx="246888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TextBox 226"/>
          <p:cNvSpPr txBox="1"/>
          <p:nvPr/>
        </p:nvSpPr>
        <p:spPr>
          <a:xfrm>
            <a:off x="8165592" y="4709160"/>
            <a:ext cx="24505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228" name="Rectangle 227"/>
          <p:cNvSpPr/>
          <p:nvPr/>
        </p:nvSpPr>
        <p:spPr>
          <a:xfrm>
            <a:off x="10625328" y="4700016"/>
            <a:ext cx="109728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TextBox 228"/>
          <p:cNvSpPr txBox="1"/>
          <p:nvPr/>
        </p:nvSpPr>
        <p:spPr>
          <a:xfrm>
            <a:off x="10634472" y="4709160"/>
            <a:ext cx="10789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30" name="Rectangle 229"/>
          <p:cNvSpPr/>
          <p:nvPr/>
        </p:nvSpPr>
        <p:spPr>
          <a:xfrm>
            <a:off x="292608" y="4942332"/>
            <a:ext cx="5029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TextBox 230"/>
          <p:cNvSpPr txBox="1"/>
          <p:nvPr/>
        </p:nvSpPr>
        <p:spPr>
          <a:xfrm>
            <a:off x="301752" y="4951476"/>
            <a:ext cx="4846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32" name="Rectangle 231"/>
          <p:cNvSpPr/>
          <p:nvPr/>
        </p:nvSpPr>
        <p:spPr>
          <a:xfrm>
            <a:off x="795528" y="4942332"/>
            <a:ext cx="14173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TextBox 232"/>
          <p:cNvSpPr txBox="1"/>
          <p:nvPr/>
        </p:nvSpPr>
        <p:spPr>
          <a:xfrm>
            <a:off x="804672" y="4951476"/>
            <a:ext cx="1399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34" name="Rectangle 233"/>
          <p:cNvSpPr/>
          <p:nvPr/>
        </p:nvSpPr>
        <p:spPr>
          <a:xfrm>
            <a:off x="2212848" y="4942332"/>
            <a:ext cx="45720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TextBox 234"/>
          <p:cNvSpPr txBox="1"/>
          <p:nvPr/>
        </p:nvSpPr>
        <p:spPr>
          <a:xfrm>
            <a:off x="2221992" y="4951476"/>
            <a:ext cx="43891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36" name="Rectangle 235"/>
          <p:cNvSpPr/>
          <p:nvPr/>
        </p:nvSpPr>
        <p:spPr>
          <a:xfrm>
            <a:off x="2670048" y="4942332"/>
            <a:ext cx="82296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TextBox 236"/>
          <p:cNvSpPr txBox="1"/>
          <p:nvPr/>
        </p:nvSpPr>
        <p:spPr>
          <a:xfrm>
            <a:off x="2679192" y="4951476"/>
            <a:ext cx="80467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38" name="Rectangle 237"/>
          <p:cNvSpPr/>
          <p:nvPr/>
        </p:nvSpPr>
        <p:spPr>
          <a:xfrm>
            <a:off x="3493008" y="4942332"/>
            <a:ext cx="9601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TextBox 238"/>
          <p:cNvSpPr txBox="1"/>
          <p:nvPr/>
        </p:nvSpPr>
        <p:spPr>
          <a:xfrm>
            <a:off x="3502152" y="4951476"/>
            <a:ext cx="9418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40" name="Rectangle 239"/>
          <p:cNvSpPr/>
          <p:nvPr/>
        </p:nvSpPr>
        <p:spPr>
          <a:xfrm>
            <a:off x="4453128" y="4942332"/>
            <a:ext cx="37033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TextBox 240"/>
          <p:cNvSpPr txBox="1"/>
          <p:nvPr/>
        </p:nvSpPr>
        <p:spPr>
          <a:xfrm>
            <a:off x="4462272" y="4951476"/>
            <a:ext cx="3685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242" name="Rectangle 241"/>
          <p:cNvSpPr/>
          <p:nvPr/>
        </p:nvSpPr>
        <p:spPr>
          <a:xfrm>
            <a:off x="8156448" y="4942332"/>
            <a:ext cx="246888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TextBox 242"/>
          <p:cNvSpPr txBox="1"/>
          <p:nvPr/>
        </p:nvSpPr>
        <p:spPr>
          <a:xfrm>
            <a:off x="8165592" y="4951476"/>
            <a:ext cx="24505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244" name="Rectangle 243"/>
          <p:cNvSpPr/>
          <p:nvPr/>
        </p:nvSpPr>
        <p:spPr>
          <a:xfrm>
            <a:off x="10625328" y="4942332"/>
            <a:ext cx="109728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TextBox 244"/>
          <p:cNvSpPr txBox="1"/>
          <p:nvPr/>
        </p:nvSpPr>
        <p:spPr>
          <a:xfrm>
            <a:off x="10634472" y="4951476"/>
            <a:ext cx="10789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46" name="Rectangle 245"/>
          <p:cNvSpPr/>
          <p:nvPr/>
        </p:nvSpPr>
        <p:spPr>
          <a:xfrm>
            <a:off x="292608" y="5184648"/>
            <a:ext cx="5029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TextBox 246"/>
          <p:cNvSpPr txBox="1"/>
          <p:nvPr/>
        </p:nvSpPr>
        <p:spPr>
          <a:xfrm>
            <a:off x="301752" y="5193792"/>
            <a:ext cx="4846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48" name="Rectangle 247"/>
          <p:cNvSpPr/>
          <p:nvPr/>
        </p:nvSpPr>
        <p:spPr>
          <a:xfrm>
            <a:off x="795528" y="5184648"/>
            <a:ext cx="14173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TextBox 248"/>
          <p:cNvSpPr txBox="1"/>
          <p:nvPr/>
        </p:nvSpPr>
        <p:spPr>
          <a:xfrm>
            <a:off x="804672" y="5193792"/>
            <a:ext cx="1399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50" name="Rectangle 249"/>
          <p:cNvSpPr/>
          <p:nvPr/>
        </p:nvSpPr>
        <p:spPr>
          <a:xfrm>
            <a:off x="2212848" y="5184648"/>
            <a:ext cx="45720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TextBox 250"/>
          <p:cNvSpPr txBox="1"/>
          <p:nvPr/>
        </p:nvSpPr>
        <p:spPr>
          <a:xfrm>
            <a:off x="2221992" y="5193792"/>
            <a:ext cx="43891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52" name="Rectangle 251"/>
          <p:cNvSpPr/>
          <p:nvPr/>
        </p:nvSpPr>
        <p:spPr>
          <a:xfrm>
            <a:off x="2670048" y="5184648"/>
            <a:ext cx="82296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TextBox 252"/>
          <p:cNvSpPr txBox="1"/>
          <p:nvPr/>
        </p:nvSpPr>
        <p:spPr>
          <a:xfrm>
            <a:off x="2679192" y="5193792"/>
            <a:ext cx="80467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54" name="Rectangle 253"/>
          <p:cNvSpPr/>
          <p:nvPr/>
        </p:nvSpPr>
        <p:spPr>
          <a:xfrm>
            <a:off x="3493008" y="5184648"/>
            <a:ext cx="9601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TextBox 254"/>
          <p:cNvSpPr txBox="1"/>
          <p:nvPr/>
        </p:nvSpPr>
        <p:spPr>
          <a:xfrm>
            <a:off x="3502152" y="5193792"/>
            <a:ext cx="9418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56" name="Rectangle 255"/>
          <p:cNvSpPr/>
          <p:nvPr/>
        </p:nvSpPr>
        <p:spPr>
          <a:xfrm>
            <a:off x="4453128" y="5184648"/>
            <a:ext cx="37033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TextBox 256"/>
          <p:cNvSpPr txBox="1"/>
          <p:nvPr/>
        </p:nvSpPr>
        <p:spPr>
          <a:xfrm>
            <a:off x="4462272" y="5193792"/>
            <a:ext cx="3685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258" name="Rectangle 257"/>
          <p:cNvSpPr/>
          <p:nvPr/>
        </p:nvSpPr>
        <p:spPr>
          <a:xfrm>
            <a:off x="8156448" y="5184648"/>
            <a:ext cx="246888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9" name="TextBox 258"/>
          <p:cNvSpPr txBox="1"/>
          <p:nvPr/>
        </p:nvSpPr>
        <p:spPr>
          <a:xfrm>
            <a:off x="8165592" y="5193792"/>
            <a:ext cx="24505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260" name="Rectangle 259"/>
          <p:cNvSpPr/>
          <p:nvPr/>
        </p:nvSpPr>
        <p:spPr>
          <a:xfrm>
            <a:off x="10625328" y="5184648"/>
            <a:ext cx="109728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TextBox 260"/>
          <p:cNvSpPr txBox="1"/>
          <p:nvPr/>
        </p:nvSpPr>
        <p:spPr>
          <a:xfrm>
            <a:off x="10634472" y="5193792"/>
            <a:ext cx="10789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62" name="Rectangle 261"/>
          <p:cNvSpPr/>
          <p:nvPr/>
        </p:nvSpPr>
        <p:spPr>
          <a:xfrm>
            <a:off x="292608" y="5426964"/>
            <a:ext cx="5029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TextBox 262"/>
          <p:cNvSpPr txBox="1"/>
          <p:nvPr/>
        </p:nvSpPr>
        <p:spPr>
          <a:xfrm>
            <a:off x="301752" y="5436108"/>
            <a:ext cx="4846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64" name="Rectangle 263"/>
          <p:cNvSpPr/>
          <p:nvPr/>
        </p:nvSpPr>
        <p:spPr>
          <a:xfrm>
            <a:off x="795528" y="5426964"/>
            <a:ext cx="14173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TextBox 264"/>
          <p:cNvSpPr txBox="1"/>
          <p:nvPr/>
        </p:nvSpPr>
        <p:spPr>
          <a:xfrm>
            <a:off x="804672" y="5436108"/>
            <a:ext cx="1399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66" name="Rectangle 265"/>
          <p:cNvSpPr/>
          <p:nvPr/>
        </p:nvSpPr>
        <p:spPr>
          <a:xfrm>
            <a:off x="2212848" y="5426964"/>
            <a:ext cx="45720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TextBox 266"/>
          <p:cNvSpPr txBox="1"/>
          <p:nvPr/>
        </p:nvSpPr>
        <p:spPr>
          <a:xfrm>
            <a:off x="2221992" y="5436108"/>
            <a:ext cx="43891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68" name="Rectangle 267"/>
          <p:cNvSpPr/>
          <p:nvPr/>
        </p:nvSpPr>
        <p:spPr>
          <a:xfrm>
            <a:off x="2670048" y="5426964"/>
            <a:ext cx="82296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TextBox 268"/>
          <p:cNvSpPr txBox="1"/>
          <p:nvPr/>
        </p:nvSpPr>
        <p:spPr>
          <a:xfrm>
            <a:off x="2679192" y="5436108"/>
            <a:ext cx="80467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70" name="Rectangle 269"/>
          <p:cNvSpPr/>
          <p:nvPr/>
        </p:nvSpPr>
        <p:spPr>
          <a:xfrm>
            <a:off x="3493008" y="5426964"/>
            <a:ext cx="9601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TextBox 270"/>
          <p:cNvSpPr txBox="1"/>
          <p:nvPr/>
        </p:nvSpPr>
        <p:spPr>
          <a:xfrm>
            <a:off x="3502152" y="5436108"/>
            <a:ext cx="9418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72" name="Rectangle 271"/>
          <p:cNvSpPr/>
          <p:nvPr/>
        </p:nvSpPr>
        <p:spPr>
          <a:xfrm>
            <a:off x="4453128" y="5426964"/>
            <a:ext cx="37033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3" name="TextBox 272"/>
          <p:cNvSpPr txBox="1"/>
          <p:nvPr/>
        </p:nvSpPr>
        <p:spPr>
          <a:xfrm>
            <a:off x="4462272" y="5436108"/>
            <a:ext cx="3685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274" name="Rectangle 273"/>
          <p:cNvSpPr/>
          <p:nvPr/>
        </p:nvSpPr>
        <p:spPr>
          <a:xfrm>
            <a:off x="8156448" y="5426964"/>
            <a:ext cx="246888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5" name="TextBox 274"/>
          <p:cNvSpPr txBox="1"/>
          <p:nvPr/>
        </p:nvSpPr>
        <p:spPr>
          <a:xfrm>
            <a:off x="8165592" y="5436108"/>
            <a:ext cx="24505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276" name="Rectangle 275"/>
          <p:cNvSpPr/>
          <p:nvPr/>
        </p:nvSpPr>
        <p:spPr>
          <a:xfrm>
            <a:off x="10625328" y="5426964"/>
            <a:ext cx="109728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7" name="TextBox 276"/>
          <p:cNvSpPr txBox="1"/>
          <p:nvPr/>
        </p:nvSpPr>
        <p:spPr>
          <a:xfrm>
            <a:off x="10634472" y="5436108"/>
            <a:ext cx="10789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78" name="Rectangle 277"/>
          <p:cNvSpPr/>
          <p:nvPr/>
        </p:nvSpPr>
        <p:spPr>
          <a:xfrm>
            <a:off x="292608" y="5669280"/>
            <a:ext cx="5029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9" name="TextBox 278"/>
          <p:cNvSpPr txBox="1"/>
          <p:nvPr/>
        </p:nvSpPr>
        <p:spPr>
          <a:xfrm>
            <a:off x="301752" y="5678424"/>
            <a:ext cx="4846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80" name="Rectangle 279"/>
          <p:cNvSpPr/>
          <p:nvPr/>
        </p:nvSpPr>
        <p:spPr>
          <a:xfrm>
            <a:off x="795528" y="5669280"/>
            <a:ext cx="14173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1" name="TextBox 280"/>
          <p:cNvSpPr txBox="1"/>
          <p:nvPr/>
        </p:nvSpPr>
        <p:spPr>
          <a:xfrm>
            <a:off x="804672" y="5678424"/>
            <a:ext cx="1399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82" name="Rectangle 281"/>
          <p:cNvSpPr/>
          <p:nvPr/>
        </p:nvSpPr>
        <p:spPr>
          <a:xfrm>
            <a:off x="2212848" y="5669280"/>
            <a:ext cx="45720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3" name="TextBox 282"/>
          <p:cNvSpPr txBox="1"/>
          <p:nvPr/>
        </p:nvSpPr>
        <p:spPr>
          <a:xfrm>
            <a:off x="2221992" y="5678424"/>
            <a:ext cx="43891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84" name="Rectangle 283"/>
          <p:cNvSpPr/>
          <p:nvPr/>
        </p:nvSpPr>
        <p:spPr>
          <a:xfrm>
            <a:off x="2670048" y="5669280"/>
            <a:ext cx="82296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TextBox 284"/>
          <p:cNvSpPr txBox="1"/>
          <p:nvPr/>
        </p:nvSpPr>
        <p:spPr>
          <a:xfrm>
            <a:off x="2679192" y="5678424"/>
            <a:ext cx="80467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86" name="Rectangle 285"/>
          <p:cNvSpPr/>
          <p:nvPr/>
        </p:nvSpPr>
        <p:spPr>
          <a:xfrm>
            <a:off x="3493008" y="5669280"/>
            <a:ext cx="9601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7" name="TextBox 286"/>
          <p:cNvSpPr txBox="1"/>
          <p:nvPr/>
        </p:nvSpPr>
        <p:spPr>
          <a:xfrm>
            <a:off x="3502152" y="5678424"/>
            <a:ext cx="9418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88" name="Rectangle 287"/>
          <p:cNvSpPr/>
          <p:nvPr/>
        </p:nvSpPr>
        <p:spPr>
          <a:xfrm>
            <a:off x="4453128" y="5669280"/>
            <a:ext cx="370332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TextBox 288"/>
          <p:cNvSpPr txBox="1"/>
          <p:nvPr/>
        </p:nvSpPr>
        <p:spPr>
          <a:xfrm>
            <a:off x="4462272" y="5678424"/>
            <a:ext cx="3685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290" name="Rectangle 289"/>
          <p:cNvSpPr/>
          <p:nvPr/>
        </p:nvSpPr>
        <p:spPr>
          <a:xfrm>
            <a:off x="8156448" y="5669280"/>
            <a:ext cx="246888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1" name="TextBox 290"/>
          <p:cNvSpPr txBox="1"/>
          <p:nvPr/>
        </p:nvSpPr>
        <p:spPr>
          <a:xfrm>
            <a:off x="8165592" y="5678424"/>
            <a:ext cx="24505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292" name="Rectangle 291"/>
          <p:cNvSpPr/>
          <p:nvPr/>
        </p:nvSpPr>
        <p:spPr>
          <a:xfrm>
            <a:off x="10625328" y="5669280"/>
            <a:ext cx="1097280" cy="242316"/>
          </a:xfrm>
          <a:prstGeom prst="rect">
            <a:avLst/>
          </a:prstGeom>
          <a:solidFill>
            <a:srgbClr val="E8E8E8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TextBox 292"/>
          <p:cNvSpPr txBox="1"/>
          <p:nvPr/>
        </p:nvSpPr>
        <p:spPr>
          <a:xfrm>
            <a:off x="10634472" y="5678424"/>
            <a:ext cx="10789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94" name="Rectangle 293"/>
          <p:cNvSpPr/>
          <p:nvPr/>
        </p:nvSpPr>
        <p:spPr>
          <a:xfrm>
            <a:off x="292608" y="5911596"/>
            <a:ext cx="5029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5" name="TextBox 294"/>
          <p:cNvSpPr txBox="1"/>
          <p:nvPr/>
        </p:nvSpPr>
        <p:spPr>
          <a:xfrm>
            <a:off x="301752" y="5920740"/>
            <a:ext cx="4846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96" name="Rectangle 295"/>
          <p:cNvSpPr/>
          <p:nvPr/>
        </p:nvSpPr>
        <p:spPr>
          <a:xfrm>
            <a:off x="795528" y="5911596"/>
            <a:ext cx="14173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7" name="TextBox 296"/>
          <p:cNvSpPr txBox="1"/>
          <p:nvPr/>
        </p:nvSpPr>
        <p:spPr>
          <a:xfrm>
            <a:off x="804672" y="5920740"/>
            <a:ext cx="1399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298" name="Rectangle 297"/>
          <p:cNvSpPr/>
          <p:nvPr/>
        </p:nvSpPr>
        <p:spPr>
          <a:xfrm>
            <a:off x="2212848" y="5911596"/>
            <a:ext cx="45720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9" name="TextBox 298"/>
          <p:cNvSpPr txBox="1"/>
          <p:nvPr/>
        </p:nvSpPr>
        <p:spPr>
          <a:xfrm>
            <a:off x="2221992" y="5920740"/>
            <a:ext cx="43891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300" name="Rectangle 299"/>
          <p:cNvSpPr/>
          <p:nvPr/>
        </p:nvSpPr>
        <p:spPr>
          <a:xfrm>
            <a:off x="2670048" y="5911596"/>
            <a:ext cx="82296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1" name="TextBox 300"/>
          <p:cNvSpPr txBox="1"/>
          <p:nvPr/>
        </p:nvSpPr>
        <p:spPr>
          <a:xfrm>
            <a:off x="2679192" y="5920740"/>
            <a:ext cx="80467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302" name="Rectangle 301"/>
          <p:cNvSpPr/>
          <p:nvPr/>
        </p:nvSpPr>
        <p:spPr>
          <a:xfrm>
            <a:off x="3493008" y="5911596"/>
            <a:ext cx="9601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TextBox 302"/>
          <p:cNvSpPr txBox="1"/>
          <p:nvPr/>
        </p:nvSpPr>
        <p:spPr>
          <a:xfrm>
            <a:off x="3502152" y="5920740"/>
            <a:ext cx="9418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sp>
        <p:nvSpPr>
          <p:cNvPr id="304" name="Rectangle 303"/>
          <p:cNvSpPr/>
          <p:nvPr/>
        </p:nvSpPr>
        <p:spPr>
          <a:xfrm>
            <a:off x="4453128" y="5911596"/>
            <a:ext cx="370332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5" name="TextBox 304"/>
          <p:cNvSpPr txBox="1"/>
          <p:nvPr/>
        </p:nvSpPr>
        <p:spPr>
          <a:xfrm>
            <a:off x="4462272" y="5920740"/>
            <a:ext cx="368503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306" name="Rectangle 305"/>
          <p:cNvSpPr/>
          <p:nvPr/>
        </p:nvSpPr>
        <p:spPr>
          <a:xfrm>
            <a:off x="8156448" y="5911596"/>
            <a:ext cx="246888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7" name="TextBox 306"/>
          <p:cNvSpPr txBox="1"/>
          <p:nvPr/>
        </p:nvSpPr>
        <p:spPr>
          <a:xfrm>
            <a:off x="8165592" y="5920740"/>
            <a:ext cx="24505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l"/>
            <a:endParaRPr/>
          </a:p>
        </p:txBody>
      </p:sp>
      <p:sp>
        <p:nvSpPr>
          <p:cNvPr id="308" name="Rectangle 307"/>
          <p:cNvSpPr/>
          <p:nvPr/>
        </p:nvSpPr>
        <p:spPr>
          <a:xfrm>
            <a:off x="10625328" y="5911596"/>
            <a:ext cx="1097280" cy="242316"/>
          </a:xfrm>
          <a:prstGeom prst="rect">
            <a:avLst/>
          </a:prstGeom>
          <a:solidFill>
            <a:srgbClr val="E1E1E1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TextBox 308"/>
          <p:cNvSpPr txBox="1"/>
          <p:nvPr/>
        </p:nvSpPr>
        <p:spPr>
          <a:xfrm>
            <a:off x="10634472" y="5920740"/>
            <a:ext cx="1078992" cy="224028"/>
          </a:xfrm>
          <a:prstGeom prst="rect">
            <a:avLst/>
          </a:prstGeom>
          <a:noFill/>
          <a:ln>
            <a:noFill/>
          </a:ln>
        </p:spPr>
        <p:txBody>
          <a:bodyPr wrap="square" lIns="4572" tIns="4572" rIns="4572" bIns="4572" anchor="ctr">
            <a:spAutoFit/>
          </a:bodyPr>
          <a:lstStyle/>
          <a:p>
            <a:pPr algn="ctr"/>
            <a:endParaRPr/>
          </a:p>
        </p:txBody>
      </p:sp>
      <p:cxnSp>
        <p:nvCxnSpPr>
          <p:cNvPr id="310" name="Connector 309"/>
          <p:cNvCxnSpPr/>
          <p:nvPr/>
        </p:nvCxnSpPr>
        <p:spPr>
          <a:xfrm>
            <a:off x="292608" y="2761488"/>
            <a:ext cx="11430000" cy="0"/>
          </a:xfrm>
          <a:prstGeom prst="line">
            <a:avLst/>
          </a:prstGeom>
          <a:ln w="1397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>
            <a:off x="292608" y="3973068"/>
            <a:ext cx="11430000" cy="0"/>
          </a:xfrm>
          <a:prstGeom prst="line">
            <a:avLst/>
          </a:prstGeom>
          <a:ln w="1143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>
            <a:off x="292608" y="4942332"/>
            <a:ext cx="11430000" cy="0"/>
          </a:xfrm>
          <a:prstGeom prst="line">
            <a:avLst/>
          </a:prstGeom>
          <a:ln w="1143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>
            <a:off x="182880" y="6583680"/>
            <a:ext cx="11658600" cy="0"/>
          </a:xfrm>
          <a:prstGeom prst="line">
            <a:avLst/>
          </a:prstGeom>
          <a:ln w="7620">
            <a:solidFill>
              <a:srgbClr val="828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4" name="TextBox 313"/>
          <p:cNvSpPr txBox="1"/>
          <p:nvPr/>
        </p:nvSpPr>
        <p:spPr>
          <a:xfrm>
            <a:off x="5989320" y="6601968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3C3C3C"/>
                </a:solidFill>
                <a:latin typeface="Malgun Gothic"/>
              </a:rPr>
              <a:t>14</a:t>
            </a:r>
          </a:p>
        </p:txBody>
      </p:sp>
      <p:sp>
        <p:nvSpPr>
          <p:cNvPr id="315" name="Isosceles Triangle 314"/>
          <p:cNvSpPr/>
          <p:nvPr/>
        </p:nvSpPr>
        <p:spPr>
          <a:xfrm rot="10800000">
            <a:off x="27432" y="6537960"/>
            <a:ext cx="118872" cy="164592"/>
          </a:xfrm>
          <a:prstGeom prst="triangle">
            <a:avLst/>
          </a:prstGeom>
          <a:solidFill>
            <a:srgbClr val="EC9A34"/>
          </a:solidFill>
          <a:ln>
            <a:solidFill>
              <a:srgbClr val="EC9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6" name="Oval 315"/>
          <p:cNvSpPr/>
          <p:nvPr/>
        </p:nvSpPr>
        <p:spPr>
          <a:xfrm>
            <a:off x="118872" y="6574536"/>
            <a:ext cx="45720" cy="45720"/>
          </a:xfrm>
          <a:prstGeom prst="ellipse">
            <a:avLst/>
          </a:prstGeom>
          <a:solidFill>
            <a:srgbClr val="EC9A34"/>
          </a:solidFill>
          <a:ln>
            <a:solidFill>
              <a:srgbClr val="EC9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7" name="TextBox 316"/>
          <p:cNvSpPr txBox="1"/>
          <p:nvPr/>
        </p:nvSpPr>
        <p:spPr>
          <a:xfrm>
            <a:off x="182880" y="6510528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>
                <a:solidFill>
                  <a:srgbClr val="26854A"/>
                </a:solidFill>
                <a:latin typeface="Malgun Gothic"/>
              </a:rPr>
              <a:t>농협중앙회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6304" y="91440"/>
            <a:ext cx="7315200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200" b="1">
                <a:solidFill>
                  <a:srgbClr val="232323"/>
                </a:solidFill>
                <a:latin typeface="Malgun Gothic"/>
              </a:rPr>
              <a:t>4. 검증 항목 - 목표 기술 아키텍처 수행 모델 - 수행 과제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46304" y="621792"/>
            <a:ext cx="9875520" cy="0"/>
          </a:xfrm>
          <a:prstGeom prst="line">
            <a:avLst/>
          </a:prstGeom>
          <a:ln w="1905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01168" y="713232"/>
            <a:ext cx="9784080" cy="53035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700" b="1">
                <a:solidFill>
                  <a:srgbClr val="2D2D2D"/>
                </a:solidFill>
                <a:latin typeface="Malgun Gothic"/>
              </a:rPr>
              <a:t>목표 기술 아키텍처 모델 설계를 위한 기반은 선행 ISP 개선과제의 요건 및 선진 정보계 차
세대 아키텍처를 참고하여 제안한 제안서가 Big Picture 아키텍처 모델의 근간이 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310896" y="1481328"/>
            <a:ext cx="1353312" cy="4526280"/>
          </a:xfrm>
          <a:prstGeom prst="rect">
            <a:avLst/>
          </a:prstGeom>
          <a:solidFill>
            <a:srgbClr val="66716C"/>
          </a:solidFill>
          <a:ln w="7620"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1783080"/>
            <a:ext cx="914400" cy="86868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아키텍처
수립</a:t>
            </a:r>
          </a:p>
        </p:txBody>
      </p:sp>
      <p:sp>
        <p:nvSpPr>
          <p:cNvPr id="7" name="Rectangle 6"/>
          <p:cNvSpPr/>
          <p:nvPr/>
        </p:nvSpPr>
        <p:spPr>
          <a:xfrm>
            <a:off x="1783080" y="1481328"/>
            <a:ext cx="8156448" cy="182880"/>
          </a:xfrm>
          <a:prstGeom prst="rect">
            <a:avLst/>
          </a:prstGeom>
          <a:solidFill>
            <a:srgbClr val="222A24"/>
          </a:solidFill>
          <a:ln w="5080">
            <a:solidFill>
              <a:srgbClr val="222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783080" y="1463040"/>
            <a:ext cx="8156448" cy="21031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통합 / 표준 / 실행</a:t>
            </a:r>
          </a:p>
        </p:txBody>
      </p:sp>
      <p:sp>
        <p:nvSpPr>
          <p:cNvPr id="9" name="Rectangle 8"/>
          <p:cNvSpPr/>
          <p:nvPr/>
        </p:nvSpPr>
        <p:spPr>
          <a:xfrm>
            <a:off x="1783080" y="1664208"/>
            <a:ext cx="1572768" cy="201168"/>
          </a:xfrm>
          <a:prstGeom prst="rect">
            <a:avLst/>
          </a:prstGeom>
          <a:solidFill>
            <a:srgbClr val="F2F4F3"/>
          </a:solidFill>
          <a:ln w="762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83080" y="1664208"/>
            <a:ext cx="1572768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850" b="0">
                <a:solidFill>
                  <a:srgbClr val="282828"/>
                </a:solidFill>
                <a:latin typeface="Malgun Gothic"/>
              </a:rPr>
              <a:t>응용기능 - 동적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83080" y="1892808"/>
            <a:ext cx="1572768" cy="4114800"/>
          </a:xfrm>
          <a:prstGeom prst="rect">
            <a:avLst/>
          </a:prstGeom>
          <a:solidFill>
            <a:srgbClr val="F7F9F8"/>
          </a:solidFill>
          <a:ln w="1016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856232" y="2011680"/>
            <a:ext cx="1426464" cy="4572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250" b="1">
                <a:solidFill>
                  <a:srgbClr val="232323"/>
                </a:solidFill>
                <a:latin typeface="Malgun Gothic"/>
              </a:rPr>
              <a:t>상위 응용기능 체계
수립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74520" y="2596896"/>
            <a:ext cx="1389888" cy="310896"/>
          </a:xfrm>
          <a:prstGeom prst="rect">
            <a:avLst/>
          </a:prstGeom>
          <a:solidFill>
            <a:srgbClr val="D2DAD6"/>
          </a:solidFill>
          <a:ln w="10160">
            <a:solidFill>
              <a:srgbClr val="465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92808" y="2615184"/>
            <a:ext cx="135331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19" b="0">
                <a:solidFill>
                  <a:srgbClr val="282828"/>
                </a:solidFill>
                <a:latin typeface="Malgun Gothic"/>
              </a:rPr>
              <a:t>상위 수준 어플리케
이션 도메인 분류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74520" y="3026664"/>
            <a:ext cx="1389888" cy="310896"/>
          </a:xfrm>
          <a:prstGeom prst="rect">
            <a:avLst/>
          </a:prstGeom>
          <a:solidFill>
            <a:srgbClr val="D2DAD6"/>
          </a:solidFill>
          <a:ln w="10160">
            <a:solidFill>
              <a:srgbClr val="465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892808" y="3044952"/>
            <a:ext cx="135331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19" b="0">
                <a:solidFill>
                  <a:srgbClr val="282828"/>
                </a:solidFill>
                <a:latin typeface="Malgun Gothic"/>
              </a:rPr>
              <a:t>시스템 및 어플리케
이션 코드 정의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29000" y="1664208"/>
            <a:ext cx="1572768" cy="201168"/>
          </a:xfrm>
          <a:prstGeom prst="rect">
            <a:avLst/>
          </a:prstGeom>
          <a:solidFill>
            <a:srgbClr val="F2F4F3"/>
          </a:solidFill>
          <a:ln w="762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29000" y="1664208"/>
            <a:ext cx="1572768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850" b="0">
                <a:solidFill>
                  <a:srgbClr val="282828"/>
                </a:solidFill>
                <a:latin typeface="Malgun Gothic"/>
              </a:rPr>
              <a:t>개념 - 구조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1892808"/>
            <a:ext cx="1572768" cy="4114800"/>
          </a:xfrm>
          <a:prstGeom prst="rect">
            <a:avLst/>
          </a:prstGeom>
          <a:solidFill>
            <a:srgbClr val="F7F9F8"/>
          </a:solidFill>
          <a:ln w="1016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02152" y="2011680"/>
            <a:ext cx="1426464" cy="4572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250" b="1">
                <a:solidFill>
                  <a:srgbClr val="232323"/>
                </a:solidFill>
                <a:latin typeface="Malgun Gothic"/>
              </a:rPr>
              <a:t>목표 개념 아키텍처
모델 정의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20440" y="2596896"/>
            <a:ext cx="1389888" cy="310896"/>
          </a:xfrm>
          <a:prstGeom prst="rect">
            <a:avLst/>
          </a:prstGeom>
          <a:solidFill>
            <a:srgbClr val="D2DAD6"/>
          </a:solidFill>
          <a:ln w="10160">
            <a:solidFill>
              <a:srgbClr val="465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538728" y="2615184"/>
            <a:ext cx="135331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19" b="0">
                <a:solidFill>
                  <a:srgbClr val="282828"/>
                </a:solidFill>
                <a:latin typeface="Malgun Gothic"/>
              </a:rPr>
              <a:t>Next 최상위 아키텍
처 모델 구성도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20440" y="3026664"/>
            <a:ext cx="1389888" cy="310896"/>
          </a:xfrm>
          <a:prstGeom prst="rect">
            <a:avLst/>
          </a:prstGeom>
          <a:solidFill>
            <a:srgbClr val="D2DAD6"/>
          </a:solidFill>
          <a:ln w="10160">
            <a:solidFill>
              <a:srgbClr val="465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538728" y="3044952"/>
            <a:ext cx="135331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19" b="0">
                <a:solidFill>
                  <a:srgbClr val="282828"/>
                </a:solidFill>
                <a:latin typeface="Malgun Gothic"/>
              </a:rPr>
              <a:t>Technical 런타임 아
키텍처 구성도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20440" y="3456432"/>
            <a:ext cx="1389888" cy="310896"/>
          </a:xfrm>
          <a:prstGeom prst="rect">
            <a:avLst/>
          </a:prstGeom>
          <a:solidFill>
            <a:srgbClr val="D2DAD6"/>
          </a:solidFill>
          <a:ln w="10160">
            <a:solidFill>
              <a:srgbClr val="465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538728" y="3474720"/>
            <a:ext cx="135331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19" b="0">
                <a:solidFill>
                  <a:srgbClr val="282828"/>
                </a:solidFill>
                <a:latin typeface="Malgun Gothic"/>
              </a:rPr>
              <a:t>목표 어플리케이션
도메인 구성도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20440" y="3886200"/>
            <a:ext cx="1389888" cy="384048"/>
          </a:xfrm>
          <a:prstGeom prst="rect">
            <a:avLst/>
          </a:prstGeom>
          <a:solidFill>
            <a:srgbClr val="D2DAD6"/>
          </a:solidFill>
          <a:ln w="10160">
            <a:solidFill>
              <a:srgbClr val="465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538728" y="3904488"/>
            <a:ext cx="1353312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19" b="0">
                <a:solidFill>
                  <a:srgbClr val="282828"/>
                </a:solidFill>
                <a:latin typeface="Malgun Gothic"/>
              </a:rPr>
              <a:t>어플리케이션분류
기능체계 및 시스템
매핑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74920" y="1664208"/>
            <a:ext cx="1572768" cy="201168"/>
          </a:xfrm>
          <a:prstGeom prst="rect">
            <a:avLst/>
          </a:prstGeom>
          <a:solidFill>
            <a:srgbClr val="F2F4F3"/>
          </a:solidFill>
          <a:ln w="762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74920" y="1664208"/>
            <a:ext cx="1572768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850" b="0">
                <a:solidFill>
                  <a:srgbClr val="282828"/>
                </a:solidFill>
                <a:latin typeface="Malgun Gothic"/>
              </a:rPr>
              <a:t>논리 - 구조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74920" y="1892808"/>
            <a:ext cx="1572768" cy="4114800"/>
          </a:xfrm>
          <a:prstGeom prst="rect">
            <a:avLst/>
          </a:prstGeom>
          <a:solidFill>
            <a:srgbClr val="F7F9F8"/>
          </a:solidFill>
          <a:ln w="1016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148072" y="2011680"/>
            <a:ext cx="1426464" cy="4572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250" b="1">
                <a:solidFill>
                  <a:srgbClr val="232323"/>
                </a:solidFill>
                <a:latin typeface="Malgun Gothic"/>
              </a:rPr>
              <a:t>논리 기술 아키텍처
모델 정의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66360" y="2596896"/>
            <a:ext cx="1389888" cy="310896"/>
          </a:xfrm>
          <a:prstGeom prst="rect">
            <a:avLst/>
          </a:prstGeom>
          <a:solidFill>
            <a:srgbClr val="D2DAD6"/>
          </a:solidFill>
          <a:ln w="10160">
            <a:solidFill>
              <a:srgbClr val="465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184648" y="2615184"/>
            <a:ext cx="135331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19" b="0">
                <a:solidFill>
                  <a:srgbClr val="282828"/>
                </a:solidFill>
                <a:latin typeface="Malgun Gothic"/>
              </a:rPr>
              <a:t>전사 도메인 정의 (참
조)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66360" y="3026664"/>
            <a:ext cx="1389888" cy="310896"/>
          </a:xfrm>
          <a:prstGeom prst="rect">
            <a:avLst/>
          </a:prstGeom>
          <a:solidFill>
            <a:srgbClr val="D2DAD6"/>
          </a:solidFill>
          <a:ln w="10160">
            <a:solidFill>
              <a:srgbClr val="465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184648" y="3044952"/>
            <a:ext cx="135331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19" b="0">
                <a:solidFill>
                  <a:srgbClr val="282828"/>
                </a:solidFill>
                <a:latin typeface="Malgun Gothic"/>
              </a:rPr>
              <a:t>시스템 도메인 그룹
정의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66360" y="3456432"/>
            <a:ext cx="1389888" cy="310896"/>
          </a:xfrm>
          <a:prstGeom prst="rect">
            <a:avLst/>
          </a:prstGeom>
          <a:solidFill>
            <a:srgbClr val="D2DAD6"/>
          </a:solidFill>
          <a:ln w="10160">
            <a:solidFill>
              <a:srgbClr val="465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184648" y="3474720"/>
            <a:ext cx="135331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19" b="0">
                <a:solidFill>
                  <a:srgbClr val="282828"/>
                </a:solidFill>
                <a:latin typeface="Malgun Gothic"/>
              </a:rPr>
              <a:t>어플리케이션 구성
체계 정의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66360" y="3886200"/>
            <a:ext cx="1389888" cy="310896"/>
          </a:xfrm>
          <a:prstGeom prst="rect">
            <a:avLst/>
          </a:prstGeom>
          <a:solidFill>
            <a:srgbClr val="D2DAD6"/>
          </a:solidFill>
          <a:ln w="10160">
            <a:solidFill>
              <a:srgbClr val="465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184648" y="3904488"/>
            <a:ext cx="135331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19" b="0">
                <a:solidFill>
                  <a:srgbClr val="282828"/>
                </a:solidFill>
                <a:latin typeface="Malgun Gothic"/>
              </a:rPr>
              <a:t>노드 기술 컴포넌트
정의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66360" y="4315968"/>
            <a:ext cx="1389888" cy="310896"/>
          </a:xfrm>
          <a:prstGeom prst="rect">
            <a:avLst/>
          </a:prstGeom>
          <a:solidFill>
            <a:srgbClr val="D2DAD6"/>
          </a:solidFill>
          <a:ln w="10160">
            <a:solidFill>
              <a:srgbClr val="465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84648" y="4334256"/>
            <a:ext cx="135331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19" b="0">
                <a:solidFill>
                  <a:srgbClr val="282828"/>
                </a:solidFill>
                <a:latin typeface="Malgun Gothic"/>
              </a:rPr>
              <a:t>논리 노드 식별 및 정
의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66360" y="4745736"/>
            <a:ext cx="1389888" cy="310896"/>
          </a:xfrm>
          <a:prstGeom prst="rect">
            <a:avLst/>
          </a:prstGeom>
          <a:solidFill>
            <a:srgbClr val="D2DAD6"/>
          </a:solidFill>
          <a:ln w="10160">
            <a:solidFill>
              <a:srgbClr val="465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184648" y="4764024"/>
            <a:ext cx="135331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19" b="0">
                <a:solidFill>
                  <a:srgbClr val="282828"/>
                </a:solidFill>
                <a:latin typeface="Malgun Gothic"/>
              </a:rPr>
              <a:t>논리 하드웨어 식별
및 정의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166360" y="5175504"/>
            <a:ext cx="1389888" cy="310896"/>
          </a:xfrm>
          <a:prstGeom prst="rect">
            <a:avLst/>
          </a:prstGeom>
          <a:solidFill>
            <a:srgbClr val="D2DAD6"/>
          </a:solidFill>
          <a:ln w="10160">
            <a:solidFill>
              <a:srgbClr val="465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84648" y="5193792"/>
            <a:ext cx="135331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19" b="0">
                <a:solidFill>
                  <a:srgbClr val="282828"/>
                </a:solidFill>
                <a:latin typeface="Malgun Gothic"/>
              </a:rPr>
              <a:t>논리 기술 소프트웨
어 정의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720840" y="1664208"/>
            <a:ext cx="1572768" cy="201168"/>
          </a:xfrm>
          <a:prstGeom prst="rect">
            <a:avLst/>
          </a:prstGeom>
          <a:solidFill>
            <a:srgbClr val="F2F4F3"/>
          </a:solidFill>
          <a:ln w="762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720840" y="1664208"/>
            <a:ext cx="1572768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850" b="0">
                <a:solidFill>
                  <a:srgbClr val="282828"/>
                </a:solidFill>
                <a:latin typeface="Malgun Gothic"/>
              </a:rPr>
              <a:t>논리 - 구조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720840" y="1892808"/>
            <a:ext cx="1572768" cy="4114800"/>
          </a:xfrm>
          <a:prstGeom prst="rect">
            <a:avLst/>
          </a:prstGeom>
          <a:solidFill>
            <a:srgbClr val="F7F9F8"/>
          </a:solidFill>
          <a:ln w="1016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793992" y="2011680"/>
            <a:ext cx="1426464" cy="4572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250" b="1">
                <a:solidFill>
                  <a:srgbClr val="232323"/>
                </a:solidFill>
                <a:latin typeface="Malgun Gothic"/>
              </a:rPr>
              <a:t>논리 인터페이스 아키
텍처 모델 정의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12280" y="2596896"/>
            <a:ext cx="1389888" cy="310896"/>
          </a:xfrm>
          <a:prstGeom prst="rect">
            <a:avLst/>
          </a:prstGeom>
          <a:solidFill>
            <a:srgbClr val="D2DAD6"/>
          </a:solidFill>
          <a:ln w="10160">
            <a:solidFill>
              <a:srgbClr val="465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830568" y="2615184"/>
            <a:ext cx="135331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19" b="0">
                <a:solidFill>
                  <a:srgbClr val="282828"/>
                </a:solidFill>
                <a:latin typeface="Malgun Gothic"/>
              </a:rPr>
              <a:t>정보계 인터페이스
표준 정의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812280" y="3026664"/>
            <a:ext cx="1389888" cy="310896"/>
          </a:xfrm>
          <a:prstGeom prst="rect">
            <a:avLst/>
          </a:prstGeom>
          <a:solidFill>
            <a:srgbClr val="D2DAD6"/>
          </a:solidFill>
          <a:ln w="10160">
            <a:solidFill>
              <a:srgbClr val="465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830568" y="3044952"/>
            <a:ext cx="135331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19" b="0">
                <a:solidFill>
                  <a:srgbClr val="282828"/>
                </a:solidFill>
                <a:latin typeface="Malgun Gothic"/>
              </a:rPr>
              <a:t>전체 시스템 컨텍스
트 다이어그램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812280" y="3456432"/>
            <a:ext cx="1389888" cy="1005840"/>
          </a:xfrm>
          <a:prstGeom prst="rect">
            <a:avLst/>
          </a:prstGeom>
          <a:solidFill>
            <a:srgbClr val="D2DAD6"/>
          </a:solidFill>
          <a:ln w="10160">
            <a:solidFill>
              <a:srgbClr val="465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830568" y="3474720"/>
            <a:ext cx="1353312" cy="96926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830" b="0">
                <a:solidFill>
                  <a:srgbClr val="282828"/>
                </a:solidFill>
                <a:latin typeface="Malgun Gothic"/>
              </a:rPr>
              <a:t>목적 시스템별 컨텍
스트 다이어그램
- 마케팅플랫폼
- 데이터플랫폼
- BI포탈플랫폼
- OLAP
- SelfBI
- RDW/ADW 기반
- 기타등등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812280" y="4581144"/>
            <a:ext cx="1389888" cy="310896"/>
          </a:xfrm>
          <a:prstGeom prst="rect">
            <a:avLst/>
          </a:prstGeom>
          <a:solidFill>
            <a:srgbClr val="D2DAD6"/>
          </a:solidFill>
          <a:ln w="10160">
            <a:solidFill>
              <a:srgbClr val="465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830568" y="4599432"/>
            <a:ext cx="135331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19" b="0">
                <a:solidFill>
                  <a:srgbClr val="282828"/>
                </a:solidFill>
                <a:latin typeface="Malgun Gothic"/>
              </a:rPr>
              <a:t>RDW 실시간 연계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812280" y="5010912"/>
            <a:ext cx="1389888" cy="310896"/>
          </a:xfrm>
          <a:prstGeom prst="rect">
            <a:avLst/>
          </a:prstGeom>
          <a:solidFill>
            <a:srgbClr val="D2DAD6"/>
          </a:solidFill>
          <a:ln w="10160">
            <a:solidFill>
              <a:srgbClr val="465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830568" y="5029200"/>
            <a:ext cx="135331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19" b="0">
                <a:solidFill>
                  <a:srgbClr val="282828"/>
                </a:solidFill>
                <a:latin typeface="Malgun Gothic"/>
              </a:rPr>
              <a:t>ADW 실시간 연계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366760" y="1664208"/>
            <a:ext cx="1572768" cy="201168"/>
          </a:xfrm>
          <a:prstGeom prst="rect">
            <a:avLst/>
          </a:prstGeom>
          <a:solidFill>
            <a:srgbClr val="F2F4F3"/>
          </a:solidFill>
          <a:ln w="762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366760" y="1664208"/>
            <a:ext cx="1572768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850" b="0">
                <a:solidFill>
                  <a:srgbClr val="282828"/>
                </a:solidFill>
                <a:latin typeface="Malgun Gothic"/>
              </a:rPr>
              <a:t>물리 - 구조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366760" y="1892808"/>
            <a:ext cx="1572768" cy="4114800"/>
          </a:xfrm>
          <a:prstGeom prst="rect">
            <a:avLst/>
          </a:prstGeom>
          <a:solidFill>
            <a:srgbClr val="F7F9F8"/>
          </a:solidFill>
          <a:ln w="1016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439912" y="2011680"/>
            <a:ext cx="1426464" cy="4572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250" b="1">
                <a:solidFill>
                  <a:srgbClr val="232323"/>
                </a:solidFill>
                <a:latin typeface="Malgun Gothic"/>
              </a:rPr>
              <a:t>물리 기술 아키텍처
모델 정의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458200" y="2596896"/>
            <a:ext cx="1389888" cy="310896"/>
          </a:xfrm>
          <a:prstGeom prst="rect">
            <a:avLst/>
          </a:prstGeom>
          <a:solidFill>
            <a:srgbClr val="D2DAD6"/>
          </a:solidFill>
          <a:ln w="10160">
            <a:solidFill>
              <a:srgbClr val="465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476488" y="2615184"/>
            <a:ext cx="135331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19" b="0">
                <a:solidFill>
                  <a:srgbClr val="282828"/>
                </a:solidFill>
                <a:latin typeface="Malgun Gothic"/>
              </a:rPr>
              <a:t>인프라 구성도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458200" y="3026664"/>
            <a:ext cx="1389888" cy="310896"/>
          </a:xfrm>
          <a:prstGeom prst="rect">
            <a:avLst/>
          </a:prstGeom>
          <a:solidFill>
            <a:srgbClr val="D2DAD6"/>
          </a:solidFill>
          <a:ln w="10160">
            <a:solidFill>
              <a:srgbClr val="465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476488" y="3044952"/>
            <a:ext cx="135331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19" b="0">
                <a:solidFill>
                  <a:srgbClr val="282828"/>
                </a:solidFill>
                <a:latin typeface="Malgun Gothic"/>
              </a:rPr>
              <a:t>인프라 소프트웨어
구성도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458200" y="3456432"/>
            <a:ext cx="1389888" cy="310896"/>
          </a:xfrm>
          <a:prstGeom prst="rect">
            <a:avLst/>
          </a:prstGeom>
          <a:solidFill>
            <a:srgbClr val="D2DAD6"/>
          </a:solidFill>
          <a:ln w="10160">
            <a:solidFill>
              <a:srgbClr val="465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476488" y="3474720"/>
            <a:ext cx="135331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19" b="0">
                <a:solidFill>
                  <a:srgbClr val="282828"/>
                </a:solidFill>
                <a:latin typeface="Malgun Gothic"/>
              </a:rPr>
              <a:t>.....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182880" y="6071616"/>
            <a:ext cx="9802368" cy="0"/>
          </a:xfrm>
          <a:prstGeom prst="line">
            <a:avLst/>
          </a:prstGeom>
          <a:ln w="1016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5074920" y="6089904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0">
                <a:solidFill>
                  <a:srgbClr val="464646"/>
                </a:solidFill>
                <a:latin typeface="Malgun Gothic"/>
              </a:rPr>
              <a:t>15</a:t>
            </a:r>
          </a:p>
        </p:txBody>
      </p:sp>
      <p:sp>
        <p:nvSpPr>
          <p:cNvPr id="73" name="Isosceles Triangle 72"/>
          <p:cNvSpPr/>
          <p:nvPr/>
        </p:nvSpPr>
        <p:spPr>
          <a:xfrm rot="10800000">
            <a:off x="18288" y="6126480"/>
            <a:ext cx="118872" cy="164592"/>
          </a:xfrm>
          <a:prstGeom prst="triangle">
            <a:avLst/>
          </a:prstGeom>
          <a:solidFill>
            <a:srgbClr val="EC9A34"/>
          </a:solidFill>
          <a:ln>
            <a:solidFill>
              <a:srgbClr val="EC9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109728" y="6163056"/>
            <a:ext cx="45720" cy="45720"/>
          </a:xfrm>
          <a:prstGeom prst="ellipse">
            <a:avLst/>
          </a:prstGeom>
          <a:solidFill>
            <a:srgbClr val="EC9A34"/>
          </a:solidFill>
          <a:ln>
            <a:solidFill>
              <a:srgbClr val="EC9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164592" y="6108192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700" b="1">
                <a:solidFill>
                  <a:srgbClr val="26854A"/>
                </a:solidFill>
                <a:latin typeface="Malgun Gothic"/>
              </a:rPr>
              <a:t>농협중앙회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6304" y="91440"/>
            <a:ext cx="7315200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200" b="1">
                <a:solidFill>
                  <a:srgbClr val="232323"/>
                </a:solidFill>
                <a:latin typeface="Malgun Gothic"/>
              </a:rPr>
              <a:t>4. 검증 항목 - 목표 기술 아키텍처 수행 모델 - 수행 과제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46304" y="621792"/>
            <a:ext cx="9875520" cy="0"/>
          </a:xfrm>
          <a:prstGeom prst="line">
            <a:avLst/>
          </a:prstGeom>
          <a:ln w="1905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01168" y="713232"/>
            <a:ext cx="9784080" cy="53035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700" b="1">
                <a:solidFill>
                  <a:srgbClr val="2D2D2D"/>
                </a:solidFill>
                <a:latin typeface="Malgun Gothic"/>
              </a:rPr>
              <a:t>목표 기술 아키텍처 모델 설계를 위한 기반은 선행 ISP 개선과제의 요건 및 선진 정보계 차
세대 아키텍처를 참고하여 제안한 제안서가 Big Picture 아키텍처 모델의 근간이 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310896" y="1481328"/>
            <a:ext cx="1353312" cy="4526280"/>
          </a:xfrm>
          <a:prstGeom prst="rect">
            <a:avLst/>
          </a:prstGeom>
          <a:solidFill>
            <a:srgbClr val="66716C"/>
          </a:solidFill>
          <a:ln w="7620"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1783080"/>
            <a:ext cx="914400" cy="86868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아키텍처
수립</a:t>
            </a:r>
          </a:p>
        </p:txBody>
      </p:sp>
      <p:sp>
        <p:nvSpPr>
          <p:cNvPr id="7" name="Rectangle 6"/>
          <p:cNvSpPr/>
          <p:nvPr/>
        </p:nvSpPr>
        <p:spPr>
          <a:xfrm>
            <a:off x="1783080" y="1481328"/>
            <a:ext cx="8156448" cy="182880"/>
          </a:xfrm>
          <a:prstGeom prst="rect">
            <a:avLst/>
          </a:prstGeom>
          <a:solidFill>
            <a:srgbClr val="222A24"/>
          </a:solidFill>
          <a:ln w="5080">
            <a:solidFill>
              <a:srgbClr val="222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783080" y="1463040"/>
            <a:ext cx="8156448" cy="21031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통합 / 표준 / 실행</a:t>
            </a:r>
          </a:p>
        </p:txBody>
      </p:sp>
      <p:sp>
        <p:nvSpPr>
          <p:cNvPr id="9" name="Rectangle 8"/>
          <p:cNvSpPr/>
          <p:nvPr/>
        </p:nvSpPr>
        <p:spPr>
          <a:xfrm>
            <a:off x="1783080" y="1664208"/>
            <a:ext cx="1572768" cy="201168"/>
          </a:xfrm>
          <a:prstGeom prst="rect">
            <a:avLst/>
          </a:prstGeom>
          <a:solidFill>
            <a:srgbClr val="F2F4F3"/>
          </a:solidFill>
          <a:ln w="762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83080" y="1664208"/>
            <a:ext cx="1572768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850" b="0">
                <a:solidFill>
                  <a:srgbClr val="282828"/>
                </a:solidFill>
                <a:latin typeface="Malgun Gothic"/>
              </a:rPr>
              <a:t>Sol - 구조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83080" y="1892808"/>
            <a:ext cx="1572768" cy="4114800"/>
          </a:xfrm>
          <a:prstGeom prst="rect">
            <a:avLst/>
          </a:prstGeom>
          <a:solidFill>
            <a:srgbClr val="F7F9F8"/>
          </a:solidFill>
          <a:ln w="1016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856232" y="2011680"/>
            <a:ext cx="1426464" cy="4572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250" b="1">
                <a:solidFill>
                  <a:srgbClr val="232323"/>
                </a:solidFill>
                <a:latin typeface="Malgun Gothic"/>
              </a:rPr>
              <a:t>요소 기술 메커니즘
기술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74520" y="2596896"/>
            <a:ext cx="1389888" cy="310896"/>
          </a:xfrm>
          <a:prstGeom prst="rect">
            <a:avLst/>
          </a:prstGeom>
          <a:solidFill>
            <a:srgbClr val="D2DAD6"/>
          </a:solidFill>
          <a:ln w="10160">
            <a:solidFill>
              <a:srgbClr val="465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92808" y="2606040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800" b="0">
                <a:solidFill>
                  <a:srgbClr val="282828"/>
                </a:solidFill>
                <a:latin typeface="Malgun Gothic"/>
              </a:rPr>
              <a:t>정보단말 기술 아키텍
처 구성도 및 메커니즘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74520" y="2967228"/>
            <a:ext cx="1389888" cy="310896"/>
          </a:xfrm>
          <a:prstGeom prst="rect">
            <a:avLst/>
          </a:prstGeom>
          <a:solidFill>
            <a:srgbClr val="D2DAD6"/>
          </a:solidFill>
          <a:ln w="10160">
            <a:solidFill>
              <a:srgbClr val="465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892808" y="29763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800" b="0">
                <a:solidFill>
                  <a:srgbClr val="282828"/>
                </a:solidFill>
                <a:latin typeface="Malgun Gothic"/>
              </a:rPr>
              <a:t>보고서 기술 아키텍처
구성도 및 메커니즘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74520" y="3337560"/>
            <a:ext cx="1389888" cy="310896"/>
          </a:xfrm>
          <a:prstGeom prst="rect">
            <a:avLst/>
          </a:prstGeom>
          <a:solidFill>
            <a:srgbClr val="D2DAD6"/>
          </a:solidFill>
          <a:ln w="10160">
            <a:solidFill>
              <a:srgbClr val="465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892808" y="3346704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800" b="0">
                <a:solidFill>
                  <a:srgbClr val="282828"/>
                </a:solidFill>
                <a:latin typeface="Malgun Gothic"/>
              </a:rPr>
              <a:t>ETI 기술 아키텍처 구성
도 및 메커니즘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74520" y="3707892"/>
            <a:ext cx="1389888" cy="365760"/>
          </a:xfrm>
          <a:prstGeom prst="rect">
            <a:avLst/>
          </a:prstGeom>
          <a:solidFill>
            <a:srgbClr val="D2DAD6"/>
          </a:solidFill>
          <a:ln w="10160">
            <a:solidFill>
              <a:srgbClr val="465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892808" y="3717036"/>
            <a:ext cx="1353312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800" b="0">
                <a:solidFill>
                  <a:srgbClr val="282828"/>
                </a:solidFill>
                <a:latin typeface="Malgun Gothic"/>
              </a:rPr>
              <a:t>App Framework 기술아
키텍처 구성도 및 메커
니즘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74520" y="4133088"/>
            <a:ext cx="1389888" cy="310896"/>
          </a:xfrm>
          <a:prstGeom prst="rect">
            <a:avLst/>
          </a:prstGeom>
          <a:solidFill>
            <a:srgbClr val="D2DAD6"/>
          </a:solidFill>
          <a:ln w="10160">
            <a:solidFill>
              <a:srgbClr val="465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892808" y="414223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800" b="0">
                <a:solidFill>
                  <a:srgbClr val="282828"/>
                </a:solidFill>
                <a:latin typeface="Malgun Gothic"/>
              </a:rPr>
              <a:t>MFT 기술 아키텍처 구
성도 및 메커니즘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74520" y="4503420"/>
            <a:ext cx="1389888" cy="310896"/>
          </a:xfrm>
          <a:prstGeom prst="rect">
            <a:avLst/>
          </a:prstGeom>
          <a:solidFill>
            <a:srgbClr val="D2DAD6"/>
          </a:solidFill>
          <a:ln w="10160">
            <a:solidFill>
              <a:srgbClr val="465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892808" y="4512564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800" b="0">
                <a:solidFill>
                  <a:srgbClr val="282828"/>
                </a:solidFill>
                <a:latin typeface="Malgun Gothic"/>
              </a:rPr>
              <a:t>FOS 기술 아키텍처 구
성도 및 메커니즘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74520" y="4873752"/>
            <a:ext cx="1389888" cy="402336"/>
          </a:xfrm>
          <a:prstGeom prst="rect">
            <a:avLst/>
          </a:prstGeom>
          <a:solidFill>
            <a:srgbClr val="D2DAD6"/>
          </a:solidFill>
          <a:ln w="10160">
            <a:solidFill>
              <a:srgbClr val="465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892808" y="4882896"/>
            <a:ext cx="1353312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800" b="0">
                <a:solidFill>
                  <a:srgbClr val="282828"/>
                </a:solidFill>
                <a:latin typeface="Malgun Gothic"/>
              </a:rPr>
              <a:t>마케팅 전체 통합 기술
아키텍처 구성도 및 메
커니즘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74520" y="5335524"/>
            <a:ext cx="1389888" cy="219456"/>
          </a:xfrm>
          <a:prstGeom prst="rect">
            <a:avLst/>
          </a:prstGeom>
          <a:solidFill>
            <a:srgbClr val="D2DAD6"/>
          </a:solidFill>
          <a:ln w="10160">
            <a:solidFill>
              <a:srgbClr val="465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892808" y="5344668"/>
            <a:ext cx="1353312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800" b="0">
                <a:solidFill>
                  <a:srgbClr val="282828"/>
                </a:solidFill>
                <a:latin typeface="Malgun Gothic"/>
              </a:rPr>
              <a:t>...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29000" y="1664208"/>
            <a:ext cx="1572768" cy="201168"/>
          </a:xfrm>
          <a:prstGeom prst="rect">
            <a:avLst/>
          </a:prstGeom>
          <a:solidFill>
            <a:srgbClr val="F2F4F3"/>
          </a:solidFill>
          <a:ln w="762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429000" y="1664208"/>
            <a:ext cx="1572768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850" b="0">
                <a:solidFill>
                  <a:srgbClr val="282828"/>
                </a:solidFill>
                <a:latin typeface="Malgun Gothic"/>
              </a:rPr>
              <a:t>통합 - 동적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29000" y="1892808"/>
            <a:ext cx="1572768" cy="4114800"/>
          </a:xfrm>
          <a:prstGeom prst="rect">
            <a:avLst/>
          </a:prstGeom>
          <a:solidFill>
            <a:srgbClr val="F7F9F8"/>
          </a:solidFill>
          <a:ln w="1016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502152" y="2011680"/>
            <a:ext cx="1426464" cy="4572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250" b="1">
                <a:solidFill>
                  <a:srgbClr val="232323"/>
                </a:solidFill>
                <a:latin typeface="Malgun Gothic"/>
              </a:rPr>
              <a:t>요소 기술 런타임 아
키텍처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2596896"/>
            <a:ext cx="1389888" cy="310896"/>
          </a:xfrm>
          <a:prstGeom prst="rect">
            <a:avLst/>
          </a:prstGeom>
          <a:solidFill>
            <a:srgbClr val="D2DAD6"/>
          </a:solidFill>
          <a:ln w="10160">
            <a:solidFill>
              <a:srgbClr val="465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538728" y="2606040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800" b="0">
                <a:solidFill>
                  <a:srgbClr val="282828"/>
                </a:solidFill>
                <a:latin typeface="Malgun Gothic"/>
              </a:rPr>
              <a:t>단말 거래 흐름 구성
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40" y="2967228"/>
            <a:ext cx="1389888" cy="420624"/>
          </a:xfrm>
          <a:prstGeom prst="rect">
            <a:avLst/>
          </a:prstGeom>
          <a:solidFill>
            <a:srgbClr val="D2DAD6"/>
          </a:solidFill>
          <a:ln w="10160">
            <a:solidFill>
              <a:srgbClr val="465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538728" y="2976372"/>
            <a:ext cx="1353312" cy="402336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800" b="0">
                <a:solidFill>
                  <a:srgbClr val="282828"/>
                </a:solidFill>
                <a:latin typeface="Malgun Gothic"/>
              </a:rPr>
              <a:t>마케팅 주요거래 흐
름 구성도
상품/커뮤니케이션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20440" y="3447288"/>
            <a:ext cx="1389888" cy="402336"/>
          </a:xfrm>
          <a:prstGeom prst="rect">
            <a:avLst/>
          </a:prstGeom>
          <a:solidFill>
            <a:srgbClr val="D2DAD6"/>
          </a:solidFill>
          <a:ln w="10160">
            <a:solidFill>
              <a:srgbClr val="465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538728" y="3456432"/>
            <a:ext cx="1353312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800" b="0">
                <a:solidFill>
                  <a:srgbClr val="282828"/>
                </a:solidFill>
                <a:latin typeface="Malgun Gothic"/>
              </a:rPr>
              <a:t>데이터플랫폼 주요
거래 흐름
CDC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3909060"/>
            <a:ext cx="1389888" cy="274320"/>
          </a:xfrm>
          <a:prstGeom prst="rect">
            <a:avLst/>
          </a:prstGeom>
          <a:solidFill>
            <a:srgbClr val="D2DAD6"/>
          </a:solidFill>
          <a:ln w="10160">
            <a:solidFill>
              <a:srgbClr val="465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538728" y="3918204"/>
            <a:ext cx="1353312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800" b="0">
                <a:solidFill>
                  <a:srgbClr val="282828"/>
                </a:solidFill>
                <a:latin typeface="Malgun Gothic"/>
              </a:rPr>
              <a:t>UMS 고객 통지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20440" y="4242816"/>
            <a:ext cx="1389888" cy="274320"/>
          </a:xfrm>
          <a:prstGeom prst="rect">
            <a:avLst/>
          </a:prstGeom>
          <a:solidFill>
            <a:srgbClr val="D2DAD6"/>
          </a:solidFill>
          <a:ln w="10160">
            <a:solidFill>
              <a:srgbClr val="465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538728" y="4251960"/>
            <a:ext cx="1353312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800" b="0">
                <a:solidFill>
                  <a:srgbClr val="282828"/>
                </a:solidFill>
                <a:latin typeface="Malgun Gothic"/>
              </a:rPr>
              <a:t>실시간 고객오퍼링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20440" y="4576572"/>
            <a:ext cx="1389888" cy="274320"/>
          </a:xfrm>
          <a:prstGeom prst="rect">
            <a:avLst/>
          </a:prstGeom>
          <a:solidFill>
            <a:srgbClr val="D2DAD6"/>
          </a:solidFill>
          <a:ln w="10160">
            <a:solidFill>
              <a:srgbClr val="465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538728" y="4585716"/>
            <a:ext cx="1353312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800" b="0">
                <a:solidFill>
                  <a:srgbClr val="282828"/>
                </a:solidFill>
                <a:latin typeface="Malgun Gothic"/>
              </a:rPr>
              <a:t>고객행동정보 수집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20440" y="4910328"/>
            <a:ext cx="1389888" cy="256032"/>
          </a:xfrm>
          <a:prstGeom prst="rect">
            <a:avLst/>
          </a:prstGeom>
          <a:solidFill>
            <a:srgbClr val="D2DAD6"/>
          </a:solidFill>
          <a:ln w="10160">
            <a:solidFill>
              <a:srgbClr val="465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538728" y="4919472"/>
            <a:ext cx="1353312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800" b="0">
                <a:solidFill>
                  <a:srgbClr val="282828"/>
                </a:solidFill>
                <a:latin typeface="Malgun Gothic"/>
              </a:rPr>
              <a:t>...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20440" y="5225796"/>
            <a:ext cx="1389888" cy="274320"/>
          </a:xfrm>
          <a:prstGeom prst="rect">
            <a:avLst/>
          </a:prstGeom>
          <a:solidFill>
            <a:srgbClr val="D2DAD6"/>
          </a:solidFill>
          <a:ln w="10160">
            <a:solidFill>
              <a:srgbClr val="465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538728" y="5234940"/>
            <a:ext cx="1353312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800" b="0">
                <a:solidFill>
                  <a:srgbClr val="282828"/>
                </a:solidFill>
                <a:latin typeface="Malgun Gothic"/>
              </a:rPr>
              <a:t>보고서 거래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74920" y="1664208"/>
            <a:ext cx="1572768" cy="201168"/>
          </a:xfrm>
          <a:prstGeom prst="rect">
            <a:avLst/>
          </a:prstGeom>
          <a:solidFill>
            <a:srgbClr val="F2F4F3"/>
          </a:solidFill>
          <a:ln w="762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074920" y="1664208"/>
            <a:ext cx="1572768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850" b="0">
                <a:solidFill>
                  <a:srgbClr val="282828"/>
                </a:solidFill>
                <a:latin typeface="Malgun Gothic"/>
              </a:rPr>
              <a:t>..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74920" y="1892808"/>
            <a:ext cx="1572768" cy="4114800"/>
          </a:xfrm>
          <a:prstGeom prst="rect">
            <a:avLst/>
          </a:prstGeom>
          <a:solidFill>
            <a:srgbClr val="F7F9F8"/>
          </a:solidFill>
          <a:ln w="1016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148072" y="2011680"/>
            <a:ext cx="1426464" cy="4572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250" b="1">
                <a:solidFill>
                  <a:srgbClr val="232323"/>
                </a:solidFill>
                <a:latin typeface="Malgun Gothic"/>
              </a:rPr>
              <a:t>..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166360" y="2596896"/>
            <a:ext cx="1389888" cy="329184"/>
          </a:xfrm>
          <a:prstGeom prst="rect">
            <a:avLst/>
          </a:prstGeom>
          <a:solidFill>
            <a:srgbClr val="D2DAD6"/>
          </a:solidFill>
          <a:ln w="10160">
            <a:solidFill>
              <a:srgbClr val="465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84648" y="2606040"/>
            <a:ext cx="135331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800" b="0">
                <a:solidFill>
                  <a:srgbClr val="282828"/>
                </a:solidFill>
                <a:latin typeface="Malgun Gothic"/>
              </a:rPr>
              <a:t>..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166360" y="2985516"/>
            <a:ext cx="1389888" cy="329184"/>
          </a:xfrm>
          <a:prstGeom prst="rect">
            <a:avLst/>
          </a:prstGeom>
          <a:solidFill>
            <a:srgbClr val="D2DAD6"/>
          </a:solidFill>
          <a:ln w="10160">
            <a:solidFill>
              <a:srgbClr val="465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184648" y="2994660"/>
            <a:ext cx="135331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800" b="0">
                <a:solidFill>
                  <a:srgbClr val="282828"/>
                </a:solidFill>
                <a:latin typeface="Malgun Gothic"/>
              </a:rPr>
              <a:t>..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166360" y="3374136"/>
            <a:ext cx="1389888" cy="329184"/>
          </a:xfrm>
          <a:prstGeom prst="rect">
            <a:avLst/>
          </a:prstGeom>
          <a:solidFill>
            <a:srgbClr val="D2DAD6"/>
          </a:solidFill>
          <a:ln w="10160">
            <a:solidFill>
              <a:srgbClr val="465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184648" y="3383280"/>
            <a:ext cx="135331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800" b="0">
                <a:solidFill>
                  <a:srgbClr val="282828"/>
                </a:solidFill>
                <a:latin typeface="Malgun Gothic"/>
              </a:rPr>
              <a:t>..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66360" y="3762756"/>
            <a:ext cx="1389888" cy="274320"/>
          </a:xfrm>
          <a:prstGeom prst="rect">
            <a:avLst/>
          </a:prstGeom>
          <a:solidFill>
            <a:srgbClr val="D2DAD6"/>
          </a:solidFill>
          <a:ln w="10160">
            <a:solidFill>
              <a:srgbClr val="465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184648" y="3771900"/>
            <a:ext cx="1353312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800" b="0">
                <a:solidFill>
                  <a:srgbClr val="282828"/>
                </a:solidFill>
                <a:latin typeface="Malgun Gothic"/>
              </a:rPr>
              <a:t>..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166360" y="4096512"/>
            <a:ext cx="1389888" cy="274320"/>
          </a:xfrm>
          <a:prstGeom prst="rect">
            <a:avLst/>
          </a:prstGeom>
          <a:solidFill>
            <a:srgbClr val="D2DAD6"/>
          </a:solidFill>
          <a:ln w="10160">
            <a:solidFill>
              <a:srgbClr val="465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84648" y="4105656"/>
            <a:ext cx="1353312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800" b="0">
                <a:solidFill>
                  <a:srgbClr val="282828"/>
                </a:solidFill>
                <a:latin typeface="Malgun Gothic"/>
              </a:rPr>
              <a:t>..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166360" y="4430268"/>
            <a:ext cx="1389888" cy="274320"/>
          </a:xfrm>
          <a:prstGeom prst="rect">
            <a:avLst/>
          </a:prstGeom>
          <a:solidFill>
            <a:srgbClr val="D2DAD6"/>
          </a:solidFill>
          <a:ln w="10160">
            <a:solidFill>
              <a:srgbClr val="465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184648" y="4439412"/>
            <a:ext cx="1353312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800" b="0">
                <a:solidFill>
                  <a:srgbClr val="282828"/>
                </a:solidFill>
                <a:latin typeface="Malgun Gothic"/>
              </a:rPr>
              <a:t>..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166360" y="4764024"/>
            <a:ext cx="1389888" cy="274320"/>
          </a:xfrm>
          <a:prstGeom prst="rect">
            <a:avLst/>
          </a:prstGeom>
          <a:solidFill>
            <a:srgbClr val="D2DAD6"/>
          </a:solidFill>
          <a:ln w="10160">
            <a:solidFill>
              <a:srgbClr val="465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184648" y="4773168"/>
            <a:ext cx="1353312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800" b="0">
                <a:solidFill>
                  <a:srgbClr val="282828"/>
                </a:solidFill>
                <a:latin typeface="Malgun Gothic"/>
              </a:rPr>
              <a:t>..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720840" y="1664208"/>
            <a:ext cx="1572768" cy="201168"/>
          </a:xfrm>
          <a:prstGeom prst="rect">
            <a:avLst/>
          </a:prstGeom>
          <a:solidFill>
            <a:srgbClr val="F2F4F3"/>
          </a:solidFill>
          <a:ln w="762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720840" y="1664208"/>
            <a:ext cx="1572768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850" b="0">
                <a:solidFill>
                  <a:srgbClr val="282828"/>
                </a:solidFill>
                <a:latin typeface="Malgun Gothic"/>
              </a:rPr>
              <a:t>..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720840" y="1892808"/>
            <a:ext cx="1572768" cy="4114800"/>
          </a:xfrm>
          <a:prstGeom prst="rect">
            <a:avLst/>
          </a:prstGeom>
          <a:solidFill>
            <a:srgbClr val="F7F9F8"/>
          </a:solidFill>
          <a:ln w="1016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793992" y="2011680"/>
            <a:ext cx="1426464" cy="4572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250" b="1">
                <a:solidFill>
                  <a:srgbClr val="232323"/>
                </a:solidFill>
                <a:latin typeface="Malgun Gothic"/>
              </a:rPr>
              <a:t>..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812280" y="2596896"/>
            <a:ext cx="1389888" cy="329184"/>
          </a:xfrm>
          <a:prstGeom prst="rect">
            <a:avLst/>
          </a:prstGeom>
          <a:solidFill>
            <a:srgbClr val="D2DAD6"/>
          </a:solidFill>
          <a:ln w="10160">
            <a:solidFill>
              <a:srgbClr val="465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830568" y="2606040"/>
            <a:ext cx="135331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800" b="0">
                <a:solidFill>
                  <a:srgbClr val="282828"/>
                </a:solidFill>
                <a:latin typeface="Malgun Gothic"/>
              </a:rPr>
              <a:t>..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812280" y="2985516"/>
            <a:ext cx="1389888" cy="329184"/>
          </a:xfrm>
          <a:prstGeom prst="rect">
            <a:avLst/>
          </a:prstGeom>
          <a:solidFill>
            <a:srgbClr val="D2DAD6"/>
          </a:solidFill>
          <a:ln w="10160">
            <a:solidFill>
              <a:srgbClr val="465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830568" y="2994660"/>
            <a:ext cx="135331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800" b="0">
                <a:solidFill>
                  <a:srgbClr val="282828"/>
                </a:solidFill>
                <a:latin typeface="Malgun Gothic"/>
              </a:rPr>
              <a:t>..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812280" y="3374136"/>
            <a:ext cx="1389888" cy="329184"/>
          </a:xfrm>
          <a:prstGeom prst="rect">
            <a:avLst/>
          </a:prstGeom>
          <a:solidFill>
            <a:srgbClr val="D2DAD6"/>
          </a:solidFill>
          <a:ln w="10160">
            <a:solidFill>
              <a:srgbClr val="465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830568" y="3383280"/>
            <a:ext cx="135331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800" b="0">
                <a:solidFill>
                  <a:srgbClr val="282828"/>
                </a:solidFill>
                <a:latin typeface="Malgun Gothic"/>
              </a:rPr>
              <a:t>..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366760" y="1664208"/>
            <a:ext cx="1572768" cy="201168"/>
          </a:xfrm>
          <a:prstGeom prst="rect">
            <a:avLst/>
          </a:prstGeom>
          <a:solidFill>
            <a:srgbClr val="F2F4F3"/>
          </a:solidFill>
          <a:ln w="762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8366760" y="1664208"/>
            <a:ext cx="1572768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850" b="0">
                <a:solidFill>
                  <a:srgbClr val="282828"/>
                </a:solidFill>
                <a:latin typeface="Malgun Gothic"/>
              </a:rPr>
              <a:t>-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366760" y="1892808"/>
            <a:ext cx="1572768" cy="4114800"/>
          </a:xfrm>
          <a:prstGeom prst="rect">
            <a:avLst/>
          </a:prstGeom>
          <a:solidFill>
            <a:srgbClr val="F7F9F8"/>
          </a:solidFill>
          <a:ln w="1016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439912" y="2011680"/>
            <a:ext cx="1426464" cy="4572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250" b="1">
                <a:solidFill>
                  <a:srgbClr val="232323"/>
                </a:solidFill>
                <a:latin typeface="Malgun Gothic"/>
              </a:rPr>
              <a:t>..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458200" y="2596896"/>
            <a:ext cx="1389888" cy="329184"/>
          </a:xfrm>
          <a:prstGeom prst="rect">
            <a:avLst/>
          </a:prstGeom>
          <a:solidFill>
            <a:srgbClr val="D2DAD6"/>
          </a:solidFill>
          <a:ln w="10160">
            <a:solidFill>
              <a:srgbClr val="465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8476488" y="2606040"/>
            <a:ext cx="135331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800" b="0">
                <a:solidFill>
                  <a:srgbClr val="282828"/>
                </a:solidFill>
                <a:latin typeface="Malgun Gothic"/>
              </a:rPr>
              <a:t>..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458200" y="2985516"/>
            <a:ext cx="1389888" cy="329184"/>
          </a:xfrm>
          <a:prstGeom prst="rect">
            <a:avLst/>
          </a:prstGeom>
          <a:solidFill>
            <a:srgbClr val="D2DAD6"/>
          </a:solidFill>
          <a:ln w="10160">
            <a:solidFill>
              <a:srgbClr val="465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8476488" y="2994660"/>
            <a:ext cx="135331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800" b="0">
                <a:solidFill>
                  <a:srgbClr val="282828"/>
                </a:solidFill>
                <a:latin typeface="Malgun Gothic"/>
              </a:rPr>
              <a:t>..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458200" y="3374136"/>
            <a:ext cx="1389888" cy="1115568"/>
          </a:xfrm>
          <a:prstGeom prst="rect">
            <a:avLst/>
          </a:prstGeom>
          <a:solidFill>
            <a:srgbClr val="D2DAD6"/>
          </a:solidFill>
          <a:ln w="10160">
            <a:solidFill>
              <a:srgbClr val="465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476488" y="3383280"/>
            <a:ext cx="1353312" cy="109728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780" b="0">
                <a:solidFill>
                  <a:srgbClr val="282828"/>
                </a:solidFill>
                <a:latin typeface="Malgun Gothic"/>
              </a:rPr>
              <a:t>..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783080" y="5870448"/>
            <a:ext cx="7863840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00" b="0">
                <a:solidFill>
                  <a:srgbClr val="3C3C3C"/>
                </a:solidFill>
                <a:latin typeface="Malgun Gothic"/>
              </a:rPr>
              <a:t>※ 도입 솔루션 영역의 설계 단계에서 상세화 됨 (아키텍처 영역 링크 참조)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182880" y="6089904"/>
            <a:ext cx="9802368" cy="0"/>
          </a:xfrm>
          <a:prstGeom prst="line">
            <a:avLst/>
          </a:prstGeom>
          <a:ln w="1016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5074920" y="6108192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0">
                <a:solidFill>
                  <a:srgbClr val="464646"/>
                </a:solidFill>
                <a:latin typeface="Malgun Gothic"/>
              </a:rPr>
              <a:t>16</a:t>
            </a:r>
          </a:p>
        </p:txBody>
      </p:sp>
      <p:sp>
        <p:nvSpPr>
          <p:cNvPr id="90" name="Isosceles Triangle 89"/>
          <p:cNvSpPr/>
          <p:nvPr/>
        </p:nvSpPr>
        <p:spPr>
          <a:xfrm rot="10800000">
            <a:off x="18288" y="6126480"/>
            <a:ext cx="118872" cy="164592"/>
          </a:xfrm>
          <a:prstGeom prst="triangle">
            <a:avLst/>
          </a:prstGeom>
          <a:solidFill>
            <a:srgbClr val="EC9A34"/>
          </a:solidFill>
          <a:ln>
            <a:solidFill>
              <a:srgbClr val="EC9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109728" y="6163056"/>
            <a:ext cx="45720" cy="45720"/>
          </a:xfrm>
          <a:prstGeom prst="ellipse">
            <a:avLst/>
          </a:prstGeom>
          <a:solidFill>
            <a:srgbClr val="EC9A34"/>
          </a:solidFill>
          <a:ln>
            <a:solidFill>
              <a:srgbClr val="EC9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64592" y="6108192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700" b="1">
                <a:solidFill>
                  <a:srgbClr val="26854A"/>
                </a:solidFill>
                <a:latin typeface="Malgun Gothic"/>
              </a:rPr>
              <a:t>농협중앙회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6304" y="91440"/>
            <a:ext cx="694944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200" b="1">
                <a:solidFill>
                  <a:srgbClr val="2D2D2D"/>
                </a:solidFill>
                <a:latin typeface="Malgun Gothic"/>
              </a:rPr>
              <a:t>4. 검증 항목 - 목표 기술 아키텍처 수행 모델 - 수행 과제 검증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28016" y="576072"/>
            <a:ext cx="9838944" cy="0"/>
          </a:xfrm>
          <a:prstGeom prst="line">
            <a:avLst/>
          </a:prstGeom>
          <a:ln w="19050">
            <a:solidFill>
              <a:srgbClr val="3737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46304" y="676656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0">
                <a:solidFill>
                  <a:srgbClr val="2D2D2D"/>
                </a:solidFill>
                <a:latin typeface="Malgun Gothic"/>
              </a:rPr>
              <a:t>선행 아키텍처 분석을 통해 개선 핵심이슈를 이해하고 아키텍처 영역에 합당한 변화 방향
성을 도출한다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06040" y="1316736"/>
            <a:ext cx="3749039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900" b="1">
                <a:solidFill>
                  <a:srgbClr val="A84E49"/>
                </a:solidFill>
                <a:latin typeface="Malgun Gothic"/>
              </a:rPr>
              <a:t>아키텍처 변화 방향성 수행 모델 최적화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920240"/>
            <a:ext cx="4480560" cy="4160520"/>
          </a:xfrm>
          <a:prstGeom prst="rect">
            <a:avLst/>
          </a:prstGeom>
          <a:solidFill>
            <a:srgbClr val="F6F9F7"/>
          </a:solidFill>
          <a:ln w="1016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91640" y="1993392"/>
            <a:ext cx="16459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00" b="1">
                <a:solidFill>
                  <a:srgbClr val="2D2D2D"/>
                </a:solidFill>
                <a:latin typeface="Malgun Gothic"/>
              </a:rPr>
              <a:t>아키텍처 개선과제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" y="2395728"/>
            <a:ext cx="3977639" cy="256032"/>
          </a:xfrm>
          <a:prstGeom prst="rect">
            <a:avLst/>
          </a:prstGeom>
          <a:solidFill>
            <a:srgbClr val="E4D01C"/>
          </a:solidFill>
          <a:ln w="635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3776" y="2414016"/>
            <a:ext cx="356616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80" b="0">
                <a:solidFill>
                  <a:srgbClr val="373737"/>
                </a:solidFill>
                <a:latin typeface="Malgun Gothic"/>
              </a:rPr>
              <a:t>IT 기술 아키텍처 및 개발환경 표준화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6040" y="2734056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06040" y="2743200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360" y="2734056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80360" y="2743200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54680" y="2734056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54680" y="2743200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29000" y="2734056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29000" y="2743200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04488" y="2734056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04488" y="2743200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78808" y="2734056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78808" y="2743200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53128" y="2734056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53128" y="2743200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27448" y="2734056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27448" y="2743200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01768" y="2734056"/>
            <a:ext cx="256032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01768" y="2743200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10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76088" y="2734056"/>
            <a:ext cx="256032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276088" y="2743200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11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2336" y="3017520"/>
            <a:ext cx="3977639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93776" y="3035808"/>
            <a:ext cx="356616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80" b="0">
                <a:solidFill>
                  <a:srgbClr val="373737"/>
                </a:solidFill>
                <a:latin typeface="Malgun Gothic"/>
              </a:rPr>
              <a:t>정보계 주요 인프라 아키텍처 구성 방안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06040" y="3355848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606040" y="3364992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80360" y="3355848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880360" y="3364992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54680" y="3355848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154680" y="3364992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29000" y="3355848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429000" y="3364992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03320" y="3355848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703320" y="3364992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77640" y="3355848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977640" y="3364992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51960" y="3355848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251960" y="3364992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26280" y="3355848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526280" y="3364992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00600" y="3355848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800600" y="3364992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9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74920" y="3355848"/>
            <a:ext cx="256032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074920" y="3364992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10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49240" y="3355848"/>
            <a:ext cx="256032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349240" y="3364992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11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02336" y="3639312"/>
            <a:ext cx="3977639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93776" y="3657600"/>
            <a:ext cx="356616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80" b="0">
                <a:solidFill>
                  <a:srgbClr val="373737"/>
                </a:solidFill>
                <a:latin typeface="Malgun Gothic"/>
              </a:rPr>
              <a:t>농협상호금융 통합 데이터 플랫폼 구성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606040" y="3977640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606040" y="3986784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880360" y="3977640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880360" y="3986784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023360" y="3977640"/>
            <a:ext cx="256032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023360" y="3986784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11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02336" y="4261104"/>
            <a:ext cx="3977639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93776" y="4279392"/>
            <a:ext cx="356616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80" b="0">
                <a:solidFill>
                  <a:srgbClr val="373737"/>
                </a:solidFill>
                <a:latin typeface="Malgun Gothic"/>
              </a:rPr>
              <a:t>정보계 인터페이스 표준화 정의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606040" y="4599432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2606040" y="4608576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880360" y="4599432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2880360" y="4608576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154680" y="4599432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3154680" y="4608576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429000" y="4599432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429000" y="4608576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02336" y="4882896"/>
            <a:ext cx="3977639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93776" y="4901184"/>
            <a:ext cx="356616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80" b="0">
                <a:solidFill>
                  <a:srgbClr val="373737"/>
                </a:solidFill>
                <a:latin typeface="Malgun Gothic"/>
              </a:rPr>
              <a:t>정보계 권한관리 시스템 구성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606040" y="5221224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2606040" y="5230368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7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02336" y="5504688"/>
            <a:ext cx="3977639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493776" y="5522976"/>
            <a:ext cx="356616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80" b="0">
                <a:solidFill>
                  <a:srgbClr val="373737"/>
                </a:solidFill>
                <a:latin typeface="Malgun Gothic"/>
              </a:rPr>
              <a:t>장애대응, 역량강화를 위한 모니터링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606040" y="5843016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606040" y="5852160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880360" y="5843016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2880360" y="5852160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657600" y="5843016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3657600" y="5852160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8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931920" y="5843016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3931920" y="5852160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9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206240" y="5843016"/>
            <a:ext cx="256032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4206240" y="5852160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10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212080" y="1938528"/>
            <a:ext cx="603504" cy="502920"/>
          </a:xfrm>
          <a:prstGeom prst="rect">
            <a:avLst/>
          </a:prstGeom>
          <a:solidFill>
            <a:srgbClr val="EFF1EF"/>
          </a:solidFill>
          <a:ln w="762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239512" y="1993392"/>
            <a:ext cx="54864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373737"/>
                </a:solidFill>
                <a:latin typeface="Malgun Gothic"/>
              </a:rPr>
              <a:t>상위 응용
기능 체계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943600" y="2359152"/>
            <a:ext cx="658368" cy="566928"/>
          </a:xfrm>
          <a:prstGeom prst="rect">
            <a:avLst/>
          </a:prstGeom>
          <a:solidFill>
            <a:srgbClr val="E4D01C"/>
          </a:solidFill>
          <a:ln w="762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5989320" y="2468880"/>
            <a:ext cx="566928" cy="34747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373737"/>
                </a:solidFill>
                <a:latin typeface="Malgun Gothic"/>
              </a:rPr>
              <a:t>목표 개념
아키텍처
모델 정의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949439" y="2331720"/>
            <a:ext cx="685800" cy="713232"/>
          </a:xfrm>
          <a:prstGeom prst="rect">
            <a:avLst/>
          </a:prstGeom>
          <a:solidFill>
            <a:srgbClr val="E4D01C"/>
          </a:solidFill>
          <a:ln w="762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6986015" y="2404872"/>
            <a:ext cx="612648" cy="5486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373737"/>
                </a:solidFill>
                <a:latin typeface="Malgun Gothic"/>
              </a:rPr>
              <a:t>논리 데이
터 아키텍
처 모델 정
의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949439" y="3090672"/>
            <a:ext cx="685800" cy="713232"/>
          </a:xfrm>
          <a:prstGeom prst="rect">
            <a:avLst/>
          </a:prstGeom>
          <a:solidFill>
            <a:srgbClr val="E4D01C"/>
          </a:solidFill>
          <a:ln w="762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6986015" y="3163824"/>
            <a:ext cx="612648" cy="5486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373737"/>
                </a:solidFill>
                <a:latin typeface="Malgun Gothic"/>
              </a:rPr>
              <a:t>논리 기술
아키텍처
모델 정의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949439" y="3858768"/>
            <a:ext cx="685800" cy="713232"/>
          </a:xfrm>
          <a:prstGeom prst="rect">
            <a:avLst/>
          </a:prstGeom>
          <a:solidFill>
            <a:srgbClr val="E4D01C"/>
          </a:solidFill>
          <a:ln w="762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6986015" y="3931920"/>
            <a:ext cx="612648" cy="5486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373737"/>
                </a:solidFill>
                <a:latin typeface="Malgun Gothic"/>
              </a:rPr>
              <a:t>논리 인터
페이스 아
키텍처 모
델 정의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138160" y="3227832"/>
            <a:ext cx="713232" cy="749808"/>
          </a:xfrm>
          <a:prstGeom prst="rect">
            <a:avLst/>
          </a:prstGeom>
          <a:solidFill>
            <a:srgbClr val="E4D01C"/>
          </a:solidFill>
          <a:ln w="762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8183880" y="3346704"/>
            <a:ext cx="621792" cy="47548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373737"/>
                </a:solidFill>
                <a:latin typeface="Malgun Gothic"/>
              </a:rPr>
              <a:t>물리기술
아키텍처
모델 정의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144000" y="3227832"/>
            <a:ext cx="713232" cy="749808"/>
          </a:xfrm>
          <a:prstGeom prst="rect">
            <a:avLst/>
          </a:prstGeom>
          <a:solidFill>
            <a:srgbClr val="E4D01C"/>
          </a:solidFill>
          <a:ln w="762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9189720" y="3346704"/>
            <a:ext cx="621792" cy="47548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373737"/>
                </a:solidFill>
                <a:latin typeface="Malgun Gothic"/>
              </a:rPr>
              <a:t>요소기술
메커니즘
기술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812280" y="4645152"/>
            <a:ext cx="3291840" cy="256032"/>
          </a:xfrm>
          <a:prstGeom prst="rect">
            <a:avLst/>
          </a:prstGeom>
          <a:solidFill>
            <a:srgbClr val="E4D01C"/>
          </a:solidFill>
          <a:ln w="762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6949439" y="4681728"/>
            <a:ext cx="3017520" cy="12801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50" b="0">
                <a:solidFill>
                  <a:srgbClr val="373737"/>
                </a:solidFill>
                <a:latin typeface="Malgun Gothic"/>
              </a:rPr>
              <a:t>요소 기술 통합 런타임 아키텍처 모델 정의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5513832" y="2441448"/>
            <a:ext cx="0" cy="1645920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5513832" y="2624328"/>
            <a:ext cx="1435607" cy="0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5513832" y="3456432"/>
            <a:ext cx="1435607" cy="0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5513832" y="4206240"/>
            <a:ext cx="1435607" cy="0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5513832" y="2441448"/>
            <a:ext cx="758952" cy="0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6601968" y="2642616"/>
            <a:ext cx="347471" cy="0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7296911" y="3044952"/>
            <a:ext cx="0" cy="45720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296911" y="3803904"/>
            <a:ext cx="0" cy="54864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7635239" y="2697480"/>
            <a:ext cx="502921" cy="0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8851392" y="2697480"/>
            <a:ext cx="292608" cy="0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7635239" y="3447288"/>
            <a:ext cx="502921" cy="0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8851392" y="3447288"/>
            <a:ext cx="292608" cy="0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7635239" y="4215384"/>
            <a:ext cx="502921" cy="0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8851392" y="4215384"/>
            <a:ext cx="292608" cy="0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8494776" y="3977639"/>
            <a:ext cx="0" cy="667513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9500616" y="3977639"/>
            <a:ext cx="0" cy="667513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7296911" y="4572000"/>
            <a:ext cx="0" cy="73152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Rectangle 120"/>
          <p:cNvSpPr/>
          <p:nvPr/>
        </p:nvSpPr>
        <p:spPr>
          <a:xfrm>
            <a:off x="5184648" y="5138928"/>
            <a:ext cx="658368" cy="530352"/>
          </a:xfrm>
          <a:prstGeom prst="rect">
            <a:avLst/>
          </a:prstGeom>
          <a:solidFill>
            <a:srgbClr val="EFF1EF"/>
          </a:solidFill>
          <a:ln w="762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5221224" y="5230368"/>
            <a:ext cx="585216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373737"/>
                </a:solidFill>
                <a:latin typeface="Malgun Gothic"/>
              </a:rPr>
              <a:t>형상/배포
기술 아키
텍처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5934456" y="5138928"/>
            <a:ext cx="658368" cy="530352"/>
          </a:xfrm>
          <a:prstGeom prst="rect">
            <a:avLst/>
          </a:prstGeom>
          <a:solidFill>
            <a:srgbClr val="E4D01C"/>
          </a:solidFill>
          <a:ln w="762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5971032" y="5230368"/>
            <a:ext cx="585216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373737"/>
                </a:solidFill>
                <a:latin typeface="Malgun Gothic"/>
              </a:rPr>
              <a:t>통합개발
환경 구성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684264" y="5138928"/>
            <a:ext cx="658368" cy="530352"/>
          </a:xfrm>
          <a:prstGeom prst="rect">
            <a:avLst/>
          </a:prstGeom>
          <a:solidFill>
            <a:srgbClr val="E4D01C"/>
          </a:solidFill>
          <a:ln w="762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6720840" y="5230368"/>
            <a:ext cx="585216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373737"/>
                </a:solidFill>
                <a:latin typeface="Malgun Gothic"/>
              </a:rPr>
              <a:t>개발표준
가이드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434072" y="5138928"/>
            <a:ext cx="658368" cy="530352"/>
          </a:xfrm>
          <a:prstGeom prst="rect">
            <a:avLst/>
          </a:prstGeom>
          <a:solidFill>
            <a:srgbClr val="E4D01C"/>
          </a:solidFill>
          <a:ln w="762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7470648" y="5230368"/>
            <a:ext cx="585216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373737"/>
                </a:solidFill>
                <a:latin typeface="Malgun Gothic"/>
              </a:rPr>
              <a:t>선도개발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183880" y="5138928"/>
            <a:ext cx="658368" cy="530352"/>
          </a:xfrm>
          <a:prstGeom prst="rect">
            <a:avLst/>
          </a:prstGeom>
          <a:solidFill>
            <a:srgbClr val="E4D01C"/>
          </a:solidFill>
          <a:ln w="762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8220456" y="5230368"/>
            <a:ext cx="585216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373737"/>
                </a:solidFill>
                <a:latin typeface="Malgun Gothic"/>
              </a:rPr>
              <a:t>시스템 테
스트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065776" y="5907024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464646"/>
                </a:solidFill>
                <a:latin typeface="Malgun Gothic"/>
              </a:rPr>
              <a:t>17</a:t>
            </a:r>
          </a:p>
        </p:txBody>
      </p:sp>
      <p:sp>
        <p:nvSpPr>
          <p:cNvPr id="132" name="Isosceles Triangle 131"/>
          <p:cNvSpPr/>
          <p:nvPr/>
        </p:nvSpPr>
        <p:spPr>
          <a:xfrm rot="10800000">
            <a:off x="18288" y="5815584"/>
            <a:ext cx="118872" cy="164592"/>
          </a:xfrm>
          <a:prstGeom prst="triangle">
            <a:avLst/>
          </a:prstGeom>
          <a:solidFill>
            <a:srgbClr val="EC9A34"/>
          </a:solidFill>
          <a:ln>
            <a:solidFill>
              <a:srgbClr val="EC9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Oval 132"/>
          <p:cNvSpPr/>
          <p:nvPr/>
        </p:nvSpPr>
        <p:spPr>
          <a:xfrm>
            <a:off x="109728" y="5852160"/>
            <a:ext cx="45720" cy="45720"/>
          </a:xfrm>
          <a:prstGeom prst="ellipse">
            <a:avLst/>
          </a:prstGeom>
          <a:solidFill>
            <a:srgbClr val="EC9A34"/>
          </a:solidFill>
          <a:ln>
            <a:solidFill>
              <a:srgbClr val="EC9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164592" y="5806440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>
                <a:solidFill>
                  <a:srgbClr val="26854A"/>
                </a:solidFill>
                <a:latin typeface="Malgun Gothic"/>
              </a:rPr>
              <a:t>농협중앙회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6304" y="91440"/>
            <a:ext cx="694944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200" b="1">
                <a:solidFill>
                  <a:srgbClr val="2D2D2D"/>
                </a:solidFill>
                <a:latin typeface="Malgun Gothic"/>
              </a:rPr>
              <a:t>4. 검증 항목 - 목표 기술 아키텍처 수행 모델 - 수행 과제 검증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28016" y="576072"/>
            <a:ext cx="9838944" cy="0"/>
          </a:xfrm>
          <a:prstGeom prst="line">
            <a:avLst/>
          </a:prstGeom>
          <a:ln w="19050">
            <a:solidFill>
              <a:srgbClr val="3737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46304" y="676656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0">
                <a:solidFill>
                  <a:srgbClr val="2D2D2D"/>
                </a:solidFill>
                <a:latin typeface="Malgun Gothic"/>
              </a:rPr>
              <a:t>선행 아키텍처 분석을 통해 개선 핵심이슈를 이해하고 아키텍처 영역에 합당한 변화 방향
성을 도출한다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06040" y="1316736"/>
            <a:ext cx="3749039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900" b="1">
                <a:solidFill>
                  <a:srgbClr val="A84E49"/>
                </a:solidFill>
                <a:latin typeface="Malgun Gothic"/>
              </a:rPr>
              <a:t>아키텍처 변화 방향성 수행 모델 최적화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920240"/>
            <a:ext cx="4480560" cy="4160520"/>
          </a:xfrm>
          <a:prstGeom prst="rect">
            <a:avLst/>
          </a:prstGeom>
          <a:solidFill>
            <a:srgbClr val="F6F9F7"/>
          </a:solidFill>
          <a:ln w="1016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91640" y="1993392"/>
            <a:ext cx="16459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00" b="1">
                <a:solidFill>
                  <a:srgbClr val="2D2D2D"/>
                </a:solidFill>
                <a:latin typeface="Malgun Gothic"/>
              </a:rPr>
              <a:t>아키텍처 개선과제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" y="2395728"/>
            <a:ext cx="3977639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3776" y="2414016"/>
            <a:ext cx="356616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80" b="0">
                <a:solidFill>
                  <a:srgbClr val="373737"/>
                </a:solidFill>
                <a:latin typeface="Malgun Gothic"/>
              </a:rPr>
              <a:t>IT 기술 아키텍처 및 개발환경 표준화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6040" y="2734056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06040" y="2743200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360" y="2734056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80360" y="2743200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54680" y="2734056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54680" y="2743200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29000" y="2734056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29000" y="2743200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04488" y="2734056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04488" y="2743200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78808" y="2734056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78808" y="2743200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53128" y="2734056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53128" y="2743200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27448" y="2734056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27448" y="2743200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01768" y="2734056"/>
            <a:ext cx="256032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01768" y="2743200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10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76088" y="2734056"/>
            <a:ext cx="256032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276088" y="2743200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11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2336" y="3017520"/>
            <a:ext cx="3977639" cy="256032"/>
          </a:xfrm>
          <a:prstGeom prst="rect">
            <a:avLst/>
          </a:prstGeom>
          <a:solidFill>
            <a:srgbClr val="E4D01C"/>
          </a:solidFill>
          <a:ln w="635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93776" y="3035808"/>
            <a:ext cx="356616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80" b="0">
                <a:solidFill>
                  <a:srgbClr val="373737"/>
                </a:solidFill>
                <a:latin typeface="Malgun Gothic"/>
              </a:rPr>
              <a:t>정보계 주요 인프라 아키텍처 구성 방안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06040" y="3355848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606040" y="3364992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80360" y="3355848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880360" y="3364992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54680" y="3355848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154680" y="3364992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29000" y="3355848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429000" y="3364992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03320" y="3355848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703320" y="3364992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77640" y="3355848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977640" y="3364992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51960" y="3355848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251960" y="3364992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26280" y="3355848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526280" y="3364992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00600" y="3355848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800600" y="3364992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9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74920" y="3355848"/>
            <a:ext cx="256032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074920" y="3364992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10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49240" y="3355848"/>
            <a:ext cx="256032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349240" y="3364992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11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02336" y="3639312"/>
            <a:ext cx="3977639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93776" y="3657600"/>
            <a:ext cx="356616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80" b="0">
                <a:solidFill>
                  <a:srgbClr val="373737"/>
                </a:solidFill>
                <a:latin typeface="Malgun Gothic"/>
              </a:rPr>
              <a:t>농협상호금융 통합 데이터 플랫폼 구성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606040" y="3977640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606040" y="3986784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880360" y="3977640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880360" y="3986784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023360" y="3977640"/>
            <a:ext cx="256032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023360" y="3986784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11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02336" y="4261104"/>
            <a:ext cx="3977639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93776" y="4279392"/>
            <a:ext cx="356616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80" b="0">
                <a:solidFill>
                  <a:srgbClr val="373737"/>
                </a:solidFill>
                <a:latin typeface="Malgun Gothic"/>
              </a:rPr>
              <a:t>정보계 인터페이스 표준화 정의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606040" y="4599432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2606040" y="4608576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880360" y="4599432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2880360" y="4608576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154680" y="4599432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3154680" y="4608576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429000" y="4599432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429000" y="4608576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02336" y="4882896"/>
            <a:ext cx="3977639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93776" y="4901184"/>
            <a:ext cx="356616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80" b="0">
                <a:solidFill>
                  <a:srgbClr val="373737"/>
                </a:solidFill>
                <a:latin typeface="Malgun Gothic"/>
              </a:rPr>
              <a:t>정보계 권한관리 시스템 구성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606040" y="5221224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2606040" y="5230368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7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02336" y="5504688"/>
            <a:ext cx="3977639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493776" y="5522976"/>
            <a:ext cx="356616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80" b="0">
                <a:solidFill>
                  <a:srgbClr val="373737"/>
                </a:solidFill>
                <a:latin typeface="Malgun Gothic"/>
              </a:rPr>
              <a:t>장애대응, 역량강화를 위한 모니터링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606040" y="5843016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606040" y="5852160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880360" y="5843016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2880360" y="5852160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657600" y="5843016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3657600" y="5852160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8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931920" y="5843016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3931920" y="5852160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9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206240" y="5843016"/>
            <a:ext cx="256032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4206240" y="5852160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10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212080" y="1938528"/>
            <a:ext cx="603504" cy="502920"/>
          </a:xfrm>
          <a:prstGeom prst="rect">
            <a:avLst/>
          </a:prstGeom>
          <a:solidFill>
            <a:srgbClr val="EFF1EF"/>
          </a:solidFill>
          <a:ln w="762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239512" y="1993392"/>
            <a:ext cx="54864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373737"/>
                </a:solidFill>
                <a:latin typeface="Malgun Gothic"/>
              </a:rPr>
              <a:t>상위 응용
기능 체계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943600" y="2359152"/>
            <a:ext cx="658368" cy="566928"/>
          </a:xfrm>
          <a:prstGeom prst="rect">
            <a:avLst/>
          </a:prstGeom>
          <a:solidFill>
            <a:srgbClr val="EFF1EF"/>
          </a:solidFill>
          <a:ln w="762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5989320" y="2468880"/>
            <a:ext cx="566928" cy="34747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373737"/>
                </a:solidFill>
                <a:latin typeface="Malgun Gothic"/>
              </a:rPr>
              <a:t>목표 개념
아키텍처
모델 정의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949439" y="2331720"/>
            <a:ext cx="685800" cy="713232"/>
          </a:xfrm>
          <a:prstGeom prst="rect">
            <a:avLst/>
          </a:prstGeom>
          <a:solidFill>
            <a:srgbClr val="EFF1EF"/>
          </a:solidFill>
          <a:ln w="762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6986015" y="2404872"/>
            <a:ext cx="612648" cy="5486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373737"/>
                </a:solidFill>
                <a:latin typeface="Malgun Gothic"/>
              </a:rPr>
              <a:t>논리 데이
터 아키텍
처 모델 정
의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949439" y="3090672"/>
            <a:ext cx="685800" cy="713232"/>
          </a:xfrm>
          <a:prstGeom prst="rect">
            <a:avLst/>
          </a:prstGeom>
          <a:solidFill>
            <a:srgbClr val="E4D01C"/>
          </a:solidFill>
          <a:ln w="762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6986015" y="3163824"/>
            <a:ext cx="612648" cy="5486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373737"/>
                </a:solidFill>
                <a:latin typeface="Malgun Gothic"/>
              </a:rPr>
              <a:t>논리 기술
아키텍처
모델 정의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949439" y="3858768"/>
            <a:ext cx="685800" cy="713232"/>
          </a:xfrm>
          <a:prstGeom prst="rect">
            <a:avLst/>
          </a:prstGeom>
          <a:solidFill>
            <a:srgbClr val="E4D01C"/>
          </a:solidFill>
          <a:ln w="762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6986015" y="3931920"/>
            <a:ext cx="612648" cy="5486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373737"/>
                </a:solidFill>
                <a:latin typeface="Malgun Gothic"/>
              </a:rPr>
              <a:t>논리 인터
페이스 아
키텍처 모
델 정의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138160" y="3227832"/>
            <a:ext cx="713232" cy="749808"/>
          </a:xfrm>
          <a:prstGeom prst="rect">
            <a:avLst/>
          </a:prstGeom>
          <a:solidFill>
            <a:srgbClr val="E4D01C"/>
          </a:solidFill>
          <a:ln w="762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8183880" y="3346704"/>
            <a:ext cx="621792" cy="47548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373737"/>
                </a:solidFill>
                <a:latin typeface="Malgun Gothic"/>
              </a:rPr>
              <a:t>물리기술
아키텍처
모델 정의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144000" y="3227832"/>
            <a:ext cx="713232" cy="749808"/>
          </a:xfrm>
          <a:prstGeom prst="rect">
            <a:avLst/>
          </a:prstGeom>
          <a:solidFill>
            <a:srgbClr val="E4D01C"/>
          </a:solidFill>
          <a:ln w="762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9189720" y="3346704"/>
            <a:ext cx="621792" cy="47548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373737"/>
                </a:solidFill>
                <a:latin typeface="Malgun Gothic"/>
              </a:rPr>
              <a:t>요소기술
메커니즘
기술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812280" y="4645152"/>
            <a:ext cx="3291840" cy="256032"/>
          </a:xfrm>
          <a:prstGeom prst="rect">
            <a:avLst/>
          </a:prstGeom>
          <a:solidFill>
            <a:srgbClr val="E4D01C"/>
          </a:solidFill>
          <a:ln w="762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6949439" y="4681728"/>
            <a:ext cx="3017520" cy="12801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50" b="0">
                <a:solidFill>
                  <a:srgbClr val="373737"/>
                </a:solidFill>
                <a:latin typeface="Malgun Gothic"/>
              </a:rPr>
              <a:t>요소 기술 통합 런타임 아키텍처 모델 정의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5513832" y="2441448"/>
            <a:ext cx="0" cy="1645920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5513832" y="2624328"/>
            <a:ext cx="1435607" cy="0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5513832" y="3456432"/>
            <a:ext cx="1435607" cy="0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5513832" y="4206240"/>
            <a:ext cx="1435607" cy="0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5513832" y="2441448"/>
            <a:ext cx="758952" cy="0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6601968" y="2642616"/>
            <a:ext cx="347471" cy="0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7296911" y="3044952"/>
            <a:ext cx="0" cy="45720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296911" y="3803904"/>
            <a:ext cx="0" cy="54864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7635239" y="2697480"/>
            <a:ext cx="502921" cy="0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8851392" y="2697480"/>
            <a:ext cx="292608" cy="0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7635239" y="3447288"/>
            <a:ext cx="502921" cy="0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8851392" y="3447288"/>
            <a:ext cx="292608" cy="0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7635239" y="4215384"/>
            <a:ext cx="502921" cy="0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8851392" y="4215384"/>
            <a:ext cx="292608" cy="0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8494776" y="3977639"/>
            <a:ext cx="0" cy="667513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9500616" y="3977639"/>
            <a:ext cx="0" cy="667513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7296911" y="4572000"/>
            <a:ext cx="0" cy="73152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Rectangle 120"/>
          <p:cNvSpPr/>
          <p:nvPr/>
        </p:nvSpPr>
        <p:spPr>
          <a:xfrm>
            <a:off x="5184648" y="5138928"/>
            <a:ext cx="658368" cy="530352"/>
          </a:xfrm>
          <a:prstGeom prst="rect">
            <a:avLst/>
          </a:prstGeom>
          <a:solidFill>
            <a:srgbClr val="E4D01C"/>
          </a:solidFill>
          <a:ln w="762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5221224" y="5230368"/>
            <a:ext cx="585216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373737"/>
                </a:solidFill>
                <a:latin typeface="Malgun Gothic"/>
              </a:rPr>
              <a:t>형상/배포
기술 아키
텍처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5934456" y="5138928"/>
            <a:ext cx="658368" cy="530352"/>
          </a:xfrm>
          <a:prstGeom prst="rect">
            <a:avLst/>
          </a:prstGeom>
          <a:solidFill>
            <a:srgbClr val="EFF1EF"/>
          </a:solidFill>
          <a:ln w="762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5971032" y="5230368"/>
            <a:ext cx="585216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373737"/>
                </a:solidFill>
                <a:latin typeface="Malgun Gothic"/>
              </a:rPr>
              <a:t>통합개발
환경 구성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684264" y="5138928"/>
            <a:ext cx="658368" cy="530352"/>
          </a:xfrm>
          <a:prstGeom prst="rect">
            <a:avLst/>
          </a:prstGeom>
          <a:solidFill>
            <a:srgbClr val="EFF1EF"/>
          </a:solidFill>
          <a:ln w="762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6720840" y="5230368"/>
            <a:ext cx="585216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373737"/>
                </a:solidFill>
                <a:latin typeface="Malgun Gothic"/>
              </a:rPr>
              <a:t>개발표준
가이드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434072" y="5138928"/>
            <a:ext cx="658368" cy="530352"/>
          </a:xfrm>
          <a:prstGeom prst="rect">
            <a:avLst/>
          </a:prstGeom>
          <a:solidFill>
            <a:srgbClr val="EFF1EF"/>
          </a:solidFill>
          <a:ln w="762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7470648" y="5230368"/>
            <a:ext cx="585216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373737"/>
                </a:solidFill>
                <a:latin typeface="Malgun Gothic"/>
              </a:rPr>
              <a:t>선도개발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183880" y="5138928"/>
            <a:ext cx="658368" cy="530352"/>
          </a:xfrm>
          <a:prstGeom prst="rect">
            <a:avLst/>
          </a:prstGeom>
          <a:solidFill>
            <a:srgbClr val="EFF1EF"/>
          </a:solidFill>
          <a:ln w="762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8220456" y="5230368"/>
            <a:ext cx="585216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373737"/>
                </a:solidFill>
                <a:latin typeface="Malgun Gothic"/>
              </a:rPr>
              <a:t>시스템 테
스트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065776" y="5907024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464646"/>
                </a:solidFill>
                <a:latin typeface="Malgun Gothic"/>
              </a:rPr>
              <a:t>18</a:t>
            </a:r>
          </a:p>
        </p:txBody>
      </p:sp>
      <p:sp>
        <p:nvSpPr>
          <p:cNvPr id="132" name="Isosceles Triangle 131"/>
          <p:cNvSpPr/>
          <p:nvPr/>
        </p:nvSpPr>
        <p:spPr>
          <a:xfrm rot="10800000">
            <a:off x="18288" y="5815584"/>
            <a:ext cx="118872" cy="164592"/>
          </a:xfrm>
          <a:prstGeom prst="triangle">
            <a:avLst/>
          </a:prstGeom>
          <a:solidFill>
            <a:srgbClr val="EC9A34"/>
          </a:solidFill>
          <a:ln>
            <a:solidFill>
              <a:srgbClr val="EC9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Oval 132"/>
          <p:cNvSpPr/>
          <p:nvPr/>
        </p:nvSpPr>
        <p:spPr>
          <a:xfrm>
            <a:off x="109728" y="5852160"/>
            <a:ext cx="45720" cy="45720"/>
          </a:xfrm>
          <a:prstGeom prst="ellipse">
            <a:avLst/>
          </a:prstGeom>
          <a:solidFill>
            <a:srgbClr val="EC9A34"/>
          </a:solidFill>
          <a:ln>
            <a:solidFill>
              <a:srgbClr val="EC9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164592" y="5806440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>
                <a:solidFill>
                  <a:srgbClr val="26854A"/>
                </a:solidFill>
                <a:latin typeface="Malgun Gothic"/>
              </a:rPr>
              <a:t>농협중앙회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6304" y="91440"/>
            <a:ext cx="694944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200" b="1">
                <a:solidFill>
                  <a:srgbClr val="2D2D2D"/>
                </a:solidFill>
                <a:latin typeface="Malgun Gothic"/>
              </a:rPr>
              <a:t>4. 검증 항목 - 목표 기술 아키텍처 수행 모델 - 수행 과제 검증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28016" y="576072"/>
            <a:ext cx="9838944" cy="0"/>
          </a:xfrm>
          <a:prstGeom prst="line">
            <a:avLst/>
          </a:prstGeom>
          <a:ln w="19050">
            <a:solidFill>
              <a:srgbClr val="3737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46304" y="676656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0">
                <a:solidFill>
                  <a:srgbClr val="2D2D2D"/>
                </a:solidFill>
                <a:latin typeface="Malgun Gothic"/>
              </a:rPr>
              <a:t>선행 아키텍처 분석을 통해 개선 핵심이슈를 이해하고 아키텍처 영역에 합당한 변화 방향
성을 도출한다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06040" y="1316736"/>
            <a:ext cx="3749039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900" b="1">
                <a:solidFill>
                  <a:srgbClr val="A84E49"/>
                </a:solidFill>
                <a:latin typeface="Malgun Gothic"/>
              </a:rPr>
              <a:t>아키텍처 변화 방향성 수행 모델 최적화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920240"/>
            <a:ext cx="4480560" cy="4160520"/>
          </a:xfrm>
          <a:prstGeom prst="rect">
            <a:avLst/>
          </a:prstGeom>
          <a:solidFill>
            <a:srgbClr val="F6F9F7"/>
          </a:solidFill>
          <a:ln w="1016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91640" y="1993392"/>
            <a:ext cx="16459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00" b="1">
                <a:solidFill>
                  <a:srgbClr val="2D2D2D"/>
                </a:solidFill>
                <a:latin typeface="Malgun Gothic"/>
              </a:rPr>
              <a:t>아키텍처 개선과제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" y="2395728"/>
            <a:ext cx="3977639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3776" y="2414016"/>
            <a:ext cx="356616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80" b="0">
                <a:solidFill>
                  <a:srgbClr val="373737"/>
                </a:solidFill>
                <a:latin typeface="Malgun Gothic"/>
              </a:rPr>
              <a:t>IT 기술 아키텍처 및 개발환경 표준화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6040" y="2734056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06040" y="2743200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360" y="2734056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80360" y="2743200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54680" y="2734056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54680" y="2743200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29000" y="2734056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29000" y="2743200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04488" y="2734056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04488" y="2743200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78808" y="2734056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78808" y="2743200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53128" y="2734056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53128" y="2743200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27448" y="2734056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27448" y="2743200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01768" y="2734056"/>
            <a:ext cx="256032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01768" y="2743200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10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76088" y="2734056"/>
            <a:ext cx="256032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276088" y="2743200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11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2336" y="3017520"/>
            <a:ext cx="3977639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93776" y="3035808"/>
            <a:ext cx="356616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80" b="0">
                <a:solidFill>
                  <a:srgbClr val="373737"/>
                </a:solidFill>
                <a:latin typeface="Malgun Gothic"/>
              </a:rPr>
              <a:t>정보계 주요 인프라 아키텍처 구성 방안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06040" y="3355848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606040" y="3364992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80360" y="3355848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880360" y="3364992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54680" y="3355848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154680" y="3364992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29000" y="3355848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429000" y="3364992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03320" y="3355848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703320" y="3364992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77640" y="3355848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977640" y="3364992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51960" y="3355848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251960" y="3364992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26280" y="3355848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526280" y="3364992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00600" y="3355848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800600" y="3364992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9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74920" y="3355848"/>
            <a:ext cx="256032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074920" y="3364992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10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49240" y="3355848"/>
            <a:ext cx="256032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349240" y="3364992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11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02336" y="3639312"/>
            <a:ext cx="3977639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93776" y="3657600"/>
            <a:ext cx="356616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80" b="0">
                <a:solidFill>
                  <a:srgbClr val="373737"/>
                </a:solidFill>
                <a:latin typeface="Malgun Gothic"/>
              </a:rPr>
              <a:t>농협상호금융 통합 데이터 플랫폼 구성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606040" y="3977640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606040" y="3986784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880360" y="3977640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880360" y="3986784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023360" y="3977640"/>
            <a:ext cx="256032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023360" y="3986784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11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02336" y="4261104"/>
            <a:ext cx="3977639" cy="256032"/>
          </a:xfrm>
          <a:prstGeom prst="rect">
            <a:avLst/>
          </a:prstGeom>
          <a:solidFill>
            <a:srgbClr val="E4D01C"/>
          </a:solidFill>
          <a:ln w="635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93776" y="4279392"/>
            <a:ext cx="356616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80" b="0">
                <a:solidFill>
                  <a:srgbClr val="373737"/>
                </a:solidFill>
                <a:latin typeface="Malgun Gothic"/>
              </a:rPr>
              <a:t>정보계 인터페이스 표준화 정의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606040" y="4599432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2606040" y="4608576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880360" y="4599432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2880360" y="4608576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154680" y="4599432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3154680" y="4608576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429000" y="4599432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429000" y="4608576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02336" y="4882896"/>
            <a:ext cx="3977639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93776" y="4901184"/>
            <a:ext cx="356616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80" b="0">
                <a:solidFill>
                  <a:srgbClr val="373737"/>
                </a:solidFill>
                <a:latin typeface="Malgun Gothic"/>
              </a:rPr>
              <a:t>정보계 권한관리 시스템 구성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606040" y="5221224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2606040" y="5230368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7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02336" y="5504688"/>
            <a:ext cx="3977639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493776" y="5522976"/>
            <a:ext cx="356616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80" b="0">
                <a:solidFill>
                  <a:srgbClr val="373737"/>
                </a:solidFill>
                <a:latin typeface="Malgun Gothic"/>
              </a:rPr>
              <a:t>장애대응, 역량강화를 위한 모니터링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606040" y="5843016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606040" y="5852160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880360" y="5843016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2880360" y="5852160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657600" y="5843016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3657600" y="5852160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8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931920" y="5843016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3931920" y="5852160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9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206240" y="5843016"/>
            <a:ext cx="256032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4206240" y="5852160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10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212080" y="1938528"/>
            <a:ext cx="603504" cy="502920"/>
          </a:xfrm>
          <a:prstGeom prst="rect">
            <a:avLst/>
          </a:prstGeom>
          <a:solidFill>
            <a:srgbClr val="EFF1EF"/>
          </a:solidFill>
          <a:ln w="762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239512" y="1993392"/>
            <a:ext cx="54864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373737"/>
                </a:solidFill>
                <a:latin typeface="Malgun Gothic"/>
              </a:rPr>
              <a:t>상위 응용
기능 체계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943600" y="2359152"/>
            <a:ext cx="658368" cy="566928"/>
          </a:xfrm>
          <a:prstGeom prst="rect">
            <a:avLst/>
          </a:prstGeom>
          <a:solidFill>
            <a:srgbClr val="EFF1EF"/>
          </a:solidFill>
          <a:ln w="762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5989320" y="2468880"/>
            <a:ext cx="566928" cy="34747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373737"/>
                </a:solidFill>
                <a:latin typeface="Malgun Gothic"/>
              </a:rPr>
              <a:t>목표 개념
아키텍처
모델 정의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949439" y="2331720"/>
            <a:ext cx="685800" cy="713232"/>
          </a:xfrm>
          <a:prstGeom prst="rect">
            <a:avLst/>
          </a:prstGeom>
          <a:solidFill>
            <a:srgbClr val="E4D01C"/>
          </a:solidFill>
          <a:ln w="762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6986015" y="2404872"/>
            <a:ext cx="612648" cy="5486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373737"/>
                </a:solidFill>
                <a:latin typeface="Malgun Gothic"/>
              </a:rPr>
              <a:t>논리 데이
터 아키텍
처 모델 정
의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949439" y="3090672"/>
            <a:ext cx="685800" cy="713232"/>
          </a:xfrm>
          <a:prstGeom prst="rect">
            <a:avLst/>
          </a:prstGeom>
          <a:solidFill>
            <a:srgbClr val="E4D01C"/>
          </a:solidFill>
          <a:ln w="762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6986015" y="3163824"/>
            <a:ext cx="612648" cy="5486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373737"/>
                </a:solidFill>
                <a:latin typeface="Malgun Gothic"/>
              </a:rPr>
              <a:t>논리 기술
아키텍처
모델 정의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949439" y="3858768"/>
            <a:ext cx="685800" cy="713232"/>
          </a:xfrm>
          <a:prstGeom prst="rect">
            <a:avLst/>
          </a:prstGeom>
          <a:solidFill>
            <a:srgbClr val="E4D01C"/>
          </a:solidFill>
          <a:ln w="762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6986015" y="3931920"/>
            <a:ext cx="612648" cy="5486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373737"/>
                </a:solidFill>
                <a:latin typeface="Malgun Gothic"/>
              </a:rPr>
              <a:t>논리 인터
페이스 아
키텍처 모
델 정의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138160" y="3227832"/>
            <a:ext cx="713232" cy="749808"/>
          </a:xfrm>
          <a:prstGeom prst="rect">
            <a:avLst/>
          </a:prstGeom>
          <a:solidFill>
            <a:srgbClr val="EFF1EF"/>
          </a:solidFill>
          <a:ln w="762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8183880" y="3346704"/>
            <a:ext cx="621792" cy="47548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373737"/>
                </a:solidFill>
                <a:latin typeface="Malgun Gothic"/>
              </a:rPr>
              <a:t>물리기술
아키텍처
모델 정의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144000" y="3227832"/>
            <a:ext cx="713232" cy="749808"/>
          </a:xfrm>
          <a:prstGeom prst="rect">
            <a:avLst/>
          </a:prstGeom>
          <a:solidFill>
            <a:srgbClr val="EFF1EF"/>
          </a:solidFill>
          <a:ln w="762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9189720" y="3346704"/>
            <a:ext cx="621792" cy="47548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373737"/>
                </a:solidFill>
                <a:latin typeface="Malgun Gothic"/>
              </a:rPr>
              <a:t>요소기술
메커니즘
기술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812280" y="4645152"/>
            <a:ext cx="3291840" cy="256032"/>
          </a:xfrm>
          <a:prstGeom prst="rect">
            <a:avLst/>
          </a:prstGeom>
          <a:solidFill>
            <a:srgbClr val="E4D01C"/>
          </a:solidFill>
          <a:ln w="762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6949439" y="4681728"/>
            <a:ext cx="3017520" cy="12801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50" b="0">
                <a:solidFill>
                  <a:srgbClr val="373737"/>
                </a:solidFill>
                <a:latin typeface="Malgun Gothic"/>
              </a:rPr>
              <a:t>요소 기술 통합 런타임 아키텍처 모델 정의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5513832" y="2441448"/>
            <a:ext cx="0" cy="1645920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5513832" y="2624328"/>
            <a:ext cx="1435607" cy="0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5513832" y="3456432"/>
            <a:ext cx="1435607" cy="0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5513832" y="4206240"/>
            <a:ext cx="1435607" cy="0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5513832" y="2441448"/>
            <a:ext cx="758952" cy="0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6601968" y="2642616"/>
            <a:ext cx="347471" cy="0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7296911" y="3044952"/>
            <a:ext cx="0" cy="45720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296911" y="3803904"/>
            <a:ext cx="0" cy="54864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7635239" y="2697480"/>
            <a:ext cx="502921" cy="0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8851392" y="2697480"/>
            <a:ext cx="292608" cy="0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7635239" y="3447288"/>
            <a:ext cx="502921" cy="0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8851392" y="3447288"/>
            <a:ext cx="292608" cy="0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7635239" y="4215384"/>
            <a:ext cx="502921" cy="0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8851392" y="4215384"/>
            <a:ext cx="292608" cy="0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8494776" y="3977639"/>
            <a:ext cx="0" cy="667513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9500616" y="3977639"/>
            <a:ext cx="0" cy="667513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7296911" y="4572000"/>
            <a:ext cx="0" cy="73152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Rectangle 120"/>
          <p:cNvSpPr/>
          <p:nvPr/>
        </p:nvSpPr>
        <p:spPr>
          <a:xfrm>
            <a:off x="5184648" y="5138928"/>
            <a:ext cx="658368" cy="530352"/>
          </a:xfrm>
          <a:prstGeom prst="rect">
            <a:avLst/>
          </a:prstGeom>
          <a:solidFill>
            <a:srgbClr val="EFF1EF"/>
          </a:solidFill>
          <a:ln w="762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5221224" y="5230368"/>
            <a:ext cx="585216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373737"/>
                </a:solidFill>
                <a:latin typeface="Malgun Gothic"/>
              </a:rPr>
              <a:t>형상/배포
기술 아키
텍처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5934456" y="5138928"/>
            <a:ext cx="658368" cy="530352"/>
          </a:xfrm>
          <a:prstGeom prst="rect">
            <a:avLst/>
          </a:prstGeom>
          <a:solidFill>
            <a:srgbClr val="EFF1EF"/>
          </a:solidFill>
          <a:ln w="762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5971032" y="5230368"/>
            <a:ext cx="585216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373737"/>
                </a:solidFill>
                <a:latin typeface="Malgun Gothic"/>
              </a:rPr>
              <a:t>통합개발
환경 구성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684264" y="5138928"/>
            <a:ext cx="658368" cy="530352"/>
          </a:xfrm>
          <a:prstGeom prst="rect">
            <a:avLst/>
          </a:prstGeom>
          <a:solidFill>
            <a:srgbClr val="E4D01C"/>
          </a:solidFill>
          <a:ln w="762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6720840" y="5230368"/>
            <a:ext cx="585216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373737"/>
                </a:solidFill>
                <a:latin typeface="Malgun Gothic"/>
              </a:rPr>
              <a:t>개발표준
가이드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434072" y="5138928"/>
            <a:ext cx="658368" cy="530352"/>
          </a:xfrm>
          <a:prstGeom prst="rect">
            <a:avLst/>
          </a:prstGeom>
          <a:solidFill>
            <a:srgbClr val="EFF1EF"/>
          </a:solidFill>
          <a:ln w="762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7470648" y="5230368"/>
            <a:ext cx="585216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373737"/>
                </a:solidFill>
                <a:latin typeface="Malgun Gothic"/>
              </a:rPr>
              <a:t>선도개발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183880" y="5138928"/>
            <a:ext cx="658368" cy="530352"/>
          </a:xfrm>
          <a:prstGeom prst="rect">
            <a:avLst/>
          </a:prstGeom>
          <a:solidFill>
            <a:srgbClr val="EFF1EF"/>
          </a:solidFill>
          <a:ln w="762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8220456" y="5230368"/>
            <a:ext cx="585216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373737"/>
                </a:solidFill>
                <a:latin typeface="Malgun Gothic"/>
              </a:rPr>
              <a:t>시스템 테
스트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065776" y="5907024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464646"/>
                </a:solidFill>
                <a:latin typeface="Malgun Gothic"/>
              </a:rPr>
              <a:t>19</a:t>
            </a:r>
          </a:p>
        </p:txBody>
      </p:sp>
      <p:sp>
        <p:nvSpPr>
          <p:cNvPr id="132" name="Isosceles Triangle 131"/>
          <p:cNvSpPr/>
          <p:nvPr/>
        </p:nvSpPr>
        <p:spPr>
          <a:xfrm rot="10800000">
            <a:off x="18288" y="5815584"/>
            <a:ext cx="118872" cy="164592"/>
          </a:xfrm>
          <a:prstGeom prst="triangle">
            <a:avLst/>
          </a:prstGeom>
          <a:solidFill>
            <a:srgbClr val="EC9A34"/>
          </a:solidFill>
          <a:ln>
            <a:solidFill>
              <a:srgbClr val="EC9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Oval 132"/>
          <p:cNvSpPr/>
          <p:nvPr/>
        </p:nvSpPr>
        <p:spPr>
          <a:xfrm>
            <a:off x="109728" y="5852160"/>
            <a:ext cx="45720" cy="45720"/>
          </a:xfrm>
          <a:prstGeom prst="ellipse">
            <a:avLst/>
          </a:prstGeom>
          <a:solidFill>
            <a:srgbClr val="EC9A34"/>
          </a:solidFill>
          <a:ln>
            <a:solidFill>
              <a:srgbClr val="EC9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164592" y="5806440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>
                <a:solidFill>
                  <a:srgbClr val="26854A"/>
                </a:solidFill>
                <a:latin typeface="Malgun Gothic"/>
              </a:rPr>
              <a:t>농협중앙회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6304" y="91440"/>
            <a:ext cx="694944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200" b="1">
                <a:solidFill>
                  <a:srgbClr val="2D2D2D"/>
                </a:solidFill>
                <a:latin typeface="Malgun Gothic"/>
              </a:rPr>
              <a:t>4. 검증 항목 - 목표 기술 아키텍처 수행 모델 - 수행 과제 검증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28016" y="576072"/>
            <a:ext cx="9838944" cy="0"/>
          </a:xfrm>
          <a:prstGeom prst="line">
            <a:avLst/>
          </a:prstGeom>
          <a:ln w="19050">
            <a:solidFill>
              <a:srgbClr val="3737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46304" y="676656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0">
                <a:solidFill>
                  <a:srgbClr val="2D2D2D"/>
                </a:solidFill>
                <a:latin typeface="Malgun Gothic"/>
              </a:rPr>
              <a:t>선행 아키텍처 분석을 통해 개선 핵심이슈를 이해하고 아키텍처 영역에 합당한 변화 방향
성을 도출한다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06040" y="1316736"/>
            <a:ext cx="3749039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900" b="1">
                <a:solidFill>
                  <a:srgbClr val="A84E49"/>
                </a:solidFill>
                <a:latin typeface="Malgun Gothic"/>
              </a:rPr>
              <a:t>아키텍처 변화 방향성 수행 모델 최적화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920240"/>
            <a:ext cx="4480560" cy="4160520"/>
          </a:xfrm>
          <a:prstGeom prst="rect">
            <a:avLst/>
          </a:prstGeom>
          <a:solidFill>
            <a:srgbClr val="F6F9F7"/>
          </a:solidFill>
          <a:ln w="1016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91640" y="1993392"/>
            <a:ext cx="16459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00" b="1">
                <a:solidFill>
                  <a:srgbClr val="2D2D2D"/>
                </a:solidFill>
                <a:latin typeface="Malgun Gothic"/>
              </a:rPr>
              <a:t>아키텍처 개선과제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" y="2395728"/>
            <a:ext cx="3977639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3776" y="2414016"/>
            <a:ext cx="356616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80" b="0">
                <a:solidFill>
                  <a:srgbClr val="373737"/>
                </a:solidFill>
                <a:latin typeface="Malgun Gothic"/>
              </a:rPr>
              <a:t>IT 기술 아키텍처 및 개발환경 표준화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6040" y="2734056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06040" y="2743200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360" y="2734056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80360" y="2743200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54680" y="2734056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54680" y="2743200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29000" y="2734056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29000" y="2743200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04488" y="2734056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04488" y="2743200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78808" y="2734056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78808" y="2743200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53128" y="2734056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53128" y="2743200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27448" y="2734056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27448" y="2743200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01768" y="2734056"/>
            <a:ext cx="256032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01768" y="2743200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10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76088" y="2734056"/>
            <a:ext cx="256032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276088" y="2743200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11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2336" y="3017520"/>
            <a:ext cx="3977639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93776" y="3035808"/>
            <a:ext cx="356616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80" b="0">
                <a:solidFill>
                  <a:srgbClr val="373737"/>
                </a:solidFill>
                <a:latin typeface="Malgun Gothic"/>
              </a:rPr>
              <a:t>정보계 주요 인프라 아키텍처 구성 방안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06040" y="3355848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606040" y="3364992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80360" y="3355848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880360" y="3364992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54680" y="3355848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154680" y="3364992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29000" y="3355848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429000" y="3364992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03320" y="3355848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703320" y="3364992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77640" y="3355848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977640" y="3364992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51960" y="3355848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251960" y="3364992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26280" y="3355848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526280" y="3364992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00600" y="3355848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800600" y="3364992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9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74920" y="3355848"/>
            <a:ext cx="256032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074920" y="3364992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10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49240" y="3355848"/>
            <a:ext cx="256032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349240" y="3364992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11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02336" y="3639312"/>
            <a:ext cx="3977639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93776" y="3657600"/>
            <a:ext cx="356616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80" b="0">
                <a:solidFill>
                  <a:srgbClr val="373737"/>
                </a:solidFill>
                <a:latin typeface="Malgun Gothic"/>
              </a:rPr>
              <a:t>농협상호금융 통합 데이터 플랫폼 구성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606040" y="3977640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606040" y="3986784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880360" y="3977640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880360" y="3986784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023360" y="3977640"/>
            <a:ext cx="256032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023360" y="3986784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11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02336" y="4261104"/>
            <a:ext cx="3977639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93776" y="4279392"/>
            <a:ext cx="356616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80" b="0">
                <a:solidFill>
                  <a:srgbClr val="373737"/>
                </a:solidFill>
                <a:latin typeface="Malgun Gothic"/>
              </a:rPr>
              <a:t>정보계 인터페이스 표준화 정의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606040" y="4599432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2606040" y="4608576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880360" y="4599432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2880360" y="4608576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154680" y="4599432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3154680" y="4608576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429000" y="4599432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429000" y="4608576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02336" y="4882896"/>
            <a:ext cx="3977639" cy="256032"/>
          </a:xfrm>
          <a:prstGeom prst="rect">
            <a:avLst/>
          </a:prstGeom>
          <a:solidFill>
            <a:srgbClr val="E4D01C"/>
          </a:solidFill>
          <a:ln w="635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93776" y="4901184"/>
            <a:ext cx="356616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80" b="0">
                <a:solidFill>
                  <a:srgbClr val="373737"/>
                </a:solidFill>
                <a:latin typeface="Malgun Gothic"/>
              </a:rPr>
              <a:t>정보계 권한관리 시스템 구성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606040" y="5221224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2606040" y="5230368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7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02336" y="5504688"/>
            <a:ext cx="3977639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493776" y="5522976"/>
            <a:ext cx="356616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80" b="0">
                <a:solidFill>
                  <a:srgbClr val="373737"/>
                </a:solidFill>
                <a:latin typeface="Malgun Gothic"/>
              </a:rPr>
              <a:t>장애대응, 역량강화를 위한 모니터링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606040" y="5843016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606040" y="5852160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880360" y="5843016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2880360" y="5852160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657600" y="5843016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3657600" y="5852160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8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931920" y="5843016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3931920" y="5852160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9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206240" y="5843016"/>
            <a:ext cx="256032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4206240" y="5852160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10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212080" y="1938528"/>
            <a:ext cx="603504" cy="502920"/>
          </a:xfrm>
          <a:prstGeom prst="rect">
            <a:avLst/>
          </a:prstGeom>
          <a:solidFill>
            <a:srgbClr val="EFF1EF"/>
          </a:solidFill>
          <a:ln w="762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239512" y="1993392"/>
            <a:ext cx="54864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373737"/>
                </a:solidFill>
                <a:latin typeface="Malgun Gothic"/>
              </a:rPr>
              <a:t>상위 응용
기능 체계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943600" y="2359152"/>
            <a:ext cx="658368" cy="566928"/>
          </a:xfrm>
          <a:prstGeom prst="rect">
            <a:avLst/>
          </a:prstGeom>
          <a:solidFill>
            <a:srgbClr val="EFF1EF"/>
          </a:solidFill>
          <a:ln w="762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5989320" y="2468880"/>
            <a:ext cx="566928" cy="34747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373737"/>
                </a:solidFill>
                <a:latin typeface="Malgun Gothic"/>
              </a:rPr>
              <a:t>목표 개념
아키텍처
모델 정의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949439" y="2331720"/>
            <a:ext cx="685800" cy="713232"/>
          </a:xfrm>
          <a:prstGeom prst="rect">
            <a:avLst/>
          </a:prstGeom>
          <a:solidFill>
            <a:srgbClr val="EFF1EF"/>
          </a:solidFill>
          <a:ln w="762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6986015" y="2404872"/>
            <a:ext cx="612648" cy="5486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373737"/>
                </a:solidFill>
                <a:latin typeface="Malgun Gothic"/>
              </a:rPr>
              <a:t>논리 데이
터 아키텍
처 모델 정
의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949439" y="3090672"/>
            <a:ext cx="685800" cy="713232"/>
          </a:xfrm>
          <a:prstGeom prst="rect">
            <a:avLst/>
          </a:prstGeom>
          <a:solidFill>
            <a:srgbClr val="EFF1EF"/>
          </a:solidFill>
          <a:ln w="762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6986015" y="3163824"/>
            <a:ext cx="612648" cy="5486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373737"/>
                </a:solidFill>
                <a:latin typeface="Malgun Gothic"/>
              </a:rPr>
              <a:t>논리 기술
아키텍처
모델 정의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949439" y="3858768"/>
            <a:ext cx="685800" cy="713232"/>
          </a:xfrm>
          <a:prstGeom prst="rect">
            <a:avLst/>
          </a:prstGeom>
          <a:solidFill>
            <a:srgbClr val="EFF1EF"/>
          </a:solidFill>
          <a:ln w="762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6986015" y="3931920"/>
            <a:ext cx="612648" cy="5486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373737"/>
                </a:solidFill>
                <a:latin typeface="Malgun Gothic"/>
              </a:rPr>
              <a:t>논리 인터
페이스 아
키텍처 모
델 정의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138160" y="3227832"/>
            <a:ext cx="713232" cy="749808"/>
          </a:xfrm>
          <a:prstGeom prst="rect">
            <a:avLst/>
          </a:prstGeom>
          <a:solidFill>
            <a:srgbClr val="EFF1EF"/>
          </a:solidFill>
          <a:ln w="762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8183880" y="3346704"/>
            <a:ext cx="621792" cy="47548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373737"/>
                </a:solidFill>
                <a:latin typeface="Malgun Gothic"/>
              </a:rPr>
              <a:t>물리기술
아키텍처
모델 정의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144000" y="3227832"/>
            <a:ext cx="713232" cy="749808"/>
          </a:xfrm>
          <a:prstGeom prst="rect">
            <a:avLst/>
          </a:prstGeom>
          <a:solidFill>
            <a:srgbClr val="E4D01C"/>
          </a:solidFill>
          <a:ln w="762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9189720" y="3346704"/>
            <a:ext cx="621792" cy="47548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373737"/>
                </a:solidFill>
                <a:latin typeface="Malgun Gothic"/>
              </a:rPr>
              <a:t>요소기술
메커니즘
기술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812280" y="4645152"/>
            <a:ext cx="3291840" cy="256032"/>
          </a:xfrm>
          <a:prstGeom prst="rect">
            <a:avLst/>
          </a:prstGeom>
          <a:solidFill>
            <a:srgbClr val="EFF1EF"/>
          </a:solidFill>
          <a:ln w="762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6949439" y="4681728"/>
            <a:ext cx="3017520" cy="12801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50" b="0">
                <a:solidFill>
                  <a:srgbClr val="373737"/>
                </a:solidFill>
                <a:latin typeface="Malgun Gothic"/>
              </a:rPr>
              <a:t>요소 기술 통합 런타임 아키텍처 모델 정의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5513832" y="2441448"/>
            <a:ext cx="0" cy="1645920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5513832" y="2624328"/>
            <a:ext cx="1435607" cy="0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5513832" y="3456432"/>
            <a:ext cx="1435607" cy="0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5513832" y="4206240"/>
            <a:ext cx="1435607" cy="0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5513832" y="2441448"/>
            <a:ext cx="758952" cy="0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6601968" y="2642616"/>
            <a:ext cx="347471" cy="0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7296911" y="3044952"/>
            <a:ext cx="0" cy="45720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296911" y="3803904"/>
            <a:ext cx="0" cy="54864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7635239" y="2697480"/>
            <a:ext cx="502921" cy="0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8851392" y="2697480"/>
            <a:ext cx="292608" cy="0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7635239" y="3447288"/>
            <a:ext cx="502921" cy="0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8851392" y="3447288"/>
            <a:ext cx="292608" cy="0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7635239" y="4215384"/>
            <a:ext cx="502921" cy="0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8851392" y="4215384"/>
            <a:ext cx="292608" cy="0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8494776" y="3977639"/>
            <a:ext cx="0" cy="667513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9500616" y="3977639"/>
            <a:ext cx="0" cy="667513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7296911" y="4572000"/>
            <a:ext cx="0" cy="73152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Rectangle 120"/>
          <p:cNvSpPr/>
          <p:nvPr/>
        </p:nvSpPr>
        <p:spPr>
          <a:xfrm>
            <a:off x="5184648" y="5138928"/>
            <a:ext cx="658368" cy="530352"/>
          </a:xfrm>
          <a:prstGeom prst="rect">
            <a:avLst/>
          </a:prstGeom>
          <a:solidFill>
            <a:srgbClr val="EFF1EF"/>
          </a:solidFill>
          <a:ln w="762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5221224" y="5230368"/>
            <a:ext cx="585216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373737"/>
                </a:solidFill>
                <a:latin typeface="Malgun Gothic"/>
              </a:rPr>
              <a:t>형상/배포
기술 아키
텍처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5934456" y="5138928"/>
            <a:ext cx="658368" cy="530352"/>
          </a:xfrm>
          <a:prstGeom prst="rect">
            <a:avLst/>
          </a:prstGeom>
          <a:solidFill>
            <a:srgbClr val="EFF1EF"/>
          </a:solidFill>
          <a:ln w="762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5971032" y="5230368"/>
            <a:ext cx="585216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373737"/>
                </a:solidFill>
                <a:latin typeface="Malgun Gothic"/>
              </a:rPr>
              <a:t>통합개발
환경 구성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684264" y="5138928"/>
            <a:ext cx="658368" cy="530352"/>
          </a:xfrm>
          <a:prstGeom prst="rect">
            <a:avLst/>
          </a:prstGeom>
          <a:solidFill>
            <a:srgbClr val="EFF1EF"/>
          </a:solidFill>
          <a:ln w="762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6720840" y="5230368"/>
            <a:ext cx="585216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373737"/>
                </a:solidFill>
                <a:latin typeface="Malgun Gothic"/>
              </a:rPr>
              <a:t>개발표준
가이드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434072" y="5138928"/>
            <a:ext cx="658368" cy="530352"/>
          </a:xfrm>
          <a:prstGeom prst="rect">
            <a:avLst/>
          </a:prstGeom>
          <a:solidFill>
            <a:srgbClr val="EFF1EF"/>
          </a:solidFill>
          <a:ln w="762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7470648" y="5230368"/>
            <a:ext cx="585216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373737"/>
                </a:solidFill>
                <a:latin typeface="Malgun Gothic"/>
              </a:rPr>
              <a:t>선도개발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183880" y="5138928"/>
            <a:ext cx="658368" cy="530352"/>
          </a:xfrm>
          <a:prstGeom prst="rect">
            <a:avLst/>
          </a:prstGeom>
          <a:solidFill>
            <a:srgbClr val="EFF1EF"/>
          </a:solidFill>
          <a:ln w="762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8220456" y="5230368"/>
            <a:ext cx="585216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373737"/>
                </a:solidFill>
                <a:latin typeface="Malgun Gothic"/>
              </a:rPr>
              <a:t>시스템 테
스트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065776" y="5907024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464646"/>
                </a:solidFill>
                <a:latin typeface="Malgun Gothic"/>
              </a:rPr>
              <a:t>20</a:t>
            </a:r>
          </a:p>
        </p:txBody>
      </p:sp>
      <p:sp>
        <p:nvSpPr>
          <p:cNvPr id="132" name="Isosceles Triangle 131"/>
          <p:cNvSpPr/>
          <p:nvPr/>
        </p:nvSpPr>
        <p:spPr>
          <a:xfrm rot="10800000">
            <a:off x="18288" y="5815584"/>
            <a:ext cx="118872" cy="164592"/>
          </a:xfrm>
          <a:prstGeom prst="triangle">
            <a:avLst/>
          </a:prstGeom>
          <a:solidFill>
            <a:srgbClr val="EC9A34"/>
          </a:solidFill>
          <a:ln>
            <a:solidFill>
              <a:srgbClr val="EC9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Oval 132"/>
          <p:cNvSpPr/>
          <p:nvPr/>
        </p:nvSpPr>
        <p:spPr>
          <a:xfrm>
            <a:off x="109728" y="5852160"/>
            <a:ext cx="45720" cy="45720"/>
          </a:xfrm>
          <a:prstGeom prst="ellipse">
            <a:avLst/>
          </a:prstGeom>
          <a:solidFill>
            <a:srgbClr val="EC9A34"/>
          </a:solidFill>
          <a:ln>
            <a:solidFill>
              <a:srgbClr val="EC9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164592" y="5806440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>
                <a:solidFill>
                  <a:srgbClr val="26854A"/>
                </a:solidFill>
                <a:latin typeface="Malgun Gothic"/>
              </a:rPr>
              <a:t>농협중앙회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6304" y="91440"/>
            <a:ext cx="694944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200" b="1">
                <a:solidFill>
                  <a:srgbClr val="2D2D2D"/>
                </a:solidFill>
                <a:latin typeface="Malgun Gothic"/>
              </a:rPr>
              <a:t>4. 검증 항목 - 목표 기술 아키텍처 수행 모델 - 수행 과제 검증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28016" y="576072"/>
            <a:ext cx="9838944" cy="0"/>
          </a:xfrm>
          <a:prstGeom prst="line">
            <a:avLst/>
          </a:prstGeom>
          <a:ln w="19050">
            <a:solidFill>
              <a:srgbClr val="3737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46304" y="676656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0">
                <a:solidFill>
                  <a:srgbClr val="2D2D2D"/>
                </a:solidFill>
                <a:latin typeface="Malgun Gothic"/>
              </a:rPr>
              <a:t>선행 아키텍처 분석을 통해 개선 핵심이슈를 이해하고 아키텍처 영역에 합당한 변화 방향
성을 도출한다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06040" y="1316736"/>
            <a:ext cx="3749039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900" b="1">
                <a:solidFill>
                  <a:srgbClr val="A84E49"/>
                </a:solidFill>
                <a:latin typeface="Malgun Gothic"/>
              </a:rPr>
              <a:t>아키텍처 변화 방향성 수행 모델 최적화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920240"/>
            <a:ext cx="4480560" cy="4160520"/>
          </a:xfrm>
          <a:prstGeom prst="rect">
            <a:avLst/>
          </a:prstGeom>
          <a:solidFill>
            <a:srgbClr val="F6F9F7"/>
          </a:solidFill>
          <a:ln w="1016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91640" y="1993392"/>
            <a:ext cx="16459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00" b="1">
                <a:solidFill>
                  <a:srgbClr val="2D2D2D"/>
                </a:solidFill>
                <a:latin typeface="Malgun Gothic"/>
              </a:rPr>
              <a:t>아키텍처 개선과제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" y="2395728"/>
            <a:ext cx="3977639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3776" y="2414016"/>
            <a:ext cx="356616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80" b="0">
                <a:solidFill>
                  <a:srgbClr val="373737"/>
                </a:solidFill>
                <a:latin typeface="Malgun Gothic"/>
              </a:rPr>
              <a:t>IT 기술 아키텍처 및 개발환경 표준화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6040" y="2734056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06040" y="2743200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360" y="2734056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80360" y="2743200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54680" y="2734056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54680" y="2743200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29000" y="2734056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29000" y="2743200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04488" y="2734056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04488" y="2743200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78808" y="2734056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78808" y="2743200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53128" y="2734056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53128" y="2743200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27448" y="2734056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27448" y="2743200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01768" y="2734056"/>
            <a:ext cx="256032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01768" y="2743200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10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76088" y="2734056"/>
            <a:ext cx="256032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276088" y="2743200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11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2336" y="3017520"/>
            <a:ext cx="3977639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93776" y="3035808"/>
            <a:ext cx="356616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80" b="0">
                <a:solidFill>
                  <a:srgbClr val="373737"/>
                </a:solidFill>
                <a:latin typeface="Malgun Gothic"/>
              </a:rPr>
              <a:t>정보계 주요 인프라 아키텍처 구성 방안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06040" y="3355848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606040" y="3364992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80360" y="3355848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880360" y="3364992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54680" y="3355848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154680" y="3364992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29000" y="3355848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429000" y="3364992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03320" y="3355848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703320" y="3364992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77640" y="3355848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977640" y="3364992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51960" y="3355848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251960" y="3364992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26280" y="3355848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526280" y="3364992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00600" y="3355848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800600" y="3364992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9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74920" y="3355848"/>
            <a:ext cx="256032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074920" y="3364992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10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49240" y="3355848"/>
            <a:ext cx="256032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349240" y="3364992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11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02336" y="3639312"/>
            <a:ext cx="3977639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93776" y="3657600"/>
            <a:ext cx="356616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80" b="0">
                <a:solidFill>
                  <a:srgbClr val="373737"/>
                </a:solidFill>
                <a:latin typeface="Malgun Gothic"/>
              </a:rPr>
              <a:t>농협상호금융 통합 데이터 플랫폼 구성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606040" y="3977640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606040" y="3986784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880360" y="3977640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880360" y="3986784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023360" y="3977640"/>
            <a:ext cx="256032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023360" y="3986784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11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02336" y="4261104"/>
            <a:ext cx="3977639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93776" y="4279392"/>
            <a:ext cx="356616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80" b="0">
                <a:solidFill>
                  <a:srgbClr val="373737"/>
                </a:solidFill>
                <a:latin typeface="Malgun Gothic"/>
              </a:rPr>
              <a:t>정보계 인터페이스 표준화 정의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606040" y="4599432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2606040" y="4608576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880360" y="4599432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2880360" y="4608576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154680" y="4599432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3154680" y="4608576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429000" y="4599432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429000" y="4608576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02336" y="4882896"/>
            <a:ext cx="3977639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93776" y="4901184"/>
            <a:ext cx="356616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80" b="0">
                <a:solidFill>
                  <a:srgbClr val="373737"/>
                </a:solidFill>
                <a:latin typeface="Malgun Gothic"/>
              </a:rPr>
              <a:t>정보계 권한관리 시스템 구성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606040" y="5221224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2606040" y="5230368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7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02336" y="5504688"/>
            <a:ext cx="3977639" cy="256032"/>
          </a:xfrm>
          <a:prstGeom prst="rect">
            <a:avLst/>
          </a:prstGeom>
          <a:solidFill>
            <a:srgbClr val="E4D01C"/>
          </a:solidFill>
          <a:ln w="635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493776" y="5522976"/>
            <a:ext cx="356616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80" b="0">
                <a:solidFill>
                  <a:srgbClr val="373737"/>
                </a:solidFill>
                <a:latin typeface="Malgun Gothic"/>
              </a:rPr>
              <a:t>장애대응, 역량강화를 위한 모니터링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606040" y="5843016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606040" y="5852160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880360" y="5843016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2880360" y="5852160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657600" y="5843016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3657600" y="5852160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8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931920" y="5843016"/>
            <a:ext cx="219456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3931920" y="5852160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9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206240" y="5843016"/>
            <a:ext cx="256032" cy="201168"/>
          </a:xfrm>
          <a:prstGeom prst="rect">
            <a:avLst/>
          </a:prstGeom>
          <a:solidFill>
            <a:srgbClr val="235FBC"/>
          </a:solidFill>
          <a:ln w="2540">
            <a:solidFill>
              <a:srgbClr val="235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4206240" y="5852160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10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212080" y="1938528"/>
            <a:ext cx="603504" cy="502920"/>
          </a:xfrm>
          <a:prstGeom prst="rect">
            <a:avLst/>
          </a:prstGeom>
          <a:solidFill>
            <a:srgbClr val="EFF1EF"/>
          </a:solidFill>
          <a:ln w="762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239512" y="1993392"/>
            <a:ext cx="54864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373737"/>
                </a:solidFill>
                <a:latin typeface="Malgun Gothic"/>
              </a:rPr>
              <a:t>상위 응용
기능 체계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943600" y="2359152"/>
            <a:ext cx="658368" cy="566928"/>
          </a:xfrm>
          <a:prstGeom prst="rect">
            <a:avLst/>
          </a:prstGeom>
          <a:solidFill>
            <a:srgbClr val="EFF1EF"/>
          </a:solidFill>
          <a:ln w="762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5989320" y="2468880"/>
            <a:ext cx="566928" cy="34747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373737"/>
                </a:solidFill>
                <a:latin typeface="Malgun Gothic"/>
              </a:rPr>
              <a:t>목표 개념
아키텍처
모델 정의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949439" y="2331720"/>
            <a:ext cx="685800" cy="713232"/>
          </a:xfrm>
          <a:prstGeom prst="rect">
            <a:avLst/>
          </a:prstGeom>
          <a:solidFill>
            <a:srgbClr val="EFF1EF"/>
          </a:solidFill>
          <a:ln w="762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6986015" y="2404872"/>
            <a:ext cx="612648" cy="5486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373737"/>
                </a:solidFill>
                <a:latin typeface="Malgun Gothic"/>
              </a:rPr>
              <a:t>논리 데이
터 아키텍
처 모델 정
의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949439" y="3090672"/>
            <a:ext cx="685800" cy="713232"/>
          </a:xfrm>
          <a:prstGeom prst="rect">
            <a:avLst/>
          </a:prstGeom>
          <a:solidFill>
            <a:srgbClr val="EFF1EF"/>
          </a:solidFill>
          <a:ln w="762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6986015" y="3163824"/>
            <a:ext cx="612648" cy="5486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373737"/>
                </a:solidFill>
                <a:latin typeface="Malgun Gothic"/>
              </a:rPr>
              <a:t>논리 기술
아키텍처
모델 정의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949439" y="3858768"/>
            <a:ext cx="685800" cy="713232"/>
          </a:xfrm>
          <a:prstGeom prst="rect">
            <a:avLst/>
          </a:prstGeom>
          <a:solidFill>
            <a:srgbClr val="EFF1EF"/>
          </a:solidFill>
          <a:ln w="762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6986015" y="3931920"/>
            <a:ext cx="612648" cy="5486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373737"/>
                </a:solidFill>
                <a:latin typeface="Malgun Gothic"/>
              </a:rPr>
              <a:t>논리 인터
페이스 아
키텍처 모
델 정의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138160" y="3227832"/>
            <a:ext cx="713232" cy="749808"/>
          </a:xfrm>
          <a:prstGeom prst="rect">
            <a:avLst/>
          </a:prstGeom>
          <a:solidFill>
            <a:srgbClr val="E4D01C"/>
          </a:solidFill>
          <a:ln w="762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8183880" y="3346704"/>
            <a:ext cx="621792" cy="47548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373737"/>
                </a:solidFill>
                <a:latin typeface="Malgun Gothic"/>
              </a:rPr>
              <a:t>물리기술
아키텍처
모델 정의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144000" y="3227832"/>
            <a:ext cx="713232" cy="749808"/>
          </a:xfrm>
          <a:prstGeom prst="rect">
            <a:avLst/>
          </a:prstGeom>
          <a:solidFill>
            <a:srgbClr val="EFF1EF"/>
          </a:solidFill>
          <a:ln w="762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9189720" y="3346704"/>
            <a:ext cx="621792" cy="47548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373737"/>
                </a:solidFill>
                <a:latin typeface="Malgun Gothic"/>
              </a:rPr>
              <a:t>요소기술
메커니즘
기술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812280" y="4645152"/>
            <a:ext cx="3291840" cy="256032"/>
          </a:xfrm>
          <a:prstGeom prst="rect">
            <a:avLst/>
          </a:prstGeom>
          <a:solidFill>
            <a:srgbClr val="EFF1EF"/>
          </a:solidFill>
          <a:ln w="762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6949439" y="4681728"/>
            <a:ext cx="3017520" cy="12801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50" b="0">
                <a:solidFill>
                  <a:srgbClr val="373737"/>
                </a:solidFill>
                <a:latin typeface="Malgun Gothic"/>
              </a:rPr>
              <a:t>요소 기술 통합 런타임 아키텍처 모델 정의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5513832" y="2441448"/>
            <a:ext cx="0" cy="1645920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5513832" y="2624328"/>
            <a:ext cx="1435607" cy="0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5513832" y="3456432"/>
            <a:ext cx="1435607" cy="0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5513832" y="4206240"/>
            <a:ext cx="1435607" cy="0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5513832" y="2441448"/>
            <a:ext cx="758952" cy="0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6601968" y="2642616"/>
            <a:ext cx="347471" cy="0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7296911" y="3044952"/>
            <a:ext cx="0" cy="45720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296911" y="3803904"/>
            <a:ext cx="0" cy="54864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7635239" y="2697480"/>
            <a:ext cx="502921" cy="0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8851392" y="2697480"/>
            <a:ext cx="292608" cy="0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7635239" y="3447288"/>
            <a:ext cx="502921" cy="0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8851392" y="3447288"/>
            <a:ext cx="292608" cy="0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7635239" y="4215384"/>
            <a:ext cx="502921" cy="0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8851392" y="4215384"/>
            <a:ext cx="292608" cy="0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8494776" y="3977639"/>
            <a:ext cx="0" cy="667513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9500616" y="3977639"/>
            <a:ext cx="0" cy="667513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7296911" y="4572000"/>
            <a:ext cx="0" cy="73152"/>
          </a:xfrm>
          <a:prstGeom prst="line">
            <a:avLst/>
          </a:prstGeom>
          <a:ln w="1143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Rectangle 120"/>
          <p:cNvSpPr/>
          <p:nvPr/>
        </p:nvSpPr>
        <p:spPr>
          <a:xfrm>
            <a:off x="5184648" y="5138928"/>
            <a:ext cx="658368" cy="530352"/>
          </a:xfrm>
          <a:prstGeom prst="rect">
            <a:avLst/>
          </a:prstGeom>
          <a:solidFill>
            <a:srgbClr val="EFF1EF"/>
          </a:solidFill>
          <a:ln w="762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5221224" y="5230368"/>
            <a:ext cx="585216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373737"/>
                </a:solidFill>
                <a:latin typeface="Malgun Gothic"/>
              </a:rPr>
              <a:t>형상/배포
기술 아키
텍처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5934456" y="5138928"/>
            <a:ext cx="658368" cy="530352"/>
          </a:xfrm>
          <a:prstGeom prst="rect">
            <a:avLst/>
          </a:prstGeom>
          <a:solidFill>
            <a:srgbClr val="EFF1EF"/>
          </a:solidFill>
          <a:ln w="762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5971032" y="5230368"/>
            <a:ext cx="585216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373737"/>
                </a:solidFill>
                <a:latin typeface="Malgun Gothic"/>
              </a:rPr>
              <a:t>통합개발
환경 구성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684264" y="5138928"/>
            <a:ext cx="658368" cy="530352"/>
          </a:xfrm>
          <a:prstGeom prst="rect">
            <a:avLst/>
          </a:prstGeom>
          <a:solidFill>
            <a:srgbClr val="EFF1EF"/>
          </a:solidFill>
          <a:ln w="762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6720840" y="5230368"/>
            <a:ext cx="585216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373737"/>
                </a:solidFill>
                <a:latin typeface="Malgun Gothic"/>
              </a:rPr>
              <a:t>개발표준
가이드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434072" y="5138928"/>
            <a:ext cx="658368" cy="530352"/>
          </a:xfrm>
          <a:prstGeom prst="rect">
            <a:avLst/>
          </a:prstGeom>
          <a:solidFill>
            <a:srgbClr val="EFF1EF"/>
          </a:solidFill>
          <a:ln w="762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7470648" y="5230368"/>
            <a:ext cx="585216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373737"/>
                </a:solidFill>
                <a:latin typeface="Malgun Gothic"/>
              </a:rPr>
              <a:t>선도개발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183880" y="5138928"/>
            <a:ext cx="658368" cy="530352"/>
          </a:xfrm>
          <a:prstGeom prst="rect">
            <a:avLst/>
          </a:prstGeom>
          <a:solidFill>
            <a:srgbClr val="E4D01C"/>
          </a:solidFill>
          <a:ln w="762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8220456" y="5230368"/>
            <a:ext cx="585216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373737"/>
                </a:solidFill>
                <a:latin typeface="Malgun Gothic"/>
              </a:rPr>
              <a:t>시스템 테
스트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065776" y="5907024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464646"/>
                </a:solidFill>
                <a:latin typeface="Malgun Gothic"/>
              </a:rPr>
              <a:t>21</a:t>
            </a:r>
          </a:p>
        </p:txBody>
      </p:sp>
      <p:sp>
        <p:nvSpPr>
          <p:cNvPr id="132" name="Isosceles Triangle 131"/>
          <p:cNvSpPr/>
          <p:nvPr/>
        </p:nvSpPr>
        <p:spPr>
          <a:xfrm rot="10800000">
            <a:off x="18288" y="5815584"/>
            <a:ext cx="118872" cy="164592"/>
          </a:xfrm>
          <a:prstGeom prst="triangle">
            <a:avLst/>
          </a:prstGeom>
          <a:solidFill>
            <a:srgbClr val="EC9A34"/>
          </a:solidFill>
          <a:ln>
            <a:solidFill>
              <a:srgbClr val="EC9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Oval 132"/>
          <p:cNvSpPr/>
          <p:nvPr/>
        </p:nvSpPr>
        <p:spPr>
          <a:xfrm>
            <a:off x="109728" y="5852160"/>
            <a:ext cx="45720" cy="45720"/>
          </a:xfrm>
          <a:prstGeom prst="ellipse">
            <a:avLst/>
          </a:prstGeom>
          <a:solidFill>
            <a:srgbClr val="EC9A34"/>
          </a:solidFill>
          <a:ln>
            <a:solidFill>
              <a:srgbClr val="EC9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164592" y="5806440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>
                <a:solidFill>
                  <a:srgbClr val="26854A"/>
                </a:solidFill>
                <a:latin typeface="Malgun Gothic"/>
              </a:rPr>
              <a:t>농협중앙회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6304" y="109728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300" b="1">
                <a:solidFill>
                  <a:srgbClr val="2D2D2D"/>
                </a:solidFill>
                <a:latin typeface="Malgun Gothic"/>
              </a:rPr>
              <a:t>5. 추진 체계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46304" y="640080"/>
            <a:ext cx="9784080" cy="0"/>
          </a:xfrm>
          <a:prstGeom prst="line">
            <a:avLst/>
          </a:prstGeom>
          <a:ln w="17780">
            <a:solidFill>
              <a:srgbClr val="3737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38912" y="804672"/>
            <a:ext cx="3108960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Malgun Gothic"/>
              </a:rPr>
              <a:t>■ 사전분석 – 아키텍처 수립</a:t>
            </a:r>
          </a:p>
        </p:txBody>
      </p:sp>
      <p:sp>
        <p:nvSpPr>
          <p:cNvPr id="5" name="Rectangle 4"/>
          <p:cNvSpPr/>
          <p:nvPr/>
        </p:nvSpPr>
        <p:spPr>
          <a:xfrm>
            <a:off x="8321040" y="960120"/>
            <a:ext cx="320040" cy="228600"/>
          </a:xfrm>
          <a:prstGeom prst="rect">
            <a:avLst/>
          </a:prstGeom>
          <a:solidFill>
            <a:srgbClr val="D2D8D6"/>
          </a:solidFill>
          <a:ln w="8890">
            <a:solidFill>
              <a:srgbClr val="D2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800" b="1">
                <a:solidFill>
                  <a:srgbClr val="323232"/>
                </a:solidFill>
                <a:latin typeface="Malgun Gothic"/>
              </a:rPr>
              <a:t>범례</a:t>
            </a:r>
          </a:p>
        </p:txBody>
      </p:sp>
      <p:sp>
        <p:nvSpPr>
          <p:cNvPr id="6" name="Rectangle 5"/>
          <p:cNvSpPr/>
          <p:nvPr/>
        </p:nvSpPr>
        <p:spPr>
          <a:xfrm>
            <a:off x="8668512" y="960120"/>
            <a:ext cx="228600" cy="91440"/>
          </a:xfrm>
          <a:prstGeom prst="rect">
            <a:avLst/>
          </a:prstGeom>
          <a:solidFill>
            <a:srgbClr val="2D373D"/>
          </a:solidFill>
          <a:ln w="8890">
            <a:solidFill>
              <a:srgbClr val="2D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0" y="950976"/>
            <a:ext cx="731520" cy="1097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650" b="0">
                <a:solidFill>
                  <a:srgbClr val="323232"/>
                </a:solidFill>
                <a:latin typeface="Malgun Gothic"/>
              </a:rPr>
              <a:t>고객사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8512" y="1106424"/>
            <a:ext cx="228600" cy="91440"/>
          </a:xfrm>
          <a:prstGeom prst="rect">
            <a:avLst/>
          </a:prstGeom>
          <a:solidFill>
            <a:srgbClr val="22303D"/>
          </a:solidFill>
          <a:ln w="8890">
            <a:solidFill>
              <a:srgbClr val="22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0" y="1078992"/>
            <a:ext cx="731520" cy="1097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650" b="0">
                <a:solidFill>
                  <a:srgbClr val="323232"/>
                </a:solidFill>
                <a:latin typeface="Malgun Gothic"/>
              </a:rPr>
              <a:t>비상설 조직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68512" y="1252728"/>
            <a:ext cx="228600" cy="91440"/>
          </a:xfrm>
          <a:prstGeom prst="rect">
            <a:avLst/>
          </a:prstGeom>
          <a:solidFill>
            <a:srgbClr val="6C7B7A"/>
          </a:solidFill>
          <a:ln w="8890">
            <a:solidFill>
              <a:srgbClr val="6C7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0" y="1207008"/>
            <a:ext cx="731520" cy="1097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650" b="0">
                <a:solidFill>
                  <a:srgbClr val="323232"/>
                </a:solidFill>
                <a:latin typeface="Malgun Gothic"/>
              </a:rPr>
              <a:t>프로젝트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44752" y="1298448"/>
            <a:ext cx="1828800" cy="256032"/>
          </a:xfrm>
          <a:prstGeom prst="rect">
            <a:avLst/>
          </a:prstGeom>
          <a:solidFill>
            <a:srgbClr val="2D373D"/>
          </a:solidFill>
          <a:ln w="8890">
            <a:solidFill>
              <a:srgbClr val="2D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고객사사업총괄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44752" y="1554480"/>
            <a:ext cx="1828800" cy="292608"/>
          </a:xfrm>
          <a:prstGeom prst="rect">
            <a:avLst/>
          </a:prstGeom>
          <a:solidFill>
            <a:srgbClr val="F2F5F2"/>
          </a:solidFill>
          <a:ln w="8890">
            <a:solidFill>
              <a:srgbClr val="F2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1000" b="0">
                <a:solidFill>
                  <a:srgbClr val="323232"/>
                </a:solidFill>
                <a:latin typeface="Malgun Gothic"/>
              </a:rPr>
              <a:t>담당 부서장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11880" y="1298448"/>
            <a:ext cx="1828800" cy="256032"/>
          </a:xfrm>
          <a:prstGeom prst="rect">
            <a:avLst/>
          </a:prstGeom>
          <a:solidFill>
            <a:srgbClr val="22303D"/>
          </a:solidFill>
          <a:ln w="8890">
            <a:solidFill>
              <a:srgbClr val="22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의사결정협의회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11880" y="1554480"/>
            <a:ext cx="1828800" cy="292608"/>
          </a:xfrm>
          <a:prstGeom prst="rect">
            <a:avLst/>
          </a:prstGeom>
          <a:solidFill>
            <a:srgbClr val="F2F5F2"/>
          </a:solidFill>
          <a:ln w="8890">
            <a:solidFill>
              <a:srgbClr val="F2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1000" b="0">
                <a:solidFill>
                  <a:srgbClr val="323232"/>
                </a:solidFill>
                <a:latin typeface="Malgun Gothic"/>
              </a:rPr>
              <a:t>양사 총괄 + PM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79008" y="1298448"/>
            <a:ext cx="1828800" cy="256032"/>
          </a:xfrm>
          <a:prstGeom prst="rect">
            <a:avLst/>
          </a:prstGeom>
          <a:solidFill>
            <a:srgbClr val="6C7B7A"/>
          </a:solidFill>
          <a:ln w="8890">
            <a:solidFill>
              <a:srgbClr val="6C7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제안사사업총괄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79008" y="1554480"/>
            <a:ext cx="1828800" cy="292608"/>
          </a:xfrm>
          <a:prstGeom prst="rect">
            <a:avLst/>
          </a:prstGeom>
          <a:solidFill>
            <a:srgbClr val="F2F5F2"/>
          </a:solidFill>
          <a:ln w="8890">
            <a:solidFill>
              <a:srgbClr val="F2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1000" b="0">
                <a:solidFill>
                  <a:srgbClr val="323232"/>
                </a:solidFill>
                <a:latin typeface="Malgun Gothic"/>
              </a:rPr>
              <a:t>담당임원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273552" y="1435608"/>
            <a:ext cx="338328" cy="0"/>
          </a:xfrm>
          <a:prstGeom prst="line">
            <a:avLst/>
          </a:prstGeom>
          <a:ln w="12700">
            <a:solidFill>
              <a:srgbClr val="828C8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440680" y="1435608"/>
            <a:ext cx="338328" cy="0"/>
          </a:xfrm>
          <a:prstGeom prst="line">
            <a:avLst/>
          </a:prstGeom>
          <a:ln w="12700">
            <a:solidFill>
              <a:srgbClr val="828C8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444752" y="2121408"/>
            <a:ext cx="1828800" cy="256032"/>
          </a:xfrm>
          <a:prstGeom prst="rect">
            <a:avLst/>
          </a:prstGeom>
          <a:solidFill>
            <a:srgbClr val="2D373D"/>
          </a:solidFill>
          <a:ln w="8890">
            <a:solidFill>
              <a:srgbClr val="2D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고객사 PM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44752" y="2377440"/>
            <a:ext cx="1828800" cy="292608"/>
          </a:xfrm>
          <a:prstGeom prst="rect">
            <a:avLst/>
          </a:prstGeom>
          <a:solidFill>
            <a:srgbClr val="F2F5F2"/>
          </a:solidFill>
          <a:ln w="8890">
            <a:solidFill>
              <a:srgbClr val="F2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1000" b="0">
                <a:solidFill>
                  <a:srgbClr val="323232"/>
                </a:solidFill>
                <a:latin typeface="Malgun Gothic"/>
              </a:rPr>
              <a:t>PM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11880" y="2121408"/>
            <a:ext cx="1828800" cy="256032"/>
          </a:xfrm>
          <a:prstGeom prst="rect">
            <a:avLst/>
          </a:prstGeom>
          <a:solidFill>
            <a:srgbClr val="6C7B7A"/>
          </a:solidFill>
          <a:ln w="8890">
            <a:solidFill>
              <a:srgbClr val="6C7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실무협의회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11880" y="2377440"/>
            <a:ext cx="1828800" cy="292608"/>
          </a:xfrm>
          <a:prstGeom prst="rect">
            <a:avLst/>
          </a:prstGeom>
          <a:solidFill>
            <a:srgbClr val="F2F5F2"/>
          </a:solidFill>
          <a:ln w="8890">
            <a:solidFill>
              <a:srgbClr val="F2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1000" b="0">
                <a:solidFill>
                  <a:srgbClr val="323232"/>
                </a:solidFill>
                <a:latin typeface="Malgun Gothic"/>
              </a:rPr>
              <a:t>양사 PM 및 PL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79008" y="2121408"/>
            <a:ext cx="1828800" cy="256032"/>
          </a:xfrm>
          <a:prstGeom prst="rect">
            <a:avLst/>
          </a:prstGeom>
          <a:solidFill>
            <a:srgbClr val="6C7B7A"/>
          </a:solidFill>
          <a:ln w="8890">
            <a:solidFill>
              <a:srgbClr val="6C7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제안사 PM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79008" y="2377440"/>
            <a:ext cx="1828800" cy="292608"/>
          </a:xfrm>
          <a:prstGeom prst="rect">
            <a:avLst/>
          </a:prstGeom>
          <a:solidFill>
            <a:srgbClr val="F2F5F2"/>
          </a:solidFill>
          <a:ln w="8890">
            <a:solidFill>
              <a:srgbClr val="F2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1000" b="0">
                <a:solidFill>
                  <a:srgbClr val="323232"/>
                </a:solidFill>
                <a:latin typeface="Malgun Gothic"/>
              </a:rPr>
              <a:t>서진수 PM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273552" y="2258568"/>
            <a:ext cx="338328" cy="0"/>
          </a:xfrm>
          <a:prstGeom prst="line">
            <a:avLst/>
          </a:prstGeom>
          <a:ln w="12700">
            <a:solidFill>
              <a:srgbClr val="828C8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40680" y="2258568"/>
            <a:ext cx="338328" cy="0"/>
          </a:xfrm>
          <a:prstGeom prst="line">
            <a:avLst/>
          </a:prstGeom>
          <a:ln w="12700">
            <a:solidFill>
              <a:srgbClr val="828C8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1847088"/>
            <a:ext cx="0" cy="1929384"/>
          </a:xfrm>
          <a:prstGeom prst="line">
            <a:avLst/>
          </a:prstGeom>
          <a:ln w="12700">
            <a:solidFill>
              <a:srgbClr val="82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847088"/>
            <a:ext cx="0" cy="1920240"/>
          </a:xfrm>
          <a:prstGeom prst="line">
            <a:avLst/>
          </a:prstGeom>
          <a:ln w="12700">
            <a:solidFill>
              <a:srgbClr val="82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2670048"/>
            <a:ext cx="0" cy="0"/>
          </a:xfrm>
          <a:prstGeom prst="line">
            <a:avLst/>
          </a:prstGeom>
          <a:ln w="12700">
            <a:solidFill>
              <a:srgbClr val="82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412480" y="1828800"/>
            <a:ext cx="1097280" cy="256032"/>
          </a:xfrm>
          <a:prstGeom prst="rect">
            <a:avLst/>
          </a:prstGeom>
          <a:solidFill>
            <a:srgbClr val="22303D"/>
          </a:solidFill>
          <a:ln w="8890">
            <a:solidFill>
              <a:srgbClr val="22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제안사 지원조직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12480" y="2084832"/>
            <a:ext cx="1097280" cy="292608"/>
          </a:xfrm>
          <a:prstGeom prst="rect">
            <a:avLst/>
          </a:prstGeom>
          <a:solidFill>
            <a:srgbClr val="F2F5F2"/>
          </a:solidFill>
          <a:ln w="8890">
            <a:solidFill>
              <a:srgbClr val="F2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1000" b="0">
                <a:solidFill>
                  <a:srgbClr val="323232"/>
                </a:solidFill>
                <a:latin typeface="Malgun Gothic"/>
              </a:rPr>
              <a:t>기술지원
인사지원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15568" y="3017520"/>
            <a:ext cx="987552" cy="256032"/>
          </a:xfrm>
          <a:prstGeom prst="rect">
            <a:avLst/>
          </a:prstGeom>
          <a:solidFill>
            <a:srgbClr val="6C7B7A"/>
          </a:solidFill>
          <a:ln w="8890">
            <a:solidFill>
              <a:srgbClr val="6C7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외부 PMO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96896" y="3017520"/>
            <a:ext cx="987552" cy="256032"/>
          </a:xfrm>
          <a:prstGeom prst="rect">
            <a:avLst/>
          </a:prstGeom>
          <a:solidFill>
            <a:srgbClr val="22303D"/>
          </a:solidFill>
          <a:ln w="8890">
            <a:solidFill>
              <a:srgbClr val="22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고객사 PMO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0" y="2670048"/>
            <a:ext cx="0" cy="530352"/>
          </a:xfrm>
          <a:prstGeom prst="line">
            <a:avLst/>
          </a:prstGeom>
          <a:ln w="12700">
            <a:solidFill>
              <a:srgbClr val="82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2103120" y="3200400"/>
            <a:ext cx="0" cy="0"/>
          </a:xfrm>
          <a:prstGeom prst="line">
            <a:avLst/>
          </a:prstGeom>
          <a:ln w="12700">
            <a:solidFill>
              <a:srgbClr val="82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3200400"/>
            <a:ext cx="0" cy="0"/>
          </a:xfrm>
          <a:prstGeom prst="line">
            <a:avLst/>
          </a:prstGeom>
          <a:ln w="12700">
            <a:solidFill>
              <a:srgbClr val="82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164592" y="3803904"/>
            <a:ext cx="1417320" cy="256032"/>
          </a:xfrm>
          <a:prstGeom prst="rect">
            <a:avLst/>
          </a:prstGeom>
          <a:solidFill>
            <a:srgbClr val="22303D"/>
          </a:solidFill>
          <a:ln w="8890">
            <a:solidFill>
              <a:srgbClr val="22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업무/구축 지원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4187952"/>
            <a:ext cx="566928" cy="438912"/>
          </a:xfrm>
          <a:prstGeom prst="rect">
            <a:avLst/>
          </a:prstGeom>
          <a:solidFill>
            <a:srgbClr val="F2F5F2"/>
          </a:solidFill>
          <a:ln w="889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850" b="0">
                <a:solidFill>
                  <a:srgbClr val="323232"/>
                </a:solidFill>
                <a:latin typeface="Malgun Gothic"/>
              </a:rPr>
              <a:t>(중)IT
기획부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9536" y="4187952"/>
            <a:ext cx="566928" cy="438912"/>
          </a:xfrm>
          <a:prstGeom prst="rect">
            <a:avLst/>
          </a:prstGeom>
          <a:solidFill>
            <a:srgbClr val="F2F5F2"/>
          </a:solidFill>
          <a:ln w="8890">
            <a:solidFill>
              <a:srgbClr val="AB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850" b="0">
                <a:solidFill>
                  <a:srgbClr val="323232"/>
                </a:solidFill>
                <a:latin typeface="Malgun Gothic"/>
              </a:rPr>
              <a:t>(은)IT
시스템부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01168" y="4690872"/>
            <a:ext cx="566928" cy="438912"/>
          </a:xfrm>
          <a:prstGeom prst="rect">
            <a:avLst/>
          </a:prstGeom>
          <a:solidFill>
            <a:srgbClr val="F2F5F2"/>
          </a:solidFill>
          <a:ln w="889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850" b="0">
                <a:solidFill>
                  <a:srgbClr val="323232"/>
                </a:solidFill>
                <a:latin typeface="Malgun Gothic"/>
              </a:rPr>
              <a:t>(중)IT상호
금융부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9536" y="4690872"/>
            <a:ext cx="566928" cy="438912"/>
          </a:xfrm>
          <a:prstGeom prst="rect">
            <a:avLst/>
          </a:prstGeom>
          <a:solidFill>
            <a:srgbClr val="F2F5F2"/>
          </a:solidFill>
          <a:ln w="889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850" b="0">
                <a:solidFill>
                  <a:srgbClr val="323232"/>
                </a:solidFill>
                <a:latin typeface="Malgun Gothic"/>
              </a:rPr>
              <a:t>(중)정보
보호부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1168" y="5193792"/>
            <a:ext cx="566928" cy="438912"/>
          </a:xfrm>
          <a:prstGeom prst="rect">
            <a:avLst/>
          </a:prstGeom>
          <a:solidFill>
            <a:srgbClr val="F2F5F2"/>
          </a:solidFill>
          <a:ln w="8890">
            <a:solidFill>
              <a:srgbClr val="AB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850" b="0">
                <a:solidFill>
                  <a:srgbClr val="323232"/>
                </a:solidFill>
                <a:latin typeface="Malgun Gothic"/>
              </a:rPr>
              <a:t>(은)정보
보안부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9536" y="5193792"/>
            <a:ext cx="566928" cy="438912"/>
          </a:xfrm>
          <a:prstGeom prst="rect">
            <a:avLst/>
          </a:prstGeom>
          <a:solidFill>
            <a:srgbClr val="F2F5F2"/>
          </a:solidFill>
          <a:ln w="889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850" b="0">
                <a:solidFill>
                  <a:srgbClr val="323232"/>
                </a:solidFill>
                <a:latin typeface="Malgun Gothic"/>
              </a:rPr>
              <a:t>상호금융
디지털사업부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682496" y="3730752"/>
            <a:ext cx="1691640" cy="1920240"/>
          </a:xfrm>
          <a:prstGeom prst="rect">
            <a:avLst/>
          </a:prstGeom>
          <a:solidFill>
            <a:srgbClr val="F5F7F5"/>
          </a:solidFill>
          <a:ln w="25400">
            <a:solidFill>
              <a:srgbClr val="AB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755648" y="3822192"/>
            <a:ext cx="1545336" cy="256032"/>
          </a:xfrm>
          <a:prstGeom prst="rect">
            <a:avLst/>
          </a:prstGeom>
          <a:solidFill>
            <a:srgbClr val="22303D"/>
          </a:solidFill>
          <a:ln w="8890">
            <a:solidFill>
              <a:srgbClr val="22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사업 추진 TFT(현업/IT)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20240" y="4370832"/>
            <a:ext cx="1216152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323232"/>
                </a:solidFill>
                <a:latin typeface="Malgun Gothic"/>
              </a:rPr>
              <a:t>(중)IT디지털정보부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66544" y="4873752"/>
            <a:ext cx="923544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323232"/>
                </a:solidFill>
                <a:latin typeface="Malgun Gothic"/>
              </a:rPr>
              <a:t>이상하 과장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66544" y="5239512"/>
            <a:ext cx="923544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323232"/>
                </a:solidFill>
                <a:latin typeface="Malgun Gothic"/>
              </a:rPr>
              <a:t>박성하 과장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0" y="3429000"/>
            <a:ext cx="0" cy="301752"/>
          </a:xfrm>
          <a:prstGeom prst="line">
            <a:avLst/>
          </a:prstGeom>
          <a:ln w="12700">
            <a:solidFill>
              <a:srgbClr val="82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7333488" y="2788920"/>
            <a:ext cx="1078992" cy="256032"/>
          </a:xfrm>
          <a:prstGeom prst="rect">
            <a:avLst/>
          </a:prstGeom>
          <a:solidFill>
            <a:srgbClr val="6C7B7A"/>
          </a:solidFill>
          <a:ln w="8890">
            <a:solidFill>
              <a:srgbClr val="6C7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사업관리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333488" y="3044952"/>
            <a:ext cx="1078992" cy="292608"/>
          </a:xfrm>
          <a:prstGeom prst="rect">
            <a:avLst/>
          </a:prstGeom>
          <a:solidFill>
            <a:srgbClr val="F2F5F2"/>
          </a:solidFill>
          <a:ln w="8890">
            <a:solidFill>
              <a:srgbClr val="F2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1000" b="0">
                <a:solidFill>
                  <a:srgbClr val="323232"/>
                </a:solidFill>
                <a:latin typeface="Malgun Gothic"/>
              </a:rPr>
              <a:t>김재원 매니저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16368" y="3319272"/>
            <a:ext cx="749808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50" b="0">
                <a:solidFill>
                  <a:srgbClr val="323232"/>
                </a:solidFill>
                <a:latin typeface="Malgun Gothic"/>
              </a:rPr>
              <a:t>· 사업관리
· 품질관리
· 테스트/이행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0" y="2670048"/>
            <a:ext cx="0" cy="118872"/>
          </a:xfrm>
          <a:prstGeom prst="line">
            <a:avLst/>
          </a:prstGeom>
          <a:ln w="12700">
            <a:solidFill>
              <a:srgbClr val="82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0" y="2788920"/>
            <a:ext cx="0" cy="0"/>
          </a:xfrm>
          <a:prstGeom prst="line">
            <a:avLst/>
          </a:prstGeom>
          <a:ln w="12700">
            <a:solidFill>
              <a:srgbClr val="82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4114800" y="3886200"/>
            <a:ext cx="1143000" cy="1600200"/>
          </a:xfrm>
          <a:prstGeom prst="rect">
            <a:avLst/>
          </a:prstGeom>
          <a:solidFill>
            <a:srgbClr val="F2F5F2"/>
          </a:solidFill>
          <a:ln w="1016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4114800" y="3886200"/>
            <a:ext cx="1143000" cy="274320"/>
          </a:xfrm>
          <a:prstGeom prst="rect">
            <a:avLst/>
          </a:prstGeom>
          <a:solidFill>
            <a:srgbClr val="6C7B7A"/>
          </a:solidFill>
          <a:ln w="8890">
            <a:solidFill>
              <a:srgbClr val="6C7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</a:rPr>
              <a:t>데이터 플랫폼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87952" y="4270248"/>
            <a:ext cx="996696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00" b="0">
                <a:solidFill>
                  <a:srgbClr val="323232"/>
                </a:solidFill>
                <a:latin typeface="Malgun Gothic"/>
              </a:rPr>
              <a:t>정윤재 매니저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61104" y="4544568"/>
            <a:ext cx="886968" cy="9052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30" b="0">
                <a:solidFill>
                  <a:srgbClr val="323232"/>
                </a:solidFill>
                <a:latin typeface="Malgun Gothic"/>
              </a:rPr>
              <a:t>· ADW
· RDW
· 데이터 거버넌스
· 빅데이터 대응개발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0" y="3886200"/>
            <a:ext cx="1143000" cy="1600200"/>
          </a:xfrm>
          <a:prstGeom prst="rect">
            <a:avLst/>
          </a:prstGeom>
          <a:solidFill>
            <a:srgbClr val="F2F5F2"/>
          </a:solidFill>
          <a:ln w="1016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5486400" y="3886200"/>
            <a:ext cx="1143000" cy="274320"/>
          </a:xfrm>
          <a:prstGeom prst="rect">
            <a:avLst/>
          </a:prstGeom>
          <a:solidFill>
            <a:srgbClr val="6C7B7A"/>
          </a:solidFill>
          <a:ln w="8890">
            <a:solidFill>
              <a:srgbClr val="6C7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</a:rPr>
              <a:t>BI포탈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559552" y="4270248"/>
            <a:ext cx="996696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00" b="0">
                <a:solidFill>
                  <a:srgbClr val="323232"/>
                </a:solidFill>
                <a:latin typeface="Malgun Gothic"/>
              </a:rPr>
              <a:t>김성현 매니저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32704" y="4544568"/>
            <a:ext cx="886968" cy="9052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30" b="0">
                <a:solidFill>
                  <a:srgbClr val="323232"/>
                </a:solidFill>
                <a:latin typeface="Malgun Gothic"/>
              </a:rPr>
              <a:t>· BI포털
· 신용실적
· OLAP
· 셀프 BI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858000" y="3886200"/>
            <a:ext cx="1143000" cy="1600200"/>
          </a:xfrm>
          <a:prstGeom prst="rect">
            <a:avLst/>
          </a:prstGeom>
          <a:solidFill>
            <a:srgbClr val="F2F5F2"/>
          </a:solidFill>
          <a:ln w="1016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6858000" y="3886200"/>
            <a:ext cx="1143000" cy="274320"/>
          </a:xfrm>
          <a:prstGeom prst="rect">
            <a:avLst/>
          </a:prstGeom>
          <a:solidFill>
            <a:srgbClr val="6C7B7A"/>
          </a:solidFill>
          <a:ln w="8890">
            <a:solidFill>
              <a:srgbClr val="6C7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</a:rPr>
              <a:t>마케팅 플랫폼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31152" y="4270248"/>
            <a:ext cx="996696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00" b="0">
                <a:solidFill>
                  <a:srgbClr val="323232"/>
                </a:solidFill>
                <a:latin typeface="Malgun Gothic"/>
              </a:rPr>
              <a:t>최종오 매니저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004304" y="4544568"/>
            <a:ext cx="886968" cy="9052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30" b="0">
                <a:solidFill>
                  <a:srgbClr val="323232"/>
                </a:solidFill>
                <a:latin typeface="Malgun Gothic"/>
              </a:rPr>
              <a:t>· 상품판매
· 고객/상품 정보
· 기업고객관리
· 행동정보
· EBM/캠페인
· 콘텐츠/메시지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229600" y="3886200"/>
            <a:ext cx="1143000" cy="1600200"/>
          </a:xfrm>
          <a:prstGeom prst="rect">
            <a:avLst/>
          </a:prstGeom>
          <a:solidFill>
            <a:srgbClr val="F2F5F2"/>
          </a:solidFill>
          <a:ln w="25400">
            <a:solidFill>
              <a:srgbClr val="AB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8229600" y="3886200"/>
            <a:ext cx="1143000" cy="274320"/>
          </a:xfrm>
          <a:prstGeom prst="rect">
            <a:avLst/>
          </a:prstGeom>
          <a:solidFill>
            <a:srgbClr val="6C7B7A"/>
          </a:solidFill>
          <a:ln w="8890">
            <a:solidFill>
              <a:srgbClr val="6C7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</a:rPr>
              <a:t>아키/인프라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02752" y="4270248"/>
            <a:ext cx="996696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00" b="0">
                <a:solidFill>
                  <a:srgbClr val="323232"/>
                </a:solidFill>
                <a:latin typeface="Malgun Gothic"/>
              </a:rPr>
              <a:t>장우승 매니저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75904" y="4544568"/>
            <a:ext cx="886968" cy="9052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30" b="0">
                <a:solidFill>
                  <a:srgbClr val="323232"/>
                </a:solidFill>
                <a:latin typeface="Malgun Gothic"/>
              </a:rPr>
              <a:t>· AA, TA, DA
· UI/UX
· FW
· 정보 단말
PL-1
TA-1
AA-1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0" y="3593592"/>
            <a:ext cx="0" cy="292608"/>
          </a:xfrm>
          <a:prstGeom prst="line">
            <a:avLst/>
          </a:prstGeom>
          <a:ln w="12700">
            <a:solidFill>
              <a:srgbClr val="82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4114800" y="3886200"/>
            <a:ext cx="5257800" cy="0"/>
          </a:xfrm>
          <a:prstGeom prst="line">
            <a:avLst/>
          </a:prstGeom>
          <a:ln w="12700">
            <a:solidFill>
              <a:srgbClr val="82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0" y="3685032"/>
            <a:ext cx="0" cy="201168"/>
          </a:xfrm>
          <a:prstGeom prst="line">
            <a:avLst/>
          </a:prstGeom>
          <a:ln w="12700">
            <a:solidFill>
              <a:srgbClr val="82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0" y="3685032"/>
            <a:ext cx="0" cy="201168"/>
          </a:xfrm>
          <a:prstGeom prst="line">
            <a:avLst/>
          </a:prstGeom>
          <a:ln w="12700">
            <a:solidFill>
              <a:srgbClr val="82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0" y="3685032"/>
            <a:ext cx="0" cy="201168"/>
          </a:xfrm>
          <a:prstGeom prst="line">
            <a:avLst/>
          </a:prstGeom>
          <a:ln w="12700">
            <a:solidFill>
              <a:srgbClr val="82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0" y="3685032"/>
            <a:ext cx="0" cy="201168"/>
          </a:xfrm>
          <a:prstGeom prst="line">
            <a:avLst/>
          </a:prstGeom>
          <a:ln w="12700">
            <a:solidFill>
              <a:srgbClr val="82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91440" y="5897880"/>
            <a:ext cx="9893808" cy="0"/>
          </a:xfrm>
          <a:prstGeom prst="line">
            <a:avLst/>
          </a:prstGeom>
          <a:ln w="1016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5065776" y="5907024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464646"/>
                </a:solidFill>
                <a:latin typeface="Malgun Gothic"/>
              </a:rPr>
              <a:t>22</a:t>
            </a:r>
          </a:p>
        </p:txBody>
      </p:sp>
      <p:sp>
        <p:nvSpPr>
          <p:cNvPr id="80" name="Isosceles Triangle 79"/>
          <p:cNvSpPr/>
          <p:nvPr/>
        </p:nvSpPr>
        <p:spPr>
          <a:xfrm rot="10800000">
            <a:off x="18288" y="5815584"/>
            <a:ext cx="118872" cy="164592"/>
          </a:xfrm>
          <a:prstGeom prst="triangle">
            <a:avLst/>
          </a:prstGeom>
          <a:solidFill>
            <a:srgbClr val="EC9A34"/>
          </a:solidFill>
          <a:ln>
            <a:solidFill>
              <a:srgbClr val="EC9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109728" y="5852160"/>
            <a:ext cx="45720" cy="45720"/>
          </a:xfrm>
          <a:prstGeom prst="ellipse">
            <a:avLst/>
          </a:prstGeom>
          <a:solidFill>
            <a:srgbClr val="EC9A34"/>
          </a:solidFill>
          <a:ln>
            <a:solidFill>
              <a:srgbClr val="EC9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64592" y="5806440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>
                <a:solidFill>
                  <a:srgbClr val="26854A"/>
                </a:solidFill>
                <a:latin typeface="Malgun Gothic"/>
              </a:rPr>
              <a:t>농협중앙회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3665</Words>
  <Application>Microsoft Office PowerPoint</Application>
  <PresentationFormat>와이드스크린</PresentationFormat>
  <Paragraphs>1561</Paragraphs>
  <Slides>20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4" baseType="lpstr">
      <vt:lpstr>Malgun Gothic</vt:lpstr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NH NSIGHT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사전분석 계획서[인프라 아키텍처]</dc:title>
  <dc:subject>차세대 정보계 시스템 구축 사전분석 계획서[인프라 아키텍처]</dc:subject>
  <dc:creator>OpenAI</dc:creator>
  <cp:lastModifiedBy>장우승</cp:lastModifiedBy>
  <cp:revision>1</cp:revision>
  <dcterms:created xsi:type="dcterms:W3CDTF">2026-08-24T05:48:11Z</dcterms:created>
  <dcterms:modified xsi:type="dcterms:W3CDTF">2026-08-24T06:50:27Z</dcterms:modified>
</cp:coreProperties>
</file>