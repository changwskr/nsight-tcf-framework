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137160"/>
            <a:ext cx="3474720" cy="118872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18288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3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82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43427"/>
                </a:solidFill>
                <a:latin typeface="Malgun Gothic"/>
              </a:rPr>
              <a:t>대외비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32323"/>
                </a:solidFill>
                <a:latin typeface="Malgun Gothic"/>
              </a:rPr>
              <a:t>개발 표준 정의서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4747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32323"/>
                </a:solidFill>
                <a:latin typeface="Malgun Gothic"/>
              </a:rPr>
              <a:t>아키텍처_인프라아키텍처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91840" y="5029200"/>
          <a:ext cx="27432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32323"/>
                          </a:solidFill>
                          <a:latin typeface="Malgun Gothic"/>
                        </a:rPr>
                        <a:t>문서번호</a:t>
                      </a:r>
                    </a:p>
                  </a:txBody>
                  <a:tcPr anchor="ctr"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NHNIS-IA-DS03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32323"/>
                          </a:solidFill>
                          <a:latin typeface="Malgun Gothic"/>
                        </a:rPr>
                        <a:t>버전</a:t>
                      </a:r>
                    </a:p>
                  </a:txBody>
                  <a:tcPr anchor="ctr"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1.1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32323"/>
                          </a:solidFill>
                          <a:latin typeface="Malgun Gothic"/>
                        </a:rPr>
                        <a:t>제/개정일자</a:t>
                      </a:r>
                    </a:p>
                  </a:txBody>
                  <a:tcPr anchor="ctr" marL="38100" marR="38100" marT="25400" marB="25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2026.07.07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62636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  <a:latin typeface="Malgun Gothic"/>
              </a:rPr>
              <a:t>※ 본 문서는 “한컴 고딕”으로 작성되었습니다.
※ 농협중앙회의 사전 승인 없이 본 내용의 전부 또는 일부에 대한 복사, 전재, 배포 및 사용을 금합니다.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- 2 -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32323"/>
                </a:solidFill>
                <a:latin typeface="Malgun Gothic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4389120" cy="219456"/>
          </a:xfrm>
          <a:prstGeom prst="rect">
            <a:avLst/>
          </a:prstGeom>
          <a:solidFill>
            <a:srgbClr val="E2F0D9"/>
          </a:solidFill>
          <a:ln w="12700"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Malgun Gothic"/>
              </a:rPr>
              <a:t>1.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Malgun Gothic"/>
              </a:rPr>
              <a:t>   1.1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2. 어플리케이션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9689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3. 명명규칙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4. 업무 처리 유형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5. 인터페이스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6. 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7. Report 연계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67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8. 개인 정보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15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9. 주석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626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10. 로그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10127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11. 페이징 처리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1. 개요
1.1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- 3 -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3444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개발 표준 정의를 통해 업무 프로그램 설계 기반을 수립하고, 아키텍처 요소의 일관성을 확보함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411480"/>
            <a:ext cx="1325880" cy="502920"/>
          </a:xfrm>
          <a:prstGeom prst="rect">
            <a:avLst/>
          </a:prstGeom>
          <a:noFill/>
          <a:ln w="25400">
            <a:solidFill>
              <a:srgbClr val="B434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B43427"/>
                </a:solidFill>
                <a:latin typeface="Malgun Gothic"/>
              </a:rPr>
              <a:t>수정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1417320" cy="1005840"/>
          </a:xfrm>
          <a:prstGeom prst="rect">
            <a:avLst/>
          </a:prstGeom>
          <a:solidFill>
            <a:srgbClr val="309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목적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1828800"/>
            <a:ext cx="8961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920240"/>
            <a:ext cx="85953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algun Gothic"/>
              </a:rPr>
              <a:t>본 문서는 차세대 정보계 시스템에서 사용하는 아키텍처 표준 명명규칙을 정의함으로써,
인프라 및 업무 프로그램 설계에 일관성 있는 식별 체계를 제공하는 것을 목적으로 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99232"/>
            <a:ext cx="1417320" cy="1005840"/>
          </a:xfrm>
          <a:prstGeom prst="rect">
            <a:avLst/>
          </a:prstGeom>
          <a:solidFill>
            <a:srgbClr val="309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정의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999232"/>
            <a:ext cx="8961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3090672"/>
            <a:ext cx="85953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algun Gothic"/>
              </a:rPr>
              <a:t>식별자만으로 명명규칙이 부여된 어플리케이션 리소스의 영역이나 적용범위를
식별할 수 있도록 정의한다.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69664"/>
            <a:ext cx="1417320" cy="1920240"/>
          </a:xfrm>
          <a:prstGeom prst="rect">
            <a:avLst/>
          </a:prstGeom>
          <a:solidFill>
            <a:srgbClr val="30924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69664"/>
            <a:ext cx="1417320" cy="19202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적용 범위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4169664"/>
            <a:ext cx="8961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4261104"/>
            <a:ext cx="859536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algun Gothic"/>
              </a:rPr>
              <a:t>• 서비스의 식별 코드
• 단말 어플리케이션 소스 식별자
• 어플리케이션 소스 식별자
• 데이터 모델링 자산 식별자
• 파일 리소스 식별자 (추가 예정)
• 데이터 처리 식별자 (추가 예정)
• 배치 처리 식별자 (추가 예정)
• 출력물 처리 식별자 (추가 예정)
• 변경 사항 없는 기존 식별자 (추가 예정)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1. 개요
1.2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- 4 -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개발 표준 정의 범위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52560" y="411480"/>
            <a:ext cx="1325880" cy="502920"/>
          </a:xfrm>
          <a:prstGeom prst="rect">
            <a:avLst/>
          </a:prstGeom>
          <a:noFill/>
          <a:ln w="25400">
            <a:solidFill>
              <a:srgbClr val="B4342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B43427"/>
                </a:solidFill>
                <a:latin typeface="Malgun Gothic"/>
              </a:rPr>
              <a:t>수정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Malgun Gothic"/>
              </a:rPr>
              <a:t>■ 명명 규칙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05840" y="1645920"/>
          <a:ext cx="101498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377440"/>
                <a:gridCol w="7040880"/>
              </a:tblGrid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NO</a:t>
                      </a:r>
                    </a:p>
                  </a:txBody>
                  <a:tcPr anchor="ctr" marL="38100" marR="38100" marT="25400" marB="25400">
                    <a:solidFill>
                      <a:srgbClr val="0D58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38100" marR="38100" marT="25400" marB="25400">
                    <a:solidFill>
                      <a:srgbClr val="0D58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설명</a:t>
                      </a:r>
                    </a:p>
                  </a:txBody>
                  <a:tcPr anchor="ctr" marL="38100" marR="38100" marT="25400" marB="25400">
                    <a:solidFill>
                      <a:srgbClr val="0D5860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서비스 ID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프레임워크에서 온라인 거래 식별을 위해 단위 거래별로 부여하는 서비스번호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통합업무시스템(단말) 소스코드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AS-IS 정보계 단말 프로그램을 통해 생성되는 UI 소스코드 명명규칙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정보계 단말 소스코드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TO-BE 정보계 단말 프로그램을 통해 생성되는 UI 소스코드 명명규칙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컨트롤러 클래스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서비스를 사용하는 컨트롤러 클래스 파일 명명규칙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서비스 클래스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 클래스(Service Class) 파일 명명규칙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DAO 클래스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서비스에서 사용되는 DAO 클래스 파일 명명규칙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SQL 파일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서비스에서 사용되는 SQL 파일 명명규칙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SQL ID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온라인 서비스에서 사용되는 SQL ID 명명규칙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DB 테이블 명명규칙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출력물(RD)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SAM File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ETL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FOS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14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OLAP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15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배치 작업 자동화(Control-M)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626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변경 사항 없는 기존 식별자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• TBD (분석/설계 단계 추가 예정)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- 5 -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32323"/>
                </a:solidFill>
                <a:latin typeface="Malgun Gothic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21992"/>
            <a:ext cx="4389120" cy="219456"/>
          </a:xfrm>
          <a:prstGeom prst="rect">
            <a:avLst/>
          </a:prstGeom>
          <a:solidFill>
            <a:srgbClr val="E2F0D9"/>
          </a:solidFill>
          <a:ln w="12700"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1.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32323"/>
                </a:solidFill>
                <a:latin typeface="Malgun Gothic"/>
              </a:rPr>
              <a:t>   1.1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32323"/>
                </a:solidFill>
                <a:latin typeface="Malgun Gothic"/>
              </a:rPr>
              <a:t>2. 어플리케이션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9689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3. 명명규칙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436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4. 업무 처리 유형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39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5. 인터페이스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6. 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7. Report 연계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67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8. 개인 정보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15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9. 주석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626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10. 로그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10127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algun Gothic"/>
              </a:rPr>
              <a:t>11. 페이징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 어플리케이션 구성
2.1 어플리케이션 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- 6 -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도메인 구성 정의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1234440"/>
            <a:ext cx="6492240" cy="320040"/>
          </a:xfrm>
          <a:prstGeom prst="rect">
            <a:avLst/>
          </a:prstGeom>
          <a:solidFill>
            <a:srgbClr val="0D5860"/>
          </a:solidFill>
          <a:ln w="12700">
            <a:solidFill>
              <a:srgbClr val="0D5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23444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차세대 정보계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54480"/>
            <a:ext cx="1691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554480"/>
            <a:ext cx="169164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554480"/>
            <a:ext cx="16916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데이터플랫폼 RDW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874519"/>
            <a:ext cx="1600200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874519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30552"/>
            <a:ext cx="1600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139696"/>
            <a:ext cx="15453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/ 상품 / 수신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1600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478024"/>
            <a:ext cx="15453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외환 / 여신 /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07208"/>
            <a:ext cx="1600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816352"/>
            <a:ext cx="15453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통합/요약/집계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45536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154680"/>
            <a:ext cx="15453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보고서 마트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29000"/>
            <a:ext cx="1600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438144"/>
            <a:ext cx="15453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Feed 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1554480"/>
            <a:ext cx="1920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40280" y="1554480"/>
            <a:ext cx="192024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0280" y="15544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데이터플랫폼 ADW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1874519"/>
            <a:ext cx="1828800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1874519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SOR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130552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13432" y="2139696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/ 상품 / 수신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2468880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13432" y="2478024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외환 / 여신 / 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807208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13432" y="2816352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통합/요약/집계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145536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13432" y="3154680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/ 업무별 통합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48386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13432" y="3493008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보고서 마트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3767328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13432" y="3776472"/>
            <a:ext cx="17739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실적 보고서 / OLAP 마트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4105656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13432" y="4114800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단위업무 마트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4389120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3432" y="4398264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Feed Back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4672584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13432" y="4681728"/>
            <a:ext cx="17739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분석 지원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1554480"/>
            <a:ext cx="1828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7680" y="1554480"/>
            <a:ext cx="182880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15544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3400" y="1874519"/>
            <a:ext cx="1737360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43400" y="1874519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BI 포탈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3400" y="2130552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70832" y="2139696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계정/권한 관리 / 결재 관리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2468880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70832" y="2478024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통합 검색 / 데이터 활용지원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3400" y="2807208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70832" y="2816352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커뮤니케이션 / 보고서 관리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43400" y="3145536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70832" y="3154680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관련 시스템 연계 / 관리자 기능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3483864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70832" y="3493008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신용 실적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43400" y="3767328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70832" y="3776472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수신실적 / 여신실적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43400" y="4105656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70832" y="4114800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계좌실적 / 사무량 관리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43400" y="4443984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70832" y="4453128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종합 메리트 / 기타실적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4782312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70832" y="4791456"/>
            <a:ext cx="16824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BIMS / 실적공통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43400" y="5120640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0832" y="5129784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OLAP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1554480"/>
            <a:ext cx="19659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63640" y="1554480"/>
            <a:ext cx="196596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3640" y="1554480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마케팅플랫폼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59" y="1874519"/>
            <a:ext cx="1874519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59" y="1874519"/>
            <a:ext cx="18745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마케팅 공통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59" y="2130552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36792" y="2139696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권한 관리 / 메뉴 관리 / 화면 관리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59" y="2468880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36792" y="2478024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정보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59" y="2752344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36792" y="2761488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통합 고객 / 개인·기업 고객 / 미니 싱글뷰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59" y="3090672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36792" y="3099816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상담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59" y="3374136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36792" y="3383280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상담 판매 / 통합 상품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59" y="3712464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36792" y="3721608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이벤트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09359" y="3995928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36792" y="4005072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캠페인 / EBM / 실시간 처리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59" y="4334256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36792" y="4343400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행동정보 처리 / 고객 행동 데이터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59" y="4672584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36792" y="4681728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마케팅 지원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09359" y="4956048"/>
            <a:ext cx="18745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36792" y="4965192"/>
            <a:ext cx="18196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영업 지원 / 마케팅 CS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09359" y="5294376"/>
            <a:ext cx="18745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36792" y="5303520"/>
            <a:ext cx="18196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고객 접촉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66760" y="1554480"/>
            <a:ext cx="1737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366760" y="1554480"/>
            <a:ext cx="173736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66760" y="15544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데이터거버넌스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12480" y="1874519"/>
            <a:ext cx="1645919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12480" y="1874519"/>
            <a:ext cx="16459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비즈 메타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412480" y="2130552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39912" y="2139696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업무용어 / 표준계수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412480" y="2468880"/>
            <a:ext cx="16459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439912" y="2478024"/>
            <a:ext cx="1591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데이터 흐름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412480" y="2752344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39912" y="2761488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흐름 수집/파싱 / 흐름 분석/검색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12480" y="3090672"/>
            <a:ext cx="1645919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39912" y="3099816"/>
            <a:ext cx="15910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데이터 품질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12480" y="3374136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39912" y="3383280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CTQ / DQI / 프로파일링 / 업무규칙(BR)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366760" y="43434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366760" y="4343400"/>
            <a:ext cx="1737360" cy="292608"/>
          </a:xfrm>
          <a:prstGeom prst="rect">
            <a:avLst/>
          </a:prstGeom>
          <a:solidFill>
            <a:srgbClr val="1A737C"/>
          </a:solidFill>
          <a:ln w="12700">
            <a:solidFill>
              <a:srgbClr val="1A7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366760" y="434340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IT서비스 및 업무지원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412480" y="4663440"/>
            <a:ext cx="1645919" cy="228600"/>
          </a:xfrm>
          <a:prstGeom prst="rect">
            <a:avLst/>
          </a:prstGeom>
          <a:solidFill>
            <a:srgbClr val="0D586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12480" y="4663440"/>
            <a:ext cx="1645919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형상관리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412480" y="4919472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439912" y="4928616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버전관리 / 배포관리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12480" y="5257800"/>
            <a:ext cx="1645919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39912" y="5266944"/>
            <a:ext cx="159105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232323"/>
                </a:solidFill>
                <a:latin typeface="Malgun Gothic"/>
              </a:rPr>
              <a:t>데이터 처리 / 보고서 디자이너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691640" y="141732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657600" y="1417320"/>
            <a:ext cx="502920" cy="201168"/>
          </a:xfrm>
          <a:prstGeom prst="roundRect">
            <a:avLst/>
          </a:prstGeom>
          <a:solidFill>
            <a:srgbClr val="3466B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577840" y="178308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178040" y="169164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269480" y="2240280"/>
            <a:ext cx="502920" cy="201168"/>
          </a:xfrm>
          <a:prstGeom prst="roundRect">
            <a:avLst/>
          </a:prstGeom>
          <a:solidFill>
            <a:srgbClr val="3466B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406640" y="2743200"/>
            <a:ext cx="502920" cy="201168"/>
          </a:xfrm>
          <a:prstGeom prst="roundRect">
            <a:avLst/>
          </a:prstGeom>
          <a:solidFill>
            <a:srgbClr val="3466B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903720" y="315468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452360" y="3749039"/>
            <a:ext cx="502920" cy="201168"/>
          </a:xfrm>
          <a:prstGeom prst="roundRect">
            <a:avLst/>
          </a:prstGeom>
          <a:solidFill>
            <a:srgbClr val="3466B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고도화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738360" y="141732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692640" y="4160520"/>
            <a:ext cx="502920" cy="201168"/>
          </a:xfrm>
          <a:prstGeom prst="roundRect">
            <a:avLst/>
          </a:prstGeom>
          <a:solidFill>
            <a:srgbClr val="E66C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신규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703320" y="5074920"/>
            <a:ext cx="731520" cy="201168"/>
          </a:xfrm>
          <a:prstGeom prst="roundRect">
            <a:avLst/>
          </a:prstGeom>
          <a:solidFill>
            <a:srgbClr val="A08C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대외개발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02920" y="4663440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solidFill>
            <a:srgbClr val="0D5860"/>
          </a:solidFill>
          <a:ln w="12700">
            <a:solidFill>
              <a:srgbClr val="0D5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0292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빅데이터플랫폼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66928" y="4956048"/>
            <a:ext cx="1051560" cy="182880"/>
          </a:xfrm>
          <a:prstGeom prst="rect">
            <a:avLst/>
          </a:prstGeom>
          <a:solidFill>
            <a:srgbClr val="1A737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66928" y="49560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처리/저장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66928" y="516636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94360" y="516636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분석 데이터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6928" y="534924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94360" y="534924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원천 / 마트 / 분석결과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66928" y="562356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94360" y="562356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실시간 데이터 HDFS/NoSQL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66928" y="589788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94360" y="589788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수집/전처리 / 실시간 분석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83080" y="4956048"/>
            <a:ext cx="1051560" cy="182880"/>
          </a:xfrm>
          <a:prstGeom prst="rect">
            <a:avLst/>
          </a:prstGeom>
          <a:solidFill>
            <a:srgbClr val="1A737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783080" y="49560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분석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783080" y="516636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810512" y="516636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배치/사용자분석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783080" y="5440680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810512" y="5440680"/>
            <a:ext cx="9966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마케팅 / 리스크 / ...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783080" y="571500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810512" y="571500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오픈소스 분석툴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83080" y="589788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810512" y="589788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SAS분석 플랫폼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44368" y="4956048"/>
            <a:ext cx="1051560" cy="182880"/>
          </a:xfrm>
          <a:prstGeom prst="rect">
            <a:avLst/>
          </a:prstGeom>
          <a:solidFill>
            <a:srgbClr val="1A737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944368" y="495604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데이터 관리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944368" y="516636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971800" y="516636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데이터 카탈로그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944368" y="534924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971800" y="534924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메타 관리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944368" y="5532120"/>
            <a:ext cx="105156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971800" y="5532120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232323"/>
                </a:solidFill>
                <a:latin typeface="Malgun Gothic"/>
              </a:rPr>
              <a:t>분석 모델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- 7 -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분류 체계 (1/5)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9464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94360"/>
                <a:gridCol w="1051560"/>
                <a:gridCol w="1325880"/>
                <a:gridCol w="594360"/>
                <a:gridCol w="1325880"/>
                <a:gridCol w="1325880"/>
                <a:gridCol w="594360"/>
                <a:gridCol w="1325880"/>
              </a:tblGrid>
              <a:tr h="297180">
                <a:tc gridSpan="9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anchor="ctr" marL="38100" marR="38100" marT="25400" marB="25400">
                    <a:solidFill>
                      <a:srgbClr val="0D586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7180"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</a:tr>
              <a:tr h="297180">
                <a:tc rowSpan="13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
마케팅플랫폼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3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MP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3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Marketing
Platform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3" gridSpan="3"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43427"/>
                          </a:solidFill>
                          <a:latin typeface="Malgun Gothic"/>
                        </a:rPr>
                        <a:t>업무개발팀
분석, 설계 단계 시 반영</a:t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rowSpan="13" h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rowSpan="13" h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통합고객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IC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Integration Customer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미니 싱글뷰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MS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Mini SingleView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상담판매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Sale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통합상품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Product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캠페인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CM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Campaign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실시간 처리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EP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Event Processing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행동정보 처리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BP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Behavior Information
Processing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고객 행동 데이터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BD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Customer Behavior Data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영업지원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Sales Support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Customer Service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컨텐츠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Contents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9718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메시지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MG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Message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- 8 -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분류 체계 (2/5)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9464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94360"/>
                <a:gridCol w="1051560"/>
                <a:gridCol w="1325880"/>
                <a:gridCol w="594360"/>
                <a:gridCol w="1325880"/>
                <a:gridCol w="1325880"/>
                <a:gridCol w="594360"/>
                <a:gridCol w="1325880"/>
              </a:tblGrid>
              <a:tr h="264160">
                <a:tc gridSpan="9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데이터플랫폼</a:t>
                      </a:r>
                    </a:p>
                  </a:txBody>
                  <a:tcPr anchor="ctr" marL="38100" marR="38100" marT="25400" marB="25400">
                    <a:solidFill>
                      <a:srgbClr val="0D586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64160"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</a:tr>
              <a:tr h="264160">
                <a:tc rowSpan="5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 데이터
플랫폼 RDW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Real-time
Data Warehouse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5" gridSpan="3"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43427"/>
                          </a:solidFill>
                          <a:latin typeface="Malgun Gothic"/>
                        </a:rPr>
                        <a:t>업무개발팀
분석, 설계 단계 시 반영</a:t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rowSpan="15" h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실시간SoR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SR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Source of record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준실시간요약집계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ZD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Zipped Data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준실시간보고서마트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RM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Report Data Mart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피드백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FA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Feedback area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rowSpan="10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 데이터
플랫폼 ADW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AD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Analytical
Data Warehouse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분석SoR 파일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SF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Source of Record_File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분석SoR 파일레거시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SL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Source of Record_File Legacy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분석SoR 복제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SC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Source of Record_Copy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분석통합요약집계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ZD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Zipped data area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분석단위업무표준마트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US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Unit-business Standard mart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분석단위업무마트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UM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Unit-business mart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분석보고서마트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RM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Report data mart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피드백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FA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Feedback area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분석보고서지원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AS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Analysis Report Support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- 9 -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분류 체계 (3/5)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9464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94360"/>
                <a:gridCol w="1051560"/>
                <a:gridCol w="1325880"/>
                <a:gridCol w="594360"/>
                <a:gridCol w="1325880"/>
                <a:gridCol w="1325880"/>
                <a:gridCol w="594360"/>
                <a:gridCol w="1325880"/>
              </a:tblGrid>
              <a:tr h="264160">
                <a:tc gridSpan="9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BI 포탈</a:t>
                      </a:r>
                    </a:p>
                  </a:txBody>
                  <a:tcPr anchor="ctr" marL="38100" marR="38100" marT="25400" marB="25400">
                    <a:solidFill>
                      <a:srgbClr val="0D586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64160"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641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</a:tr>
              <a:tr h="264160">
                <a:tc rowSpan="15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 BI포탈
(사용자분석)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5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BI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5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Business
Intelligence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BI포탈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PO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Portal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패키지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Package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신용실적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466BC"/>
                          </a:solidFill>
                          <a:latin typeface="Malgun Gothic"/>
                        </a:rPr>
                        <a:t>CR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Credit result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커스터마이징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Customizing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관리자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U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Public Utility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종합실적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O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Overall Performance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수신실적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Savings Volume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여신실적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L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Loan Amount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디지털실적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D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Digital Performance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계좌실적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Account Performance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정책자금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Policy Funds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사무량관리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W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Workload Management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종합메리트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M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Overall Merit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기타실적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Etc Performance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OLAP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OA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Online analysis process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패키지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Package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Self BI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Self business Intelligence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패키지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Package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BI포털UI/UX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UI/UX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패키지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P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Package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Malgun Gothic"/>
              </a:rPr>
              <a:t>상호금융 차세대 정보계 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137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232323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92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0924F"/>
                </a:solidFill>
                <a:latin typeface="Malgun Gothic"/>
              </a:rPr>
              <a:t>농협중앙회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43427"/>
                </a:solidFill>
                <a:latin typeface="Malgun Gothic"/>
              </a:rPr>
              <a:t>SK 주식회사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64465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  <a:latin typeface="Malgun Gothic"/>
              </a:rPr>
              <a:t>- 10 -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206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Malgun Gothic"/>
              </a:rPr>
              <a:t>어플리케이션 분류 체계 (4/5)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466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24128"/>
            <a:ext cx="12191695" cy="27432"/>
          </a:xfrm>
          <a:prstGeom prst="rect">
            <a:avLst/>
          </a:prstGeom>
          <a:solidFill>
            <a:srgbClr val="309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9464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94360"/>
                <a:gridCol w="1051560"/>
                <a:gridCol w="1325880"/>
                <a:gridCol w="594360"/>
                <a:gridCol w="1325880"/>
                <a:gridCol w="1325880"/>
                <a:gridCol w="594360"/>
                <a:gridCol w="1325880"/>
              </a:tblGrid>
              <a:tr h="679268">
                <a:tc gridSpan="9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 anchor="ctr" marL="38100" marR="38100" marT="25400" marB="25400">
                    <a:solidFill>
                      <a:srgbClr val="0D586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79268"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영문명</a:t>
                      </a:r>
                    </a:p>
                  </a:txBody>
                  <a:tcPr anchor="ctr" marL="38100" marR="38100" marT="25400" marB="25400">
                    <a:solidFill>
                      <a:srgbClr val="1A737C"/>
                    </a:solidFill>
                  </a:tcPr>
                </a:tc>
              </a:tr>
              <a:tr h="679268">
                <a:tc rowSpan="4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상호금융
데이터거버넌스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66BC"/>
                          </a:solidFill>
                          <a:latin typeface="Malgun Gothic"/>
                        </a:rPr>
                        <a:t>DG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323"/>
                          </a:solidFill>
                          <a:latin typeface="Malgun Gothic"/>
                        </a:rPr>
                        <a:t>Data
Governance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Common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rowSpan="4" gridSpan="3"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43427"/>
                          </a:solidFill>
                          <a:latin typeface="Malgun Gothic"/>
                        </a:rPr>
                        <a:t>업무개발팀
분석, 설계 단계 시 반영</a:t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679268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비즈메타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BM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Biz-Meta system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679268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데이터품질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DQ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Data Quality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  <a:tr h="679272"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데이터흐름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466BC"/>
                          </a:solidFill>
                          <a:latin typeface="Malgun Gothic"/>
                        </a:rPr>
                        <a:t>DL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>Data Lineage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32323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38100" marR="38100" marT="25400" marB="25400">
                    <a:solidFill>
                      <a:srgbClr val="FAF7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어플리케이션 분류 체계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IT서비스 및 인프라 지원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96926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02920"/>
                <a:gridCol w="1234440"/>
                <a:gridCol w="1234440"/>
                <a:gridCol w="502920"/>
                <a:gridCol w="1554480"/>
                <a:gridCol w="1554480"/>
                <a:gridCol w="502920"/>
                <a:gridCol w="1280160"/>
              </a:tblGrid>
              <a:tr h="329184">
                <a:tc gridSpan="3"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gridSpan="3"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업무구분 (어플리케이션)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gridSpan="3"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세부 업무 구분 (기능)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IT서비스</a:t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및 업무지원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IM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Information</a:t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Management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아키텍처 관리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AM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Architecture Management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해당 사항 없음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공통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SU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System Utility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배포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Deployment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프레임워크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FW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Framework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라이브러리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LB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Library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소스 코드 버전 관리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SM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Source Code Version Management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정보단말 관리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XM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UI/UX Management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정보단말 배포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XD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UI/UX Deployment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배치작업 처리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BJ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Batch Job Processing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실시간 중계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CD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CDC Gateway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데이터 치환 적재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Data Transform Load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보고서 디자이너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Report Designer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- 11 -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마케팅플랫폼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502920"/>
                <a:gridCol w="1051560"/>
                <a:gridCol w="1097280"/>
                <a:gridCol w="1691640"/>
                <a:gridCol w="594360"/>
                <a:gridCol w="868680"/>
                <a:gridCol w="1691640"/>
                <a:gridCol w="1600200"/>
              </a:tblGrid>
              <a:tr h="429768">
                <a:tc gridSpan="3"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마케팅플랫폼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MP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Marketing</a:t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Platform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마케팅플랫폼</a:t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마케팅플랫폼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IC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PC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BC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SA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PD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CM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EB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SS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CS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CT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sbmpco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마케팅플랫폼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IC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PC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BC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SA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PD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CM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EB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SS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CS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CT</a:t>
                      </a:r>
                      <a:br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sbmpco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Tomcat,</a:t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미니싱글뷰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sbmpms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ms = 미니 싱글뷰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미니싱글뷰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MS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sbmpms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ms = 미니 싱글뷰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Tomcat,</a:t>
                      </a:r>
                      <a:br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실시간 처리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EP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sbmpep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ep = 실시간 처리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(고객행동)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행동정보 처리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BP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sbmpbp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bp = 행동정보 처리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(고객행동)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고객 행동 데이터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214EB4"/>
                          </a:solidFill>
                          <a:latin typeface="Malgun Gothic"/>
                        </a:rPr>
                        <a:t>BD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sbmpbd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bd = 고객 행동 데이터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3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(Kafka 기반 솔루션)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- 12 -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데이터플랫폼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502920"/>
                <a:gridCol w="1051560"/>
                <a:gridCol w="1097280"/>
                <a:gridCol w="1691640"/>
                <a:gridCol w="594360"/>
                <a:gridCol w="868680"/>
                <a:gridCol w="1691640"/>
                <a:gridCol w="1600200"/>
              </a:tblGrid>
              <a:tr h="777240">
                <a:tc gridSpan="3"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데이터플랫폼_</a:t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RDW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Real-time</a:t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Data Warehouse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rowSpan="2"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데이터플랫폼</a:t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RDW 서버 (어플라이언스)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SR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ZD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RM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FA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sbrdco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Real-time Data Warehouse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데이터플랫폼_</a:t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ADW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AD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Analytical</a:t>
                      </a:r>
                      <a:br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Data Warehouse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ADW 서버 (어플라이언스)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SR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ZD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UM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FA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RM</a:t>
                      </a:r>
                      <a:br/>
                      <a:r>
                        <a:rPr sz="770" b="0">
                          <a:solidFill>
                            <a:srgbClr val="214EB4"/>
                          </a:solidFill>
                          <a:latin typeface="Malgun Gothic"/>
                        </a:rPr>
                        <a:t>DA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sbadco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co = Common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70" b="0">
                          <a:solidFill>
                            <a:srgbClr val="000000"/>
                          </a:solidFill>
                          <a:latin typeface="Malgun Gothic"/>
                        </a:rPr>
                        <a:t>Analytical Data Warehouse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- 13 -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BI 포탈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502920"/>
                <a:gridCol w="1051560"/>
                <a:gridCol w="1097280"/>
                <a:gridCol w="1691640"/>
                <a:gridCol w="594360"/>
                <a:gridCol w="868680"/>
                <a:gridCol w="1691640"/>
                <a:gridCol w="1600200"/>
              </a:tblGrid>
              <a:tr h="347472">
                <a:tc gridSpan="3"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br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BI포탈</a:t>
                      </a:r>
                      <a:br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(사용자분석)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BI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Business</a:t>
                      </a:r>
                      <a:br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Intelligence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BI포탈</a:t>
                      </a:r>
                      <a:br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OLAP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OA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sbbioa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oa = OLAP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MSTR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OLAP WEB/WAS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OA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sbbioa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oa = OLAP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제공 (담당자 투입시 확인 필요)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BI 포탈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PT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sbbipt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pt = BI Portal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(Data Eye)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BI 포탈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PT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sbbipt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pt = BI Portal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(Data Eye)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Self BI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sbbisb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 = Self-BI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(BI-Matrix)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Self BI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sbbisb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 = Self-BI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(BI-Matrix)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Self BI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SB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sbbisb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 = Self-BI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(BI-Matrix)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신용 실적 WEB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CR</a:t>
                      </a:r>
                      <a:br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sbbicr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cr = 신용실적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Apache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신용 실적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CR</a:t>
                      </a:r>
                      <a:br/>
                      <a:r>
                        <a:rPr sz="700" b="0">
                          <a:solidFill>
                            <a:srgbClr val="214EB4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sbbicr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cr = 신용실적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- 14 -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데이터거버넌스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502920"/>
                <a:gridCol w="1051560"/>
                <a:gridCol w="1097280"/>
                <a:gridCol w="1691640"/>
                <a:gridCol w="594360"/>
                <a:gridCol w="868680"/>
                <a:gridCol w="1691640"/>
                <a:gridCol w="1600200"/>
              </a:tblGrid>
              <a:tr h="530352">
                <a:tc gridSpan="3"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데이터거버넌스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DG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Data</a:t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Governance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데이터거버넌스</a:t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비즈메타/데이터품질관리</a:t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CO</a:t>
                      </a:r>
                      <a:br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DQ</a:t>
                      </a:r>
                      <a:br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BM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sbdgdq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dq = 데이터 품질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GT-One 비즈메타</a:t>
                      </a:r>
                      <a:br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GT-One DQ Miner(데이터품질)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53035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데이터흐름관리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214EB4"/>
                          </a:solidFill>
                          <a:latin typeface="Malgun Gothic"/>
                        </a:rPr>
                        <a:t>DF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sbdfdl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df = 데이터 흐름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740" b="0">
                          <a:solidFill>
                            <a:srgbClr val="000000"/>
                          </a:solidFill>
                          <a:latin typeface="Malgun Gothic"/>
                        </a:rPr>
                        <a:t>GT-One 데이터 HAWK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- 15 -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IT서비스 및 인프라 지원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502920"/>
                <a:gridCol w="1051560"/>
                <a:gridCol w="1097280"/>
                <a:gridCol w="1691640"/>
                <a:gridCol w="594360"/>
                <a:gridCol w="868680"/>
                <a:gridCol w="1691640"/>
                <a:gridCol w="1600200"/>
              </a:tblGrid>
              <a:tr h="347472">
                <a:tc gridSpan="3"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IT서비스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및 업무지원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IM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Information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Management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IT서비스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및 업무지원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 마스터 관리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테크시스템부 미들웨어팀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라이브러리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AS-IS Nexus 사용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소스 코드 버전 관리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SM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sbimsm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sm = 소스관리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GitLab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배포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DP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sbimdp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dp = 배포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GitLab Runner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단말관리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XM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sbimum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um = 단말관리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(WebTopSuite 5.0)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단말배포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XD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sbimud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ud = 단말배포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솔루션 (WebTopSuite 5.0)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배치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BJ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sbimbj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bj = 배치작업 처리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NH Cloud Framework Batch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CDC 중계 AP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CD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sbimcd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cd = CDC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OGG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ETL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DT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sbimdt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dt = ETL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DataStage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출력물(RD) WAS 서버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214EB4"/>
                          </a:solidFill>
                          <a:latin typeface="Malgun Gothic"/>
                        </a:rPr>
                        <a:t>RD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sbimrd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rd = 출력물 보고서 어플리케이션 코드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Report Designer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- 16 -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시스템 그룹 업무 구분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2.2 어플리케이션 코드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97280"/>
            <a:ext cx="10607040" cy="347472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인프라 임시 시스템 그룹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81328"/>
          <a:ext cx="1024128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502920"/>
                <a:gridCol w="1051560"/>
                <a:gridCol w="1097280"/>
                <a:gridCol w="1691640"/>
                <a:gridCol w="594360"/>
                <a:gridCol w="868680"/>
                <a:gridCol w="1691640"/>
                <a:gridCol w="1600200"/>
              </a:tblGrid>
              <a:tr h="347472">
                <a:tc gridSpan="3"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대구분 (어플리케이션 그룹)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hMerge="1"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한글명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영문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시스템 그룹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대상서버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업무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  <a:br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코드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서버명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용어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 marL="27432" marR="27432" marT="18288" marB="18288">
                    <a:solidFill>
                      <a:srgbClr val="007C82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 rowSpan="6"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상호금융-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IT서비스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및 업무지원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rowSpan="6"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IM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rowSpan="6"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Information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Management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rowSpan="6"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이행용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임시장비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#01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rowSpan="9"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sbimsi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rowSpan="9">
                  <a:txBody>
                    <a:bodyPr anchor="ctr" wrap="square"/>
                    <a:lstStyle/>
                    <a:p>
                      <a:pPr algn="ctr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imsi = 이행 임시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#02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#03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#04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#05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(변환)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#06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(추출)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#07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데이터 추출용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(이행)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#08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데이터 이행용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[임시] 데이터 이행용 (SQL 품질)</a:t>
                      </a:r>
                      <a:br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AP #09</a:t>
                      </a:r>
                    </a:p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/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EBF5F3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 vMerge="1">
                  <a:txBody>
                    <a:bodyPr anchor="ctr" wrap="square"/>
                    <a:lstStyle/>
                    <a:p/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/>
                      <a:r>
                        <a:rPr sz="680" b="0">
                          <a:solidFill>
                            <a:srgbClr val="000000"/>
                          </a:solidFill>
                          <a:latin typeface="Malgun Gothic"/>
                        </a:rPr>
                        <a:t>SQL 품질 점검용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  <a:lnL w="6350" cap="flat" cmpd="sng" algn="ctr">
                      <a:solidFill>
                        <a:srgbClr val="8B8B8B"/>
                      </a:solidFill>
                      <a:prstDash val="solid"/>
                    </a:lnL>
                    <a:lnR w="6350" cap="flat" cmpd="sng" algn="ctr">
                      <a:solidFill>
                        <a:srgbClr val="8B8B8B"/>
                      </a:solidFill>
                      <a:prstDash val="solid"/>
                    </a:lnR>
                    <a:lnT w="6350" cap="flat" cmpd="sng" algn="ctr">
                      <a:solidFill>
                        <a:srgbClr val="8B8B8B"/>
                      </a:solidFill>
                      <a:prstDash val="solid"/>
                    </a:lnT>
                    <a:lnB w="6350" cap="flat" cmpd="sng" algn="ctr">
                      <a:solidFill>
                        <a:srgbClr val="8B8B8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- 17 -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Malgun Gothic"/>
              </a:rPr>
              <a:t>데이터베이스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09728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Malgun Gothic"/>
              </a:rPr>
              <a:t>3. 명명규칙 정의</a:t>
            </a:r>
            <a:br/>
            <a:r>
              <a:rPr sz="900" b="0">
                <a:solidFill>
                  <a:srgbClr val="000000"/>
                </a:solidFill>
                <a:latin typeface="Malgun Gothic"/>
              </a:rPr>
              <a:t>3.6 데이터베이스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77824"/>
            <a:ext cx="914400" cy="36576"/>
          </a:xfrm>
          <a:prstGeom prst="rect">
            <a:avLst/>
          </a:prstGeom>
          <a:solidFill>
            <a:srgbClr val="2A629C"/>
          </a:solidFill>
          <a:ln w="10160">
            <a:solidFill>
              <a:srgbClr val="2A62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877824"/>
            <a:ext cx="320040" cy="36576"/>
          </a:xfrm>
          <a:prstGeom prst="rect">
            <a:avLst/>
          </a:prstGeom>
          <a:solidFill>
            <a:srgbClr val="73BA32"/>
          </a:solidFill>
          <a:ln w="10160">
            <a:solidFill>
              <a:srgbClr val="73B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877824"/>
            <a:ext cx="9921240" cy="36576"/>
          </a:xfrm>
          <a:prstGeom prst="rect">
            <a:avLst/>
          </a:prstGeom>
          <a:solidFill>
            <a:srgbClr val="007339"/>
          </a:solidFill>
          <a:ln w="10160">
            <a:solidFill>
              <a:srgbClr val="007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24712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Malgun Gothic"/>
              </a:rPr>
              <a:t>데이터베이스 명명 규칙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4572000" cy="320040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데이터베이스 (Database)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554480"/>
            <a:ext cx="4572000" cy="320040"/>
          </a:xfrm>
          <a:prstGeom prst="rect">
            <a:avLst/>
          </a:prstGeom>
          <a:solidFill>
            <a:srgbClr val="124848"/>
          </a:solidFill>
          <a:ln w="10160">
            <a:solidFill>
              <a:srgbClr val="12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항목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9339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▶ 데이터베이스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1952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92224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54203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0048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07792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254203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5616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5616" y="2862072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5616" y="3209544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31336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254203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7136" y="251460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7136" y="2862072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62855" y="221284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3502152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algun Gothic"/>
              </a:rPr>
              <a:t>▶ 인스턴스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1952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92224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70048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07792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2736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85616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85616" y="4370832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85616" y="4718304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31336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4256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17136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17136" y="4370832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62855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65776" y="4050792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Malgun Gothic"/>
              </a:rPr>
              <a:t>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48655" y="4023360"/>
            <a:ext cx="310896" cy="292608"/>
          </a:xfrm>
          <a:prstGeom prst="rect">
            <a:avLst/>
          </a:prstGeom>
          <a:solidFill>
            <a:srgbClr val="EBEBEB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12664" y="3721608"/>
            <a:ext cx="219456" cy="219456"/>
          </a:xfrm>
          <a:prstGeom prst="roundRect">
            <a:avLst/>
          </a:prstGeom>
          <a:solidFill>
            <a:srgbClr val="E1E697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Malgun Gothic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4748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Malgun Gothic"/>
              </a:rPr>
              <a:t>■ 작성 예시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321808"/>
            <a:ext cx="4572000" cy="822960"/>
          </a:xfrm>
          <a:prstGeom prst="rect">
            <a:avLst/>
          </a:prstGeom>
          <a:solidFill>
            <a:srgbClr val="F0F0F0"/>
          </a:solidFill>
          <a:ln w="1016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000000"/>
                </a:solidFill>
                <a:latin typeface="Malgun Gothic"/>
              </a:rPr>
              <a:t>▶ 데이터베이스</a:t>
            </a:r>
            <a:br/>
            <a:r>
              <a:rPr sz="850" b="0">
                <a:solidFill>
                  <a:srgbClr val="000000"/>
                </a:solidFill>
                <a:latin typeface="Malgun Gothic"/>
              </a:rPr>
              <a:t>  ▪ 데이터분석플랫폼_RDW 개발 : SBRDCOTP</a:t>
            </a:r>
            <a:br/>
            <a:br/>
            <a:r>
              <a:rPr sz="850" b="0">
                <a:solidFill>
                  <a:srgbClr val="000000"/>
                </a:solidFill>
                <a:latin typeface="Malgun Gothic"/>
              </a:rPr>
              <a:t>▶ 인스턴스</a:t>
            </a:r>
            <a:br/>
            <a:r>
              <a:rPr sz="850" b="0">
                <a:solidFill>
                  <a:srgbClr val="000000"/>
                </a:solidFill>
                <a:latin typeface="Malgun Gothic"/>
              </a:rPr>
              <a:t>  ▪ 데이터분석플랫폼_RDW 개발 DB#1 : SBRDCOTP1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193852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① 법인구분 코드 (2)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213969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중앙회(상호금융제외) : NH</a:t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은행 : NB</a:t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상호금융 : SB</a:t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금융지주 : FG</a:t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경제지주 : AG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28072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② 대구분 코드 (2)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30083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메타시스템 사업별 업무분류기준의 대구분 코드 사용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60" y="34930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③ 시스템구분 코드 (2)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97880" y="36941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공통업무구분이나 대표업무구분을 사용</a:t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단독업무 사용시 메타시스템 사업별 업무분류기준의 업무구분을 사용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60" y="41788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④ 운영구분코드 (1)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97880" y="43799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운영, 검증, 개발을 구분하여 사용</a:t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예시) O(운영), V(검증), T(개발)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23560" y="48646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⑤ CDB/PDB 구분코드 (1)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7880" y="50657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Container DB : C</a:t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Pluggable DB : 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3560" y="555040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Malgun Gothic"/>
              </a:rPr>
              <a:t>⑥ 일련번호 (0~2)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97880" y="5751576"/>
            <a:ext cx="4114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Malgun Gothic"/>
              </a:rPr>
              <a:t>1 ~ 9 또는 01 ~ 99 사용</a:t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※ 이중화 되지 않은 단독 DB인 경우 일련번호 미사용</a:t>
            </a:r>
            <a:br/>
            <a:r>
              <a:rPr sz="819" b="0">
                <a:solidFill>
                  <a:srgbClr val="000000"/>
                </a:solidFill>
                <a:latin typeface="Malgun Gothic"/>
              </a:rPr>
              <a:t>예) NBNCCOV(카드코어 검증)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27D37"/>
                </a:solidFill>
                <a:latin typeface="Malgun Gothic"/>
              </a:rPr>
              <a:t>농협중앙회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0" y="6473952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323232"/>
                </a:solidFill>
                <a:latin typeface="Malgun Gothic"/>
              </a:rPr>
              <a:t>- 18 -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A02D23"/>
                </a:solidFill>
                <a:latin typeface="Malgun Gothic"/>
              </a:rPr>
              <a:t>SK 주식회사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