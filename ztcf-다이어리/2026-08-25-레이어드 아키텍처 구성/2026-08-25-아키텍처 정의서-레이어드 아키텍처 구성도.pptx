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2" d="100"/>
          <a:sy n="122" d="100"/>
        </p:scale>
        <p:origin x="374" y="-19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algun Gothic"/>
              </a:rPr>
              <a:t>NEXT 목표 어플리케이션 도메인구성 (2026년02월19일자 버전)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13232"/>
            <a:ext cx="502920" cy="3657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713232"/>
            <a:ext cx="11109960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algun Gothic"/>
              </a:rPr>
              <a:t>NEXT 정보계 주어플리케이션은 데이터플랫폼, 마케팅플랫폼, BI포탈 및 데이터거버넌스와 공통인프라 영역이다.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0881360" cy="23774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NEXT 정보계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111556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063240" cy="237744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데이터플랫폼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600200"/>
            <a:ext cx="1920240" cy="237744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BI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600200"/>
            <a:ext cx="2331720" cy="237744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마케팅플랫폼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00200"/>
            <a:ext cx="2240280" cy="237744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61320" y="1600200"/>
            <a:ext cx="1005840" cy="237744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공통 인프라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1783080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RDW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30551"/>
            <a:ext cx="1783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216" y="2185415"/>
            <a:ext cx="836676" cy="466343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실시간 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58468" y="2185415"/>
            <a:ext cx="836676" cy="466343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업무지원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2688334"/>
            <a:ext cx="836676" cy="466343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실시간 분석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58468" y="2688334"/>
            <a:ext cx="836676" cy="466343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Feedback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64407"/>
            <a:ext cx="1783080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ADW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20439"/>
            <a:ext cx="1783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5216" y="3575303"/>
            <a:ext cx="836676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고객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58468" y="3575303"/>
            <a:ext cx="836676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상품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" y="3813047"/>
            <a:ext cx="836676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수신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58468" y="3813047"/>
            <a:ext cx="836676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여신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" y="4050791"/>
            <a:ext cx="836676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외환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58468" y="4050791"/>
            <a:ext cx="836676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카드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" y="4288535"/>
            <a:ext cx="836676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방카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58468" y="4288535"/>
            <a:ext cx="836676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대외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" y="4526279"/>
            <a:ext cx="836676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공통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37175"/>
            <a:ext cx="1783080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통합/요약/집계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" y="5129783"/>
            <a:ext cx="836676" cy="26517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고객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58468" y="5129783"/>
            <a:ext cx="836676" cy="26517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업무통합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" y="5431535"/>
            <a:ext cx="836676" cy="26517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계수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58468" y="5431535"/>
            <a:ext cx="836676" cy="26517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788151"/>
            <a:ext cx="1783080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통합/요약/집계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" y="6080758"/>
            <a:ext cx="836676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보고서마트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58468" y="6080758"/>
            <a:ext cx="836676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OLAP마트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" y="6336790"/>
            <a:ext cx="836676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단위업무마트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58468" y="6336790"/>
            <a:ext cx="836676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Feedback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1874519"/>
            <a:ext cx="1188720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빅데이터 플랫폼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2148839"/>
            <a:ext cx="1188720" cy="2377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데이터 처리/저장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05456" y="2441447"/>
            <a:ext cx="347472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원천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9504" y="2441447"/>
            <a:ext cx="347472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마트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73552" y="2441447"/>
            <a:ext cx="347472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분석결과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78608" y="3081527"/>
            <a:ext cx="987552" cy="292608"/>
          </a:xfrm>
          <a:prstGeom prst="rect">
            <a:avLst/>
          </a:prstGeom>
          <a:solidFill>
            <a:srgbClr val="DDEBF7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실시간 데이터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05456" y="3438143"/>
            <a:ext cx="5394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수집/전처리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81528" y="3438143"/>
            <a:ext cx="5394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실시간 분석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78608" y="4160519"/>
            <a:ext cx="987552" cy="256032"/>
          </a:xfrm>
          <a:prstGeom prst="rect">
            <a:avLst/>
          </a:prstGeom>
          <a:solidFill>
            <a:srgbClr val="DDEBF7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HDFS / NoSQL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4526279"/>
            <a:ext cx="1188720" cy="2377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데이터분석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05456" y="4818887"/>
            <a:ext cx="539496" cy="22555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배치/사용자분석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81528" y="4818887"/>
            <a:ext cx="539496" cy="22555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마케팅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05456" y="5081015"/>
            <a:ext cx="539496" cy="22555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리스크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81528" y="5081015"/>
            <a:ext cx="539496" cy="22555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텍스트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05456" y="5343143"/>
            <a:ext cx="539496" cy="22555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오픈소스분석툴(샌드박스)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81528" y="5343143"/>
            <a:ext cx="539496" cy="22555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SAS분석 플랫폼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0" y="5669279"/>
            <a:ext cx="1188720" cy="2377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데이터관리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05456" y="5961886"/>
            <a:ext cx="1115568" cy="13411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데이터 카탈로그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05456" y="6132574"/>
            <a:ext cx="1115568" cy="13411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메타관리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05456" y="6303262"/>
            <a:ext cx="1115568" cy="13411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분석모델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94760" y="1874519"/>
            <a:ext cx="1874519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신용실적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31336" y="2167127"/>
            <a:ext cx="882395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실적관리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50307" y="2167127"/>
            <a:ext cx="882395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종합메리트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31336" y="2532887"/>
            <a:ext cx="882395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BIMS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50307" y="2532887"/>
            <a:ext cx="882395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...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94760" y="2715766"/>
            <a:ext cx="1874519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OLAP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31336" y="3008374"/>
            <a:ext cx="882395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템플릿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50307" y="3008374"/>
            <a:ext cx="882395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정형분석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31336" y="3374134"/>
            <a:ext cx="882395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대시보드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50307" y="3374134"/>
            <a:ext cx="882395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비정형분석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3557013"/>
            <a:ext cx="1874519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Self BI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31336" y="3849621"/>
            <a:ext cx="882395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...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50307" y="3849621"/>
            <a:ext cx="882395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...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94760" y="4069077"/>
            <a:ext cx="1874519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거버넌스 대시보드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794760" y="4325109"/>
            <a:ext cx="1874519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794760" y="4379973"/>
            <a:ext cx="1874519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통계 SAS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794760" y="4636005"/>
            <a:ext cx="1874519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794760" y="4690869"/>
            <a:ext cx="1874519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빅스퀘어 VISION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94760" y="4946901"/>
            <a:ext cx="1874519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3794760" y="5001765"/>
            <a:ext cx="1874519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...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94760" y="5257797"/>
            <a:ext cx="1874519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794760" y="5312661"/>
            <a:ext cx="1874519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BI포털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31336" y="5605269"/>
            <a:ext cx="882395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통합검색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50307" y="5605269"/>
            <a:ext cx="882395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Dictionary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31336" y="5897877"/>
            <a:ext cx="882395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모니터링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97880" y="1874519"/>
            <a:ext cx="2194560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고객정보관리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34456" y="2167127"/>
            <a:ext cx="682752" cy="57607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고객정보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53784" y="2167127"/>
            <a:ext cx="682752" cy="57607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고객관리지원(세부분화)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73112" y="2167127"/>
            <a:ext cx="682752" cy="57607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리워드관리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897880" y="2633471"/>
            <a:ext cx="2194560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개인고객 마케팅/영업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34456" y="2926079"/>
            <a:ext cx="682752" cy="640079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개인고객상담(Single View)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53784" y="2926079"/>
            <a:ext cx="682752" cy="640079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상담/판매관리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373112" y="2926079"/>
            <a:ext cx="682752" cy="640079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영업활동관리(세이즈포탈)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97880" y="3456430"/>
            <a:ext cx="2194560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기업고객 마케팅/영업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34456" y="3749038"/>
            <a:ext cx="682752" cy="640079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기업고객상담(Single View)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653784" y="3749038"/>
            <a:ext cx="682752" cy="640079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영업기회관리(알리미 등)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73112" y="3749038"/>
            <a:ext cx="682752" cy="640079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영업활동관리(섭외/스케줄)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97880" y="4279389"/>
            <a:ext cx="2194560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마케팅 지원 시스템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934456" y="4571997"/>
            <a:ext cx="682752" cy="298703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기획/분석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653784" y="4571997"/>
            <a:ext cx="682752" cy="298703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EBM
이벤트설계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73112" y="4571997"/>
            <a:ext cx="682752" cy="298703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모니터링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34456" y="4907276"/>
            <a:ext cx="682752" cy="298703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캠페인관리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653784" y="4907276"/>
            <a:ext cx="682752" cy="298703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캠페인기획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373112" y="4907276"/>
            <a:ext cx="682752" cy="298703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캠페인대상 고객분석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34456" y="5242556"/>
            <a:ext cx="682752" cy="298703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캠페인 모니터링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897880" y="5431533"/>
            <a:ext cx="2194560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Contents Bank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934456" y="5724141"/>
            <a:ext cx="1042416" cy="30175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개인화컨텐츠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013448" y="5724141"/>
            <a:ext cx="1042416" cy="30175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상품정보/추천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275320" y="1874519"/>
            <a:ext cx="1737360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데이터 흐름관리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311896" y="2167127"/>
            <a:ext cx="813816" cy="39319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..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162288" y="2167127"/>
            <a:ext cx="813816" cy="39319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..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75320" y="2468879"/>
            <a:ext cx="1737360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데이터 품질관리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311896" y="2761487"/>
            <a:ext cx="813816" cy="39319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..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162288" y="2761487"/>
            <a:ext cx="813816" cy="39319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..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75320" y="3063239"/>
            <a:ext cx="1737360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비즈메타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11896" y="3355847"/>
            <a:ext cx="813816" cy="39319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표준정수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62288" y="3355847"/>
            <a:ext cx="813816" cy="39319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업무용어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058400" y="3566159"/>
            <a:ext cx="1325880" cy="23774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형상관리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094976" y="3858767"/>
            <a:ext cx="608076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버전관리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739628" y="3858767"/>
            <a:ext cx="608076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배포관리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058400" y="4279391"/>
            <a:ext cx="1325880" cy="23774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데이터 처리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094976" y="4571999"/>
            <a:ext cx="1252728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ETL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058400" y="4992623"/>
            <a:ext cx="1325880" cy="23774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보고서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094976" y="5285231"/>
            <a:ext cx="1252728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Report
Designer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058400" y="5705855"/>
            <a:ext cx="1325880" cy="23774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단말관리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094976" y="5998463"/>
            <a:ext cx="608076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단말관리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739628" y="5998463"/>
            <a:ext cx="608076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단말배포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058400" y="6419087"/>
            <a:ext cx="1325880" cy="23774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배치관리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094976" y="6711695"/>
            <a:ext cx="1252728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배치처리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058400" y="7132319"/>
            <a:ext cx="1325880" cy="23774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캐싱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094976" y="7424927"/>
            <a:ext cx="1252728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80" b="0">
                <a:solidFill>
                  <a:srgbClr val="000000"/>
                </a:solidFill>
                <a:latin typeface="Malgun Gothic"/>
              </a:rPr>
              <a:t>IMDG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algun Gothic"/>
              </a:rPr>
              <a:t>NEXT 목표 아키텍처 표준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13232"/>
            <a:ext cx="502920" cy="3657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713232"/>
            <a:ext cx="11109960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1338560" cy="5486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algun Gothic"/>
              </a:rPr>
              <a:t>NEXT 정보계는 Deep 데이터 관리 중심의 데이터플랫폼, 고객반응 중심의 마케팅플랫폼, 의사결정을 위한 BI 포탈 그리고 이를 지원하는 공통 인프라 및 데이터 거버넌스 도메인으로 분리 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64592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Client
Access
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057400"/>
            <a:ext cx="868680" cy="27889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Service
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07492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I/F
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580644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Data
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6419088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형상배포
Layer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1560" y="1874519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51560" y="4892040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" y="5623560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51560" y="6236208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463039" y="1627632"/>
            <a:ext cx="73151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전용 Browser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81912" y="1828800"/>
            <a:ext cx="49377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2103120"/>
            <a:ext cx="10972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
(UI서비스)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19" y="2578608"/>
            <a:ext cx="822959" cy="1856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0" y="2670048"/>
            <a:ext cx="3657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36192" y="3383279"/>
            <a:ext cx="566928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단말관리
WAS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36192" y="3730752"/>
            <a:ext cx="566928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단말배포
WAS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16276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전용 Browser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16352" y="1828800"/>
            <a:ext cx="63093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2103120"/>
            <a:ext cx="12344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
(마케팅)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2578608"/>
            <a:ext cx="960120" cy="1856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48939" y="2670048"/>
            <a:ext cx="3657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2999232"/>
            <a:ext cx="502920" cy="201168"/>
          </a:xfrm>
          <a:prstGeom prst="rect">
            <a:avLst/>
          </a:prstGeom>
          <a:solidFill>
            <a:srgbClr val="70AD47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IMDG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9192" y="3364991"/>
            <a:ext cx="292608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MPF
WAS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99232" y="3364991"/>
            <a:ext cx="292608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EBM
WAS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9272" y="3364991"/>
            <a:ext cx="292608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고객
WAS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9080" y="1627632"/>
            <a:ext cx="68579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전용 Browser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87952" y="1828800"/>
            <a:ext cx="44805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86200" y="2103120"/>
            <a:ext cx="10515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
(신용실적)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2578608"/>
            <a:ext cx="777239" cy="1856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29100" y="2670048"/>
            <a:ext cx="3657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42232" y="3383279"/>
            <a:ext cx="530352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신용실적
WAS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7800" y="1627632"/>
            <a:ext cx="68579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범용 Browser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76672" y="1828800"/>
            <a:ext cx="44805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74920" y="2103120"/>
            <a:ext cx="10515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
(포탈)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80" y="2578608"/>
            <a:ext cx="777239" cy="1856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17820" y="2670048"/>
            <a:ext cx="3657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85816" y="2999232"/>
            <a:ext cx="411480" cy="201168"/>
          </a:xfrm>
          <a:prstGeom prst="rect">
            <a:avLst/>
          </a:prstGeom>
          <a:solidFill>
            <a:srgbClr val="70AD47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IMDG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30952" y="3383279"/>
            <a:ext cx="530352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포탈
WAS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1627632"/>
            <a:ext cx="68579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범용 Browser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65392" y="1828800"/>
            <a:ext cx="44805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2103120"/>
            <a:ext cx="10515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
(OLAP)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2578608"/>
            <a:ext cx="777239" cy="1856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606540" y="2670048"/>
            <a:ext cx="3657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28231" y="3383279"/>
            <a:ext cx="384048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OLAP
WAS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39712" y="3383279"/>
            <a:ext cx="292608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MSTR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35240" y="1627632"/>
            <a:ext cx="68579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범용 Browser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54112" y="1828800"/>
            <a:ext cx="44805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52360" y="2103120"/>
            <a:ext cx="10515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
(Self BI)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89520" y="2578608"/>
            <a:ext cx="777239" cy="1856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795260" y="2670048"/>
            <a:ext cx="3657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16952" y="3383279"/>
            <a:ext cx="384048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Self BI
WAS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28432" y="3383279"/>
            <a:ext cx="292608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LLM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23959" y="1627632"/>
            <a:ext cx="68579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범용 Browser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42832" y="1828800"/>
            <a:ext cx="44805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41080" y="2103120"/>
            <a:ext cx="10515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
(품질)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78240" y="2578608"/>
            <a:ext cx="777239" cy="1856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983980" y="2670048"/>
            <a:ext cx="3657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97111" y="3383279"/>
            <a:ext cx="530352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품질관리
WAS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12680" y="1627632"/>
            <a:ext cx="68579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범용 Browser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31552" y="1828800"/>
            <a:ext cx="44805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29800" y="2103120"/>
            <a:ext cx="10515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
(비즈메타)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66960" y="2578608"/>
            <a:ext cx="777239" cy="1856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172700" y="2670048"/>
            <a:ext cx="3657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085832" y="3383279"/>
            <a:ext cx="530352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비즈메타
WAS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201400" y="1627632"/>
            <a:ext cx="50291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범용 Browser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320272" y="1828800"/>
            <a:ext cx="26517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018520" y="2103120"/>
            <a:ext cx="868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
(흐름)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155680" y="2578608"/>
            <a:ext cx="594359" cy="1856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1269980" y="2670048"/>
            <a:ext cx="3657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173968" y="3383279"/>
            <a:ext cx="45720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흐름관리
WAS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234440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SSO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56232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CruzAPIM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78024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EAI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99816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FOS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21608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MFT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43400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ETL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965192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CDC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86984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대내 MCA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08776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대외 MCA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830568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통합관제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52360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IT 메타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74152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Nexus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695944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Wise
Collector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317736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배치작업
관리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939528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UMS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561320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eCAMS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183112" y="5102352"/>
            <a:ext cx="5760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framework
Master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234440" y="5824728"/>
            <a:ext cx="658368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실시간
SOR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938528" y="5824728"/>
            <a:ext cx="658368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실시간
집계분석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642616" y="5824728"/>
            <a:ext cx="658368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업무
지원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346704" y="5824728"/>
            <a:ext cx="658368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로그
분석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050792" y="5824728"/>
            <a:ext cx="658368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마케팅
플랫폼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754880" y="5824728"/>
            <a:ext cx="658368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RDW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458968" y="5824728"/>
            <a:ext cx="658368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ADW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163056" y="5824728"/>
            <a:ext cx="658368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ILM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867144" y="5824728"/>
            <a:ext cx="658368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분석
SOR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571232" y="5824728"/>
            <a:ext cx="658368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통합/요약
집계분석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275320" y="5824728"/>
            <a:ext cx="658368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통합마트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979408" y="5824728"/>
            <a:ext cx="658368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보고서
마트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691640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GitLab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2560320" y="6519672"/>
            <a:ext cx="109728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2670048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GitLabRunner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3538728" y="6519672"/>
            <a:ext cx="109728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3648456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Dev Pipeline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4517136" y="6519672"/>
            <a:ext cx="109728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4626864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개발환경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732520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eCAMS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9601200" y="6519672"/>
            <a:ext cx="109728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9710928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빌드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0579608" y="6519672"/>
            <a:ext cx="109728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10689336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운영-Pipeline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1558016" y="6519672"/>
            <a:ext cx="109728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11667744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운영환경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algun Gothic"/>
              </a:rPr>
              <a:t>마케팅플랫폼 표준 아키텍처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13232"/>
            <a:ext cx="502920" cy="3657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713232"/>
            <a:ext cx="11109960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algun Gothic"/>
              </a:rPr>
              <a:t>마케팅플랫폼은 IaaS 기반 아키텍처로, 실시간 고객 반응형 서비스 및 Customer Single View를 주 제공하는 시스템으로 단말관리 및 배포를 위한 UI 영역과 NH Cloud Framework 영역으로 구현합니다.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64592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Client Access
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057400"/>
            <a:ext cx="868680" cy="27889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Service
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07492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I/F
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580644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Data
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6419088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형상배포
Layer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1560" y="1874519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51560" y="4892040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" y="5623560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51560" y="6236208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280160" y="2084831"/>
            <a:ext cx="39776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Malgun Gothic"/>
              </a:rPr>
              <a:t>IaaS ( UI 서비스플랫폼 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1783080"/>
            <a:ext cx="10972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전용 Browser (마케팅플랫폼)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1993392"/>
            <a:ext cx="109728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560320"/>
            <a:ext cx="411480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2608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algun Gothic"/>
              </a:rPr>
              <a:t>Service Node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3063240"/>
            <a:ext cx="292608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194560" y="3383280"/>
            <a:ext cx="77724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단말관리
WAS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383280"/>
            <a:ext cx="77724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단말배포
WAS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251960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WebTopSuite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2084831"/>
            <a:ext cx="48920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Malgun Gothic"/>
              </a:rPr>
              <a:t>IaaS ( 마케팅플랫폼 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1783080"/>
            <a:ext cx="10058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통합단말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1993392"/>
            <a:ext cx="9144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MCA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2560320"/>
            <a:ext cx="411480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92608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algun Gothic"/>
              </a:rPr>
              <a:t>Service Node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3063240"/>
            <a:ext cx="429768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823960" y="2788920"/>
            <a:ext cx="109728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IMDG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770632"/>
            <a:ext cx="685800" cy="1371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algun Gothic"/>
              </a:rPr>
              <a:t>공통인프라 Node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2999232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700" b="0">
                <a:solidFill>
                  <a:srgbClr val="C00000"/>
                </a:solidFill>
                <a:latin typeface="Malgun Gothic"/>
              </a:rPr>
              <a:t>Session/Data Cache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3401568"/>
            <a:ext cx="685800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FFFFFF"/>
                </a:solidFill>
                <a:latin typeface="Malgun Gothic"/>
              </a:rPr>
              <a:t>[마케팅플랫폼]
WAS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401568"/>
            <a:ext cx="685800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FFFFFF"/>
                </a:solidFill>
                <a:latin typeface="Malgun Gothic"/>
              </a:rPr>
              <a:t>[마스터뷰]
WAS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3401568"/>
            <a:ext cx="713232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FFFFFF"/>
                </a:solidFill>
                <a:latin typeface="Malgun Gothic"/>
              </a:rPr>
              <a:t>[ EBM ]
고객동의/데이터
KRA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20" y="3401568"/>
            <a:ext cx="640080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FFFFFF"/>
                </a:solidFill>
                <a:latin typeface="Malgun Gothic"/>
              </a:rPr>
              <a:t>[ EBM ]
공통처리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64040" y="3401568"/>
            <a:ext cx="640080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FFFFFF"/>
                </a:solidFill>
                <a:latin typeface="Malgun Gothic"/>
              </a:rPr>
              <a:t>[ EBM ]
실시간처리
EBM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3337560"/>
            <a:ext cx="384048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algun Gothic"/>
              </a:rPr>
              <a:t>배치 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74920" y="3639312"/>
            <a:ext cx="384048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algun Gothic"/>
              </a:rPr>
              <a:t>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4920" y="3941063"/>
            <a:ext cx="384048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440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SSO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10512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Cruz
APIM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86584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EAI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62656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FOS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38728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MFT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ETL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CDC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66944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대내
MCA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43016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대외
MCA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19088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GSE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95160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통합관제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71232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IT메타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47304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Nexus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23376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Wise
Collector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99448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배치작업
관리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75520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연관정보
마이데이터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51592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빅데이터
운영관리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027664" y="5102352"/>
            <a:ext cx="5303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계정
대사정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691640" y="5824728"/>
            <a:ext cx="109728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단말관리DB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971800" y="5824728"/>
            <a:ext cx="109728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ADW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51960" y="5824728"/>
            <a:ext cx="109728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RDW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532120" y="5824728"/>
            <a:ext cx="109728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마케팅플랫폼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0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GitLab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611880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3721608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GitLabRunner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590288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4700016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Dev Pipeline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568696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5678424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개발환경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86800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eCAMS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555480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9665208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빌드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0533888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10643616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운영-Pipeline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1512296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11622024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운영환경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algun Gothic"/>
              </a:rPr>
              <a:t>데이터플랫폼 표준 아키텍처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13232"/>
            <a:ext cx="502920" cy="3657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713232"/>
            <a:ext cx="11109960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algun Gothic"/>
              </a:rPr>
              <a:t>데이터플랫폼은 Appliance 기반의 Oracle Exadata 26 ai 구축되며, NEXT 정보계 주 데이터베이스 시스템입니다. 구성은 실시간 RDW와 분석 ADW 및 CDC 중계서버로 구성됩니다.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64592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Client Access
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057400"/>
            <a:ext cx="868680" cy="27889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Service
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07492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I/F
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580644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Data
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6419088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형상배포
Layer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1560" y="1874519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51560" y="4892040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" y="5623560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51560" y="6236208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977639" y="1783080"/>
            <a:ext cx="18288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Control 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783080"/>
            <a:ext cx="19202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ETL Scheduler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011680"/>
            <a:ext cx="5989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Job Shell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2331720"/>
            <a:ext cx="1508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연관 시스템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71016" y="2734056"/>
            <a:ext cx="1161288" cy="22402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코어뱅킹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71016" y="2994660"/>
            <a:ext cx="1161288" cy="22402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연계뱅킹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71016" y="3255264"/>
            <a:ext cx="1161288" cy="22402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카드승인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71016" y="3515868"/>
            <a:ext cx="1161288" cy="22402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행동정보처리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71016" y="3776472"/>
            <a:ext cx="1161288" cy="22402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실시간간사싸게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71016" y="4037076"/>
            <a:ext cx="1161288" cy="22402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BCV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370832"/>
            <a:ext cx="1005840" cy="12801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700" b="0">
                <a:solidFill>
                  <a:srgbClr val="C00000"/>
                </a:solidFill>
                <a:latin typeface="Malgun Gothic"/>
              </a:rPr>
              <a:t>ETL / MFT / FOS 연계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233172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Malgun Gothic"/>
              </a:rPr>
              <a:t>Appliance ( RDW 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834640"/>
            <a:ext cx="4572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Job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108960"/>
            <a:ext cx="1097280" cy="12801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Malgun Gothic"/>
              </a:rPr>
              <a:t>Service Node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3246120"/>
            <a:ext cx="2926080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023360" y="3520440"/>
            <a:ext cx="109728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RDW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986784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Oracle Exadata Database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670048"/>
            <a:ext cx="457200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017520"/>
            <a:ext cx="457200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algun Gothic"/>
              </a:rPr>
              <a:t>마케팅플랫폼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337560"/>
            <a:ext cx="457200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algun Gothic"/>
              </a:rPr>
              <a:t>BI포탈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657600"/>
            <a:ext cx="457200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977639"/>
            <a:ext cx="457200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algun Gothic"/>
              </a:rPr>
              <a:t>CDC 중계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233172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Malgun Gothic"/>
              </a:rPr>
              <a:t>Appliance ( ADW 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2834640"/>
            <a:ext cx="4572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Job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108960"/>
            <a:ext cx="1097280" cy="12801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Malgun Gothic"/>
              </a:rPr>
              <a:t>Service Node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3246120"/>
            <a:ext cx="2926080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92440" y="3520440"/>
            <a:ext cx="109728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ADW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3986784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Oracle Exadata Database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81360" y="2331720"/>
            <a:ext cx="10972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연관 시스템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055096" y="2734056"/>
            <a:ext cx="749808" cy="35433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경영관리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055096" y="3124962"/>
            <a:ext cx="749808" cy="35433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리스크관리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55096" y="3515868"/>
            <a:ext cx="749808" cy="35433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마이데이터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55096" y="3906774"/>
            <a:ext cx="749808" cy="35433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대외계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3000" y="5102352"/>
            <a:ext cx="640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SSO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37944" y="5102352"/>
            <a:ext cx="640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FOS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32888" y="5102352"/>
            <a:ext cx="640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MFT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27832" y="5102352"/>
            <a:ext cx="640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ETL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22776" y="5102352"/>
            <a:ext cx="640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CDC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17720" y="5102352"/>
            <a:ext cx="640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대외MCA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12664" y="5102352"/>
            <a:ext cx="640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통합관제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07608" y="5102352"/>
            <a:ext cx="640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IT메타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02552" y="5102352"/>
            <a:ext cx="640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배치작업관리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97496" y="5102352"/>
            <a:ext cx="640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코어뱅킹
계정연계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92440" y="5102352"/>
            <a:ext cx="640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전자금융
연계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87384" y="5102352"/>
            <a:ext cx="640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카드승인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82328" y="5102352"/>
            <a:ext cx="640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리스크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77272" y="5102352"/>
            <a:ext cx="640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CRM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872216" y="5102352"/>
            <a:ext cx="640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F/S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234440" y="5824728"/>
            <a:ext cx="713232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실시간
SOR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002536" y="5824728"/>
            <a:ext cx="713232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실시간
집계분석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70632" y="5824728"/>
            <a:ext cx="713232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업무
지원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538728" y="5824728"/>
            <a:ext cx="713232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로그
분석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06824" y="5824728"/>
            <a:ext cx="713232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ADW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74920" y="5824728"/>
            <a:ext cx="713232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RDW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843016" y="5824728"/>
            <a:ext cx="713232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분석
SOR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611112" y="5824728"/>
            <a:ext cx="713232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통합/요약
집계분석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79208" y="5824728"/>
            <a:ext cx="713232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통합마트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47304" y="5824728"/>
            <a:ext cx="713232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보고서
마트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915400" y="5824728"/>
            <a:ext cx="713232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승인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683496" y="5824728"/>
            <a:ext cx="713232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30" b="0">
                <a:solidFill>
                  <a:srgbClr val="000000"/>
                </a:solidFill>
                <a:latin typeface="Malgun Gothic"/>
              </a:rPr>
              <a:t>통신
마트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40280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GitLab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3108960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3218688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GitLabRunner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087368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4197096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Dev Pipeline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065776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5175504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개발환경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86800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eCAMS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555480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9665208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빌드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0533888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10643616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운영-Pipeline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1512296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11622024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운영환경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algun Gothic"/>
              </a:rPr>
              <a:t>BI 포탈 표준 아키텍처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13232"/>
            <a:ext cx="502920" cy="3657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713232"/>
            <a:ext cx="11109960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algun Gothic"/>
              </a:rPr>
              <a:t>BI 포탈 아키텍처는 IaaS 기반의 분석 활용도를 높여주는 솔루션을 적극 도입하여 구축하는 영역(BI포털, Self BI, OLAP)과 NH Cloud Framework 기반의 신용실적 영역으로 구분된다.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64592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Client Access
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057400"/>
            <a:ext cx="868680" cy="27889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Service
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07492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I/F
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580644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Data
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6419088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형상배포
Layer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1560" y="1874519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51560" y="4892040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" y="5623560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51560" y="6236208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234440" y="2423160"/>
            <a:ext cx="14173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Malgun Gothic"/>
              </a:rPr>
              <a:t>IaaS ( 공통인프라 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3291840"/>
            <a:ext cx="82296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IMDG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423160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 ( BI포탈 )
- 신용실적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993392"/>
            <a:ext cx="11430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전용 Browser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212848"/>
            <a:ext cx="9601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93591" y="2761488"/>
            <a:ext cx="347472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063240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Malgun Gothic"/>
              </a:rPr>
              <a:t>Service Node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4952" y="3182112"/>
            <a:ext cx="1463040" cy="93268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83280" y="3154680"/>
            <a:ext cx="731520" cy="18288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IMDG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9272" y="3346704"/>
            <a:ext cx="868680" cy="10972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650" b="0">
                <a:solidFill>
                  <a:srgbClr val="C00000"/>
                </a:solidFill>
                <a:latin typeface="Malgun Gothic"/>
              </a:rPr>
              <a:t>Session/Data
Cache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0712" y="3493008"/>
            <a:ext cx="68580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[ BI포탈 ]
신용실적
WAS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2423160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 ( BI포탈 )
- BI포탈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1993392"/>
            <a:ext cx="11430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범용 Browser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49240" y="2212848"/>
            <a:ext cx="9601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50992" y="2761488"/>
            <a:ext cx="347472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063240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Malgun Gothic"/>
              </a:rPr>
              <a:t>Service Node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02352" y="3182112"/>
            <a:ext cx="1463040" cy="93268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40680" y="3154680"/>
            <a:ext cx="731520" cy="18288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IMDG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6672" y="3346704"/>
            <a:ext cx="868680" cy="10972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650" b="0">
                <a:solidFill>
                  <a:srgbClr val="C00000"/>
                </a:solidFill>
                <a:latin typeface="Malgun Gothic"/>
              </a:rPr>
              <a:t>Session/Data
Cache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3493008"/>
            <a:ext cx="68580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[ BI포탈 ]
포탈
WAS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2423160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 ( BI포탈 )
- OLAP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1993392"/>
            <a:ext cx="11430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범용 Browser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2212848"/>
            <a:ext cx="9601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99831" y="2761488"/>
            <a:ext cx="347472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3063240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Malgun Gothic"/>
              </a:rPr>
              <a:t>Service Node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51192" y="3182112"/>
            <a:ext cx="1463040" cy="93268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406640" y="3474720"/>
            <a:ext cx="530352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[ BI포탈 ]
OLAP
WAS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3474720"/>
            <a:ext cx="530352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[ BI포탈 ]
OLAP
MSTR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81160" y="2423160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 ( BI포탈 )
- Self BI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1993392"/>
            <a:ext cx="11430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범용 Browser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92640" y="2212848"/>
            <a:ext cx="9601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94392" y="2761488"/>
            <a:ext cx="347472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3063240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Malgun Gothic"/>
              </a:rPr>
              <a:t>Service Node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45752" y="3182112"/>
            <a:ext cx="1463040" cy="93268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601200" y="3474720"/>
            <a:ext cx="530352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[ BI포탈 ]
Self BI
WAS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95560" y="3474720"/>
            <a:ext cx="530352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[ BI포탈 ]
L L 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3703320"/>
            <a:ext cx="548640" cy="10972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650" b="0">
                <a:solidFill>
                  <a:srgbClr val="C00000"/>
                </a:solidFill>
                <a:latin typeface="Malgun Gothic"/>
              </a:rPr>
              <a:t>Adapter
연계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800" y="3703320"/>
            <a:ext cx="548640" cy="10972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650" b="0">
                <a:solidFill>
                  <a:srgbClr val="C00000"/>
                </a:solidFill>
                <a:latin typeface="Malgun Gothic"/>
              </a:rPr>
              <a:t>REST
API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34440" y="5102352"/>
            <a:ext cx="74980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SSO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48255" y="5102352"/>
            <a:ext cx="74980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CruzAPIM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62070" y="5102352"/>
            <a:ext cx="74980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FOS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75885" y="5102352"/>
            <a:ext cx="74980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MFT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89700" y="5102352"/>
            <a:ext cx="74980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통합관제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15" y="5102352"/>
            <a:ext cx="74980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IT메타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17330" y="5102352"/>
            <a:ext cx="74980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Nexus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31145" y="5102352"/>
            <a:ext cx="74980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배치작업관리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44960" y="5102352"/>
            <a:ext cx="74980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UMS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58775" y="5102352"/>
            <a:ext cx="74980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코어뱅킹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72590" y="5102352"/>
            <a:ext cx="74980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70" b="0">
                <a:solidFill>
                  <a:srgbClr val="000000"/>
                </a:solidFill>
                <a:latin typeface="Malgun Gothic"/>
              </a:rPr>
              <a:t>빅데이터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737360" y="5824728"/>
            <a:ext cx="105156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BI 포탈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926079" y="5824728"/>
            <a:ext cx="105156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ADW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114798" y="5824728"/>
            <a:ext cx="105156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RDW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303517" y="5824728"/>
            <a:ext cx="105156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신용실적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92236" y="5824728"/>
            <a:ext cx="105156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OLAP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80955" y="5824728"/>
            <a:ext cx="105156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Self BI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40280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GitLab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3108960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3218688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GitLabRunner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087368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4197096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Dev Pipeline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065776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5175504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개발환경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686800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eCAMS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555480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9665208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빌드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0533888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10643616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운영-Pipeline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1512296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11622024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운영환경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algun Gothic"/>
              </a:rPr>
              <a:t>데이터거버넌스 표준 아키텍처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13232"/>
            <a:ext cx="502920" cy="3657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713232"/>
            <a:ext cx="11109960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algun Gothic"/>
              </a:rPr>
              <a:t>정보계 차세대는 IaaS 기반의 서비스 개발로 진행되며, 데이터흐름관리 Application 은 Package를 도입하여 구축합니다.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64592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Client Access
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057400"/>
            <a:ext cx="868680" cy="27889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Service
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07492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I/F
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580644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Data
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6419088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형상배포
Layer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1560" y="1874519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51560" y="4892040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" y="5623560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51560" y="6236208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371600" y="2423160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 ( BI포탈 )
- BI포탈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1993392"/>
            <a:ext cx="11430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범용 Browser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83080" y="2212848"/>
            <a:ext cx="9601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84832" y="2761488"/>
            <a:ext cx="347472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063240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Malgun Gothic"/>
              </a:rPr>
              <a:t>Service Node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36192" y="3182112"/>
            <a:ext cx="1463040" cy="93268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56232" y="3154680"/>
            <a:ext cx="731520" cy="18288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IMDG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0512" y="3346704"/>
            <a:ext cx="868680" cy="10972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650" b="0">
                <a:solidFill>
                  <a:srgbClr val="C00000"/>
                </a:solidFill>
                <a:latin typeface="Malgun Gothic"/>
              </a:rPr>
              <a:t>Session/Data
Cache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01952" y="3493008"/>
            <a:ext cx="68580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80" b="0">
                <a:solidFill>
                  <a:srgbClr val="FFFFFF"/>
                </a:solidFill>
                <a:latin typeface="Malgun Gothic"/>
              </a:rPr>
              <a:t>[ BI포탈 ]
BI포탈
WAS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2423160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 ( 데이터거버넌스 )
- 데이터품질관리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7639" y="1993392"/>
            <a:ext cx="11430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범용 Browser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80" y="2212848"/>
            <a:ext cx="9601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0832" y="2761488"/>
            <a:ext cx="347472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063240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Malgun Gothic"/>
              </a:rPr>
              <a:t>Service Node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22191" y="3182112"/>
            <a:ext cx="1463040" cy="93268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87952" y="3493008"/>
            <a:ext cx="68580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80" b="0">
                <a:solidFill>
                  <a:srgbClr val="FFFFFF"/>
                </a:solidFill>
                <a:latin typeface="Malgun Gothic"/>
              </a:rPr>
              <a:t>데이터 품질관리
WAS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97880" y="2423160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 ( 데이터거버넌스 )
- 비즈메타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993392"/>
            <a:ext cx="11430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범용 Browser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212848"/>
            <a:ext cx="9601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11112" y="2761488"/>
            <a:ext cx="347472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3063240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Malgun Gothic"/>
              </a:rPr>
              <a:t>Service Node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3182112"/>
            <a:ext cx="1463040" cy="93268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28232" y="3493008"/>
            <a:ext cx="68580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80" b="0">
                <a:solidFill>
                  <a:srgbClr val="FFFFFF"/>
                </a:solidFill>
                <a:latin typeface="Malgun Gothic"/>
              </a:rPr>
              <a:t>비즈메타
WAS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2423160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IaaS ( 데이터거버넌스 )
- 데이터흐름관리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19" y="1993392"/>
            <a:ext cx="11430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범용 Browser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5359" y="2212848"/>
            <a:ext cx="9601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97111" y="2761488"/>
            <a:ext cx="347472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19" y="3063240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Malgun Gothic"/>
              </a:rPr>
              <a:t>Service Node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48471" y="3182112"/>
            <a:ext cx="1463040" cy="93268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714232" y="3493008"/>
            <a:ext cx="68580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80" b="0">
                <a:solidFill>
                  <a:srgbClr val="FFFFFF"/>
                </a:solidFill>
                <a:latin typeface="Malgun Gothic"/>
              </a:rPr>
              <a:t>데이터 흐름관리
WAS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3675887"/>
            <a:ext cx="365760" cy="10972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750" b="0">
                <a:solidFill>
                  <a:srgbClr val="C00000"/>
                </a:solidFill>
                <a:latin typeface="Malgun Gothic"/>
              </a:rPr>
              <a:t>API 연계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2120" y="3675887"/>
            <a:ext cx="365760" cy="10972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750" b="0">
                <a:solidFill>
                  <a:srgbClr val="C00000"/>
                </a:solidFill>
                <a:latin typeface="Malgun Gothic"/>
              </a:rPr>
              <a:t>API 연계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3675887"/>
            <a:ext cx="365760" cy="10972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750" b="0">
                <a:solidFill>
                  <a:srgbClr val="C00000"/>
                </a:solidFill>
                <a:latin typeface="Malgun Gothic"/>
              </a:rPr>
              <a:t>API 연계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34440" y="5102352"/>
            <a:ext cx="69494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0" b="0">
                <a:solidFill>
                  <a:srgbClr val="000000"/>
                </a:solidFill>
                <a:latin typeface="Malgun Gothic"/>
              </a:rPr>
              <a:t>SSO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84248" y="5102352"/>
            <a:ext cx="69494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0" b="0">
                <a:solidFill>
                  <a:srgbClr val="000000"/>
                </a:solidFill>
                <a:latin typeface="Malgun Gothic"/>
              </a:rPr>
              <a:t>CruzAPIM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34056" y="5102352"/>
            <a:ext cx="69494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0" b="0">
                <a:solidFill>
                  <a:srgbClr val="000000"/>
                </a:solidFill>
                <a:latin typeface="Malgun Gothic"/>
              </a:rPr>
              <a:t>EAI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83864" y="5102352"/>
            <a:ext cx="69494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0" b="0">
                <a:solidFill>
                  <a:srgbClr val="000000"/>
                </a:solidFill>
                <a:latin typeface="Malgun Gothic"/>
              </a:rPr>
              <a:t>FOS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33672" y="5102352"/>
            <a:ext cx="69494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0" b="0">
                <a:solidFill>
                  <a:srgbClr val="000000"/>
                </a:solidFill>
                <a:latin typeface="Malgun Gothic"/>
              </a:rPr>
              <a:t>MFT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83480" y="5102352"/>
            <a:ext cx="69494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0" b="0">
                <a:solidFill>
                  <a:srgbClr val="000000"/>
                </a:solidFill>
                <a:latin typeface="Malgun Gothic"/>
              </a:rPr>
              <a:t>ETL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33288" y="5102352"/>
            <a:ext cx="69494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0" b="0">
                <a:solidFill>
                  <a:srgbClr val="000000"/>
                </a:solidFill>
                <a:latin typeface="Malgun Gothic"/>
              </a:rPr>
              <a:t>대외MCA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83096" y="5102352"/>
            <a:ext cx="69494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0" b="0">
                <a:solidFill>
                  <a:srgbClr val="000000"/>
                </a:solidFill>
                <a:latin typeface="Malgun Gothic"/>
              </a:rPr>
              <a:t>통합관제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32904" y="5102352"/>
            <a:ext cx="69494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0" b="0">
                <a:solidFill>
                  <a:srgbClr val="000000"/>
                </a:solidFill>
                <a:latin typeface="Malgun Gothic"/>
              </a:rPr>
              <a:t>IT메타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82712" y="5102352"/>
            <a:ext cx="69494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0" b="0">
                <a:solidFill>
                  <a:srgbClr val="000000"/>
                </a:solidFill>
                <a:latin typeface="Malgun Gothic"/>
              </a:rPr>
              <a:t>Nexus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32520" y="5102352"/>
            <a:ext cx="69494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0" b="0">
                <a:solidFill>
                  <a:srgbClr val="000000"/>
                </a:solidFill>
                <a:latin typeface="Malgun Gothic"/>
              </a:rPr>
              <a:t>배치작업관리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82328" y="5102352"/>
            <a:ext cx="69494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0" b="0">
                <a:solidFill>
                  <a:srgbClr val="000000"/>
                </a:solidFill>
                <a:latin typeface="Malgun Gothic"/>
              </a:rPr>
              <a:t>UMS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232136" y="5102352"/>
            <a:ext cx="69494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0" b="0">
                <a:solidFill>
                  <a:srgbClr val="000000"/>
                </a:solidFill>
                <a:latin typeface="Malgun Gothic"/>
              </a:rPr>
              <a:t>코어뱅킹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81944" y="5102352"/>
            <a:ext cx="69494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0" b="0">
                <a:solidFill>
                  <a:srgbClr val="000000"/>
                </a:solidFill>
                <a:latin typeface="Malgun Gothic"/>
              </a:rPr>
              <a:t>빅데이터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600200" y="5824728"/>
            <a:ext cx="109728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데이터흐름관리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862072" y="5824728"/>
            <a:ext cx="109728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ADW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23944" y="5824728"/>
            <a:ext cx="109728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RDW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85816" y="5824728"/>
            <a:ext cx="109728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데이터품질관리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47688" y="5824728"/>
            <a:ext cx="109728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비즈메타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40280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GitLab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108960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3218688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GitLabRunner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087368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4197096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Dev Pipeline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065776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5175504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개발환경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86800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eCAMS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555480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9665208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빌드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0533888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10643616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운영-Pipeline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1512296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11622024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운영환경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algun Gothic"/>
              </a:rPr>
              <a:t>선도개발 표준 아키텍처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13232"/>
            <a:ext cx="502920" cy="3657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713232"/>
            <a:ext cx="11109960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algun Gothic"/>
              </a:rPr>
              <a:t>정보계 차세대는 IaaS 기반의 서비스 개발로 진행되며, 단말관리 및 배포를 위한 UI 영역과 NH Cloud Framework 영역으로 구현합니다.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64592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Client Access
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057400"/>
            <a:ext cx="868680" cy="27889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Service
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07492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I/F
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580644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Data
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6419088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형상배포
Layer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1560" y="1874519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51560" y="4892040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" y="5623560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51560" y="6236208"/>
            <a:ext cx="10698480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280160" y="2084831"/>
            <a:ext cx="39776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Malgun Gothic"/>
              </a:rPr>
              <a:t>IaaS ( UI 서비스플랫폼 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1783080"/>
            <a:ext cx="14630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전용 Browser (선도개발)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993392"/>
            <a:ext cx="9144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560320"/>
            <a:ext cx="411480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2608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algun Gothic"/>
              </a:rPr>
              <a:t>Service Node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3063240"/>
            <a:ext cx="292608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194560" y="3383280"/>
            <a:ext cx="77724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단말관리
WAS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383280"/>
            <a:ext cx="77724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단말배포
WAS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251960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WebTopSuite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2084831"/>
            <a:ext cx="44805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Malgun Gothic"/>
              </a:rPr>
              <a:t>IaaS ( 마케팅플랫폼 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2560320"/>
            <a:ext cx="411480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92608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algun Gothic"/>
              </a:rPr>
              <a:t>Service Node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063240"/>
            <a:ext cx="3749039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549640" y="2788920"/>
            <a:ext cx="109728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IMDG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999232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650" b="0">
                <a:solidFill>
                  <a:srgbClr val="C00000"/>
                </a:solidFill>
                <a:latin typeface="Malgun Gothic"/>
              </a:rPr>
              <a:t>Session/Data
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770632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algun Gothic"/>
              </a:rPr>
              <a:t>공통인프라 Node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3401568"/>
            <a:ext cx="86868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[마케팅플랫폼 1]
WAS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931920"/>
            <a:ext cx="1097280" cy="1371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NH Cloud Framework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5102352"/>
            <a:ext cx="100584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FOS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5102352"/>
            <a:ext cx="100584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MFT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49240" y="5102352"/>
            <a:ext cx="100584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IT메타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5102352"/>
            <a:ext cx="100584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Nexus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26080" y="5824728"/>
            <a:ext cx="118872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단말관리DB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5824728"/>
            <a:ext cx="118872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RDW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0" y="5824728"/>
            <a:ext cx="118872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마케팅플랫폼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GitLab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886200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995928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GitLabRunner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864608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974336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Dev Pipeline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843016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952744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개발환경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0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eCAMS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555480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665208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빌드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533888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0643616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운영-Pipeline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1512296" y="0"/>
            <a:ext cx="91440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11622024" y="642823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운영환경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980</Words>
  <Application>Microsoft Office PowerPoint</Application>
  <PresentationFormat>와이드스크린</PresentationFormat>
  <Paragraphs>517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장우승</dc:creator>
  <cp:keywords/>
  <dc:description>generated using python-pptx</dc:description>
  <cp:lastModifiedBy>장우승</cp:lastModifiedBy>
  <cp:revision>1</cp:revision>
  <dcterms:created xsi:type="dcterms:W3CDTF">2013-01-27T09:14:16Z</dcterms:created>
  <dcterms:modified xsi:type="dcterms:W3CDTF">2026-08-25T09:13:03Z</dcterms:modified>
  <cp:category/>
</cp:coreProperties>
</file>