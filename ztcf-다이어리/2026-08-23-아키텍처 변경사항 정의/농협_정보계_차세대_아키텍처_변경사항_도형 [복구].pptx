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30" d="100"/>
          <a:sy n="130" d="100"/>
        </p:scale>
        <p:origin x="1306" y="-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28604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1168" y="1463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농협 정보계 차세대 아키텍처 변경사항(0107)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0" y="566928"/>
            <a:ext cx="9144000" cy="0"/>
          </a:xfrm>
          <a:prstGeom prst="line">
            <a:avLst/>
          </a:prstGeom>
          <a:noFill/>
          <a:ln w="15240">
            <a:solidFill>
              <a:srgbClr val="0D47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2011680"/>
            <a:ext cx="438912" cy="0"/>
          </a:xfrm>
          <a:prstGeom prst="line">
            <a:avLst/>
          </a:prstGeom>
          <a:noFill/>
          <a:ln w="7620">
            <a:solidFill>
              <a:srgbClr val="888888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4434840" y="3858768"/>
            <a:ext cx="85039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5285232" y="3858768"/>
            <a:ext cx="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85232" y="3456432"/>
            <a:ext cx="265176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272784" y="3465576"/>
            <a:ext cx="320040" cy="0"/>
          </a:xfrm>
          <a:prstGeom prst="line">
            <a:avLst/>
          </a:prstGeom>
          <a:noFill/>
          <a:ln w="13970">
            <a:solidFill>
              <a:srgbClr val="0E5BD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059168" y="3401568"/>
            <a:ext cx="530352" cy="0"/>
          </a:xfrm>
          <a:prstGeom prst="line">
            <a:avLst/>
          </a:prstGeom>
          <a:noFill/>
          <a:ln w="10160">
            <a:solidFill>
              <a:srgbClr val="239B56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59168" y="3593592"/>
            <a:ext cx="530352" cy="1014984"/>
          </a:xfrm>
          <a:prstGeom prst="line">
            <a:avLst/>
          </a:prstGeom>
          <a:noFill/>
          <a:ln w="10160">
            <a:solidFill>
              <a:srgbClr val="239B5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629400" y="3730752"/>
            <a:ext cx="0" cy="173736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629400" y="5468112"/>
            <a:ext cx="0" cy="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63440" y="5468112"/>
            <a:ext cx="0" cy="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15000" y="2404872"/>
            <a:ext cx="0" cy="612648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715000" y="2404872"/>
            <a:ext cx="530352" cy="0"/>
          </a:xfrm>
          <a:prstGeom prst="line">
            <a:avLst/>
          </a:prstGeom>
          <a:noFill/>
          <a:ln w="10160">
            <a:solidFill>
              <a:srgbClr val="239B5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486400" y="3017520"/>
            <a:ext cx="0" cy="1261872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285232" y="4261104"/>
            <a:ext cx="0" cy="603504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85232" y="4864608"/>
            <a:ext cx="978408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230368" y="5458968"/>
            <a:ext cx="484632" cy="0"/>
          </a:xfrm>
          <a:prstGeom prst="line">
            <a:avLst/>
          </a:prstGeom>
          <a:noFill/>
          <a:ln w="1143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91072" y="4864608"/>
            <a:ext cx="0" cy="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3794760"/>
            <a:ext cx="137160" cy="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12280" y="3803904"/>
            <a:ext cx="685800" cy="1179576"/>
          </a:xfrm>
          <a:prstGeom prst="line">
            <a:avLst/>
          </a:prstGeom>
          <a:noFill/>
          <a:ln w="10160">
            <a:solidFill>
              <a:srgbClr val="0E5BD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12280" y="3803904"/>
            <a:ext cx="685800" cy="0"/>
          </a:xfrm>
          <a:prstGeom prst="line">
            <a:avLst/>
          </a:prstGeom>
          <a:noFill/>
          <a:ln w="10160">
            <a:solidFill>
              <a:srgbClr val="0E5BD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629400" y="4279392"/>
            <a:ext cx="868680" cy="658368"/>
          </a:xfrm>
          <a:prstGeom prst="line">
            <a:avLst/>
          </a:prstGeom>
          <a:noFill/>
          <a:ln w="10160">
            <a:solidFill>
              <a:srgbClr val="239B56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629400" y="4279392"/>
            <a:ext cx="868680" cy="0"/>
          </a:xfrm>
          <a:prstGeom prst="line">
            <a:avLst/>
          </a:prstGeom>
          <a:noFill/>
          <a:ln w="10160">
            <a:solidFill>
              <a:srgbClr val="239B5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" y="2697480"/>
            <a:ext cx="640080" cy="182880"/>
          </a:xfrm>
          <a:prstGeom prst="line">
            <a:avLst/>
          </a:prstGeom>
          <a:noFill/>
          <a:ln w="7620">
            <a:solidFill>
              <a:srgbClr val="9999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4440" y="2880360"/>
            <a:ext cx="0" cy="960120"/>
          </a:xfrm>
          <a:prstGeom prst="line">
            <a:avLst/>
          </a:prstGeom>
          <a:noFill/>
          <a:ln w="7620">
            <a:solidFill>
              <a:srgbClr val="99999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3840480"/>
            <a:ext cx="868680" cy="0"/>
          </a:xfrm>
          <a:prstGeom prst="line">
            <a:avLst/>
          </a:prstGeom>
          <a:noFill/>
          <a:ln w="7620">
            <a:solidFill>
              <a:srgbClr val="99999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03120" y="3840480"/>
            <a:ext cx="0" cy="0"/>
          </a:xfrm>
          <a:prstGeom prst="line">
            <a:avLst/>
          </a:prstGeom>
          <a:noFill/>
          <a:ln w="7620">
            <a:solidFill>
              <a:srgbClr val="99999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1417320"/>
            <a:ext cx="777240" cy="0"/>
          </a:xfrm>
          <a:prstGeom prst="line">
            <a:avLst/>
          </a:prstGeom>
          <a:noFill/>
          <a:ln w="7620">
            <a:solidFill>
              <a:srgbClr val="9999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5394960"/>
            <a:ext cx="914400" cy="0"/>
          </a:xfrm>
          <a:prstGeom prst="line">
            <a:avLst/>
          </a:prstGeom>
          <a:noFill/>
          <a:ln w="8890">
            <a:solidFill>
              <a:srgbClr val="8888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17320" y="5394960"/>
            <a:ext cx="731520" cy="0"/>
          </a:xfrm>
          <a:prstGeom prst="line">
            <a:avLst/>
          </a:prstGeom>
          <a:noFill/>
          <a:ln w="12700">
            <a:solidFill>
              <a:srgbClr val="F7D94C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148840" y="5394960"/>
            <a:ext cx="667512" cy="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2816352" y="5394960"/>
            <a:ext cx="658368" cy="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474720" y="5394960"/>
            <a:ext cx="1783080" cy="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8640" y="5925312"/>
            <a:ext cx="2926080" cy="0"/>
          </a:xfrm>
          <a:prstGeom prst="line">
            <a:avLst/>
          </a:prstGeom>
          <a:noFill/>
          <a:ln w="12700">
            <a:solidFill>
              <a:srgbClr val="F7D94C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474720" y="5925312"/>
            <a:ext cx="0" cy="0"/>
          </a:xfrm>
          <a:prstGeom prst="line">
            <a:avLst/>
          </a:prstGeom>
          <a:noFill/>
          <a:ln w="11430">
            <a:solidFill>
              <a:srgbClr val="F7D94C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474720" y="5193792"/>
            <a:ext cx="0" cy="0"/>
          </a:xfrm>
          <a:prstGeom prst="line">
            <a:avLst/>
          </a:prstGeom>
          <a:noFill/>
          <a:ln w="12700">
            <a:solidFill>
              <a:srgbClr val="F4B183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3474720" y="4892040"/>
            <a:ext cx="731520" cy="0"/>
          </a:xfrm>
          <a:prstGeom prst="line">
            <a:avLst/>
          </a:prstGeom>
          <a:noFill/>
          <a:ln w="10160">
            <a:solidFill>
              <a:srgbClr val="239B56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767328" y="5623560"/>
            <a:ext cx="347472" cy="0"/>
          </a:xfrm>
          <a:prstGeom prst="line">
            <a:avLst/>
          </a:prstGeom>
          <a:noFill/>
          <a:ln w="8890">
            <a:solidFill>
              <a:srgbClr val="239B56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4315968" y="5623560"/>
            <a:ext cx="0" cy="0"/>
          </a:xfrm>
          <a:prstGeom prst="line">
            <a:avLst/>
          </a:prstGeom>
          <a:noFill/>
          <a:ln w="8890">
            <a:solidFill>
              <a:srgbClr val="239B56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315968" y="5413248"/>
            <a:ext cx="621792" cy="0"/>
          </a:xfrm>
          <a:prstGeom prst="line">
            <a:avLst/>
          </a:prstGeom>
          <a:noFill/>
          <a:ln w="10160">
            <a:solidFill>
              <a:srgbClr val="11111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20240" y="1417320"/>
            <a:ext cx="27432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A6A6A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1965960" y="1554480"/>
            <a:ext cx="2651760" cy="237744"/>
          </a:xfrm>
          <a:prstGeom prst="rect">
            <a:avLst/>
          </a:prstGeom>
          <a:solidFill>
            <a:srgbClr val="202020"/>
          </a:solidFill>
          <a:ln w="10160">
            <a:solidFill>
              <a:srgbClr val="20202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마케팅플랫폼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3273552" y="2057400"/>
            <a:ext cx="1225296" cy="1691640"/>
          </a:xfrm>
          <a:prstGeom prst="rect">
            <a:avLst/>
          </a:prstGeom>
          <a:solidFill>
            <a:srgbClr val="F5F8FF"/>
          </a:solidFill>
          <a:ln w="12700">
            <a:solidFill>
              <a:srgbClr val="A8BDFC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5349240" y="1645920"/>
            <a:ext cx="2331720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FFFFFF">
                <a:alpha val="0"/>
              </a:srgbClr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3474720" y="777240"/>
            <a:ext cx="594360" cy="182880"/>
          </a:xfrm>
          <a:prstGeom prst="rect">
            <a:avLst/>
          </a:prstGeom>
          <a:solidFill>
            <a:srgbClr val="5E5E5E"/>
          </a:solidFill>
          <a:ln w="10160">
            <a:solidFill>
              <a:srgbClr val="5E5E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대내 MCA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2788920" y="4617720"/>
            <a:ext cx="594360" cy="182880"/>
          </a:xfrm>
          <a:prstGeom prst="rect">
            <a:avLst/>
          </a:prstGeom>
          <a:solidFill>
            <a:srgbClr val="5E5E5E"/>
          </a:solidFill>
          <a:ln w="10160">
            <a:solidFill>
              <a:srgbClr val="5E5E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대내 MCA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3401568" y="4617720"/>
            <a:ext cx="320040" cy="146304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480" dirty="0"/>
          </a:p>
        </p:txBody>
      </p:sp>
      <p:sp>
        <p:nvSpPr>
          <p:cNvPr id="50" name="Text 48"/>
          <p:cNvSpPr/>
          <p:nvPr/>
        </p:nvSpPr>
        <p:spPr>
          <a:xfrm>
            <a:off x="109728" y="804672"/>
            <a:ext cx="347472" cy="384048"/>
          </a:xfrm>
          <a:prstGeom prst="rect">
            <a:avLst/>
          </a:prstGeom>
          <a:solidFill>
            <a:srgbClr val="F8F8F8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530352" y="941832"/>
            <a:ext cx="201168" cy="109728"/>
          </a:xfrm>
          <a:prstGeom prst="rect">
            <a:avLst/>
          </a:prstGeom>
          <a:solidFill>
            <a:srgbClr val="606060"/>
          </a:solidFill>
          <a:ln w="10160">
            <a:solidFill>
              <a:srgbClr val="60606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</a:t>
            </a:r>
            <a:endParaRPr lang="en-US" sz="480" dirty="0"/>
          </a:p>
        </p:txBody>
      </p:sp>
      <p:sp>
        <p:nvSpPr>
          <p:cNvPr id="52" name="Text 50"/>
          <p:cNvSpPr/>
          <p:nvPr/>
        </p:nvSpPr>
        <p:spPr>
          <a:xfrm>
            <a:off x="896112" y="822960"/>
            <a:ext cx="384048" cy="128016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검증기관</a:t>
            </a:r>
            <a:endParaRPr lang="en-US" sz="480" dirty="0"/>
          </a:p>
        </p:txBody>
      </p:sp>
      <p:sp>
        <p:nvSpPr>
          <p:cNvPr id="53" name="Text 51"/>
          <p:cNvSpPr/>
          <p:nvPr/>
        </p:nvSpPr>
        <p:spPr>
          <a:xfrm>
            <a:off x="1335024" y="822960"/>
            <a:ext cx="384048" cy="128016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제휴</a:t>
            </a:r>
            <a:endParaRPr lang="en-US" sz="480" dirty="0"/>
          </a:p>
        </p:txBody>
      </p:sp>
      <p:sp>
        <p:nvSpPr>
          <p:cNvPr id="54" name="Text 52"/>
          <p:cNvSpPr/>
          <p:nvPr/>
        </p:nvSpPr>
        <p:spPr>
          <a:xfrm>
            <a:off x="896112" y="1024128"/>
            <a:ext cx="384048" cy="128016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검증기관</a:t>
            </a:r>
            <a:endParaRPr lang="en-US" sz="480" dirty="0"/>
          </a:p>
        </p:txBody>
      </p:sp>
      <p:sp>
        <p:nvSpPr>
          <p:cNvPr id="55" name="Text 53"/>
          <p:cNvSpPr/>
          <p:nvPr/>
        </p:nvSpPr>
        <p:spPr>
          <a:xfrm>
            <a:off x="1335024" y="1024128"/>
            <a:ext cx="384048" cy="128016"/>
          </a:xfrm>
          <a:prstGeom prst="rect">
            <a:avLst/>
          </a:prstGeom>
          <a:solidFill>
            <a:srgbClr val="FF6600"/>
          </a:solidFill>
          <a:ln w="10160">
            <a:solidFill>
              <a:srgbClr val="FF66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빅데이터</a:t>
            </a:r>
            <a:endParaRPr lang="en-US" sz="480" dirty="0"/>
          </a:p>
        </p:txBody>
      </p:sp>
      <p:sp>
        <p:nvSpPr>
          <p:cNvPr id="56" name="Text 54"/>
          <p:cNvSpPr/>
          <p:nvPr/>
        </p:nvSpPr>
        <p:spPr>
          <a:xfrm>
            <a:off x="749808" y="1508760"/>
            <a:ext cx="566928" cy="182880"/>
          </a:xfrm>
          <a:prstGeom prst="rect">
            <a:avLst/>
          </a:prstGeom>
          <a:solidFill>
            <a:srgbClr val="F8F8F8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관리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128016" y="2011680"/>
            <a:ext cx="384048" cy="475488"/>
          </a:xfrm>
          <a:prstGeom prst="rect">
            <a:avLst/>
          </a:prstGeom>
          <a:solidFill>
            <a:srgbClr val="FFFFFF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</a:t>
            </a:r>
            <a:endParaRPr lang="en-US" sz="650" dirty="0"/>
          </a:p>
        </p:txBody>
      </p:sp>
      <p:sp>
        <p:nvSpPr>
          <p:cNvPr id="58" name="Text 56"/>
          <p:cNvSpPr/>
          <p:nvPr/>
        </p:nvSpPr>
        <p:spPr>
          <a:xfrm>
            <a:off x="548640" y="2212848"/>
            <a:ext cx="292608" cy="118872"/>
          </a:xfrm>
          <a:prstGeom prst="rect">
            <a:avLst/>
          </a:prstGeom>
          <a:solidFill>
            <a:srgbClr val="D93025"/>
          </a:solidFill>
          <a:ln w="10160">
            <a:solidFill>
              <a:srgbClr val="D9302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신채널</a:t>
            </a:r>
            <a:endParaRPr lang="en-US" sz="480" dirty="0"/>
          </a:p>
        </p:txBody>
      </p:sp>
      <p:sp>
        <p:nvSpPr>
          <p:cNvPr id="59" name="Text 57"/>
          <p:cNvSpPr/>
          <p:nvPr/>
        </p:nvSpPr>
        <p:spPr>
          <a:xfrm>
            <a:off x="859536" y="2212848"/>
            <a:ext cx="292608" cy="118872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모바일</a:t>
            </a:r>
            <a:endParaRPr lang="en-US" sz="480" dirty="0"/>
          </a:p>
        </p:txBody>
      </p:sp>
      <p:sp>
        <p:nvSpPr>
          <p:cNvPr id="60" name="Text 58"/>
          <p:cNvSpPr/>
          <p:nvPr/>
        </p:nvSpPr>
        <p:spPr>
          <a:xfrm>
            <a:off x="1170432" y="2212848"/>
            <a:ext cx="292608" cy="118872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뱅킹</a:t>
            </a:r>
            <a:endParaRPr lang="en-US" sz="480" dirty="0"/>
          </a:p>
        </p:txBody>
      </p:sp>
      <p:sp>
        <p:nvSpPr>
          <p:cNvPr id="61" name="Text 59"/>
          <p:cNvSpPr/>
          <p:nvPr/>
        </p:nvSpPr>
        <p:spPr>
          <a:xfrm>
            <a:off x="1508760" y="2057400"/>
            <a:ext cx="292608" cy="411480"/>
          </a:xfrm>
          <a:prstGeom prst="rect">
            <a:avLst/>
          </a:prstGeom>
          <a:solidFill>
            <a:srgbClr val="F4F4F4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L4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58368" y="2926080"/>
            <a:ext cx="530352" cy="164592"/>
          </a:xfrm>
          <a:prstGeom prst="rect">
            <a:avLst/>
          </a:prstGeom>
          <a:solidFill>
            <a:srgbClr val="5E5E5E"/>
          </a:solidFill>
          <a:ln w="10160">
            <a:solidFill>
              <a:srgbClr val="5E5E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GitLab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658368" y="3191256"/>
            <a:ext cx="530352" cy="164592"/>
          </a:xfrm>
          <a:prstGeom prst="rect">
            <a:avLst/>
          </a:prstGeom>
          <a:solidFill>
            <a:srgbClr val="5E5E5E"/>
          </a:solidFill>
          <a:ln w="10160">
            <a:solidFill>
              <a:srgbClr val="5E5E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GitRunner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658368" y="3447288"/>
            <a:ext cx="530352" cy="164592"/>
          </a:xfrm>
          <a:prstGeom prst="rect">
            <a:avLst/>
          </a:prstGeom>
          <a:solidFill>
            <a:srgbClr val="5E5E5E"/>
          </a:solidFill>
          <a:ln w="10160">
            <a:solidFill>
              <a:srgbClr val="5E5E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eCAMS.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658368" y="3675888"/>
            <a:ext cx="530352" cy="164592"/>
          </a:xfrm>
          <a:prstGeom prst="rect">
            <a:avLst/>
          </a:prstGeom>
          <a:solidFill>
            <a:srgbClr val="5E5E5E"/>
          </a:solidFill>
          <a:ln w="10160">
            <a:solidFill>
              <a:srgbClr val="5E5E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Nexus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658368" y="3904488"/>
            <a:ext cx="685800" cy="164592"/>
          </a:xfrm>
          <a:prstGeom prst="rect">
            <a:avLst/>
          </a:prstGeom>
          <a:solidFill>
            <a:srgbClr val="5E5E5E"/>
          </a:solidFill>
          <a:ln w="10160">
            <a:solidFill>
              <a:srgbClr val="5E5E5E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2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FWK Manager</a:t>
            </a:r>
            <a:endParaRPr lang="en-US" sz="620" dirty="0"/>
          </a:p>
        </p:txBody>
      </p:sp>
      <p:sp>
        <p:nvSpPr>
          <p:cNvPr id="67" name="Text 65"/>
          <p:cNvSpPr/>
          <p:nvPr/>
        </p:nvSpPr>
        <p:spPr>
          <a:xfrm>
            <a:off x="256032" y="2788920"/>
            <a:ext cx="228600" cy="155448"/>
          </a:xfrm>
          <a:prstGeom prst="rect">
            <a:avLst/>
          </a:prstGeom>
          <a:solidFill>
            <a:srgbClr val="E6F0FF"/>
          </a:solidFill>
          <a:ln w="10160">
            <a:solidFill>
              <a:srgbClr val="A6A6A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292608" y="2953512"/>
            <a:ext cx="137160" cy="64008"/>
          </a:xfrm>
          <a:prstGeom prst="line">
            <a:avLst/>
          </a:prstGeom>
          <a:noFill/>
          <a:ln w="10160">
            <a:solidFill>
              <a:srgbClr val="A6A6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09728" y="4480560"/>
            <a:ext cx="36576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4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endParaRPr lang="en-US" sz="640" dirty="0"/>
          </a:p>
          <a:p>
            <a:pPr marL="0" indent="0" algn="ctr">
              <a:buNone/>
            </a:pPr>
            <a:r>
              <a:rPr lang="en-US" sz="64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</a:t>
            </a:r>
            <a:endParaRPr lang="en-US" sz="640" dirty="0"/>
          </a:p>
        </p:txBody>
      </p:sp>
      <p:sp>
        <p:nvSpPr>
          <p:cNvPr id="70" name="Text 68"/>
          <p:cNvSpPr/>
          <p:nvPr/>
        </p:nvSpPr>
        <p:spPr>
          <a:xfrm>
            <a:off x="566928" y="4599432"/>
            <a:ext cx="201168" cy="109728"/>
          </a:xfrm>
          <a:prstGeom prst="rect">
            <a:avLst/>
          </a:prstGeom>
          <a:solidFill>
            <a:srgbClr val="606060"/>
          </a:solidFill>
          <a:ln w="10160">
            <a:solidFill>
              <a:srgbClr val="60606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</a:t>
            </a:r>
            <a:endParaRPr lang="en-US" sz="480" dirty="0"/>
          </a:p>
        </p:txBody>
      </p:sp>
      <p:sp>
        <p:nvSpPr>
          <p:cNvPr id="71" name="Text 69"/>
          <p:cNvSpPr/>
          <p:nvPr/>
        </p:nvSpPr>
        <p:spPr>
          <a:xfrm>
            <a:off x="896112" y="4599432"/>
            <a:ext cx="347472" cy="128016"/>
          </a:xfrm>
          <a:prstGeom prst="rect">
            <a:avLst/>
          </a:prstGeom>
          <a:solidFill>
            <a:srgbClr val="D93025"/>
          </a:solidFill>
          <a:ln w="10160">
            <a:solidFill>
              <a:srgbClr val="D93025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sz="480" dirty="0"/>
          </a:p>
        </p:txBody>
      </p:sp>
      <p:sp>
        <p:nvSpPr>
          <p:cNvPr id="72" name="Text 70"/>
          <p:cNvSpPr/>
          <p:nvPr/>
        </p:nvSpPr>
        <p:spPr>
          <a:xfrm>
            <a:off x="91440" y="5248656"/>
            <a:ext cx="329184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650" dirty="0"/>
          </a:p>
        </p:txBody>
      </p:sp>
      <p:sp>
        <p:nvSpPr>
          <p:cNvPr id="73" name="Text 71"/>
          <p:cNvSpPr/>
          <p:nvPr/>
        </p:nvSpPr>
        <p:spPr>
          <a:xfrm>
            <a:off x="457200" y="5248656"/>
            <a:ext cx="329184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Mobile</a:t>
            </a:r>
            <a:endParaRPr lang="en-US" sz="580" dirty="0"/>
          </a:p>
        </p:txBody>
      </p:sp>
      <p:sp>
        <p:nvSpPr>
          <p:cNvPr id="74" name="Text 72"/>
          <p:cNvSpPr/>
          <p:nvPr/>
        </p:nvSpPr>
        <p:spPr>
          <a:xfrm>
            <a:off x="822960" y="5486400"/>
            <a:ext cx="411480" cy="155448"/>
          </a:xfrm>
          <a:prstGeom prst="rect">
            <a:avLst/>
          </a:prstGeom>
          <a:solidFill>
            <a:srgbClr val="F7F7F7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고객행태</a:t>
            </a:r>
            <a:endParaRPr lang="en-US" sz="550" dirty="0"/>
          </a:p>
        </p:txBody>
      </p:sp>
      <p:sp>
        <p:nvSpPr>
          <p:cNvPr id="75" name="Text 73"/>
          <p:cNvSpPr/>
          <p:nvPr/>
        </p:nvSpPr>
        <p:spPr>
          <a:xfrm>
            <a:off x="475488" y="5797296"/>
            <a:ext cx="384048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SMS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PUSH</a:t>
            </a:r>
            <a:endParaRPr lang="en-US" sz="550" dirty="0"/>
          </a:p>
          <a:p>
            <a:pPr marL="0" indent="0" algn="ctr">
              <a:buNone/>
            </a:pPr>
            <a:r>
              <a:rPr lang="en-US" sz="5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MAIL</a:t>
            </a:r>
            <a:endParaRPr lang="en-US" sz="550" dirty="0"/>
          </a:p>
        </p:txBody>
      </p:sp>
      <p:sp>
        <p:nvSpPr>
          <p:cNvPr id="76" name="Text 74"/>
          <p:cNvSpPr/>
          <p:nvPr/>
        </p:nvSpPr>
        <p:spPr>
          <a:xfrm>
            <a:off x="804672" y="4983480"/>
            <a:ext cx="658368" cy="182880"/>
          </a:xfrm>
          <a:prstGeom prst="rect">
            <a:avLst/>
          </a:prstGeom>
          <a:solidFill>
            <a:srgbClr val="F8F8F8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인터넷 뱅킹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1920240" y="5230368"/>
            <a:ext cx="475488" cy="393192"/>
          </a:xfrm>
          <a:prstGeom prst="rect">
            <a:avLst/>
          </a:prstGeom>
          <a:solidFill>
            <a:srgbClr val="FFF2CC"/>
          </a:solidFill>
          <a:ln w="10160">
            <a:solidFill>
              <a:srgbClr val="D6A1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Wise</a:t>
            </a:r>
            <a:endParaRPr lang="en-US" sz="570" dirty="0"/>
          </a:p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Collector</a:t>
            </a:r>
            <a:endParaRPr lang="en-US" sz="570" dirty="0"/>
          </a:p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Proxy</a:t>
            </a:r>
            <a:endParaRPr lang="en-US" sz="570" dirty="0"/>
          </a:p>
        </p:txBody>
      </p:sp>
      <p:sp>
        <p:nvSpPr>
          <p:cNvPr id="78" name="Text 76"/>
          <p:cNvSpPr/>
          <p:nvPr/>
        </p:nvSpPr>
        <p:spPr>
          <a:xfrm>
            <a:off x="2606040" y="5230368"/>
            <a:ext cx="475488" cy="393192"/>
          </a:xfrm>
          <a:prstGeom prst="rect">
            <a:avLst/>
          </a:prstGeom>
          <a:solidFill>
            <a:srgbClr val="FFF2CC"/>
          </a:solidFill>
          <a:ln w="10160">
            <a:solidFill>
              <a:srgbClr val="D6A1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Wise</a:t>
            </a:r>
            <a:endParaRPr lang="en-US" sz="570" dirty="0"/>
          </a:p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Collector</a:t>
            </a:r>
            <a:endParaRPr lang="en-US" sz="570" dirty="0"/>
          </a:p>
        </p:txBody>
      </p:sp>
      <p:sp>
        <p:nvSpPr>
          <p:cNvPr id="79" name="Text 77"/>
          <p:cNvSpPr/>
          <p:nvPr/>
        </p:nvSpPr>
        <p:spPr>
          <a:xfrm>
            <a:off x="3035808" y="5330952"/>
            <a:ext cx="210312" cy="100584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</a:t>
            </a:r>
            <a:endParaRPr lang="en-US" sz="480" dirty="0"/>
          </a:p>
        </p:txBody>
      </p:sp>
      <p:sp>
        <p:nvSpPr>
          <p:cNvPr id="80" name="Text 78"/>
          <p:cNvSpPr/>
          <p:nvPr/>
        </p:nvSpPr>
        <p:spPr>
          <a:xfrm>
            <a:off x="3328416" y="5230368"/>
            <a:ext cx="475488" cy="393192"/>
          </a:xfrm>
          <a:prstGeom prst="rect">
            <a:avLst/>
          </a:prstGeom>
          <a:solidFill>
            <a:srgbClr val="FFF2CC"/>
          </a:solidFill>
          <a:ln w="10160">
            <a:solidFill>
              <a:srgbClr val="D6A1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Hydra-K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1783080" y="5806440"/>
            <a:ext cx="457200" cy="256032"/>
          </a:xfrm>
          <a:prstGeom prst="rect">
            <a:avLst/>
          </a:prstGeom>
          <a:solidFill>
            <a:srgbClr val="FFF2CC"/>
          </a:solidFill>
          <a:ln w="10160">
            <a:solidFill>
              <a:srgbClr val="D6A100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UMS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3977640" y="5550408"/>
            <a:ext cx="4572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239B5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단말 개발</a:t>
            </a:r>
            <a:endParaRPr lang="en-US" sz="570" dirty="0"/>
          </a:p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endParaRPr lang="en-US" sz="570" dirty="0"/>
          </a:p>
        </p:txBody>
      </p:sp>
      <p:sp>
        <p:nvSpPr>
          <p:cNvPr id="83" name="Text 81"/>
          <p:cNvSpPr/>
          <p:nvPr/>
        </p:nvSpPr>
        <p:spPr>
          <a:xfrm>
            <a:off x="4480560" y="5550408"/>
            <a:ext cx="457200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239B5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570" dirty="0"/>
          </a:p>
          <a:p>
            <a:pPr marL="0" indent="0" algn="ctr">
              <a:buNone/>
            </a:pPr>
            <a:r>
              <a:rPr lang="en-US" sz="57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endParaRPr lang="en-US" sz="570" dirty="0"/>
          </a:p>
        </p:txBody>
      </p:sp>
      <p:sp>
        <p:nvSpPr>
          <p:cNvPr id="84" name="Text 82"/>
          <p:cNvSpPr/>
          <p:nvPr/>
        </p:nvSpPr>
        <p:spPr>
          <a:xfrm>
            <a:off x="3904488" y="4873752"/>
            <a:ext cx="420624" cy="384048"/>
          </a:xfrm>
          <a:prstGeom prst="rect">
            <a:avLst/>
          </a:prstGeom>
          <a:solidFill>
            <a:srgbClr val="FFFFFF"/>
          </a:solidFill>
          <a:ln w="10160">
            <a:solidFill>
              <a:srgbClr val="239B5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6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560" dirty="0"/>
          </a:p>
          <a:p>
            <a:pPr marL="0" indent="0" algn="ctr">
              <a:buNone/>
            </a:pPr>
            <a:r>
              <a:rPr lang="en-US" sz="56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endParaRPr lang="en-US" sz="560" dirty="0"/>
          </a:p>
        </p:txBody>
      </p:sp>
      <p:sp>
        <p:nvSpPr>
          <p:cNvPr id="85" name="Text 83"/>
          <p:cNvSpPr/>
          <p:nvPr/>
        </p:nvSpPr>
        <p:spPr>
          <a:xfrm>
            <a:off x="4480560" y="4983480"/>
            <a:ext cx="475488" cy="310896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EBM</a:t>
            </a:r>
            <a:endParaRPr lang="en-US" sz="800" dirty="0"/>
          </a:p>
        </p:txBody>
      </p:sp>
      <p:sp>
        <p:nvSpPr>
          <p:cNvPr id="86" name="Text 84"/>
          <p:cNvSpPr/>
          <p:nvPr/>
        </p:nvSpPr>
        <p:spPr>
          <a:xfrm>
            <a:off x="2084832" y="2148840"/>
            <a:ext cx="384048" cy="402336"/>
          </a:xfrm>
          <a:prstGeom prst="rect">
            <a:avLst/>
          </a:prstGeom>
          <a:solidFill>
            <a:srgbClr val="F7F7F7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2697480" y="2953512"/>
            <a:ext cx="384048" cy="402336"/>
          </a:xfrm>
          <a:prstGeom prst="rect">
            <a:avLst/>
          </a:prstGeom>
          <a:solidFill>
            <a:srgbClr val="F7F7F7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MDG</a:t>
            </a:r>
            <a:endParaRPr lang="en-US" sz="700" dirty="0"/>
          </a:p>
        </p:txBody>
      </p:sp>
      <p:sp>
        <p:nvSpPr>
          <p:cNvPr id="88" name="Text 86"/>
          <p:cNvSpPr/>
          <p:nvPr/>
        </p:nvSpPr>
        <p:spPr>
          <a:xfrm>
            <a:off x="3328416" y="2304288"/>
            <a:ext cx="594360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어플리케이션</a:t>
            </a:r>
            <a:endParaRPr lang="en-US" sz="650" dirty="0"/>
          </a:p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3986784" y="2304288"/>
            <a:ext cx="384048" cy="45720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650" dirty="0"/>
          </a:p>
        </p:txBody>
      </p:sp>
      <p:sp>
        <p:nvSpPr>
          <p:cNvPr id="90" name="Text 88"/>
          <p:cNvSpPr/>
          <p:nvPr/>
        </p:nvSpPr>
        <p:spPr>
          <a:xfrm>
            <a:off x="3328416" y="2907792"/>
            <a:ext cx="667512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권한관리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3328416" y="3328416"/>
            <a:ext cx="10515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Application Framework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3328416" y="3703320"/>
            <a:ext cx="1051560" cy="320040"/>
          </a:xfrm>
          <a:prstGeom prst="rect">
            <a:avLst/>
          </a:prstGeom>
          <a:solidFill>
            <a:srgbClr val="FFFFFF"/>
          </a:solidFill>
          <a:ln w="10160">
            <a:solidFill>
              <a:srgbClr val="C7C7C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WAS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1975104" y="4178808"/>
            <a:ext cx="2578608" cy="164592"/>
          </a:xfrm>
          <a:prstGeom prst="rect">
            <a:avLst/>
          </a:prstGeom>
          <a:solidFill>
            <a:srgbClr val="4A86E8"/>
          </a:solidFill>
          <a:ln w="10160">
            <a:solidFill>
              <a:srgbClr val="4A86E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VM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1975104" y="4389120"/>
            <a:ext cx="2578608" cy="164592"/>
          </a:xfrm>
          <a:prstGeom prst="rect">
            <a:avLst/>
          </a:prstGeom>
          <a:solidFill>
            <a:srgbClr val="5B9BFF"/>
          </a:solidFill>
          <a:ln w="10160">
            <a:solidFill>
              <a:srgbClr val="5B9BFF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IaaS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5001768" y="1956816"/>
            <a:ext cx="475488" cy="457200"/>
          </a:xfrm>
          <a:prstGeom prst="rect">
            <a:avLst/>
          </a:prstGeom>
          <a:solidFill>
            <a:srgbClr val="0E5BD8"/>
          </a:solidFill>
          <a:ln w="10160">
            <a:solidFill>
              <a:srgbClr val="0E5B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AP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(마케팅)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5001768" y="2743200"/>
            <a:ext cx="475488" cy="457200"/>
          </a:xfrm>
          <a:prstGeom prst="rect">
            <a:avLst/>
          </a:prstGeom>
          <a:solidFill>
            <a:srgbClr val="0E5BD8"/>
          </a:solidFill>
          <a:ln w="10160">
            <a:solidFill>
              <a:srgbClr val="0E5B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</a:t>
            </a:r>
            <a:endParaRPr lang="en-US" sz="700" dirty="0"/>
          </a:p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(마케팅)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5897880" y="1234440"/>
            <a:ext cx="43891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239B5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580" dirty="0"/>
          </a:p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endParaRPr lang="en-US" sz="580" dirty="0"/>
          </a:p>
        </p:txBody>
      </p:sp>
      <p:sp>
        <p:nvSpPr>
          <p:cNvPr id="98" name="Text 96"/>
          <p:cNvSpPr/>
          <p:nvPr/>
        </p:nvSpPr>
        <p:spPr>
          <a:xfrm>
            <a:off x="6720840" y="1627632"/>
            <a:ext cx="438912" cy="393192"/>
          </a:xfrm>
          <a:prstGeom prst="rect">
            <a:avLst/>
          </a:prstGeom>
          <a:solidFill>
            <a:srgbClr val="FFFFFF"/>
          </a:solidFill>
          <a:ln w="10160">
            <a:solidFill>
              <a:srgbClr val="A6A6A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</a:t>
            </a:r>
            <a:endParaRPr lang="en-US" sz="580" dirty="0"/>
          </a:p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</a:t>
            </a:r>
            <a:endParaRPr lang="en-US" sz="580" dirty="0"/>
          </a:p>
        </p:txBody>
      </p:sp>
      <p:sp>
        <p:nvSpPr>
          <p:cNvPr id="99" name="Text 97"/>
          <p:cNvSpPr/>
          <p:nvPr/>
        </p:nvSpPr>
        <p:spPr>
          <a:xfrm>
            <a:off x="7269480" y="2112264"/>
            <a:ext cx="548640" cy="210312"/>
          </a:xfrm>
          <a:prstGeom prst="rect">
            <a:avLst/>
          </a:prstGeom>
          <a:solidFill>
            <a:srgbClr val="666666"/>
          </a:solidFill>
          <a:ln w="10160">
            <a:solidFill>
              <a:srgbClr val="66666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Control M</a:t>
            </a:r>
            <a:endParaRPr lang="en-US" sz="660" dirty="0"/>
          </a:p>
        </p:txBody>
      </p:sp>
      <p:sp>
        <p:nvSpPr>
          <p:cNvPr id="100" name="Text 98"/>
          <p:cNvSpPr/>
          <p:nvPr/>
        </p:nvSpPr>
        <p:spPr>
          <a:xfrm>
            <a:off x="7315200" y="877824"/>
            <a:ext cx="438912" cy="274320"/>
          </a:xfrm>
          <a:prstGeom prst="rect">
            <a:avLst/>
          </a:prstGeom>
          <a:solidFill>
            <a:srgbClr val="F8F8F8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계정계</a:t>
            </a:r>
            <a:endParaRPr lang="en-US" sz="660" dirty="0"/>
          </a:p>
        </p:txBody>
      </p:sp>
      <p:sp>
        <p:nvSpPr>
          <p:cNvPr id="101" name="Text 99"/>
          <p:cNvSpPr/>
          <p:nvPr/>
        </p:nvSpPr>
        <p:spPr>
          <a:xfrm>
            <a:off x="7315200" y="1280160"/>
            <a:ext cx="438912" cy="274320"/>
          </a:xfrm>
          <a:prstGeom prst="rect">
            <a:avLst/>
          </a:prstGeom>
          <a:solidFill>
            <a:srgbClr val="F8F8F8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BCV</a:t>
            </a:r>
            <a:endParaRPr lang="en-US" sz="660" dirty="0"/>
          </a:p>
        </p:txBody>
      </p:sp>
      <p:sp>
        <p:nvSpPr>
          <p:cNvPr id="102" name="Text 100"/>
          <p:cNvSpPr/>
          <p:nvPr/>
        </p:nvSpPr>
        <p:spPr>
          <a:xfrm>
            <a:off x="7223760" y="2743200"/>
            <a:ext cx="493776" cy="347472"/>
          </a:xfrm>
          <a:prstGeom prst="rect">
            <a:avLst/>
          </a:prstGeom>
          <a:solidFill>
            <a:srgbClr val="F8F8F8"/>
          </a:solidFill>
          <a:ln w="10160">
            <a:solidFill>
              <a:srgbClr val="B7B7B7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66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경영정보</a:t>
            </a:r>
            <a:endParaRPr lang="en-US" sz="660" dirty="0"/>
          </a:p>
        </p:txBody>
      </p:sp>
      <p:sp>
        <p:nvSpPr>
          <p:cNvPr id="103" name="Text 101"/>
          <p:cNvSpPr/>
          <p:nvPr/>
        </p:nvSpPr>
        <p:spPr>
          <a:xfrm>
            <a:off x="5577840" y="3200400"/>
            <a:ext cx="530352" cy="530352"/>
          </a:xfrm>
          <a:prstGeom prst="rect">
            <a:avLst/>
          </a:prstGeom>
          <a:solidFill>
            <a:srgbClr val="333333"/>
          </a:solidFill>
          <a:ln w="10160">
            <a:solidFill>
              <a:srgbClr val="333333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RDW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(마케팅)</a:t>
            </a:r>
            <a:endParaRPr lang="en-US" sz="800" dirty="0"/>
          </a:p>
        </p:txBody>
      </p:sp>
      <p:sp>
        <p:nvSpPr>
          <p:cNvPr id="104" name="Text 102"/>
          <p:cNvSpPr/>
          <p:nvPr/>
        </p:nvSpPr>
        <p:spPr>
          <a:xfrm>
            <a:off x="6492240" y="3200400"/>
            <a:ext cx="475488" cy="530352"/>
          </a:xfrm>
          <a:prstGeom prst="rect">
            <a:avLst/>
          </a:prstGeom>
          <a:solidFill>
            <a:srgbClr val="0E5BD8"/>
          </a:solidFill>
          <a:ln w="10160">
            <a:solidFill>
              <a:srgbClr val="0E5B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ADW</a:t>
            </a:r>
            <a:endParaRPr lang="en-US" sz="1100" dirty="0"/>
          </a:p>
        </p:txBody>
      </p:sp>
      <p:sp>
        <p:nvSpPr>
          <p:cNvPr id="105" name="Text 103"/>
          <p:cNvSpPr/>
          <p:nvPr/>
        </p:nvSpPr>
        <p:spPr>
          <a:xfrm>
            <a:off x="4864608" y="4343400"/>
            <a:ext cx="530352" cy="38404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6126480" y="5120640"/>
            <a:ext cx="5303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5B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대내 시스템</a:t>
            </a:r>
            <a:endParaRPr lang="en-US" sz="580" dirty="0"/>
          </a:p>
        </p:txBody>
      </p:sp>
      <p:sp>
        <p:nvSpPr>
          <p:cNvPr id="107" name="Shape 105"/>
          <p:cNvSpPr/>
          <p:nvPr/>
        </p:nvSpPr>
        <p:spPr>
          <a:xfrm>
            <a:off x="6254496" y="5285232"/>
            <a:ext cx="256032" cy="109728"/>
          </a:xfrm>
          <a:prstGeom prst="arc">
            <a:avLst/>
          </a:prstGeom>
          <a:noFill/>
          <a:ln w="25400">
            <a:solidFill>
              <a:srgbClr val="0E5BD8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6254496" y="5413248"/>
            <a:ext cx="256032" cy="109728"/>
          </a:xfrm>
          <a:prstGeom prst="arc">
            <a:avLst/>
          </a:prstGeom>
          <a:noFill/>
          <a:ln w="25400">
            <a:solidFill>
              <a:srgbClr val="0E5BD8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254496" y="5541264"/>
            <a:ext cx="256032" cy="109728"/>
          </a:xfrm>
          <a:prstGeom prst="arc">
            <a:avLst/>
          </a:prstGeom>
          <a:noFill/>
          <a:ln w="25400">
            <a:solidFill>
              <a:srgbClr val="0E5BD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7187184" y="5120640"/>
            <a:ext cx="530352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E5B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58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대외 시스템</a:t>
            </a:r>
            <a:endParaRPr lang="en-US" sz="580" dirty="0"/>
          </a:p>
        </p:txBody>
      </p:sp>
      <p:sp>
        <p:nvSpPr>
          <p:cNvPr id="111" name="Shape 109"/>
          <p:cNvSpPr/>
          <p:nvPr/>
        </p:nvSpPr>
        <p:spPr>
          <a:xfrm>
            <a:off x="7315200" y="5285232"/>
            <a:ext cx="256032" cy="109728"/>
          </a:xfrm>
          <a:prstGeom prst="arc">
            <a:avLst/>
          </a:prstGeom>
          <a:noFill/>
          <a:ln w="25400">
            <a:solidFill>
              <a:srgbClr val="0E5BD8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7315200" y="5413248"/>
            <a:ext cx="256032" cy="109728"/>
          </a:xfrm>
          <a:prstGeom prst="arc">
            <a:avLst/>
          </a:prstGeom>
          <a:noFill/>
          <a:ln w="25400">
            <a:solidFill>
              <a:srgbClr val="0E5BD8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315200" y="5541264"/>
            <a:ext cx="256032" cy="109728"/>
          </a:xfrm>
          <a:prstGeom prst="arc">
            <a:avLst/>
          </a:prstGeom>
          <a:noFill/>
          <a:ln w="25400">
            <a:solidFill>
              <a:srgbClr val="0E5BD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340096" y="3099816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15" name="Text 113"/>
          <p:cNvSpPr/>
          <p:nvPr/>
        </p:nvSpPr>
        <p:spPr>
          <a:xfrm>
            <a:off x="5230368" y="3675888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16" name="Text 114"/>
          <p:cNvSpPr/>
          <p:nvPr/>
        </p:nvSpPr>
        <p:spPr>
          <a:xfrm>
            <a:off x="4919472" y="3273552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17" name="Text 115"/>
          <p:cNvSpPr/>
          <p:nvPr/>
        </p:nvSpPr>
        <p:spPr>
          <a:xfrm>
            <a:off x="6099048" y="3273552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18" name="Text 116"/>
          <p:cNvSpPr/>
          <p:nvPr/>
        </p:nvSpPr>
        <p:spPr>
          <a:xfrm>
            <a:off x="5504688" y="4453128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19" name="Text 117"/>
          <p:cNvSpPr/>
          <p:nvPr/>
        </p:nvSpPr>
        <p:spPr>
          <a:xfrm>
            <a:off x="5422392" y="5285232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20" name="Text 118"/>
          <p:cNvSpPr/>
          <p:nvPr/>
        </p:nvSpPr>
        <p:spPr>
          <a:xfrm>
            <a:off x="7141464" y="4334256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21" name="Text 119"/>
          <p:cNvSpPr/>
          <p:nvPr/>
        </p:nvSpPr>
        <p:spPr>
          <a:xfrm>
            <a:off x="6839712" y="2468880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22" name="Text 120"/>
          <p:cNvSpPr/>
          <p:nvPr/>
        </p:nvSpPr>
        <p:spPr>
          <a:xfrm>
            <a:off x="5650992" y="2560320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23" name="Text 121"/>
          <p:cNvSpPr/>
          <p:nvPr/>
        </p:nvSpPr>
        <p:spPr>
          <a:xfrm>
            <a:off x="5413248" y="2788920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24" name="Text 122"/>
          <p:cNvSpPr/>
          <p:nvPr/>
        </p:nvSpPr>
        <p:spPr>
          <a:xfrm>
            <a:off x="6894576" y="4626864"/>
            <a:ext cx="146304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50" dirty="0"/>
          </a:p>
        </p:txBody>
      </p:sp>
      <p:sp>
        <p:nvSpPr>
          <p:cNvPr id="125" name="Text 123"/>
          <p:cNvSpPr/>
          <p:nvPr/>
        </p:nvSpPr>
        <p:spPr>
          <a:xfrm>
            <a:off x="6126480" y="3401568"/>
            <a:ext cx="201168" cy="109728"/>
          </a:xfrm>
          <a:prstGeom prst="rect">
            <a:avLst/>
          </a:prstGeom>
          <a:solidFill>
            <a:srgbClr val="0E5BD8"/>
          </a:solidFill>
          <a:ln w="10160">
            <a:solidFill>
              <a:srgbClr val="0E5BD8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</a:t>
            </a:r>
            <a:endParaRPr lang="en-US" sz="480" dirty="0"/>
          </a:p>
        </p:txBody>
      </p:sp>
      <p:sp>
        <p:nvSpPr>
          <p:cNvPr id="126" name="Text 124"/>
          <p:cNvSpPr/>
          <p:nvPr/>
        </p:nvSpPr>
        <p:spPr>
          <a:xfrm>
            <a:off x="4407408" y="3822192"/>
            <a:ext cx="182880" cy="109728"/>
          </a:xfrm>
          <a:prstGeom prst="rect">
            <a:avLst/>
          </a:prstGeom>
          <a:solidFill>
            <a:srgbClr val="0D47A1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</a:t>
            </a:r>
            <a:endParaRPr lang="en-US" sz="480" dirty="0"/>
          </a:p>
        </p:txBody>
      </p:sp>
      <p:sp>
        <p:nvSpPr>
          <p:cNvPr id="127" name="Text 125"/>
          <p:cNvSpPr/>
          <p:nvPr/>
        </p:nvSpPr>
        <p:spPr>
          <a:xfrm>
            <a:off x="5961888" y="1691640"/>
            <a:ext cx="219456" cy="109728"/>
          </a:xfrm>
          <a:prstGeom prst="rect">
            <a:avLst/>
          </a:prstGeom>
          <a:solidFill>
            <a:srgbClr val="239B56"/>
          </a:solidFill>
          <a:ln w="10160">
            <a:solidFill>
              <a:srgbClr val="239B5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48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</a:t>
            </a:r>
            <a:endParaRPr lang="en-US" sz="480" dirty="0"/>
          </a:p>
        </p:txBody>
      </p:sp>
      <p:sp>
        <p:nvSpPr>
          <p:cNvPr id="128" name="Text 126"/>
          <p:cNvSpPr/>
          <p:nvPr/>
        </p:nvSpPr>
        <p:spPr>
          <a:xfrm>
            <a:off x="7845552" y="868680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7882128" y="905256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8092440" y="923544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통합단말 고도화</a:t>
            </a:r>
            <a:endParaRPr lang="en-US" sz="580" dirty="0"/>
          </a:p>
        </p:txBody>
      </p:sp>
      <p:sp>
        <p:nvSpPr>
          <p:cNvPr id="131" name="Text 129"/>
          <p:cNvSpPr/>
          <p:nvPr/>
        </p:nvSpPr>
        <p:spPr>
          <a:xfrm>
            <a:off x="7845552" y="1239012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32" name="Text 130"/>
          <p:cNvSpPr/>
          <p:nvPr/>
        </p:nvSpPr>
        <p:spPr>
          <a:xfrm>
            <a:off x="7882128" y="1275588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33" name="Text 131"/>
          <p:cNvSpPr/>
          <p:nvPr/>
        </p:nvSpPr>
        <p:spPr>
          <a:xfrm>
            <a:off x="8092440" y="1293876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마케팅 플랫폼 아키텍처 신규</a:t>
            </a:r>
            <a:endParaRPr lang="en-US" sz="580" dirty="0"/>
          </a:p>
        </p:txBody>
      </p:sp>
      <p:sp>
        <p:nvSpPr>
          <p:cNvPr id="134" name="Text 132"/>
          <p:cNvSpPr/>
          <p:nvPr/>
        </p:nvSpPr>
        <p:spPr>
          <a:xfrm>
            <a:off x="7845552" y="1609344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7882128" y="1645920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136" name="Text 134"/>
          <p:cNvSpPr/>
          <p:nvPr/>
        </p:nvSpPr>
        <p:spPr>
          <a:xfrm>
            <a:off x="8092440" y="1664208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NH Cloud Framework 도입</a:t>
            </a:r>
            <a:endParaRPr lang="en-US" sz="580" dirty="0"/>
          </a:p>
        </p:txBody>
      </p:sp>
      <p:sp>
        <p:nvSpPr>
          <p:cNvPr id="137" name="Text 135"/>
          <p:cNvSpPr/>
          <p:nvPr/>
        </p:nvSpPr>
        <p:spPr>
          <a:xfrm>
            <a:off x="7845552" y="1979676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38" name="Text 136"/>
          <p:cNvSpPr/>
          <p:nvPr/>
        </p:nvSpPr>
        <p:spPr>
          <a:xfrm>
            <a:off x="7882128" y="2016252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139" name="Text 137"/>
          <p:cNvSpPr/>
          <p:nvPr/>
        </p:nvSpPr>
        <p:spPr>
          <a:xfrm>
            <a:off x="8092440" y="2034540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기반 인프라 구성</a:t>
            </a:r>
            <a:endParaRPr lang="en-US" sz="580" dirty="0"/>
          </a:p>
        </p:txBody>
      </p:sp>
      <p:sp>
        <p:nvSpPr>
          <p:cNvPr id="140" name="Text 138"/>
          <p:cNvSpPr/>
          <p:nvPr/>
        </p:nvSpPr>
        <p:spPr>
          <a:xfrm>
            <a:off x="7845552" y="2350008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41" name="Text 139"/>
          <p:cNvSpPr/>
          <p:nvPr/>
        </p:nvSpPr>
        <p:spPr>
          <a:xfrm>
            <a:off x="7882128" y="2386584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8092440" y="2404872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플랫폼 아키텍처 신규</a:t>
            </a:r>
            <a:endParaRPr lang="en-US" sz="580" dirty="0"/>
          </a:p>
        </p:txBody>
      </p:sp>
      <p:sp>
        <p:nvSpPr>
          <p:cNvPr id="143" name="Text 141"/>
          <p:cNvSpPr/>
          <p:nvPr/>
        </p:nvSpPr>
        <p:spPr>
          <a:xfrm>
            <a:off x="7845552" y="2720340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7882128" y="2756916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8092440" y="2775204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Portal 아키텍처 신규</a:t>
            </a:r>
            <a:endParaRPr lang="en-US" sz="580" dirty="0"/>
          </a:p>
        </p:txBody>
      </p:sp>
      <p:sp>
        <p:nvSpPr>
          <p:cNvPr id="146" name="Text 144"/>
          <p:cNvSpPr/>
          <p:nvPr/>
        </p:nvSpPr>
        <p:spPr>
          <a:xfrm>
            <a:off x="7845552" y="3090672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7882128" y="3127248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148" name="Text 146"/>
          <p:cNvSpPr/>
          <p:nvPr/>
        </p:nvSpPr>
        <p:spPr>
          <a:xfrm>
            <a:off x="8092440" y="3145536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아키텍처 고도화</a:t>
            </a:r>
            <a:endParaRPr lang="en-US" sz="580" dirty="0"/>
          </a:p>
        </p:txBody>
      </p:sp>
      <p:sp>
        <p:nvSpPr>
          <p:cNvPr id="149" name="Text 147"/>
          <p:cNvSpPr/>
          <p:nvPr/>
        </p:nvSpPr>
        <p:spPr>
          <a:xfrm>
            <a:off x="7845552" y="3461004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7882128" y="3497580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151" name="Text 149"/>
          <p:cNvSpPr/>
          <p:nvPr/>
        </p:nvSpPr>
        <p:spPr>
          <a:xfrm>
            <a:off x="8092440" y="3515868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아키텍처 고도화</a:t>
            </a:r>
            <a:endParaRPr lang="en-US" sz="580" dirty="0"/>
          </a:p>
        </p:txBody>
      </p:sp>
      <p:sp>
        <p:nvSpPr>
          <p:cNvPr id="152" name="Text 150"/>
          <p:cNvSpPr/>
          <p:nvPr/>
        </p:nvSpPr>
        <p:spPr>
          <a:xfrm>
            <a:off x="7845552" y="3831336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7882128" y="3867912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154" name="Text 152"/>
          <p:cNvSpPr/>
          <p:nvPr/>
        </p:nvSpPr>
        <p:spPr>
          <a:xfrm>
            <a:off x="8092440" y="3886200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온라인 아키텍처 고도화</a:t>
            </a:r>
            <a:endParaRPr lang="en-US" sz="580" dirty="0"/>
          </a:p>
        </p:txBody>
      </p:sp>
      <p:sp>
        <p:nvSpPr>
          <p:cNvPr id="155" name="Text 153"/>
          <p:cNvSpPr/>
          <p:nvPr/>
        </p:nvSpPr>
        <p:spPr>
          <a:xfrm>
            <a:off x="7845552" y="4201668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7882128" y="4238244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157" name="Text 155"/>
          <p:cNvSpPr/>
          <p:nvPr/>
        </p:nvSpPr>
        <p:spPr>
          <a:xfrm>
            <a:off x="8092440" y="4256532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이중화 DR 아키텍처 고도화</a:t>
            </a:r>
            <a:endParaRPr lang="en-US" sz="580" dirty="0"/>
          </a:p>
        </p:txBody>
      </p:sp>
      <p:sp>
        <p:nvSpPr>
          <p:cNvPr id="158" name="Text 156"/>
          <p:cNvSpPr/>
          <p:nvPr/>
        </p:nvSpPr>
        <p:spPr>
          <a:xfrm>
            <a:off x="7845552" y="4572000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7882128" y="4608576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00" dirty="0"/>
          </a:p>
        </p:txBody>
      </p:sp>
      <p:sp>
        <p:nvSpPr>
          <p:cNvPr id="160" name="Text 158"/>
          <p:cNvSpPr/>
          <p:nvPr/>
        </p:nvSpPr>
        <p:spPr>
          <a:xfrm>
            <a:off x="8092440" y="4626864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아키텍처 고도화</a:t>
            </a:r>
            <a:endParaRPr lang="en-US" sz="580" dirty="0"/>
          </a:p>
        </p:txBody>
      </p:sp>
      <p:sp>
        <p:nvSpPr>
          <p:cNvPr id="161" name="Text 159"/>
          <p:cNvSpPr/>
          <p:nvPr/>
        </p:nvSpPr>
        <p:spPr>
          <a:xfrm>
            <a:off x="7845552" y="4942332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882128" y="4978908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00" dirty="0"/>
          </a:p>
        </p:txBody>
      </p:sp>
      <p:sp>
        <p:nvSpPr>
          <p:cNvPr id="163" name="Text 161"/>
          <p:cNvSpPr/>
          <p:nvPr/>
        </p:nvSpPr>
        <p:spPr>
          <a:xfrm>
            <a:off x="8092440" y="4997196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인터페이스 아키텍처 고도화</a:t>
            </a:r>
            <a:endParaRPr lang="en-US" sz="580" dirty="0"/>
          </a:p>
        </p:txBody>
      </p:sp>
      <p:sp>
        <p:nvSpPr>
          <p:cNvPr id="164" name="Text 162"/>
          <p:cNvSpPr/>
          <p:nvPr/>
        </p:nvSpPr>
        <p:spPr>
          <a:xfrm>
            <a:off x="7845552" y="5312664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7882128" y="5349240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700" dirty="0"/>
          </a:p>
        </p:txBody>
      </p:sp>
      <p:sp>
        <p:nvSpPr>
          <p:cNvPr id="166" name="Text 164"/>
          <p:cNvSpPr/>
          <p:nvPr/>
        </p:nvSpPr>
        <p:spPr>
          <a:xfrm>
            <a:off x="8092440" y="5367528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형상 배포 관리 아키텍처 고도화</a:t>
            </a:r>
            <a:endParaRPr lang="en-US" sz="580" dirty="0"/>
          </a:p>
        </p:txBody>
      </p:sp>
      <p:sp>
        <p:nvSpPr>
          <p:cNvPr id="167" name="Text 165"/>
          <p:cNvSpPr/>
          <p:nvPr/>
        </p:nvSpPr>
        <p:spPr>
          <a:xfrm>
            <a:off x="7845552" y="5682996"/>
            <a:ext cx="1115568" cy="274320"/>
          </a:xfrm>
          <a:prstGeom prst="rect">
            <a:avLst/>
          </a:prstGeom>
          <a:solidFill>
            <a:srgbClr val="FFFFFF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7882128" y="5719572"/>
            <a:ext cx="182880" cy="182880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00" dirty="0"/>
          </a:p>
        </p:txBody>
      </p:sp>
      <p:sp>
        <p:nvSpPr>
          <p:cNvPr id="169" name="Text 167"/>
          <p:cNvSpPr/>
          <p:nvPr/>
        </p:nvSpPr>
        <p:spPr>
          <a:xfrm>
            <a:off x="8092440" y="5737860"/>
            <a:ext cx="804672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8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및 권한 관리 고도화</a:t>
            </a:r>
            <a:endParaRPr lang="en-US" sz="580" dirty="0"/>
          </a:p>
        </p:txBody>
      </p:sp>
      <p:sp>
        <p:nvSpPr>
          <p:cNvPr id="170" name="Shape 168"/>
          <p:cNvSpPr/>
          <p:nvPr/>
        </p:nvSpPr>
        <p:spPr>
          <a:xfrm>
            <a:off x="7973568" y="5989320"/>
            <a:ext cx="274320" cy="0"/>
          </a:xfrm>
          <a:prstGeom prst="line">
            <a:avLst/>
          </a:prstGeom>
          <a:noFill/>
          <a:ln w="13970">
            <a:solidFill>
              <a:srgbClr val="11111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8275320" y="5916168"/>
            <a:ext cx="56692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: DB 경로</a:t>
            </a:r>
            <a:endParaRPr lang="en-US" sz="520" dirty="0"/>
          </a:p>
        </p:txBody>
      </p:sp>
      <p:sp>
        <p:nvSpPr>
          <p:cNvPr id="172" name="Shape 170"/>
          <p:cNvSpPr/>
          <p:nvPr/>
        </p:nvSpPr>
        <p:spPr>
          <a:xfrm>
            <a:off x="7973568" y="6144768"/>
            <a:ext cx="274320" cy="0"/>
          </a:xfrm>
          <a:prstGeom prst="line">
            <a:avLst/>
          </a:prstGeom>
          <a:noFill/>
          <a:ln w="13970">
            <a:solidFill>
              <a:srgbClr val="0E5BD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8275320" y="6071616"/>
            <a:ext cx="640080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ETL : ETL 경로</a:t>
            </a:r>
            <a:endParaRPr lang="en-US" sz="520" dirty="0"/>
          </a:p>
        </p:txBody>
      </p:sp>
      <p:sp>
        <p:nvSpPr>
          <p:cNvPr id="174" name="Shape 172"/>
          <p:cNvSpPr/>
          <p:nvPr/>
        </p:nvSpPr>
        <p:spPr>
          <a:xfrm>
            <a:off x="7973568" y="6300216"/>
            <a:ext cx="274320" cy="0"/>
          </a:xfrm>
          <a:prstGeom prst="line">
            <a:avLst/>
          </a:prstGeom>
          <a:noFill/>
          <a:ln w="13970">
            <a:solidFill>
              <a:srgbClr val="239B56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8275320" y="6227064"/>
            <a:ext cx="658368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: 파일 경로</a:t>
            </a:r>
            <a:endParaRPr lang="en-US" sz="520" dirty="0"/>
          </a:p>
        </p:txBody>
      </p:sp>
      <p:sp>
        <p:nvSpPr>
          <p:cNvPr id="176" name="Shape 174"/>
          <p:cNvSpPr/>
          <p:nvPr/>
        </p:nvSpPr>
        <p:spPr>
          <a:xfrm>
            <a:off x="7973568" y="6455664"/>
            <a:ext cx="274320" cy="0"/>
          </a:xfrm>
          <a:prstGeom prst="line">
            <a:avLst/>
          </a:prstGeom>
          <a:noFill/>
          <a:ln w="13970">
            <a:solidFill>
              <a:srgbClr val="F7D94C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8275320" y="6382512"/>
            <a:ext cx="713232" cy="14630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l">
              <a:buNone/>
            </a:pPr>
            <a:r>
              <a:rPr lang="en-US" sz="52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KAFKA : 메시지 경로</a:t>
            </a:r>
            <a:endParaRPr lang="en-US" sz="520" dirty="0"/>
          </a:p>
        </p:txBody>
      </p:sp>
      <p:sp>
        <p:nvSpPr>
          <p:cNvPr id="178" name="Text 176"/>
          <p:cNvSpPr/>
          <p:nvPr/>
        </p:nvSpPr>
        <p:spPr>
          <a:xfrm>
            <a:off x="219456" y="1828800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700" dirty="0"/>
          </a:p>
        </p:txBody>
      </p:sp>
      <p:sp>
        <p:nvSpPr>
          <p:cNvPr id="179" name="Text 177"/>
          <p:cNvSpPr/>
          <p:nvPr/>
        </p:nvSpPr>
        <p:spPr>
          <a:xfrm>
            <a:off x="2523744" y="1216152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700" dirty="0"/>
          </a:p>
        </p:txBody>
      </p:sp>
      <p:sp>
        <p:nvSpPr>
          <p:cNvPr id="180" name="Text 178"/>
          <p:cNvSpPr/>
          <p:nvPr/>
        </p:nvSpPr>
        <p:spPr>
          <a:xfrm>
            <a:off x="3127248" y="3136392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700" dirty="0"/>
          </a:p>
        </p:txBody>
      </p:sp>
      <p:sp>
        <p:nvSpPr>
          <p:cNvPr id="181" name="Text 179"/>
          <p:cNvSpPr/>
          <p:nvPr/>
        </p:nvSpPr>
        <p:spPr>
          <a:xfrm>
            <a:off x="3840480" y="4279392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700" dirty="0"/>
          </a:p>
        </p:txBody>
      </p:sp>
      <p:sp>
        <p:nvSpPr>
          <p:cNvPr id="182" name="Text 180"/>
          <p:cNvSpPr/>
          <p:nvPr/>
        </p:nvSpPr>
        <p:spPr>
          <a:xfrm>
            <a:off x="5833872" y="3072384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700" dirty="0"/>
          </a:p>
        </p:txBody>
      </p:sp>
      <p:sp>
        <p:nvSpPr>
          <p:cNvPr id="183" name="Text 181"/>
          <p:cNvSpPr/>
          <p:nvPr/>
        </p:nvSpPr>
        <p:spPr>
          <a:xfrm>
            <a:off x="2240280" y="4974336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700" dirty="0"/>
          </a:p>
        </p:txBody>
      </p:sp>
      <p:sp>
        <p:nvSpPr>
          <p:cNvPr id="184" name="Text 182"/>
          <p:cNvSpPr/>
          <p:nvPr/>
        </p:nvSpPr>
        <p:spPr>
          <a:xfrm>
            <a:off x="5440680" y="2770632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700" dirty="0"/>
          </a:p>
        </p:txBody>
      </p:sp>
      <p:sp>
        <p:nvSpPr>
          <p:cNvPr id="185" name="Text 183"/>
          <p:cNvSpPr/>
          <p:nvPr/>
        </p:nvSpPr>
        <p:spPr>
          <a:xfrm>
            <a:off x="5074920" y="1591056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700" dirty="0"/>
          </a:p>
        </p:txBody>
      </p:sp>
      <p:sp>
        <p:nvSpPr>
          <p:cNvPr id="186" name="Text 184"/>
          <p:cNvSpPr/>
          <p:nvPr/>
        </p:nvSpPr>
        <p:spPr>
          <a:xfrm>
            <a:off x="2788920" y="2148840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700" dirty="0"/>
          </a:p>
        </p:txBody>
      </p:sp>
      <p:sp>
        <p:nvSpPr>
          <p:cNvPr id="187" name="Text 185"/>
          <p:cNvSpPr/>
          <p:nvPr/>
        </p:nvSpPr>
        <p:spPr>
          <a:xfrm>
            <a:off x="2304288" y="4306824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700" dirty="0"/>
          </a:p>
        </p:txBody>
      </p:sp>
      <p:sp>
        <p:nvSpPr>
          <p:cNvPr id="188" name="Text 186"/>
          <p:cNvSpPr/>
          <p:nvPr/>
        </p:nvSpPr>
        <p:spPr>
          <a:xfrm>
            <a:off x="4983480" y="4160520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700" dirty="0"/>
          </a:p>
        </p:txBody>
      </p:sp>
      <p:sp>
        <p:nvSpPr>
          <p:cNvPr id="189" name="Text 187"/>
          <p:cNvSpPr/>
          <p:nvPr/>
        </p:nvSpPr>
        <p:spPr>
          <a:xfrm>
            <a:off x="6364224" y="4892040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7360920" y="4892040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700" dirty="0"/>
          </a:p>
        </p:txBody>
      </p:sp>
      <p:sp>
        <p:nvSpPr>
          <p:cNvPr id="191" name="Text 189"/>
          <p:cNvSpPr/>
          <p:nvPr/>
        </p:nvSpPr>
        <p:spPr>
          <a:xfrm>
            <a:off x="402336" y="3072384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700" dirty="0"/>
          </a:p>
        </p:txBody>
      </p:sp>
      <p:sp>
        <p:nvSpPr>
          <p:cNvPr id="192" name="Text 190"/>
          <p:cNvSpPr/>
          <p:nvPr/>
        </p:nvSpPr>
        <p:spPr>
          <a:xfrm>
            <a:off x="1252728" y="1435608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00" dirty="0"/>
          </a:p>
        </p:txBody>
      </p:sp>
      <p:sp>
        <p:nvSpPr>
          <p:cNvPr id="193" name="Text 191"/>
          <p:cNvSpPr/>
          <p:nvPr/>
        </p:nvSpPr>
        <p:spPr>
          <a:xfrm>
            <a:off x="4133088" y="2834640"/>
            <a:ext cx="201168" cy="201168"/>
          </a:xfrm>
          <a:prstGeom prst="ellipse">
            <a:avLst/>
          </a:prstGeom>
          <a:solidFill>
            <a:srgbClr val="0D47A1"/>
          </a:solidFill>
          <a:ln w="7620">
            <a:solidFill>
              <a:srgbClr val="0D47A1"/>
            </a:solidFill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700" dirty="0"/>
          </a:p>
        </p:txBody>
      </p:sp>
      <p:sp>
        <p:nvSpPr>
          <p:cNvPr id="194" name="Text 192"/>
          <p:cNvSpPr/>
          <p:nvPr/>
        </p:nvSpPr>
        <p:spPr>
          <a:xfrm>
            <a:off x="438912" y="6327648"/>
            <a:ext cx="1975104" cy="301752"/>
          </a:xfrm>
          <a:prstGeom prst="rect">
            <a:avLst/>
          </a:prstGeom>
          <a:solidFill>
            <a:srgbClr val="F7D94C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AA/TA/DA 아키텍처 정의</a:t>
            </a:r>
            <a:endParaRPr lang="en-US" sz="800" dirty="0"/>
          </a:p>
        </p:txBody>
      </p:sp>
      <p:sp>
        <p:nvSpPr>
          <p:cNvPr id="195" name="Text 193"/>
          <p:cNvSpPr/>
          <p:nvPr/>
        </p:nvSpPr>
        <p:spPr>
          <a:xfrm>
            <a:off x="2697480" y="6327648"/>
            <a:ext cx="1975104" cy="301752"/>
          </a:xfrm>
          <a:prstGeom prst="rect">
            <a:avLst/>
          </a:prstGeom>
          <a:solidFill>
            <a:srgbClr val="F7D94C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개별표준 및 가이드 정의</a:t>
            </a:r>
            <a:endParaRPr lang="en-US" sz="800" dirty="0"/>
          </a:p>
        </p:txBody>
      </p:sp>
      <p:sp>
        <p:nvSpPr>
          <p:cNvPr id="196" name="Text 194"/>
          <p:cNvSpPr/>
          <p:nvPr/>
        </p:nvSpPr>
        <p:spPr>
          <a:xfrm>
            <a:off x="4864608" y="6327648"/>
            <a:ext cx="1792224" cy="301752"/>
          </a:xfrm>
          <a:prstGeom prst="rect">
            <a:avLst/>
          </a:prstGeom>
          <a:solidFill>
            <a:srgbClr val="F7D94C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개발 환경 정의</a:t>
            </a:r>
            <a:endParaRPr lang="en-US" sz="800" dirty="0"/>
          </a:p>
        </p:txBody>
      </p:sp>
      <p:sp>
        <p:nvSpPr>
          <p:cNvPr id="197" name="Text 195"/>
          <p:cNvSpPr/>
          <p:nvPr/>
        </p:nvSpPr>
        <p:spPr>
          <a:xfrm>
            <a:off x="6821424" y="6327648"/>
            <a:ext cx="1225296" cy="301752"/>
          </a:xfrm>
          <a:prstGeom prst="rect">
            <a:avLst/>
          </a:prstGeom>
          <a:solidFill>
            <a:srgbClr val="F7D94C"/>
          </a:solidFill>
          <a:ln w="10160">
            <a:solidFill>
              <a:srgbClr val="0D47A1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 공통 요소 정의</a:t>
            </a:r>
            <a:endParaRPr lang="en-US" sz="800" dirty="0"/>
          </a:p>
        </p:txBody>
      </p:sp>
      <p:sp>
        <p:nvSpPr>
          <p:cNvPr id="198" name="Text 196"/>
          <p:cNvSpPr/>
          <p:nvPr/>
        </p:nvSpPr>
        <p:spPr>
          <a:xfrm>
            <a:off x="2286000" y="6693408"/>
            <a:ext cx="4389120" cy="1097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 algn="ctr">
              <a:buNone/>
            </a:pPr>
            <a:r>
              <a:rPr lang="en-US" sz="6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본 슬라이드는 정보계 차세대 아키텍처 변경사항(0107)을 요약하여 도형 기반으로 재작성한 것입니다.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</Words>
  <Application>Microsoft Office PowerPoint</Application>
  <PresentationFormat>화면 슬라이드 쇼(4:3)</PresentationFormat>
  <Paragraphs>146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Malgun Gothic</vt:lpstr>
      <vt:lpstr>Malgun Gothic</vt:lpstr>
      <vt:lpstr>Arial</vt:lpstr>
      <vt:lpstr>Office Theme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농협 정보계 차세대 아키텍처 변경사항(0107)</dc:title>
  <dc:subject>농협 정보계 차세대 아키텍처 변경사항(0107)</dc:subject>
  <dc:creator>OpenAI</dc:creator>
  <cp:lastModifiedBy>장우승</cp:lastModifiedBy>
  <cp:revision>1</cp:revision>
  <dcterms:created xsi:type="dcterms:W3CDTF">2026-08-23T13:16:05Z</dcterms:created>
  <dcterms:modified xsi:type="dcterms:W3CDTF">2026-08-23T13:19:02Z</dcterms:modified>
</cp:coreProperties>
</file>